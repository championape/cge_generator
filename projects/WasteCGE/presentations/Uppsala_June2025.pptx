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60"/>
  </p:notesMasterIdLst>
  <p:handoutMasterIdLst>
    <p:handoutMasterId r:id="rId61"/>
  </p:handoutMasterIdLst>
  <p:sldIdLst>
    <p:sldId id="352" r:id="rId2"/>
    <p:sldId id="406" r:id="rId3"/>
    <p:sldId id="681" r:id="rId4"/>
    <p:sldId id="407" r:id="rId5"/>
    <p:sldId id="417" r:id="rId6"/>
    <p:sldId id="410" r:id="rId7"/>
    <p:sldId id="419" r:id="rId8"/>
    <p:sldId id="420" r:id="rId9"/>
    <p:sldId id="421" r:id="rId10"/>
    <p:sldId id="422" r:id="rId11"/>
    <p:sldId id="684" r:id="rId12"/>
    <p:sldId id="423" r:id="rId13"/>
    <p:sldId id="688" r:id="rId14"/>
    <p:sldId id="717" r:id="rId15"/>
    <p:sldId id="682" r:id="rId16"/>
    <p:sldId id="685" r:id="rId17"/>
    <p:sldId id="686" r:id="rId18"/>
    <p:sldId id="690" r:id="rId19"/>
    <p:sldId id="691" r:id="rId20"/>
    <p:sldId id="692" r:id="rId21"/>
    <p:sldId id="687" r:id="rId22"/>
    <p:sldId id="689" r:id="rId23"/>
    <p:sldId id="693" r:id="rId24"/>
    <p:sldId id="695" r:id="rId25"/>
    <p:sldId id="694" r:id="rId26"/>
    <p:sldId id="696" r:id="rId27"/>
    <p:sldId id="697" r:id="rId28"/>
    <p:sldId id="698" r:id="rId29"/>
    <p:sldId id="699" r:id="rId30"/>
    <p:sldId id="705" r:id="rId31"/>
    <p:sldId id="700" r:id="rId32"/>
    <p:sldId id="702" r:id="rId33"/>
    <p:sldId id="701" r:id="rId34"/>
    <p:sldId id="703" r:id="rId35"/>
    <p:sldId id="706" r:id="rId36"/>
    <p:sldId id="708" r:id="rId37"/>
    <p:sldId id="709" r:id="rId38"/>
    <p:sldId id="707" r:id="rId39"/>
    <p:sldId id="710" r:id="rId40"/>
    <p:sldId id="711" r:id="rId41"/>
    <p:sldId id="712" r:id="rId42"/>
    <p:sldId id="713" r:id="rId43"/>
    <p:sldId id="714" r:id="rId44"/>
    <p:sldId id="718" r:id="rId45"/>
    <p:sldId id="723" r:id="rId46"/>
    <p:sldId id="725" r:id="rId47"/>
    <p:sldId id="724" r:id="rId48"/>
    <p:sldId id="727" r:id="rId49"/>
    <p:sldId id="719" r:id="rId50"/>
    <p:sldId id="728" r:id="rId51"/>
    <p:sldId id="720" r:id="rId52"/>
    <p:sldId id="721" r:id="rId53"/>
    <p:sldId id="729" r:id="rId54"/>
    <p:sldId id="730" r:id="rId55"/>
    <p:sldId id="731" r:id="rId56"/>
    <p:sldId id="733" r:id="rId57"/>
    <p:sldId id="715" r:id="rId58"/>
    <p:sldId id="716" r:id="rId59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2B85B"/>
    <a:srgbClr val="F2B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0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1902" y="138"/>
      </p:cViewPr>
      <p:guideLst>
        <p:guide orient="horz" pos="1030"/>
        <p:guide orient="horz" pos="93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22" d="100"/>
          <a:sy n="122" d="100"/>
        </p:scale>
        <p:origin x="491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13/06/2025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13/06/2025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692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43422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3778-543A-7E72-B46A-38101C5E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BEA55-C555-C945-1942-0B435B990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A631B-42AB-3CB9-544F-B0993D276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1651-D3E1-1A8F-87AE-8D5989FD4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06485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0039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653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4310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017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94432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3405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70003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AFC71-729B-55C9-9FBD-C612E8FB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49816-260F-A2C2-D4F4-6E68E7218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45129-3191-16A2-0DDB-FC6995CEE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9E15-83E2-D277-13F8-2A7A21FC4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4443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0222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F631-F1C5-2EE0-C277-6E0F0A87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6D02-8C70-E46D-A998-8BD984FF2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CE786-F916-2383-E452-C07B7D385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E0ED4-B28A-7F26-D91C-740E32AE6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68752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4F934-B570-5B6C-E9ED-3ACC8489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FD752-EE00-E2CB-4ECE-A6D805411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A5F77-5EB9-E13D-82F9-A7B5A5C05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B9F7-EF13-6B21-B9EF-9F6EB0C9A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8925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6143-D019-DB52-04A8-A9CDCF95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14CD4-42D7-0DF5-B6B1-BA85A58C5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ECC00-33C3-3B69-9643-1E3FE661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838F6-2BC3-E423-5D22-BA451BCE0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94718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DBE0-3DAF-4FA8-D63B-612FCA41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0BA5E-C350-803A-5587-64A95FCFA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A1A64-6278-2A3B-7F5F-6110A8C3A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C495C-1F5E-7CA9-6420-C4B852898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25207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1AB7-ACBF-E5A4-8A05-8472A03C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2F112-B617-7B21-25F9-1E51E95C7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8F4EA-A570-5673-5CAE-2FEFEA81D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AEABC-A990-2EF2-157A-A7CBD4335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9813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391-C8FB-05DB-21E4-376964A8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5FCEC-8856-8144-F7C6-282A83336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B0FA9-872A-4F74-0A86-C74ADC3B0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CF564-65DA-9F2C-CDFA-842D84D98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95869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46C09-B35C-23D4-0249-95DE51DA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78A98-7871-EF7F-73D9-16F7E2DF7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837F7-CA1E-08F1-70AB-28EFB6015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FDAD-1B89-9084-2F69-D461DDB01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08919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F655-A9FE-EA2C-ED81-666E506B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E3AB5-4545-2C83-D329-2EAE70B49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90270-548C-3DEC-88F3-003328C26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39F7E-7459-0515-533F-FB276FA88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7142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C0B40-0E60-4251-69AB-550605AB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2F636-0A07-1E46-53C9-602E358AB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98818-31C2-2549-CF2C-989C5751A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8033F-E369-8169-D8D3-47648B352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35551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8B52-56A4-E372-BCC0-70CDE6AD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9E9C0-A469-2F89-8659-82D2106FB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C1E48-32AF-D109-EC24-396307F0C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D124-952A-FC7B-484E-43C46FC97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92862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6826-E901-3B5E-F992-D50AF29A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3A951-EF5E-7450-31AF-89C7306A4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77EAF-3C7B-1198-1DC0-531CD245F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8C147-CEF2-3732-D3C5-EF51144DA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26159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5B41-AD54-9D8B-95EB-37D910E1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5C428-DBC2-863E-E05D-B68CD57D1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74A61-E7DD-50F8-D7B5-2721A8DB4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11572-C91B-92FF-1E97-762869DAE7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78843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FC109-794A-0D35-3251-4D227093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DB308-BE8A-B5D4-62B4-B553259AD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2695E-1300-A461-87E2-451354D27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D06E6-3C53-CEC5-6D2B-DD1B21322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25526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0924-97CB-30E7-CF0B-6D49686C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7B98D-5E23-8DE0-5EBB-5ADE2A7B8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F08910-6E4E-0964-8ACD-7DB5B8667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43B20-354F-21E5-FEAB-EA456AFD9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408994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0A11-1936-FB2B-4459-EB48BBE9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CFB61-0770-F556-2410-CE76D5F66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B4115-566F-7784-DE5D-D55B956C5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78B9-2FB9-9610-9A5A-F688C4F79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7740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04EC-104D-9B71-8712-9216637F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8B24E-F6E0-64D8-C0C0-AC35925FD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CE9B5-7800-D389-CFB1-0F821BE91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A3BF-5AF7-4A61-8742-35E5404C9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7122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1066-3E5B-619B-8F23-E9BB5E68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1BF2E-ED6E-C215-4957-8C6D76D0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ED721-B487-B87E-5B8C-585C8075A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5B76-405D-1DF4-4911-08E8359D1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16401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BD34-7CF1-11B3-06D8-9D88E40D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2BF16-15AE-AF7F-5982-1F3FC213C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AA4EE-AE8A-6D5A-1905-FB9303C7F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8A99D-6A21-0115-77EA-5B456E14A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38669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7210-B2DD-358F-BF69-0F7E6380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90A56-1095-3FD7-7462-C770334B2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5B63F-5C21-58DA-5726-533DA6C2F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B76D2-E633-32F9-173F-176272D39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53590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8511-58D9-E8FA-A425-7AE30D20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6E8DA-832A-6496-6DDA-C0554FEAD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A2AD0-9269-4534-B8C4-103B240EB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AD300-9286-26B4-8406-3645B9DFD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00465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E5B1-0809-B71D-2E35-832BE5E1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FC5FD-6A45-9C3D-D0FE-2D0EEA583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95021-64A9-C965-797D-7C81F416D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8476-959E-ACE3-651B-AA40E4477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389616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7C66-204C-320C-5868-23F8120E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3B37F-A52C-3FBD-6099-D2B13A862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73834-CFC4-F3CA-CAFD-E5E7584A8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FDDF7-5C4C-9C49-2E17-F4E14D60C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40962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38A5-DF71-5596-B1CC-ECD74AC4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BCEE6-5DC6-9105-7155-A0EF68586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E4960-F205-1AA1-77BD-95B77C80B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B1BD9-6287-3C9B-441F-4331602FF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418797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C508-374B-D8CE-EEB2-86BF0001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8427B-271D-F7A1-E9D8-39AB20092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E22AB-97DA-166E-A25D-AACEC09DC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9E5D-AF83-65EC-7DD0-8767C9D52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82949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CDC3-5565-5D32-FFB3-EF4F2F28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763F2-351F-91FE-807D-6051A198E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A6FFC-D9A9-70F2-C58B-C24966065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99995-98AC-95B2-9F98-A0D4206A7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89054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CECD0-294C-5295-8B2A-4B4D64C8A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FA515-5697-9D34-3334-43F8AEAF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99775-9F60-3D97-FFDF-1A3D7D71C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2BA0F-6E38-C935-2D10-6DAD4D201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197358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B08C-6E50-BFAF-50BA-ACA824EA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A56A3-5512-EFEA-6037-6B2C4314A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FAACF-1E01-79F5-E96D-6B18ED213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6B35-88C7-F87B-B505-2045A688E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39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340256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389C-3339-1EC3-CB87-A28B482F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C815E-635B-6D28-16E2-99F7FA3EA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3FBFE-1EB7-88A7-8A9E-6816BDA4F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A630-0141-FF6B-EC54-E55308318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64685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4182A-0922-C742-49C2-9CE46530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DA56A-14E3-BF60-BB21-54B79B66C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0C1EF-4B3F-118F-C951-6C610D909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F0256-762E-6AE7-C6E5-CF60B302B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331267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461D-C71C-882D-8227-15ECCDFB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23D60-82D8-B343-E31E-0DE0F1BF2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97E35-D9A6-EA69-EB88-44EE7EDE2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83DBE-7E4B-1C82-3D6D-096FAA2E5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14313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0756-8060-F265-6A58-43711A77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D33DA-18F8-CFE7-3E12-01793F3BE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3D530-7221-2CEA-7332-EAB611586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34E32-AA48-952C-EC5C-D1F74B79F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60564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3170-C5FE-43C7-E2F6-9F9EECDA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8856B-55C4-43CE-D023-F89896098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49F2D-F2A1-BF4C-7AF0-89A72B948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F7EF5-870D-E0C5-7ACE-5118D18BD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574671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5EB0-529E-103F-9A20-CCFA4C053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C0BDD-53DD-14D6-35E5-8E36385F0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2725E-FC56-0906-EFF7-9F3E5CE8E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C987A-4741-7CF3-69B3-B90B900EF7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31257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4C39-2345-AADB-1447-27831B55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542B1-183E-7D6A-CECD-EAA1B825E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3A76F-62FE-7FED-492A-6581A3A42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A142F-1169-853D-7BF6-B6AA34615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756422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8A66-A7B1-E616-72FD-562FE952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7CB01-EBFC-97F0-082E-8CEB3DCE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21F60-2480-4715-B700-CD39D85FB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EFAE4-587C-4320-3837-F887F913B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630784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73F4-BD67-B3A8-2A13-F27E0422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8544B-A1D8-B11A-8538-4FE4C1EEA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D117E-9353-1C27-E134-780855250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F053B-9FEC-8C2A-7C3D-0B7B256CEE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06382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EDB68-5681-5D7E-EE3C-E9DA250F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BCB8B-AD37-E752-9893-F46EB3C5C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95A4E-8091-E0D3-7FBE-4A5C351DD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6242A-6D37-CCCB-AC75-C6F5CD37D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49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447700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21CC-4AC7-76BE-8E53-B082A6D4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06BEA-8189-BEB6-4426-AD174EB12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8E0E6-EBA7-6B14-38EA-821BB1E06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69BF-CF98-3B84-F680-19AAA0851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350659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6B7A-56A3-7233-E90D-4CF71B75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D0475-ED8A-00CA-7333-8C51F39C4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B4340-D2BF-9282-3E8B-39C727B62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EE6F5-A6C4-5EB1-57B4-578E63534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748066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D158-CCB6-2FA3-1631-4E8B1A79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D3765-6DB1-A48D-6665-A6BF6AAA0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1E48F-A9C0-677C-4E39-42C54002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0D07E-5496-CE7E-7B05-607F6F141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014921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2A0B-9A8F-152F-E0A5-BE51FDE0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FB28D-527C-93BC-9742-EE7C43375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C2F7-FCDE-5E69-15E3-A3DBFB08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47B4B-C134-FDEE-91EF-E9A130A8B7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711388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FFB2-1050-2362-20E6-4E3C4305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045B2-7E1E-47D9-08AD-14030AA14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DD0AB-1B03-4F32-C58C-20F69DCC4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CC1E-D96C-6021-5F2D-ABC2F185F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73879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EA252-411E-3103-0D8B-67EA772E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4A6AA-945E-E8D4-5C0F-CCE7A495B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C6000-738D-2248-4F98-5429CA737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2FA41-73BD-F481-2AE7-D31B29A55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738537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DC6B-9827-E442-DBA4-C4DDCCB4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A68D5-7421-C401-E5D5-D3D3BA2CA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C3909-D005-DE86-29B3-1713067DE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52E36-4BF2-1C68-B874-306284F29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182590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5063-DA0A-12E6-438F-ED5A5A65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B068E-1553-4DA9-5D33-BC540E012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0FF7D-ED6B-ACF6-ED0F-87A841E23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7FBE-B53E-395B-77E7-D7CFB78DF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856221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9AF09-EE2E-DE4E-D2B4-7ADFF102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A79E2-69F2-F7A5-0DFA-849179489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E949B-C1AC-A5B6-0114-B8F0EB41F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0E8C7-04DC-C1D4-4D8B-FF8D5548F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58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3670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://www.designguide.ku.dk/ku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://image.ku.dk/lightbox/211/13407586855728741badb20/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6858000"/>
          </a:xfrm>
          <a:blipFill>
            <a:blip r:embed="rId2"/>
            <a:stretch>
              <a:fillRect/>
            </a:stretch>
          </a:blipFill>
        </p:spPr>
        <p:txBody>
          <a:bodyPr lIns="4932000" tIns="36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</a:t>
            </a:r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6"/>
            <a:ext cx="4469607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61AA464C-5665-4E3C-98E0-7AD01E0024D6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4053600"/>
            <a:ext cx="3564334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7375" y="3007286"/>
            <a:ext cx="3564334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undertitel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3564334" cy="1763813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6858000"/>
          </a:xfrm>
          <a:blipFill>
            <a:blip r:embed="rId2"/>
            <a:stretch>
              <a:fillRect/>
            </a:stretch>
          </a:blipFill>
        </p:spPr>
        <p:txBody>
          <a:bodyPr lIns="4932000" tIns="360000" anchor="ctr" anchorCtr="0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</a:t>
            </a:r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1F599886-E993-489E-9C40-159B7212D8E2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4469607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4" y="4042705"/>
            <a:ext cx="3563425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8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3" y="2610941"/>
            <a:ext cx="3563426" cy="121292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høj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50603" cy="6858000"/>
          </a:xfrm>
          <a:blipFill>
            <a:blip r:embed="rId2"/>
            <a:stretch>
              <a:fillRect/>
            </a:stretch>
          </a:blipFill>
        </p:spPr>
        <p:txBody>
          <a:bodyPr lIns="0" tIns="360000" rIns="4932000" anchor="ctr" anchorCtr="0"/>
          <a:lstStyle>
            <a:lvl1pPr marL="0" indent="0" algn="r">
              <a:buNone/>
              <a:defRPr sz="2400" baseline="0">
                <a:sym typeface="Wingdings" panose="05000000000000000000" pitchFamily="2" charset="2"/>
              </a:defRPr>
            </a:lvl1pPr>
          </a:lstStyle>
          <a:p>
            <a:br>
              <a:rPr lang="en-GB" dirty="0"/>
            </a:br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  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4682728" y="691816"/>
            <a:ext cx="446127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164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60C36C7C-CAAB-455E-83CB-807F4F1E4F87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164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164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055748" y="4053600"/>
            <a:ext cx="349929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055747" y="3007286"/>
            <a:ext cx="3499291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undertitel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055747" y="1020200"/>
            <a:ext cx="3511991" cy="1763813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345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6858000"/>
          </a:xfrm>
          <a:blipFill>
            <a:blip r:embed="rId2"/>
            <a:stretch>
              <a:fillRect/>
            </a:stretch>
          </a:blipFill>
        </p:spPr>
        <p:txBody>
          <a:bodyPr lIns="0" tIns="360000" rIns="4932000" anchor="ctr" anchorCtr="0"/>
          <a:lstStyle>
            <a:lvl1pPr marL="0" indent="0" algn="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  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6BCB1702-2CEC-4E0F-9B3B-2164FA62A897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4682728" y="2271092"/>
            <a:ext cx="446127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054401" y="4053600"/>
            <a:ext cx="3500638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8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054401" y="2610941"/>
            <a:ext cx="3513337" cy="121292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5398" b="7654"/>
          <a:stretch/>
        </p:blipFill>
        <p:spPr>
          <a:xfrm>
            <a:off x="-763323" y="0"/>
            <a:ext cx="9907323" cy="6858000"/>
          </a:xfrm>
          <a:prstGeom prst="rect">
            <a:avLst/>
          </a:prstGeo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A49D84D-A19B-45C3-B862-94FCBB800B25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691816"/>
            <a:ext cx="4469607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7375" y="3007286"/>
            <a:ext cx="3564334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undertitel</a:t>
            </a:r>
            <a:endParaRPr lang="en-GB" dirty="0"/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4053600"/>
            <a:ext cx="3564334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3564334" cy="1763813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5398" b="7654"/>
          <a:stretch/>
        </p:blipFill>
        <p:spPr>
          <a:xfrm>
            <a:off x="-763323" y="0"/>
            <a:ext cx="9907323" cy="6858000"/>
          </a:xfrm>
          <a:prstGeom prst="rect">
            <a:avLst/>
          </a:prstGeo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6A51040-FFCC-4DA5-9EE7-1D801F662BDF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4469607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4" y="4053600"/>
            <a:ext cx="3563425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oplægsholder</a:t>
            </a:r>
            <a:r>
              <a:rPr lang="en-GB" dirty="0"/>
              <a:t>, KU-</a:t>
            </a:r>
            <a:r>
              <a:rPr lang="en-GB" dirty="0" err="1"/>
              <a:t>enhed</a:t>
            </a:r>
            <a:r>
              <a:rPr lang="en-GB" dirty="0"/>
              <a:t>, </a:t>
            </a:r>
            <a:r>
              <a:rPr lang="en-GB" dirty="0" err="1"/>
              <a:t>sted</a:t>
            </a:r>
            <a:r>
              <a:rPr lang="en-GB" dirty="0"/>
              <a:t> og </a:t>
            </a:r>
            <a:r>
              <a:rPr lang="en-GB" dirty="0" err="1"/>
              <a:t>dato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3" y="2610941"/>
            <a:ext cx="3563426" cy="121292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7375" y="1635125"/>
            <a:ext cx="7967663" cy="4668178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indsætte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9C3B8-8305-4302-86E9-000A6603B7F0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6" y="619125"/>
            <a:ext cx="7967662" cy="865188"/>
          </a:xfrm>
        </p:spPr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7376" y="1635125"/>
            <a:ext cx="3873247" cy="4667250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indsætte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4678759" y="1635125"/>
            <a:ext cx="3876280" cy="4667250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indsætte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71D04-F937-432B-8A66-FEEF5F593FD8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dsholder til billede 9"/>
          <p:cNvSpPr>
            <a:spLocks noGrp="1"/>
          </p:cNvSpPr>
          <p:nvPr>
            <p:ph type="pic" sz="quarter" idx="15" hasCustomPrompt="1"/>
          </p:nvPr>
        </p:nvSpPr>
        <p:spPr>
          <a:xfrm>
            <a:off x="4682729" y="1635125"/>
            <a:ext cx="3872309" cy="4667251"/>
          </a:xfrm>
          <a:blipFill>
            <a:blip r:embed="rId2"/>
            <a:srcRect/>
            <a:stretch>
              <a:fillRect l="-11" r="-9936"/>
            </a:stretch>
          </a:blipFill>
        </p:spPr>
        <p:txBody>
          <a:bodyPr lIns="0" tIns="2304000" rIns="0" anchor="t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7" y="619125"/>
            <a:ext cx="7967662" cy="865188"/>
          </a:xfrm>
        </p:spPr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7376" y="1635125"/>
            <a:ext cx="3882486" cy="4667251"/>
          </a:xfrm>
        </p:spPr>
        <p:txBody>
          <a:bodyPr vert="horz" lIns="0" tIns="0" rIns="0" bIns="0" rtlCol="0">
            <a:noAutofit/>
          </a:bodyPr>
          <a:lstStyle>
            <a:lvl1pPr>
              <a:defRPr lang="da-DK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indsætte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B13D-916E-4C6C-A578-315329E247C9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7376" y="1635125"/>
            <a:ext cx="7967662" cy="4667250"/>
          </a:xfrm>
          <a:blipFill>
            <a:blip r:embed="rId2"/>
            <a:stretch>
              <a:fillRect/>
            </a:stretch>
          </a:blipFill>
        </p:spPr>
        <p:txBody>
          <a:bodyPr lIns="0" tIns="2304000" rIns="0" anchor="t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6" y="619125"/>
            <a:ext cx="7967663" cy="865188"/>
          </a:xfrm>
        </p:spPr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C9CB-6104-43B9-8E3B-B5E961BFB42C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2"/>
            <a:ext cx="9144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4932000" anchor="ctr" anchorCtr="0"/>
          <a:lstStyle>
            <a:lvl1pPr marL="0" indent="0" algn="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  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2728" y="4903567"/>
            <a:ext cx="4461272" cy="1398808"/>
          </a:xfrm>
          <a:solidFill>
            <a:srgbClr val="A31D20">
              <a:alpha val="95000"/>
            </a:srgbClr>
          </a:solidFill>
        </p:spPr>
        <p:txBody>
          <a:bodyPr lIns="252000" tIns="144000" rIns="540000" bIns="144000" anchor="t" anchorCtr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r>
              <a:rPr lang="en-GB" dirty="0"/>
              <a:t>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8177-EBF0-42B2-86B5-15CE90E902C5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55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venstre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2"/>
            <a:ext cx="9144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4932000" anchor="ctr" anchorCtr="0"/>
          <a:lstStyle>
            <a:lvl1pPr marL="0" indent="0" algn="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  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4903567"/>
            <a:ext cx="4461272" cy="1398808"/>
          </a:xfrm>
          <a:solidFill>
            <a:srgbClr val="A31D20">
              <a:alpha val="95000"/>
            </a:srgbClr>
          </a:solidFill>
        </p:spPr>
        <p:txBody>
          <a:bodyPr lIns="576000" tIns="144000" rIns="252000" bIns="144000" anchor="t" anchorCtr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br>
              <a:rPr lang="en-GB" sz="1800" spc="75" dirty="0">
                <a:solidFill>
                  <a:schemeClr val="bg1"/>
                </a:solidFill>
                <a:latin typeface="+mj-lt"/>
                <a:cs typeface="Microsoft New Tai Lue"/>
              </a:rPr>
            </a:br>
            <a:r>
              <a:rPr lang="en-GB" dirty="0"/>
              <a:t>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F12A-79CD-4264-9427-73895824E9C8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560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2"/>
            <a:ext cx="9144000" cy="6523149"/>
          </a:xfrm>
          <a:blipFill>
            <a:blip r:embed="rId2"/>
            <a:stretch>
              <a:fillRect/>
            </a:stretch>
          </a:blipFill>
        </p:spPr>
        <p:txBody>
          <a:bodyPr lIns="0" tIns="360000" rIns="4932000" anchor="ctr" anchorCtr="0"/>
          <a:lstStyle>
            <a:lvl1pPr marL="0" indent="0" algn="r">
              <a:buNone/>
              <a:defRPr sz="2400" baseline="0">
                <a:sym typeface="Wingdings" panose="05000000000000000000" pitchFamily="2" charset="2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  </a:t>
            </a:r>
            <a:br>
              <a:rPr lang="en-GB" dirty="0"/>
            </a:br>
            <a:r>
              <a:rPr lang="en-GB" dirty="0"/>
              <a:t>du </a:t>
            </a: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48D3-3757-4377-9AC6-D4B386FA347A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4682728" y="2036763"/>
            <a:ext cx="4461272" cy="4265612"/>
          </a:xfrm>
          <a:solidFill>
            <a:schemeClr val="accent1">
              <a:alpha val="95000"/>
            </a:schemeClr>
          </a:solidFill>
        </p:spPr>
        <p:txBody>
          <a:bodyPr lIns="252000" tIns="144000" rIns="540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536575" indent="-271463">
              <a:tabLst/>
              <a:defRPr>
                <a:solidFill>
                  <a:schemeClr val="bg1"/>
                </a:solidFill>
              </a:defRPr>
            </a:lvl2pPr>
            <a:lvl3pPr marL="536575" indent="-271463">
              <a:defRPr sz="2000">
                <a:solidFill>
                  <a:schemeClr val="bg1"/>
                </a:solidFill>
              </a:defRPr>
            </a:lvl3pPr>
            <a:lvl4pPr marL="536575" indent="-271463">
              <a:defRPr sz="2000">
                <a:solidFill>
                  <a:schemeClr val="bg1"/>
                </a:solidFill>
              </a:defRPr>
            </a:lvl4pPr>
            <a:lvl5pPr marL="536575" indent="-271463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010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venst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4852"/>
            <a:ext cx="9144000" cy="6523149"/>
          </a:xfrm>
          <a:blipFill>
            <a:blip r:embed="rId2"/>
            <a:stretch>
              <a:fillRect/>
            </a:stretch>
          </a:blipFill>
        </p:spPr>
        <p:txBody>
          <a:bodyPr lIns="4932000" tIns="360000" rIns="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</a:t>
            </a:r>
            <a:r>
              <a:rPr lang="en-GB" dirty="0" err="1"/>
              <a:t>Klik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, </a:t>
            </a:r>
            <a:r>
              <a:rPr lang="en-GB" dirty="0" err="1"/>
              <a:t>hvis</a:t>
            </a:r>
            <a:r>
              <a:rPr lang="en-GB" dirty="0"/>
              <a:t> du </a:t>
            </a:r>
            <a:br>
              <a:rPr lang="en-GB" dirty="0"/>
            </a:br>
            <a:r>
              <a:rPr lang="en-GB" dirty="0" err="1"/>
              <a:t>vil</a:t>
            </a:r>
            <a:r>
              <a:rPr lang="en-GB" dirty="0"/>
              <a:t> </a:t>
            </a:r>
            <a:r>
              <a:rPr lang="en-GB" dirty="0" err="1"/>
              <a:t>udskifte</a:t>
            </a:r>
            <a:r>
              <a:rPr lang="en-GB" dirty="0"/>
              <a:t> </a:t>
            </a:r>
            <a:r>
              <a:rPr lang="en-GB" dirty="0" err="1"/>
              <a:t>billedet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4FB0-590F-4C82-9D7E-F7EFC2EC85B3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036763"/>
            <a:ext cx="4461272" cy="4265612"/>
          </a:xfrm>
          <a:solidFill>
            <a:schemeClr val="accent1">
              <a:alpha val="95000"/>
            </a:schemeClr>
          </a:solidFill>
        </p:spPr>
        <p:txBody>
          <a:bodyPr lIns="576000" tIns="144000" rIns="252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536575" indent="-271463">
              <a:defRPr>
                <a:solidFill>
                  <a:schemeClr val="bg1"/>
                </a:solidFill>
              </a:defRPr>
            </a:lvl2pPr>
            <a:lvl3pPr marL="536575" indent="-271463">
              <a:defRPr sz="2000">
                <a:solidFill>
                  <a:schemeClr val="bg1"/>
                </a:solidFill>
              </a:defRPr>
            </a:lvl3pPr>
            <a:lvl4pPr marL="536575" indent="-271463">
              <a:defRPr sz="2000">
                <a:solidFill>
                  <a:schemeClr val="bg1"/>
                </a:solidFill>
              </a:defRPr>
            </a:lvl4pPr>
            <a:lvl5pPr marL="536575" indent="-271463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27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al-punktopstilling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00E8-6976-4492-8367-12FD08124152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4" y="622301"/>
            <a:ext cx="7967663" cy="5681002"/>
          </a:xfrm>
          <a:noFill/>
        </p:spPr>
        <p:txBody>
          <a:bodyPr lIns="0" tIns="0" rIns="0" bIns="0"/>
          <a:lstStyle>
            <a:lvl1pPr marL="336947" indent="-336947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18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36947" indent="-336947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18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36947" indent="-336947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18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36947" indent="-336947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18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36947" indent="-336947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da-DK" sz="4800" b="0" kern="1200" cap="all" spc="18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839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felt 8"/>
          <p:cNvSpPr txBox="1"/>
          <p:nvPr userDrawn="1"/>
        </p:nvSpPr>
        <p:spPr>
          <a:xfrm>
            <a:off x="456070" y="612884"/>
            <a:ext cx="875714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250" b="1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EB04-5303-400E-8B6A-49E7652E4F84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633538"/>
            <a:ext cx="7967663" cy="4110037"/>
          </a:xfrm>
          <a:noFill/>
        </p:spPr>
        <p:txBody>
          <a:bodyPr lIns="0" tIns="0" rIns="0" bIns="0" anchor="t" anchorCtr="0"/>
          <a:lstStyle>
            <a:lvl1pPr marL="0" indent="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36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36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36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36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</p:txBody>
      </p:sp>
      <p:sp>
        <p:nvSpPr>
          <p:cNvPr id="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5934971"/>
            <a:ext cx="7967663" cy="367404"/>
          </a:xfrm>
        </p:spPr>
        <p:txBody>
          <a:bodyPr>
            <a:normAutofit/>
          </a:bodyPr>
          <a:lstStyle>
            <a:lvl1pPr marL="0" indent="0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err="1"/>
              <a:t>Navn</a:t>
            </a:r>
            <a:r>
              <a:rPr lang="en-GB" dirty="0"/>
              <a:t>, </a:t>
            </a:r>
            <a:r>
              <a:rPr lang="en-GB" dirty="0" err="1"/>
              <a:t>kilde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296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ejlede tek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55CC2-5367-4AA2-BA99-138D7F08BA16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Pladsholder til tekst 9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633538"/>
            <a:ext cx="3868583" cy="4669764"/>
          </a:xfrm>
          <a:noFill/>
        </p:spPr>
        <p:txBody>
          <a:bodyPr lIns="0" tIns="0" rIns="0" bIns="0"/>
          <a:lstStyle>
            <a:lvl1pPr marL="0" indent="0" algn="r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r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r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r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1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r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1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6" hasCustomPrompt="1"/>
          </p:nvPr>
        </p:nvSpPr>
        <p:spPr>
          <a:xfrm>
            <a:off x="4678760" y="1633538"/>
            <a:ext cx="3876278" cy="4669764"/>
          </a:xfrm>
          <a:noFill/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0" kern="1200" cap="none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Aft>
                <a:spcPts val="900"/>
              </a:spcAft>
              <a:buFont typeface="Arial" panose="020B0604020202020204" pitchFamily="34" charset="0"/>
              <a:buNone/>
              <a:defRPr lang="da-DK" sz="3600" b="0" kern="1200" cap="none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r>
              <a:rPr lang="en-GB" dirty="0"/>
              <a:t> 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87377" y="622300"/>
            <a:ext cx="7967662" cy="8493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308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E6BBF-E28A-4DE1-9242-B708456B3946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87375" y="1633537"/>
            <a:ext cx="7967663" cy="4668837"/>
          </a:xfrm>
        </p:spPr>
        <p:txBody>
          <a:bodyPr anchor="t" anchorCtr="0"/>
          <a:lstStyle>
            <a:lvl1pPr>
              <a:defRPr sz="6400" b="0" baseline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indsætte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3884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5" y="619125"/>
            <a:ext cx="7967663" cy="865188"/>
          </a:xfrm>
        </p:spPr>
        <p:txBody>
          <a:bodyPr/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tilføje</a:t>
            </a:r>
            <a:r>
              <a:rPr lang="en-GB" dirty="0"/>
              <a:t> </a:t>
            </a:r>
            <a:r>
              <a:rPr lang="en-GB" dirty="0" err="1"/>
              <a:t>overskrift</a:t>
            </a:r>
            <a:endParaRPr lang="en-GB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CB7D-A635-4389-AB55-374A80815EB4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87D5F-E647-4F9C-93B3-AF8E2B04071B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816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 txBox="1">
            <a:spLocks/>
          </p:cNvSpPr>
          <p:nvPr userDrawn="1"/>
        </p:nvSpPr>
        <p:spPr>
          <a:xfrm>
            <a:off x="587376" y="619126"/>
            <a:ext cx="7967662" cy="8651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 err="1">
                <a:solidFill>
                  <a:schemeClr val="tx1"/>
                </a:solidFill>
              </a:rPr>
              <a:t>Brugerguide</a:t>
            </a:r>
            <a:r>
              <a:rPr lang="en-GB" baseline="0" dirty="0">
                <a:solidFill>
                  <a:schemeClr val="tx1"/>
                </a:solidFill>
              </a:rPr>
              <a:t> </a:t>
            </a:r>
            <a:r>
              <a:rPr lang="en-GB" sz="1800" baseline="0" dirty="0">
                <a:solidFill>
                  <a:schemeClr val="tx1"/>
                </a:solidFill>
              </a:rPr>
              <a:t>– </a:t>
            </a:r>
            <a:r>
              <a:rPr lang="en-GB" sz="1800" dirty="0" err="1">
                <a:solidFill>
                  <a:schemeClr val="tx1"/>
                </a:solidFill>
              </a:rPr>
              <a:t>Slet</a:t>
            </a:r>
            <a:r>
              <a:rPr lang="en-GB" sz="1800" dirty="0">
                <a:solidFill>
                  <a:schemeClr val="tx1"/>
                </a:solidFill>
              </a:rPr>
              <a:t>, </a:t>
            </a:r>
            <a:r>
              <a:rPr lang="en-GB" sz="1800" dirty="0" err="1">
                <a:solidFill>
                  <a:schemeClr val="tx1"/>
                </a:solidFill>
              </a:rPr>
              <a:t>før</a:t>
            </a:r>
            <a:r>
              <a:rPr lang="en-GB" sz="1800" dirty="0">
                <a:solidFill>
                  <a:schemeClr val="tx1"/>
                </a:solidFill>
              </a:rPr>
              <a:t> du </a:t>
            </a:r>
            <a:r>
              <a:rPr lang="en-GB" sz="1800" dirty="0" err="1">
                <a:solidFill>
                  <a:schemeClr val="tx1"/>
                </a:solidFill>
              </a:rPr>
              <a:t>færdiggør</a:t>
            </a:r>
            <a:r>
              <a:rPr lang="en-GB" sz="1800" dirty="0">
                <a:solidFill>
                  <a:schemeClr val="tx1"/>
                </a:solidFill>
              </a:rPr>
              <a:t> din</a:t>
            </a:r>
            <a:r>
              <a:rPr lang="en-GB" sz="1800" baseline="0" dirty="0">
                <a:solidFill>
                  <a:schemeClr val="tx1"/>
                </a:solidFill>
              </a:rPr>
              <a:t> </a:t>
            </a:r>
            <a:r>
              <a:rPr lang="en-GB" sz="1800" dirty="0" err="1">
                <a:solidFill>
                  <a:schemeClr val="tx1"/>
                </a:solidFill>
              </a:rPr>
              <a:t>præsentation</a:t>
            </a:r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åbner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PowerPoint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din KU-pc,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åbner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4:3-format og med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dansk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klikker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KU-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fanen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værktøjslinjen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kan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via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knappen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mellem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skabeloner</a:t>
            </a:r>
            <a:endParaRPr lang="en-GB" sz="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henholdsvis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dansk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og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engelsk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formaterne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4:3 og 16:9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eller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”tom” version (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den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version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et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eksempel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diastype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venstrespalten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demopræsentation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med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indsat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tekst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engelsk</a:t>
            </a:r>
            <a:endParaRPr lang="en-GB" sz="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”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fuld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” version,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skal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slette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du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ikke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vil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brugere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m.fl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kan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hente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PowerPoint-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skabelonerne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www.designguide.ku.dk/ku/</a:t>
            </a:r>
            <a:b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en-GB" sz="800" dirty="0" err="1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skabeloner</a:t>
            </a: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r>
              <a:rPr lang="en-GB" sz="800" dirty="0" err="1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powerpoint</a:t>
            </a: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b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en-GB" sz="800" dirty="0" err="1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praesentationer</a:t>
            </a: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Text Box 48"/>
          <p:cNvSpPr txBox="1">
            <a:spLocks noChangeArrowheads="1"/>
          </p:cNvSpPr>
          <p:nvPr userDrawn="1"/>
        </p:nvSpPr>
        <p:spPr bwMode="auto">
          <a:xfrm>
            <a:off x="2576655" y="4201412"/>
            <a:ext cx="1755548" cy="1712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topmenuen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og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Sidefod</a:t>
            </a:r>
            <a:endParaRPr lang="en-GB" sz="8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felterne</a:t>
            </a:r>
            <a:endParaRPr lang="en-GB" sz="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alle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eller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kun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skal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være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enkelt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dias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placeres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højre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side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af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den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grå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topbjælke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3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henholdsvis 4:3- og 16:9-format via dette link: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http://image.ku.dk/lightbox/211/13407586855728741badb20/</a:t>
            </a:r>
            <a:r>
              <a:rPr lang="en-GB" sz="800" b="0" baseline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 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4:3-format: 1.500 x 1.073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60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61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www.designguide.ku.dk/ku/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/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2" name="Billede 25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3" name="Billede 3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4" name="Billede 3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5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6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7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8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7375" y="619125"/>
            <a:ext cx="7967664" cy="86518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7375" y="1635125"/>
            <a:ext cx="7967663" cy="4668178"/>
          </a:xfrm>
        </p:spPr>
        <p:txBody>
          <a:bodyPr vert="horz" lIns="0" tIns="0" rIns="0" bIns="0" rtlCol="0">
            <a:noAutofit/>
          </a:bodyPr>
          <a:lstStyle>
            <a:lvl1pPr>
              <a:defRPr lang="da-DK" baseline="0" dirty="0" smtClean="0"/>
            </a:lvl1pPr>
            <a:lvl2pPr>
              <a:defRPr lang="da-DK" dirty="0" smtClean="0"/>
            </a:lvl2pPr>
            <a:lvl3pPr>
              <a:defRPr lang="da-DK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3CBA-FE51-40BA-9B41-89C7FDAF5BF4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5428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5398" b="7654"/>
          <a:stretch/>
        </p:blipFill>
        <p:spPr>
          <a:xfrm>
            <a:off x="-763323" y="0"/>
            <a:ext cx="9907323" cy="6858000"/>
          </a:xfrm>
          <a:prstGeom prst="rect">
            <a:avLst/>
          </a:prstGeo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7746833" y="-385200"/>
            <a:ext cx="61123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A633E42-BD66-4E16-AB4B-D4F73B67BBBB}" type="datetime1">
              <a:rPr lang="en-GB" smtClean="0"/>
              <a:t>13/06/2025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2427371" y="-385200"/>
            <a:ext cx="5235872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8441657" y="-385200"/>
            <a:ext cx="286319" cy="176797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691816"/>
            <a:ext cx="4469607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7375" y="3007286"/>
            <a:ext cx="3564334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4053600"/>
            <a:ext cx="3564334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3564334" cy="1763813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122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3" cy="8651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7375" y="1635125"/>
            <a:ext cx="7967663" cy="4668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  <a:p>
            <a:pPr lvl="4"/>
            <a:endParaRPr lang="en-GB" dirty="0"/>
          </a:p>
          <a:p>
            <a:pPr marL="402431" marR="0" lvl="1" indent="-198835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GB" dirty="0"/>
          </a:p>
        </p:txBody>
      </p:sp>
      <p:sp>
        <p:nvSpPr>
          <p:cNvPr id="7" name="Rectangle 19"/>
          <p:cNvSpPr/>
          <p:nvPr userDrawn="1"/>
        </p:nvSpPr>
        <p:spPr>
          <a:xfrm>
            <a:off x="0" y="3"/>
            <a:ext cx="9144000" cy="33265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EEFEE">
                  <a:alpha val="93000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2743199" y="85746"/>
            <a:ext cx="440952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177914" y="85746"/>
            <a:ext cx="377124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7272722" y="85746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BEBD739C-1E5B-4D31-9891-7F0D8E3FE10D}" type="datetime1">
              <a:rPr lang="en-GB" smtClean="0"/>
              <a:t>13/06/2025</a:t>
            </a:fld>
            <a:endParaRPr lang="en-GB" dirty="0"/>
          </a:p>
        </p:txBody>
      </p:sp>
      <p:pic>
        <p:nvPicPr>
          <p:cNvPr id="12" name="Picture 7"/>
          <p:cNvPicPr>
            <a:picLocks noChangeAspect="1"/>
          </p:cNvPicPr>
          <p:nvPr userDrawn="1"/>
        </p:nvPicPr>
        <p:blipFill rotWithShape="1">
          <a:blip r:embed="rId26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4" r:id="rId2"/>
    <p:sldLayoutId id="2147483673" r:id="rId3"/>
    <p:sldLayoutId id="2147483671" r:id="rId4"/>
    <p:sldLayoutId id="2147483659" r:id="rId5"/>
    <p:sldLayoutId id="2147483672" r:id="rId6"/>
    <p:sldLayoutId id="2147483660" r:id="rId7"/>
    <p:sldLayoutId id="2147483662" r:id="rId8"/>
    <p:sldLayoutId id="2147483684" r:id="rId9"/>
    <p:sldLayoutId id="2147483685" r:id="rId10"/>
    <p:sldLayoutId id="2147483677" r:id="rId11"/>
    <p:sldLayoutId id="2147483675" r:id="rId12"/>
    <p:sldLayoutId id="2147483676" r:id="rId13"/>
    <p:sldLayoutId id="2147483678" r:id="rId14"/>
    <p:sldLayoutId id="2147483681" r:id="rId15"/>
    <p:sldLayoutId id="2147483682" r:id="rId16"/>
    <p:sldLayoutId id="2147483683" r:id="rId17"/>
    <p:sldLayoutId id="2147483687" r:id="rId18"/>
    <p:sldLayoutId id="2147483664" r:id="rId19"/>
    <p:sldLayoutId id="2147483665" r:id="rId20"/>
    <p:sldLayoutId id="2147483689" r:id="rId21"/>
    <p:sldLayoutId id="2147483688" r:id="rId22"/>
    <p:sldLayoutId id="2147483691" r:id="rId23"/>
    <p:sldLayoutId id="2147483692" r:id="rId24"/>
  </p:sldLayoutIdLst>
  <p:hf hdr="0" ft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spc="45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400" kern="1200" spc="45" baseline="0">
          <a:solidFill>
            <a:schemeClr val="tx1"/>
          </a:solidFill>
          <a:latin typeface="+mn-lt"/>
          <a:ea typeface="+mn-ea"/>
          <a:cs typeface="+mn-cs"/>
        </a:defRPr>
      </a:lvl1pPr>
      <a:lvl2pPr marL="535781" marR="0" indent="-264319" algn="l" defTabSz="685800" rtl="0" eaLnBrk="1" fontAlgn="auto" latinLnBrk="0" hangingPunct="1">
        <a:lnSpc>
          <a:spcPct val="100000"/>
        </a:lnSpc>
        <a:spcBef>
          <a:spcPts val="375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kern="1200" spc="45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8038" indent="-271463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600" kern="1200" spc="45" baseline="0">
          <a:solidFill>
            <a:schemeClr val="tx1"/>
          </a:solidFill>
          <a:latin typeface="+mn-lt"/>
          <a:ea typeface="+mn-ea"/>
          <a:cs typeface="+mn-cs"/>
        </a:defRPr>
      </a:lvl5pPr>
      <a:lvl6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8038" indent="-2714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5389" userDrawn="1">
          <p15:clr>
            <a:srgbClr val="F26B43"/>
          </p15:clr>
        </p15:guide>
        <p15:guide id="3" orient="horz" pos="1029" userDrawn="1">
          <p15:clr>
            <a:srgbClr val="F26B43"/>
          </p15:clr>
        </p15:guide>
        <p15:guide id="4" orient="horz" pos="3970" userDrawn="1">
          <p15:clr>
            <a:srgbClr val="F26B43"/>
          </p15:clr>
        </p15:guide>
        <p15:guide id="5" pos="5397" userDrawn="1">
          <p15:clr>
            <a:srgbClr val="F26B43"/>
          </p15:clr>
        </p15:guide>
        <p15:guide id="6" orient="horz" pos="392" userDrawn="1">
          <p15:clr>
            <a:srgbClr val="F26B43"/>
          </p15:clr>
        </p15:guide>
        <p15:guide id="7" orient="horz" pos="92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11" Type="http://schemas.openxmlformats.org/officeDocument/2006/relationships/image" Target="../media/image43.png"/><Relationship Id="rId5" Type="http://schemas.openxmlformats.org/officeDocument/2006/relationships/image" Target="../media/image26.jpeg"/><Relationship Id="rId10" Type="http://schemas.openxmlformats.org/officeDocument/2006/relationships/image" Target="../media/image42.png"/><Relationship Id="rId4" Type="http://schemas.openxmlformats.org/officeDocument/2006/relationships/image" Target="../media/image25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61.png"/><Relationship Id="rId3" Type="http://schemas.openxmlformats.org/officeDocument/2006/relationships/image" Target="../media/image44.png"/><Relationship Id="rId21" Type="http://schemas.openxmlformats.org/officeDocument/2006/relationships/image" Target="../media/image59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7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eea.europa.eu/en/circularity/sectoral-modules/plastics/average-yearly-price-of-plastic-scrap-eur-tonne?activeTab=265e2bee-7de3-46e8-b6ee-76005f3f434f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42.png"/><Relationship Id="rId4" Type="http://schemas.openxmlformats.org/officeDocument/2006/relationships/image" Target="../media/image26.jpe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6287D-C1BA-47FB-9104-667BFDE3E3EE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B851B68-8C6B-63ED-31E9-037BC6153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75" y="3006839"/>
            <a:ext cx="2551416" cy="307415"/>
          </a:xfrm>
        </p:spPr>
        <p:txBody>
          <a:bodyPr/>
          <a:lstStyle/>
          <a:p>
            <a:r>
              <a:rPr lang="en-US" sz="2000" b="1" noProof="0" dirty="0"/>
              <a:t>Presentation at SLU, 11 June 2025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A3C8C42-AF43-02FC-8B02-1A6651C8F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3968930"/>
            <a:ext cx="3564334" cy="899766"/>
          </a:xfrm>
        </p:spPr>
        <p:txBody>
          <a:bodyPr/>
          <a:lstStyle/>
          <a:p>
            <a:r>
              <a:rPr lang="en-US" noProof="0" dirty="0"/>
              <a:t>Rasmus K. S. Berg, </a:t>
            </a:r>
          </a:p>
          <a:p>
            <a:r>
              <a:rPr lang="en-US" u="sng" noProof="0" dirty="0"/>
              <a:t>Peter K. Kruse-Andersen</a:t>
            </a:r>
            <a:r>
              <a:rPr lang="en-US" noProof="0" dirty="0"/>
              <a:t>, and Thor D. Noe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90BC75F-A1B1-9AAF-B4C9-DD83EC874C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1020200"/>
            <a:ext cx="3564334" cy="1763813"/>
          </a:xfrm>
        </p:spPr>
        <p:txBody>
          <a:bodyPr/>
          <a:lstStyle/>
          <a:p>
            <a:r>
              <a:rPr lang="en-US" sz="2800" noProof="0" dirty="0"/>
              <a:t>Is recycling wasted? The Circular Economy and the Material Rebound Effect</a:t>
            </a:r>
          </a:p>
        </p:txBody>
      </p:sp>
    </p:spTree>
    <p:extLst>
      <p:ext uri="{BB962C8B-B14F-4D97-AF65-F5344CB8AC3E}">
        <p14:creationId xmlns:p14="http://schemas.microsoft.com/office/powerpoint/2010/main" val="310120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32672" y="2140927"/>
            <a:ext cx="1853682" cy="6589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Natural resources</a:t>
            </a:r>
          </a:p>
        </p:txBody>
      </p:sp>
      <p:cxnSp>
        <p:nvCxnSpPr>
          <p:cNvPr id="12" name="Straight Arrow Connector 11"/>
          <p:cNvCxnSpPr>
            <a:stCxn id="7" idx="2"/>
          </p:cNvCxnSpPr>
          <p:nvPr/>
        </p:nvCxnSpPr>
        <p:spPr>
          <a:xfrm>
            <a:off x="4559513" y="2799871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32672" y="3334482"/>
            <a:ext cx="1853682" cy="48519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559513" y="3819674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32672" y="4357395"/>
            <a:ext cx="1853682" cy="4851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Consumption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50182" y="4842587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32672" y="5377198"/>
            <a:ext cx="1853682" cy="4851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9794B-D940-90CB-E680-44A1A68B77A9}"/>
              </a:ext>
            </a:extLst>
          </p:cNvPr>
          <p:cNvSpPr txBox="1"/>
          <p:nvPr/>
        </p:nvSpPr>
        <p:spPr>
          <a:xfrm>
            <a:off x="508409" y="1051323"/>
            <a:ext cx="2100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Linear economy</a:t>
            </a:r>
          </a:p>
        </p:txBody>
      </p:sp>
    </p:spTree>
    <p:extLst>
      <p:ext uri="{BB962C8B-B14F-4D97-AF65-F5344CB8AC3E}">
        <p14:creationId xmlns:p14="http://schemas.microsoft.com/office/powerpoint/2010/main" val="20061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26EF-D6C5-4BA0-54A7-A185F7B1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6E0478-1D81-5D31-0E1B-57CC556E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9C216-0C02-BB98-22BC-1BF674EF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15F0B-576F-A92D-7850-EC48A3CF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D52A9F-B83F-7D13-780D-B105879B6CD1}"/>
              </a:ext>
            </a:extLst>
          </p:cNvPr>
          <p:cNvSpPr/>
          <p:nvPr/>
        </p:nvSpPr>
        <p:spPr>
          <a:xfrm>
            <a:off x="3632672" y="2140927"/>
            <a:ext cx="1853682" cy="6589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Natural resources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670645-7C13-F275-C5A3-6A8D1527C688}"/>
              </a:ext>
            </a:extLst>
          </p:cNvPr>
          <p:cNvCxnSpPr>
            <a:stCxn id="7" idx="2"/>
          </p:cNvCxnSpPr>
          <p:nvPr/>
        </p:nvCxnSpPr>
        <p:spPr>
          <a:xfrm>
            <a:off x="4559513" y="2799871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8C61213-15D1-7515-1972-64A0C8531859}"/>
              </a:ext>
            </a:extLst>
          </p:cNvPr>
          <p:cNvSpPr/>
          <p:nvPr/>
        </p:nvSpPr>
        <p:spPr>
          <a:xfrm>
            <a:off x="3632672" y="3334482"/>
            <a:ext cx="1853682" cy="48519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248817-069B-F99A-B124-1E71132406F8}"/>
              </a:ext>
            </a:extLst>
          </p:cNvPr>
          <p:cNvCxnSpPr/>
          <p:nvPr/>
        </p:nvCxnSpPr>
        <p:spPr>
          <a:xfrm>
            <a:off x="4559513" y="3819674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4D9B6D-67BF-1F3B-507D-FE000AB65064}"/>
              </a:ext>
            </a:extLst>
          </p:cNvPr>
          <p:cNvSpPr/>
          <p:nvPr/>
        </p:nvSpPr>
        <p:spPr>
          <a:xfrm>
            <a:off x="3632672" y="4357395"/>
            <a:ext cx="1853682" cy="4851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Consumption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95F61D-ADD0-7BA3-E887-937FF1596B37}"/>
              </a:ext>
            </a:extLst>
          </p:cNvPr>
          <p:cNvCxnSpPr/>
          <p:nvPr/>
        </p:nvCxnSpPr>
        <p:spPr>
          <a:xfrm>
            <a:off x="4550182" y="4842587"/>
            <a:ext cx="0" cy="5346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69EB17-DC79-3218-2546-B3C1F2CCCBB7}"/>
              </a:ext>
            </a:extLst>
          </p:cNvPr>
          <p:cNvSpPr/>
          <p:nvPr/>
        </p:nvSpPr>
        <p:spPr>
          <a:xfrm>
            <a:off x="3632672" y="5377198"/>
            <a:ext cx="1853682" cy="4851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</p:txBody>
      </p:sp>
      <p:pic>
        <p:nvPicPr>
          <p:cNvPr id="1026" name="Picture 2" descr="Free trash can trash can illustration">
            <a:extLst>
              <a:ext uri="{FF2B5EF4-FFF2-40B4-BE49-F238E27FC236}">
                <a16:creationId xmlns:a16="http://schemas.microsoft.com/office/drawing/2014/main" id="{6CB015AE-5610-CC4F-6643-E5C7F8D01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64" y="5005911"/>
            <a:ext cx="1153872" cy="122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ai generated ore truck illustration">
            <a:extLst>
              <a:ext uri="{FF2B5EF4-FFF2-40B4-BE49-F238E27FC236}">
                <a16:creationId xmlns:a16="http://schemas.microsoft.com/office/drawing/2014/main" id="{20C897D3-3AC2-92BF-97B8-B4917677F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10" y="1495909"/>
            <a:ext cx="1948980" cy="194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29AAB9-3411-3F0C-404E-6D4569B01683}"/>
              </a:ext>
            </a:extLst>
          </p:cNvPr>
          <p:cNvSpPr txBox="1"/>
          <p:nvPr/>
        </p:nvSpPr>
        <p:spPr>
          <a:xfrm>
            <a:off x="1284051" y="228573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Externalities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039694-E23D-2889-C749-E49A144DBD4F}"/>
              </a:ext>
            </a:extLst>
          </p:cNvPr>
          <p:cNvSpPr txBox="1"/>
          <p:nvPr/>
        </p:nvSpPr>
        <p:spPr>
          <a:xfrm>
            <a:off x="1284051" y="543512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Externalities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18D5D7-BE5A-5247-4AB3-4693AB6C990E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802415" y="2470399"/>
            <a:ext cx="770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24CC0E-75CC-2478-E708-DD9D23813FD7}"/>
              </a:ext>
            </a:extLst>
          </p:cNvPr>
          <p:cNvCxnSpPr/>
          <p:nvPr/>
        </p:nvCxnSpPr>
        <p:spPr>
          <a:xfrm>
            <a:off x="2802414" y="5619793"/>
            <a:ext cx="77087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322227-068C-09FE-AB88-A4D78B7067BD}"/>
              </a:ext>
            </a:extLst>
          </p:cNvPr>
          <p:cNvSpPr txBox="1"/>
          <p:nvPr/>
        </p:nvSpPr>
        <p:spPr>
          <a:xfrm>
            <a:off x="508409" y="1046902"/>
            <a:ext cx="2100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Linear economy</a:t>
            </a:r>
          </a:p>
        </p:txBody>
      </p:sp>
    </p:spTree>
    <p:extLst>
      <p:ext uri="{BB962C8B-B14F-4D97-AF65-F5344CB8AC3E}">
        <p14:creationId xmlns:p14="http://schemas.microsoft.com/office/powerpoint/2010/main" val="389680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rc 25"/>
          <p:cNvSpPr/>
          <p:nvPr/>
        </p:nvSpPr>
        <p:spPr>
          <a:xfrm rot="5400000">
            <a:off x="4317807" y="2170575"/>
            <a:ext cx="2853411" cy="3204000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0908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Natural 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90831" y="2391027"/>
            <a:ext cx="1853682" cy="48519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9468" y="3675279"/>
            <a:ext cx="1853682" cy="4851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672" y="5612643"/>
            <a:ext cx="1853682" cy="4851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</p:txBody>
      </p:sp>
      <p:sp>
        <p:nvSpPr>
          <p:cNvPr id="10" name="Arc 9"/>
          <p:cNvSpPr/>
          <p:nvPr/>
        </p:nvSpPr>
        <p:spPr>
          <a:xfrm>
            <a:off x="4142513" y="2631919"/>
            <a:ext cx="3204000" cy="2070709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/>
          <p:cNvSpPr/>
          <p:nvPr/>
        </p:nvSpPr>
        <p:spPr>
          <a:xfrm>
            <a:off x="2979436" y="2855167"/>
            <a:ext cx="958082" cy="2363755"/>
          </a:xfrm>
          <a:custGeom>
            <a:avLst/>
            <a:gdLst>
              <a:gd name="connsiteX0" fmla="*/ 958082 w 958082"/>
              <a:gd name="connsiteY0" fmla="*/ 2363755 h 2363755"/>
              <a:gd name="connsiteX1" fmla="*/ 140 w 958082"/>
              <a:gd name="connsiteY1" fmla="*/ 1069911 h 2363755"/>
              <a:gd name="connsiteX2" fmla="*/ 902099 w 958082"/>
              <a:gd name="connsiteY2" fmla="*/ 0 h 236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8082" h="2363755">
                <a:moveTo>
                  <a:pt x="958082" y="2363755"/>
                </a:moveTo>
                <a:cubicBezTo>
                  <a:pt x="483776" y="1913812"/>
                  <a:pt x="9470" y="1463870"/>
                  <a:pt x="140" y="1069911"/>
                </a:cubicBezTo>
                <a:cubicBezTo>
                  <a:pt x="-9190" y="675952"/>
                  <a:pt x="446454" y="337976"/>
                  <a:pt x="902099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890831" y="4956683"/>
            <a:ext cx="1853682" cy="48519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Recycling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62763" y="2631920"/>
            <a:ext cx="132806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353855" y="4160471"/>
            <a:ext cx="0" cy="144071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1DC14E-8824-4A9E-2AB1-1CD703794E82}"/>
              </a:ext>
            </a:extLst>
          </p:cNvPr>
          <p:cNvSpPr txBox="1"/>
          <p:nvPr/>
        </p:nvSpPr>
        <p:spPr>
          <a:xfrm>
            <a:off x="508409" y="1051323"/>
            <a:ext cx="2287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Circular economy</a:t>
            </a:r>
          </a:p>
        </p:txBody>
      </p:sp>
    </p:spTree>
    <p:extLst>
      <p:ext uri="{BB962C8B-B14F-4D97-AF65-F5344CB8AC3E}">
        <p14:creationId xmlns:p14="http://schemas.microsoft.com/office/powerpoint/2010/main" val="22843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rc 25"/>
          <p:cNvSpPr/>
          <p:nvPr/>
        </p:nvSpPr>
        <p:spPr>
          <a:xfrm rot="5400000">
            <a:off x="4317807" y="2170575"/>
            <a:ext cx="2853411" cy="3204000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0908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Natural 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90831" y="2391027"/>
            <a:ext cx="1853682" cy="48519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9468" y="3675279"/>
            <a:ext cx="1853682" cy="4851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672" y="5612643"/>
            <a:ext cx="1853682" cy="4851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</p:txBody>
      </p:sp>
      <p:sp>
        <p:nvSpPr>
          <p:cNvPr id="10" name="Arc 9"/>
          <p:cNvSpPr/>
          <p:nvPr/>
        </p:nvSpPr>
        <p:spPr>
          <a:xfrm>
            <a:off x="4142513" y="2631919"/>
            <a:ext cx="3204000" cy="2070709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26"/>
          <p:cNvSpPr/>
          <p:nvPr/>
        </p:nvSpPr>
        <p:spPr>
          <a:xfrm>
            <a:off x="2979436" y="2855167"/>
            <a:ext cx="958082" cy="2363755"/>
          </a:xfrm>
          <a:custGeom>
            <a:avLst/>
            <a:gdLst>
              <a:gd name="connsiteX0" fmla="*/ 958082 w 958082"/>
              <a:gd name="connsiteY0" fmla="*/ 2363755 h 2363755"/>
              <a:gd name="connsiteX1" fmla="*/ 140 w 958082"/>
              <a:gd name="connsiteY1" fmla="*/ 1069911 h 2363755"/>
              <a:gd name="connsiteX2" fmla="*/ 902099 w 958082"/>
              <a:gd name="connsiteY2" fmla="*/ 0 h 236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8082" h="2363755">
                <a:moveTo>
                  <a:pt x="958082" y="2363755"/>
                </a:moveTo>
                <a:cubicBezTo>
                  <a:pt x="483776" y="1913812"/>
                  <a:pt x="9470" y="1463870"/>
                  <a:pt x="140" y="1069911"/>
                </a:cubicBezTo>
                <a:cubicBezTo>
                  <a:pt x="-9190" y="675952"/>
                  <a:pt x="446454" y="337976"/>
                  <a:pt x="902099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890831" y="4956683"/>
            <a:ext cx="1853682" cy="48519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Recycling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62763" y="2631920"/>
            <a:ext cx="132806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353855" y="4160471"/>
            <a:ext cx="0" cy="144071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5231363" y="2637453"/>
            <a:ext cx="938720" cy="2289110"/>
          </a:xfrm>
          <a:custGeom>
            <a:avLst/>
            <a:gdLst>
              <a:gd name="connsiteX0" fmla="*/ 522515 w 938720"/>
              <a:gd name="connsiteY0" fmla="*/ 0 h 2289110"/>
              <a:gd name="connsiteX1" fmla="*/ 920621 w 938720"/>
              <a:gd name="connsiteY1" fmla="*/ 497633 h 2289110"/>
              <a:gd name="connsiteX2" fmla="*/ 0 w 938720"/>
              <a:gd name="connsiteY2" fmla="*/ 2289110 h 228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8720" h="2289110">
                <a:moveTo>
                  <a:pt x="522515" y="0"/>
                </a:moveTo>
                <a:cubicBezTo>
                  <a:pt x="765111" y="58057"/>
                  <a:pt x="1007707" y="116115"/>
                  <a:pt x="920621" y="497633"/>
                </a:cubicBezTo>
                <a:cubicBezTo>
                  <a:pt x="833535" y="879151"/>
                  <a:pt x="416767" y="1584130"/>
                  <a:pt x="0" y="228911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717236" y="3297397"/>
            <a:ext cx="13131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Waste as a resource</a:t>
            </a:r>
          </a:p>
        </p:txBody>
      </p:sp>
      <p:sp>
        <p:nvSpPr>
          <p:cNvPr id="19" name="Freeform 18"/>
          <p:cNvSpPr/>
          <p:nvPr/>
        </p:nvSpPr>
        <p:spPr>
          <a:xfrm>
            <a:off x="5517502" y="1769932"/>
            <a:ext cx="952433" cy="842639"/>
          </a:xfrm>
          <a:custGeom>
            <a:avLst/>
            <a:gdLst>
              <a:gd name="connsiteX0" fmla="*/ 211494 w 952433"/>
              <a:gd name="connsiteY0" fmla="*/ 842639 h 842639"/>
              <a:gd name="connsiteX1" fmla="*/ 522514 w 952433"/>
              <a:gd name="connsiteY1" fmla="*/ 792876 h 842639"/>
              <a:gd name="connsiteX2" fmla="*/ 889518 w 952433"/>
              <a:gd name="connsiteY2" fmla="*/ 575162 h 842639"/>
              <a:gd name="connsiteX3" fmla="*/ 939282 w 952433"/>
              <a:gd name="connsiteY3" fmla="*/ 245480 h 842639"/>
              <a:gd name="connsiteX4" fmla="*/ 746449 w 952433"/>
              <a:gd name="connsiteY4" fmla="*/ 58868 h 842639"/>
              <a:gd name="connsiteX5" fmla="*/ 410547 w 952433"/>
              <a:gd name="connsiteY5" fmla="*/ 15325 h 842639"/>
              <a:gd name="connsiteX6" fmla="*/ 87086 w 952433"/>
              <a:gd name="connsiteY6" fmla="*/ 295244 h 842639"/>
              <a:gd name="connsiteX7" fmla="*/ 0 w 952433"/>
              <a:gd name="connsiteY7" fmla="*/ 612484 h 84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433" h="842639">
                <a:moveTo>
                  <a:pt x="211494" y="842639"/>
                </a:moveTo>
                <a:cubicBezTo>
                  <a:pt x="310502" y="840047"/>
                  <a:pt x="409510" y="837455"/>
                  <a:pt x="522514" y="792876"/>
                </a:cubicBezTo>
                <a:cubicBezTo>
                  <a:pt x="635518" y="748297"/>
                  <a:pt x="820057" y="666395"/>
                  <a:pt x="889518" y="575162"/>
                </a:cubicBezTo>
                <a:cubicBezTo>
                  <a:pt x="958979" y="483929"/>
                  <a:pt x="963127" y="331529"/>
                  <a:pt x="939282" y="245480"/>
                </a:cubicBezTo>
                <a:cubicBezTo>
                  <a:pt x="915437" y="159431"/>
                  <a:pt x="834571" y="97227"/>
                  <a:pt x="746449" y="58868"/>
                </a:cubicBezTo>
                <a:cubicBezTo>
                  <a:pt x="658327" y="20509"/>
                  <a:pt x="520441" y="-24071"/>
                  <a:pt x="410547" y="15325"/>
                </a:cubicBezTo>
                <a:cubicBezTo>
                  <a:pt x="300653" y="54721"/>
                  <a:pt x="155510" y="195718"/>
                  <a:pt x="87086" y="295244"/>
                </a:cubicBezTo>
                <a:cubicBezTo>
                  <a:pt x="18662" y="394770"/>
                  <a:pt x="9331" y="503627"/>
                  <a:pt x="0" y="612484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862741" y="1542102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Remanufacturing</a:t>
            </a:r>
          </a:p>
        </p:txBody>
      </p:sp>
      <p:sp>
        <p:nvSpPr>
          <p:cNvPr id="22" name="Freeform 21"/>
          <p:cNvSpPr/>
          <p:nvPr/>
        </p:nvSpPr>
        <p:spPr>
          <a:xfrm>
            <a:off x="6148072" y="4149012"/>
            <a:ext cx="1136026" cy="335809"/>
          </a:xfrm>
          <a:custGeom>
            <a:avLst/>
            <a:gdLst>
              <a:gd name="connsiteX0" fmla="*/ 1136026 w 1136026"/>
              <a:gd name="connsiteY0" fmla="*/ 0 h 495202"/>
              <a:gd name="connsiteX1" fmla="*/ 501544 w 1136026"/>
              <a:gd name="connsiteY1" fmla="*/ 472751 h 495202"/>
              <a:gd name="connsiteX2" fmla="*/ 22573 w 1136026"/>
              <a:gd name="connsiteY2" fmla="*/ 379445 h 495202"/>
              <a:gd name="connsiteX3" fmla="*/ 122099 w 1136026"/>
              <a:gd name="connsiteY3" fmla="*/ 31102 h 495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6026" h="495202">
                <a:moveTo>
                  <a:pt x="1136026" y="0"/>
                </a:moveTo>
                <a:cubicBezTo>
                  <a:pt x="911573" y="204755"/>
                  <a:pt x="687120" y="409510"/>
                  <a:pt x="501544" y="472751"/>
                </a:cubicBezTo>
                <a:cubicBezTo>
                  <a:pt x="315968" y="535992"/>
                  <a:pt x="85814" y="453053"/>
                  <a:pt x="22573" y="379445"/>
                </a:cubicBezTo>
                <a:cubicBezTo>
                  <a:pt x="-40668" y="305837"/>
                  <a:pt x="40715" y="168469"/>
                  <a:pt x="122099" y="31102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485193" y="4450722"/>
            <a:ext cx="1072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Repair og reuse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23C7A-A2D2-32B2-3F89-9BF365378453}"/>
              </a:ext>
            </a:extLst>
          </p:cNvPr>
          <p:cNvSpPr txBox="1"/>
          <p:nvPr/>
        </p:nvSpPr>
        <p:spPr>
          <a:xfrm>
            <a:off x="508409" y="1051323"/>
            <a:ext cx="2287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Circular economy</a:t>
            </a:r>
          </a:p>
        </p:txBody>
      </p:sp>
    </p:spTree>
    <p:extLst>
      <p:ext uri="{BB962C8B-B14F-4D97-AF65-F5344CB8AC3E}">
        <p14:creationId xmlns:p14="http://schemas.microsoft.com/office/powerpoint/2010/main" val="30030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189" y="5247959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303817" y="2728199"/>
            <a:ext cx="2992757" cy="2608644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83992" y="1952786"/>
            <a:ext cx="2992757" cy="4298723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25915" y="3044612"/>
            <a:ext cx="2162575" cy="1776204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B2255-D465-0162-EB81-A4D836628E45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</p:spTree>
    <p:extLst>
      <p:ext uri="{BB962C8B-B14F-4D97-AF65-F5344CB8AC3E}">
        <p14:creationId xmlns:p14="http://schemas.microsoft.com/office/powerpoint/2010/main" val="63611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189" y="5247959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sp>
        <p:nvSpPr>
          <p:cNvPr id="19" name="Oval 18"/>
          <p:cNvSpPr/>
          <p:nvPr/>
        </p:nvSpPr>
        <p:spPr>
          <a:xfrm>
            <a:off x="3988760" y="1934803"/>
            <a:ext cx="1144515" cy="9542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E4B64-4D11-285D-F87D-D0AC1E86D32E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</p:spTree>
    <p:extLst>
      <p:ext uri="{BB962C8B-B14F-4D97-AF65-F5344CB8AC3E}">
        <p14:creationId xmlns:p14="http://schemas.microsoft.com/office/powerpoint/2010/main" val="147764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189" y="5247959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296575" y="2631544"/>
            <a:ext cx="775525" cy="625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664748" y="3192949"/>
            <a:ext cx="445115" cy="1530221"/>
          </a:xfrm>
          <a:custGeom>
            <a:avLst/>
            <a:gdLst>
              <a:gd name="connsiteX0" fmla="*/ 445115 w 445115"/>
              <a:gd name="connsiteY0" fmla="*/ 0 h 1530221"/>
              <a:gd name="connsiteX1" fmla="*/ 308266 w 445115"/>
              <a:gd name="connsiteY1" fmla="*/ 255037 h 1530221"/>
              <a:gd name="connsiteX2" fmla="*/ 65670 w 445115"/>
              <a:gd name="connsiteY2" fmla="*/ 709127 h 1530221"/>
              <a:gd name="connsiteX3" fmla="*/ 28348 w 445115"/>
              <a:gd name="connsiteY3" fmla="*/ 1101013 h 1530221"/>
              <a:gd name="connsiteX4" fmla="*/ 438895 w 445115"/>
              <a:gd name="connsiteY4" fmla="*/ 1530221 h 153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15" h="1530221">
                <a:moveTo>
                  <a:pt x="445115" y="0"/>
                </a:moveTo>
                <a:lnTo>
                  <a:pt x="308266" y="255037"/>
                </a:lnTo>
                <a:cubicBezTo>
                  <a:pt x="245025" y="373225"/>
                  <a:pt x="112323" y="568131"/>
                  <a:pt x="65670" y="709127"/>
                </a:cubicBezTo>
                <a:cubicBezTo>
                  <a:pt x="19017" y="850123"/>
                  <a:pt x="-33856" y="964164"/>
                  <a:pt x="28348" y="1101013"/>
                </a:cubicBezTo>
                <a:cubicBezTo>
                  <a:pt x="90552" y="1237862"/>
                  <a:pt x="264723" y="1384041"/>
                  <a:pt x="438895" y="1530221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 19"/>
          <p:cNvSpPr/>
          <p:nvPr/>
        </p:nvSpPr>
        <p:spPr>
          <a:xfrm>
            <a:off x="3627895" y="3671921"/>
            <a:ext cx="314017" cy="1847461"/>
          </a:xfrm>
          <a:custGeom>
            <a:avLst/>
            <a:gdLst>
              <a:gd name="connsiteX0" fmla="*/ 214491 w 314017"/>
              <a:gd name="connsiteY0" fmla="*/ 0 h 1847461"/>
              <a:gd name="connsiteX1" fmla="*/ 77642 w 314017"/>
              <a:gd name="connsiteY1" fmla="*/ 286139 h 1847461"/>
              <a:gd name="connsiteX2" fmla="*/ 27879 w 314017"/>
              <a:gd name="connsiteY2" fmla="*/ 516294 h 1847461"/>
              <a:gd name="connsiteX3" fmla="*/ 21658 w 314017"/>
              <a:gd name="connsiteY3" fmla="*/ 1306286 h 1847461"/>
              <a:gd name="connsiteX4" fmla="*/ 314017 w 314017"/>
              <a:gd name="connsiteY4" fmla="*/ 1847461 h 184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017" h="1847461">
                <a:moveTo>
                  <a:pt x="214491" y="0"/>
                </a:moveTo>
                <a:cubicBezTo>
                  <a:pt x="161617" y="100045"/>
                  <a:pt x="108744" y="200090"/>
                  <a:pt x="77642" y="286139"/>
                </a:cubicBezTo>
                <a:cubicBezTo>
                  <a:pt x="46540" y="372188"/>
                  <a:pt x="37210" y="346269"/>
                  <a:pt x="27879" y="516294"/>
                </a:cubicBezTo>
                <a:cubicBezTo>
                  <a:pt x="18548" y="686319"/>
                  <a:pt x="-26032" y="1084425"/>
                  <a:pt x="21658" y="1306286"/>
                </a:cubicBezTo>
                <a:cubicBezTo>
                  <a:pt x="69348" y="1528147"/>
                  <a:pt x="191682" y="1687804"/>
                  <a:pt x="314017" y="184746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776658" y="2783945"/>
            <a:ext cx="1370177" cy="13754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7469" y="2518131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C7B46-705D-FD1B-1D40-56F2C58F5D1A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</p:spTree>
    <p:extLst>
      <p:ext uri="{BB962C8B-B14F-4D97-AF65-F5344CB8AC3E}">
        <p14:creationId xmlns:p14="http://schemas.microsoft.com/office/powerpoint/2010/main" val="375020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189" y="5247959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296575" y="2631544"/>
            <a:ext cx="775525" cy="625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776658" y="2783945"/>
            <a:ext cx="1370177" cy="13754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7469" y="2518131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23" name="Freeform 22"/>
          <p:cNvSpPr/>
          <p:nvPr/>
        </p:nvSpPr>
        <p:spPr>
          <a:xfrm>
            <a:off x="5018043" y="2496264"/>
            <a:ext cx="623087" cy="1076130"/>
          </a:xfrm>
          <a:custGeom>
            <a:avLst/>
            <a:gdLst>
              <a:gd name="connsiteX0" fmla="*/ 0 w 623087"/>
              <a:gd name="connsiteY0" fmla="*/ 0 h 1076130"/>
              <a:gd name="connsiteX1" fmla="*/ 622041 w 623087"/>
              <a:gd name="connsiteY1" fmla="*/ 503853 h 1076130"/>
              <a:gd name="connsiteX2" fmla="*/ 118188 w 623087"/>
              <a:gd name="connsiteY2" fmla="*/ 1076130 h 107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087" h="1076130">
                <a:moveTo>
                  <a:pt x="0" y="0"/>
                </a:moveTo>
                <a:cubicBezTo>
                  <a:pt x="301171" y="162249"/>
                  <a:pt x="602343" y="324498"/>
                  <a:pt x="622041" y="503853"/>
                </a:cubicBezTo>
                <a:cubicBezTo>
                  <a:pt x="641739" y="683208"/>
                  <a:pt x="379963" y="879669"/>
                  <a:pt x="118188" y="107613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015413" y="2488608"/>
            <a:ext cx="1619936" cy="790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5024264" y="2981455"/>
            <a:ext cx="639749" cy="1480458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/>
          <p:cNvSpPr/>
          <p:nvPr/>
        </p:nvSpPr>
        <p:spPr>
          <a:xfrm>
            <a:off x="5024264" y="2979067"/>
            <a:ext cx="639749" cy="2285278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625595" y="2472440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</a:t>
            </a:r>
          </a:p>
        </p:txBody>
      </p:sp>
      <p:sp>
        <p:nvSpPr>
          <p:cNvPr id="28" name="Freeform 27"/>
          <p:cNvSpPr/>
          <p:nvPr/>
        </p:nvSpPr>
        <p:spPr>
          <a:xfrm>
            <a:off x="3664748" y="3192949"/>
            <a:ext cx="445115" cy="1530221"/>
          </a:xfrm>
          <a:custGeom>
            <a:avLst/>
            <a:gdLst>
              <a:gd name="connsiteX0" fmla="*/ 445115 w 445115"/>
              <a:gd name="connsiteY0" fmla="*/ 0 h 1530221"/>
              <a:gd name="connsiteX1" fmla="*/ 308266 w 445115"/>
              <a:gd name="connsiteY1" fmla="*/ 255037 h 1530221"/>
              <a:gd name="connsiteX2" fmla="*/ 65670 w 445115"/>
              <a:gd name="connsiteY2" fmla="*/ 709127 h 1530221"/>
              <a:gd name="connsiteX3" fmla="*/ 28348 w 445115"/>
              <a:gd name="connsiteY3" fmla="*/ 1101013 h 1530221"/>
              <a:gd name="connsiteX4" fmla="*/ 438895 w 445115"/>
              <a:gd name="connsiteY4" fmla="*/ 1530221 h 153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15" h="1530221">
                <a:moveTo>
                  <a:pt x="445115" y="0"/>
                </a:moveTo>
                <a:lnTo>
                  <a:pt x="308266" y="255037"/>
                </a:lnTo>
                <a:cubicBezTo>
                  <a:pt x="245025" y="373225"/>
                  <a:pt x="112323" y="568131"/>
                  <a:pt x="65670" y="709127"/>
                </a:cubicBezTo>
                <a:cubicBezTo>
                  <a:pt x="19017" y="850123"/>
                  <a:pt x="-33856" y="964164"/>
                  <a:pt x="28348" y="1101013"/>
                </a:cubicBezTo>
                <a:cubicBezTo>
                  <a:pt x="90552" y="1237862"/>
                  <a:pt x="264723" y="1384041"/>
                  <a:pt x="438895" y="1530221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 28"/>
          <p:cNvSpPr/>
          <p:nvPr/>
        </p:nvSpPr>
        <p:spPr>
          <a:xfrm>
            <a:off x="3627895" y="3671921"/>
            <a:ext cx="314017" cy="1847461"/>
          </a:xfrm>
          <a:custGeom>
            <a:avLst/>
            <a:gdLst>
              <a:gd name="connsiteX0" fmla="*/ 214491 w 314017"/>
              <a:gd name="connsiteY0" fmla="*/ 0 h 1847461"/>
              <a:gd name="connsiteX1" fmla="*/ 77642 w 314017"/>
              <a:gd name="connsiteY1" fmla="*/ 286139 h 1847461"/>
              <a:gd name="connsiteX2" fmla="*/ 27879 w 314017"/>
              <a:gd name="connsiteY2" fmla="*/ 516294 h 1847461"/>
              <a:gd name="connsiteX3" fmla="*/ 21658 w 314017"/>
              <a:gd name="connsiteY3" fmla="*/ 1306286 h 1847461"/>
              <a:gd name="connsiteX4" fmla="*/ 314017 w 314017"/>
              <a:gd name="connsiteY4" fmla="*/ 1847461 h 184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017" h="1847461">
                <a:moveTo>
                  <a:pt x="214491" y="0"/>
                </a:moveTo>
                <a:cubicBezTo>
                  <a:pt x="161617" y="100045"/>
                  <a:pt x="108744" y="200090"/>
                  <a:pt x="77642" y="286139"/>
                </a:cubicBezTo>
                <a:cubicBezTo>
                  <a:pt x="46540" y="372188"/>
                  <a:pt x="37210" y="346269"/>
                  <a:pt x="27879" y="516294"/>
                </a:cubicBezTo>
                <a:cubicBezTo>
                  <a:pt x="18548" y="686319"/>
                  <a:pt x="-26032" y="1084425"/>
                  <a:pt x="21658" y="1306286"/>
                </a:cubicBezTo>
                <a:cubicBezTo>
                  <a:pt x="69348" y="1528147"/>
                  <a:pt x="191682" y="1687804"/>
                  <a:pt x="314017" y="184746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920CE-9243-C065-DBE0-3AD7C34E0E14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</p:spTree>
    <p:extLst>
      <p:ext uri="{BB962C8B-B14F-4D97-AF65-F5344CB8AC3E}">
        <p14:creationId xmlns:p14="http://schemas.microsoft.com/office/powerpoint/2010/main" val="1852617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189" y="5247959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296575" y="2631544"/>
            <a:ext cx="775525" cy="625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776658" y="2783945"/>
            <a:ext cx="1370177" cy="13754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7469" y="2518131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23" name="Freeform 22"/>
          <p:cNvSpPr/>
          <p:nvPr/>
        </p:nvSpPr>
        <p:spPr>
          <a:xfrm>
            <a:off x="5018043" y="2496264"/>
            <a:ext cx="623087" cy="1076130"/>
          </a:xfrm>
          <a:custGeom>
            <a:avLst/>
            <a:gdLst>
              <a:gd name="connsiteX0" fmla="*/ 0 w 623087"/>
              <a:gd name="connsiteY0" fmla="*/ 0 h 1076130"/>
              <a:gd name="connsiteX1" fmla="*/ 622041 w 623087"/>
              <a:gd name="connsiteY1" fmla="*/ 503853 h 1076130"/>
              <a:gd name="connsiteX2" fmla="*/ 118188 w 623087"/>
              <a:gd name="connsiteY2" fmla="*/ 1076130 h 107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3087" h="1076130">
                <a:moveTo>
                  <a:pt x="0" y="0"/>
                </a:moveTo>
                <a:cubicBezTo>
                  <a:pt x="301171" y="162249"/>
                  <a:pt x="602343" y="324498"/>
                  <a:pt x="622041" y="503853"/>
                </a:cubicBezTo>
                <a:cubicBezTo>
                  <a:pt x="641739" y="683208"/>
                  <a:pt x="379963" y="879669"/>
                  <a:pt x="118188" y="107613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015413" y="2488608"/>
            <a:ext cx="1619936" cy="790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5024264" y="2981455"/>
            <a:ext cx="639749" cy="1480458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25"/>
          <p:cNvSpPr/>
          <p:nvPr/>
        </p:nvSpPr>
        <p:spPr>
          <a:xfrm>
            <a:off x="5024264" y="2979067"/>
            <a:ext cx="639749" cy="2285278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625595" y="2472440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2129" y="4939003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 waste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84" y="5344200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No pollution emissions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6658" y="6147960"/>
            <a:ext cx="484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Virgin natural resources cannot be substituted by recycled materials</a:t>
            </a:r>
          </a:p>
        </p:txBody>
      </p:sp>
      <p:sp>
        <p:nvSpPr>
          <p:cNvPr id="31" name="Freeform 30"/>
          <p:cNvSpPr/>
          <p:nvPr/>
        </p:nvSpPr>
        <p:spPr>
          <a:xfrm>
            <a:off x="3664748" y="3192949"/>
            <a:ext cx="445115" cy="1530221"/>
          </a:xfrm>
          <a:custGeom>
            <a:avLst/>
            <a:gdLst>
              <a:gd name="connsiteX0" fmla="*/ 445115 w 445115"/>
              <a:gd name="connsiteY0" fmla="*/ 0 h 1530221"/>
              <a:gd name="connsiteX1" fmla="*/ 308266 w 445115"/>
              <a:gd name="connsiteY1" fmla="*/ 255037 h 1530221"/>
              <a:gd name="connsiteX2" fmla="*/ 65670 w 445115"/>
              <a:gd name="connsiteY2" fmla="*/ 709127 h 1530221"/>
              <a:gd name="connsiteX3" fmla="*/ 28348 w 445115"/>
              <a:gd name="connsiteY3" fmla="*/ 1101013 h 1530221"/>
              <a:gd name="connsiteX4" fmla="*/ 438895 w 445115"/>
              <a:gd name="connsiteY4" fmla="*/ 1530221 h 153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115" h="1530221">
                <a:moveTo>
                  <a:pt x="445115" y="0"/>
                </a:moveTo>
                <a:lnTo>
                  <a:pt x="308266" y="255037"/>
                </a:lnTo>
                <a:cubicBezTo>
                  <a:pt x="245025" y="373225"/>
                  <a:pt x="112323" y="568131"/>
                  <a:pt x="65670" y="709127"/>
                </a:cubicBezTo>
                <a:cubicBezTo>
                  <a:pt x="19017" y="850123"/>
                  <a:pt x="-33856" y="964164"/>
                  <a:pt x="28348" y="1101013"/>
                </a:cubicBezTo>
                <a:cubicBezTo>
                  <a:pt x="90552" y="1237862"/>
                  <a:pt x="264723" y="1384041"/>
                  <a:pt x="438895" y="1530221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31"/>
          <p:cNvSpPr/>
          <p:nvPr/>
        </p:nvSpPr>
        <p:spPr>
          <a:xfrm>
            <a:off x="3627895" y="3671921"/>
            <a:ext cx="314017" cy="1847461"/>
          </a:xfrm>
          <a:custGeom>
            <a:avLst/>
            <a:gdLst>
              <a:gd name="connsiteX0" fmla="*/ 214491 w 314017"/>
              <a:gd name="connsiteY0" fmla="*/ 0 h 1847461"/>
              <a:gd name="connsiteX1" fmla="*/ 77642 w 314017"/>
              <a:gd name="connsiteY1" fmla="*/ 286139 h 1847461"/>
              <a:gd name="connsiteX2" fmla="*/ 27879 w 314017"/>
              <a:gd name="connsiteY2" fmla="*/ 516294 h 1847461"/>
              <a:gd name="connsiteX3" fmla="*/ 21658 w 314017"/>
              <a:gd name="connsiteY3" fmla="*/ 1306286 h 1847461"/>
              <a:gd name="connsiteX4" fmla="*/ 314017 w 314017"/>
              <a:gd name="connsiteY4" fmla="*/ 1847461 h 184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017" h="1847461">
                <a:moveTo>
                  <a:pt x="214491" y="0"/>
                </a:moveTo>
                <a:cubicBezTo>
                  <a:pt x="161617" y="100045"/>
                  <a:pt x="108744" y="200090"/>
                  <a:pt x="77642" y="286139"/>
                </a:cubicBezTo>
                <a:cubicBezTo>
                  <a:pt x="46540" y="372188"/>
                  <a:pt x="37210" y="346269"/>
                  <a:pt x="27879" y="516294"/>
                </a:cubicBezTo>
                <a:cubicBezTo>
                  <a:pt x="18548" y="686319"/>
                  <a:pt x="-26032" y="1084425"/>
                  <a:pt x="21658" y="1306286"/>
                </a:cubicBezTo>
                <a:cubicBezTo>
                  <a:pt x="69348" y="1528147"/>
                  <a:pt x="191682" y="1687804"/>
                  <a:pt x="314017" y="184746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75CA0-D164-69F8-5845-B86D00F138E4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</p:spTree>
    <p:extLst>
      <p:ext uri="{BB962C8B-B14F-4D97-AF65-F5344CB8AC3E}">
        <p14:creationId xmlns:p14="http://schemas.microsoft.com/office/powerpoint/2010/main" val="300328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9AE2-373E-1833-4790-BDF5BC42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F4DCA-F16E-89F8-F9A1-B47039C2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B7E9C-C34B-1AFA-949B-1B258FA0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>
            <a:extLst>
              <a:ext uri="{FF2B5EF4-FFF2-40B4-BE49-F238E27FC236}">
                <a16:creationId xmlns:a16="http://schemas.microsoft.com/office/drawing/2014/main" id="{B3BDF073-EC92-D0ED-316B-3F3CFB82B1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>
            <a:extLst>
              <a:ext uri="{FF2B5EF4-FFF2-40B4-BE49-F238E27FC236}">
                <a16:creationId xmlns:a16="http://schemas.microsoft.com/office/drawing/2014/main" id="{8D304271-F374-8D09-BE02-EDDC03FE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6A371-CA27-66BE-7CC1-A51793BD3935}"/>
              </a:ext>
            </a:extLst>
          </p:cNvPr>
          <p:cNvSpPr txBox="1"/>
          <p:nvPr/>
        </p:nvSpPr>
        <p:spPr>
          <a:xfrm>
            <a:off x="508409" y="1051323"/>
            <a:ext cx="4062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 typical macroeconomic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0DF6E-FA25-AE11-5240-5A24964B42A7}"/>
                  </a:ext>
                </a:extLst>
              </p:cNvPr>
              <p:cNvSpPr txBox="1"/>
              <p:nvPr/>
            </p:nvSpPr>
            <p:spPr>
              <a:xfrm>
                <a:off x="5599897" y="3440876"/>
                <a:ext cx="389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0DF6E-FA25-AE11-5240-5A24964B4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897" y="3440876"/>
                <a:ext cx="3890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3E302C-FF1E-DA04-704D-E03E0B91A817}"/>
              </a:ext>
            </a:extLst>
          </p:cNvPr>
          <p:cNvCxnSpPr/>
          <p:nvPr/>
        </p:nvCxnSpPr>
        <p:spPr>
          <a:xfrm flipV="1">
            <a:off x="4688734" y="3732174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DE05A4-BDBC-5536-DE66-C5D436E661C7}"/>
              </a:ext>
            </a:extLst>
          </p:cNvPr>
          <p:cNvCxnSpPr>
            <a:cxnSpLocks/>
          </p:cNvCxnSpPr>
          <p:nvPr/>
        </p:nvCxnSpPr>
        <p:spPr>
          <a:xfrm flipV="1">
            <a:off x="5781475" y="3748387"/>
            <a:ext cx="0" cy="86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7093A2-55F5-CDFD-585F-27950B41002F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21423" y="3735575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2E8C28-77FF-BDFA-4F26-08316F1F6836}"/>
                  </a:ext>
                </a:extLst>
              </p:cNvPr>
              <p:cNvSpPr txBox="1"/>
              <p:nvPr/>
            </p:nvSpPr>
            <p:spPr>
              <a:xfrm>
                <a:off x="5038193" y="4543565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2E8C28-77FF-BDFA-4F26-08316F1F6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193" y="4543565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9CFD71-8BBC-8E50-193E-8611AED192F2}"/>
                  </a:ext>
                </a:extLst>
              </p:cNvPr>
              <p:cNvSpPr txBox="1"/>
              <p:nvPr/>
            </p:nvSpPr>
            <p:spPr>
              <a:xfrm>
                <a:off x="6167943" y="4543565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9CFD71-8BBC-8E50-193E-8611AED19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943" y="4543565"/>
                <a:ext cx="4203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2355C-9753-70A2-2A27-76E513147103}"/>
                  </a:ext>
                </a:extLst>
              </p:cNvPr>
              <p:cNvSpPr txBox="1"/>
              <p:nvPr/>
            </p:nvSpPr>
            <p:spPr>
              <a:xfrm>
                <a:off x="4422122" y="4630361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2355C-9753-70A2-2A27-76E513147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122" y="4630361"/>
                <a:ext cx="4881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C8EB18-F688-2507-0CDD-1D017B39B841}"/>
                  </a:ext>
                </a:extLst>
              </p:cNvPr>
              <p:cNvSpPr txBox="1"/>
              <p:nvPr/>
            </p:nvSpPr>
            <p:spPr>
              <a:xfrm>
                <a:off x="5537426" y="4630361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C8EB18-F688-2507-0CDD-1D017B39B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426" y="4630361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0C88D2-1300-BB04-F288-43CAB98FA8B6}"/>
                  </a:ext>
                </a:extLst>
              </p:cNvPr>
              <p:cNvSpPr txBox="1"/>
              <p:nvPr/>
            </p:nvSpPr>
            <p:spPr>
              <a:xfrm>
                <a:off x="6733948" y="4601230"/>
                <a:ext cx="466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0C88D2-1300-BB04-F288-43CAB98FA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948" y="4601230"/>
                <a:ext cx="46673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2BE856-720F-D8E8-058E-B3664478669C}"/>
                  </a:ext>
                </a:extLst>
              </p:cNvPr>
              <p:cNvSpPr txBox="1"/>
              <p:nvPr/>
            </p:nvSpPr>
            <p:spPr>
              <a:xfrm>
                <a:off x="3964371" y="2440584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2BE856-720F-D8E8-058E-B3664478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371" y="2440584"/>
                <a:ext cx="39228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23CB66-C082-E6A1-387A-224DC4950FDB}"/>
                  </a:ext>
                </a:extLst>
              </p:cNvPr>
              <p:cNvSpPr txBox="1"/>
              <p:nvPr/>
            </p:nvSpPr>
            <p:spPr>
              <a:xfrm>
                <a:off x="2128077" y="3394735"/>
                <a:ext cx="537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23CB66-C082-E6A1-387A-224DC4950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077" y="3394735"/>
                <a:ext cx="5372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0E6653-B0BD-23E8-B108-9C1347FA5118}"/>
              </a:ext>
            </a:extLst>
          </p:cNvPr>
          <p:cNvCxnSpPr/>
          <p:nvPr/>
        </p:nvCxnSpPr>
        <p:spPr>
          <a:xfrm flipV="1">
            <a:off x="1303968" y="3703043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7BEBC7-51F2-97DF-39B4-57C6F724AC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2636657" y="3706444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5A5380-F8EF-8B3D-64CC-7301F1798BE2}"/>
                  </a:ext>
                </a:extLst>
              </p:cNvPr>
              <p:cNvSpPr txBox="1"/>
              <p:nvPr/>
            </p:nvSpPr>
            <p:spPr>
              <a:xfrm>
                <a:off x="1037356" y="4601230"/>
                <a:ext cx="37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5A5380-F8EF-8B3D-64CC-7301F1798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56" y="4601230"/>
                <a:ext cx="3753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5AA43C-0F64-2952-961E-2724CE0C47FD}"/>
                  </a:ext>
                </a:extLst>
              </p:cNvPr>
              <p:cNvSpPr txBox="1"/>
              <p:nvPr/>
            </p:nvSpPr>
            <p:spPr>
              <a:xfrm>
                <a:off x="3349182" y="4572099"/>
                <a:ext cx="416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5AA43C-0F64-2952-961E-2724CE0C4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82" y="4572099"/>
                <a:ext cx="41607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CEB7375-A265-F2ED-7EC5-CADD32D48EE1}"/>
              </a:ext>
            </a:extLst>
          </p:cNvPr>
          <p:cNvCxnSpPr>
            <a:cxnSpLocks/>
          </p:cNvCxnSpPr>
          <p:nvPr/>
        </p:nvCxnSpPr>
        <p:spPr>
          <a:xfrm flipV="1">
            <a:off x="2538232" y="2809916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B01501D-D3A0-6E58-621F-8FC082EE7A27}"/>
              </a:ext>
            </a:extLst>
          </p:cNvPr>
          <p:cNvCxnSpPr>
            <a:cxnSpLocks/>
          </p:cNvCxnSpPr>
          <p:nvPr/>
        </p:nvCxnSpPr>
        <p:spPr>
          <a:xfrm>
            <a:off x="4356658" y="2809916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978E35A-D2FA-266F-26C4-29A3C922D38E}"/>
              </a:ext>
            </a:extLst>
          </p:cNvPr>
          <p:cNvSpPr/>
          <p:nvPr/>
        </p:nvSpPr>
        <p:spPr>
          <a:xfrm>
            <a:off x="4783858" y="2921904"/>
            <a:ext cx="2005957" cy="1562911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44FDFE-7E17-D34C-E83F-3F4B2CCABB69}"/>
              </a:ext>
            </a:extLst>
          </p:cNvPr>
          <p:cNvSpPr txBox="1"/>
          <p:nvPr/>
        </p:nvSpPr>
        <p:spPr>
          <a:xfrm>
            <a:off x="6378097" y="2784312"/>
            <a:ext cx="224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Leontief assumption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2C39D63-F273-DDD3-63F0-14BF69B1A04C}"/>
              </a:ext>
            </a:extLst>
          </p:cNvPr>
          <p:cNvSpPr/>
          <p:nvPr/>
        </p:nvSpPr>
        <p:spPr>
          <a:xfrm>
            <a:off x="1447013" y="2921904"/>
            <a:ext cx="2005957" cy="156291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A3E559-7AAD-868E-1F20-F5119000E6CB}"/>
              </a:ext>
            </a:extLst>
          </p:cNvPr>
          <p:cNvSpPr txBox="1"/>
          <p:nvPr/>
        </p:nvSpPr>
        <p:spPr>
          <a:xfrm>
            <a:off x="270679" y="2704358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CES aggregate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AA9E9FD-651B-2FA8-2CDE-BC4584873BFB}"/>
              </a:ext>
            </a:extLst>
          </p:cNvPr>
          <p:cNvSpPr/>
          <p:nvPr/>
        </p:nvSpPr>
        <p:spPr>
          <a:xfrm>
            <a:off x="5464131" y="4543565"/>
            <a:ext cx="581227" cy="57118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0FB4B1A-C802-78B8-D0B6-9800CB727962}"/>
              </a:ext>
            </a:extLst>
          </p:cNvPr>
          <p:cNvSpPr/>
          <p:nvPr/>
        </p:nvSpPr>
        <p:spPr>
          <a:xfrm>
            <a:off x="6671986" y="4543565"/>
            <a:ext cx="581227" cy="57118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6F8C05-97AC-4480-DB29-C08DE5B9890F}"/>
              </a:ext>
            </a:extLst>
          </p:cNvPr>
          <p:cNvSpPr txBox="1"/>
          <p:nvPr/>
        </p:nvSpPr>
        <p:spPr>
          <a:xfrm>
            <a:off x="5177743" y="5199799"/>
            <a:ext cx="26362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No substitution possibilities between recycled materials and virgin materials</a:t>
            </a:r>
          </a:p>
        </p:txBody>
      </p:sp>
    </p:spTree>
    <p:extLst>
      <p:ext uri="{BB962C8B-B14F-4D97-AF65-F5344CB8AC3E}">
        <p14:creationId xmlns:p14="http://schemas.microsoft.com/office/powerpoint/2010/main" val="253572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/>
          <p:cNvSpPr>
            <a:spLocks noGrp="1"/>
          </p:cNvSpPr>
          <p:nvPr>
            <p:ph type="title"/>
          </p:nvPr>
        </p:nvSpPr>
        <p:spPr>
          <a:xfrm>
            <a:off x="587375" y="619125"/>
            <a:ext cx="619149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9" y="3617701"/>
            <a:ext cx="2455915" cy="1719141"/>
          </a:xfrm>
          <a:prstGeom prst="rect">
            <a:avLst/>
          </a:prstGeom>
        </p:spPr>
      </p:pic>
      <p:pic>
        <p:nvPicPr>
          <p:cNvPr id="41" name="Picture 20" descr="Commercial consumers isometric peop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3348" y="4233485"/>
            <a:ext cx="2463658" cy="81059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12387" y="2386109"/>
            <a:ext cx="2021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capital inputs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9052" y="163399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018043" y="1599089"/>
            <a:ext cx="1532047" cy="897175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0624" y="5448111"/>
            <a:ext cx="2027073" cy="1090565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7600452" y="4768821"/>
            <a:ext cx="0" cy="56802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5025177" y="2488608"/>
            <a:ext cx="1652802" cy="2876733"/>
          </a:xfrm>
          <a:custGeom>
            <a:avLst/>
            <a:gdLst>
              <a:gd name="connsiteX0" fmla="*/ 0 w 1635967"/>
              <a:gd name="connsiteY0" fmla="*/ 0 h 2730759"/>
              <a:gd name="connsiteX1" fmla="*/ 1331167 w 1635967"/>
              <a:gd name="connsiteY1" fmla="*/ 1138335 h 2730759"/>
              <a:gd name="connsiteX2" fmla="*/ 1635967 w 1635967"/>
              <a:gd name="connsiteY2" fmla="*/ 2730759 h 2730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5967" h="2730759">
                <a:moveTo>
                  <a:pt x="0" y="0"/>
                </a:moveTo>
                <a:cubicBezTo>
                  <a:pt x="529253" y="341604"/>
                  <a:pt x="1058506" y="683209"/>
                  <a:pt x="1331167" y="1138335"/>
                </a:cubicBezTo>
                <a:cubicBezTo>
                  <a:pt x="1603828" y="1593462"/>
                  <a:pt x="1619897" y="2162110"/>
                  <a:pt x="1635967" y="2730759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9206" y="5336842"/>
            <a:ext cx="1101498" cy="1147734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 flipH="1" flipV="1">
            <a:off x="5144178" y="5987542"/>
            <a:ext cx="837873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239144" y="5533414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39" name="Freeform 38"/>
          <p:cNvSpPr/>
          <p:nvPr/>
        </p:nvSpPr>
        <p:spPr>
          <a:xfrm rot="8707561">
            <a:off x="2839636" y="3139472"/>
            <a:ext cx="2189593" cy="2391036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746408" y="5648988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Output</a:t>
            </a:r>
          </a:p>
        </p:txBody>
      </p:sp>
      <p:sp>
        <p:nvSpPr>
          <p:cNvPr id="47" name="Freeform 46"/>
          <p:cNvSpPr/>
          <p:nvPr/>
        </p:nvSpPr>
        <p:spPr>
          <a:xfrm rot="8707561">
            <a:off x="3110489" y="3936115"/>
            <a:ext cx="1641089" cy="1678831"/>
          </a:xfrm>
          <a:custGeom>
            <a:avLst/>
            <a:gdLst>
              <a:gd name="connsiteX0" fmla="*/ 615820 w 639749"/>
              <a:gd name="connsiteY0" fmla="*/ 0 h 1480458"/>
              <a:gd name="connsiteX1" fmla="*/ 566057 w 639749"/>
              <a:gd name="connsiteY1" fmla="*/ 895739 h 1480458"/>
              <a:gd name="connsiteX2" fmla="*/ 0 w 639749"/>
              <a:gd name="connsiteY2" fmla="*/ 1480458 h 148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9749" h="1480458">
                <a:moveTo>
                  <a:pt x="615820" y="0"/>
                </a:moveTo>
                <a:cubicBezTo>
                  <a:pt x="642257" y="324498"/>
                  <a:pt x="668694" y="648996"/>
                  <a:pt x="566057" y="895739"/>
                </a:cubicBezTo>
                <a:cubicBezTo>
                  <a:pt x="463420" y="1142482"/>
                  <a:pt x="231710" y="1311470"/>
                  <a:pt x="0" y="148045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4470" y="670872"/>
            <a:ext cx="959379" cy="17229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3E3BD8-2DF7-8028-9AE6-287705BD6EE8}"/>
              </a:ext>
            </a:extLst>
          </p:cNvPr>
          <p:cNvSpPr txBox="1"/>
          <p:nvPr/>
        </p:nvSpPr>
        <p:spPr>
          <a:xfrm>
            <a:off x="508409" y="1051323"/>
            <a:ext cx="202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Our framework</a:t>
            </a:r>
          </a:p>
        </p:txBody>
      </p:sp>
    </p:spTree>
    <p:extLst>
      <p:ext uri="{BB962C8B-B14F-4D97-AF65-F5344CB8AC3E}">
        <p14:creationId xmlns:p14="http://schemas.microsoft.com/office/powerpoint/2010/main" val="3414923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151A-0114-5B0C-75BD-0699BDD2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679F6-E36E-5E3C-6B5C-EA8B8E72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92428-FE18-7807-80AA-87AAED02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>
            <a:extLst>
              <a:ext uri="{FF2B5EF4-FFF2-40B4-BE49-F238E27FC236}">
                <a16:creationId xmlns:a16="http://schemas.microsoft.com/office/drawing/2014/main" id="{EA199448-3C6D-2599-269E-E2E24E47D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>
            <a:extLst>
              <a:ext uri="{FF2B5EF4-FFF2-40B4-BE49-F238E27FC236}">
                <a16:creationId xmlns:a16="http://schemas.microsoft.com/office/drawing/2014/main" id="{68E3EB1F-352B-B9C6-D46C-B782344B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19194-FDE7-26C8-E4CF-F762D341CD90}"/>
              </a:ext>
            </a:extLst>
          </p:cNvPr>
          <p:cNvSpPr txBox="1"/>
          <p:nvPr/>
        </p:nvSpPr>
        <p:spPr>
          <a:xfrm>
            <a:off x="508409" y="1051323"/>
            <a:ext cx="4661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Our framework – A simplified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EC8933-48FF-A5F8-0453-A9FEE5EBE6BD}"/>
                  </a:ext>
                </a:extLst>
              </p:cNvPr>
              <p:cNvSpPr txBox="1"/>
              <p:nvPr/>
            </p:nvSpPr>
            <p:spPr>
              <a:xfrm>
                <a:off x="3515421" y="4520650"/>
                <a:ext cx="4019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EC8933-48FF-A5F8-0453-A9FEE5EBE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421" y="4520650"/>
                <a:ext cx="401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A72C0-1CEB-83D1-C525-13E89E895EB4}"/>
              </a:ext>
            </a:extLst>
          </p:cNvPr>
          <p:cNvCxnSpPr/>
          <p:nvPr/>
        </p:nvCxnSpPr>
        <p:spPr>
          <a:xfrm flipV="1">
            <a:off x="2604258" y="4811948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E8BF89-608C-2195-8F7B-AAE632C4141D}"/>
              </a:ext>
            </a:extLst>
          </p:cNvPr>
          <p:cNvCxnSpPr>
            <a:cxnSpLocks/>
          </p:cNvCxnSpPr>
          <p:nvPr/>
        </p:nvCxnSpPr>
        <p:spPr>
          <a:xfrm flipV="1">
            <a:off x="3696999" y="4828161"/>
            <a:ext cx="0" cy="86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0FF9AF-7467-F3AC-FCF6-714113D26F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36947" y="4815349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17C047-7321-4EE1-AA66-68B1D5CC186C}"/>
                  </a:ext>
                </a:extLst>
              </p:cNvPr>
              <p:cNvSpPr txBox="1"/>
              <p:nvPr/>
            </p:nvSpPr>
            <p:spPr>
              <a:xfrm>
                <a:off x="2953717" y="5623339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17C047-7321-4EE1-AA66-68B1D5CC1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17" y="5623339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FAE1B4-CD1E-F88C-D1EA-A041A340C7B2}"/>
                  </a:ext>
                </a:extLst>
              </p:cNvPr>
              <p:cNvSpPr txBox="1"/>
              <p:nvPr/>
            </p:nvSpPr>
            <p:spPr>
              <a:xfrm>
                <a:off x="4083467" y="5623339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FAE1B4-CD1E-F88C-D1EA-A041A340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7" y="5623339"/>
                <a:ext cx="4203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B3711F-F5D5-F74A-E255-B9F811B25284}"/>
                  </a:ext>
                </a:extLst>
              </p:cNvPr>
              <p:cNvSpPr txBox="1"/>
              <p:nvPr/>
            </p:nvSpPr>
            <p:spPr>
              <a:xfrm>
                <a:off x="2337646" y="5710135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B3711F-F5D5-F74A-E255-B9F811B25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646" y="5710135"/>
                <a:ext cx="4881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41DC967-5526-49CD-1911-877DAABB2B99}"/>
                  </a:ext>
                </a:extLst>
              </p:cNvPr>
              <p:cNvSpPr txBox="1"/>
              <p:nvPr/>
            </p:nvSpPr>
            <p:spPr>
              <a:xfrm>
                <a:off x="3452950" y="5710135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41DC967-5526-49CD-1911-877DAAB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950" y="5710135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E88800-99FD-E8E3-2332-4491B6084A1E}"/>
                  </a:ext>
                </a:extLst>
              </p:cNvPr>
              <p:cNvSpPr txBox="1"/>
              <p:nvPr/>
            </p:nvSpPr>
            <p:spPr>
              <a:xfrm>
                <a:off x="4649472" y="5681004"/>
                <a:ext cx="466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E88800-99FD-E8E3-2332-4491B6084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472" y="5681004"/>
                <a:ext cx="46673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7CC782-6CC0-3791-8F9B-CCFDE14D0494}"/>
                  </a:ext>
                </a:extLst>
              </p:cNvPr>
              <p:cNvSpPr txBox="1"/>
              <p:nvPr/>
            </p:nvSpPr>
            <p:spPr>
              <a:xfrm>
                <a:off x="3123134" y="2382322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C7CC782-6CC0-3791-8F9B-CCFDE14D0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134" y="2382322"/>
                <a:ext cx="39228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3FE6C5-81BF-B22F-E70F-BBC078DF9021}"/>
                  </a:ext>
                </a:extLst>
              </p:cNvPr>
              <p:cNvSpPr txBox="1"/>
              <p:nvPr/>
            </p:nvSpPr>
            <p:spPr>
              <a:xfrm>
                <a:off x="1286840" y="3336473"/>
                <a:ext cx="537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3FE6C5-81BF-B22F-E70F-BBC078DF9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840" y="3336473"/>
                <a:ext cx="5372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F11257-27BE-864C-323E-2E3CA3A364C7}"/>
              </a:ext>
            </a:extLst>
          </p:cNvPr>
          <p:cNvCxnSpPr/>
          <p:nvPr/>
        </p:nvCxnSpPr>
        <p:spPr>
          <a:xfrm flipV="1">
            <a:off x="462731" y="3644781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7B5789-DE47-8EDD-3003-EC35505560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95420" y="3648182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E0C588A-3167-B2A8-75A9-75FEC787E7DB}"/>
                  </a:ext>
                </a:extLst>
              </p:cNvPr>
              <p:cNvSpPr txBox="1"/>
              <p:nvPr/>
            </p:nvSpPr>
            <p:spPr>
              <a:xfrm>
                <a:off x="196119" y="4542968"/>
                <a:ext cx="37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E0C588A-3167-B2A8-75A9-75FEC787E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19" y="4542968"/>
                <a:ext cx="3753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E47B81-39CD-9E16-BE18-31C6BE31DAE1}"/>
                  </a:ext>
                </a:extLst>
              </p:cNvPr>
              <p:cNvSpPr txBox="1"/>
              <p:nvPr/>
            </p:nvSpPr>
            <p:spPr>
              <a:xfrm>
                <a:off x="2507945" y="4513837"/>
                <a:ext cx="416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E47B81-39CD-9E16-BE18-31C6BE31D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945" y="4513837"/>
                <a:ext cx="41607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60DC5CD-12A9-6C8A-793E-6BDD6347772D}"/>
              </a:ext>
            </a:extLst>
          </p:cNvPr>
          <p:cNvCxnSpPr>
            <a:cxnSpLocks/>
          </p:cNvCxnSpPr>
          <p:nvPr/>
        </p:nvCxnSpPr>
        <p:spPr>
          <a:xfrm flipV="1">
            <a:off x="1696995" y="2751654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09A87BD-6136-0694-CF93-5D99A8BEFD72}"/>
              </a:ext>
            </a:extLst>
          </p:cNvPr>
          <p:cNvCxnSpPr>
            <a:cxnSpLocks/>
          </p:cNvCxnSpPr>
          <p:nvPr/>
        </p:nvCxnSpPr>
        <p:spPr>
          <a:xfrm>
            <a:off x="3515421" y="2751654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44C548BF-5C1D-964E-5778-1CF70236C6DA}"/>
              </a:ext>
            </a:extLst>
          </p:cNvPr>
          <p:cNvSpPr/>
          <p:nvPr/>
        </p:nvSpPr>
        <p:spPr>
          <a:xfrm>
            <a:off x="5304454" y="5580076"/>
            <a:ext cx="581227" cy="571188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99C3B49-6D30-8141-AAEB-89DD2CAEB3BF}"/>
              </a:ext>
            </a:extLst>
          </p:cNvPr>
          <p:cNvSpPr/>
          <p:nvPr/>
        </p:nvSpPr>
        <p:spPr>
          <a:xfrm>
            <a:off x="6540335" y="5580076"/>
            <a:ext cx="581227" cy="571188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A48A78-9A98-FCE9-BBE4-5C2D6F6625F3}"/>
              </a:ext>
            </a:extLst>
          </p:cNvPr>
          <p:cNvSpPr txBox="1"/>
          <p:nvPr/>
        </p:nvSpPr>
        <p:spPr>
          <a:xfrm>
            <a:off x="5222746" y="6261868"/>
            <a:ext cx="2636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Virgin and recycled materials </a:t>
            </a:r>
          </a:p>
          <a:p>
            <a:pPr algn="ctr"/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(measured in mass units)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031022-07B3-A01B-52D0-073F04D9D10E}"/>
                  </a:ext>
                </a:extLst>
              </p:cNvPr>
              <p:cNvSpPr txBox="1"/>
              <p:nvPr/>
            </p:nvSpPr>
            <p:spPr>
              <a:xfrm>
                <a:off x="5986671" y="4520801"/>
                <a:ext cx="554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031022-07B3-A01B-52D0-073F04D9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71" y="4520801"/>
                <a:ext cx="5541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145F47-332F-82EE-49EA-1D7DC6A45406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604818" y="4871685"/>
            <a:ext cx="526965" cy="82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8FB846-7DE6-4D4F-BAC7-3E5C72436933}"/>
              </a:ext>
            </a:extLst>
          </p:cNvPr>
          <p:cNvCxnSpPr>
            <a:cxnSpLocks/>
            <a:stCxn id="22" idx="0"/>
            <a:endCxn id="7" idx="2"/>
          </p:cNvCxnSpPr>
          <p:nvPr/>
        </p:nvCxnSpPr>
        <p:spPr>
          <a:xfrm flipH="1" flipV="1">
            <a:off x="6263766" y="4890133"/>
            <a:ext cx="553139" cy="8005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E78FBA-F594-3621-D10C-C74797D6876A}"/>
                  </a:ext>
                </a:extLst>
              </p:cNvPr>
              <p:cNvSpPr txBox="1"/>
              <p:nvPr/>
            </p:nvSpPr>
            <p:spPr>
              <a:xfrm>
                <a:off x="5345677" y="5694392"/>
                <a:ext cx="518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E78FBA-F594-3621-D10C-C74797D68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677" y="5694392"/>
                <a:ext cx="51828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24F123-310D-9973-BBC7-7346D9375139}"/>
                  </a:ext>
                </a:extLst>
              </p:cNvPr>
              <p:cNvSpPr txBox="1"/>
              <p:nvPr/>
            </p:nvSpPr>
            <p:spPr>
              <a:xfrm>
                <a:off x="6557764" y="5690680"/>
                <a:ext cx="518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24F123-310D-9973-BBC7-7346D9375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5690680"/>
                <a:ext cx="51828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73463-E4FC-A672-B92E-058E61CDD1A8}"/>
                  </a:ext>
                </a:extLst>
              </p:cNvPr>
              <p:cNvSpPr txBox="1"/>
              <p:nvPr/>
            </p:nvSpPr>
            <p:spPr>
              <a:xfrm>
                <a:off x="4831292" y="3336473"/>
                <a:ext cx="389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73463-E4FC-A672-B92E-058E61CDD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92" y="3336473"/>
                <a:ext cx="38908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8A364-F9A7-28BB-3051-AB3F3DF7A71A}"/>
              </a:ext>
            </a:extLst>
          </p:cNvPr>
          <p:cNvCxnSpPr/>
          <p:nvPr/>
        </p:nvCxnSpPr>
        <p:spPr>
          <a:xfrm flipV="1">
            <a:off x="3913717" y="3659546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7EE7C7-5D46-562C-C175-38C7741B3FD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46406" y="3662947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2AB9164-E119-77C6-3DA4-8152964D5FF3}"/>
              </a:ext>
            </a:extLst>
          </p:cNvPr>
          <p:cNvSpPr/>
          <p:nvPr/>
        </p:nvSpPr>
        <p:spPr>
          <a:xfrm>
            <a:off x="2131425" y="5557965"/>
            <a:ext cx="3038838" cy="6591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D4B588-428B-CB47-DFD4-2ACE22C94A8A}"/>
              </a:ext>
            </a:extLst>
          </p:cNvPr>
          <p:cNvSpPr txBox="1"/>
          <p:nvPr/>
        </p:nvSpPr>
        <p:spPr>
          <a:xfrm>
            <a:off x="2295980" y="6277141"/>
            <a:ext cx="2636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Other intermediate goods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(measured in value terms)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7C90E01-1C8D-114E-F814-0A499534FD74}"/>
              </a:ext>
            </a:extLst>
          </p:cNvPr>
          <p:cNvCxnSpPr>
            <a:cxnSpLocks/>
          </p:cNvCxnSpPr>
          <p:nvPr/>
        </p:nvCxnSpPr>
        <p:spPr>
          <a:xfrm>
            <a:off x="2451100" y="2076858"/>
            <a:ext cx="605212" cy="4318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A080FE-4FD9-65AF-E611-6A71366A515E}"/>
                  </a:ext>
                </a:extLst>
              </p:cNvPr>
              <p:cNvSpPr txBox="1"/>
              <p:nvPr/>
            </p:nvSpPr>
            <p:spPr>
              <a:xfrm>
                <a:off x="2139950" y="1759165"/>
                <a:ext cx="106676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𝑟𝑒𝑔𝑢𝑙𝑎𝑟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A080FE-4FD9-65AF-E611-6A71366A5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950" y="1759165"/>
                <a:ext cx="1066767" cy="37427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5BFA958-10D2-4C8F-432A-AB2703F57EB3}"/>
                  </a:ext>
                </a:extLst>
              </p:cNvPr>
              <p:cNvSpPr txBox="1"/>
              <p:nvPr/>
            </p:nvSpPr>
            <p:spPr>
              <a:xfrm>
                <a:off x="3803636" y="1758873"/>
                <a:ext cx="1144159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5BFA958-10D2-4C8F-432A-AB2703F5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636" y="1758873"/>
                <a:ext cx="1144159" cy="37824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7AA0A93-0C84-4ACA-8A39-0A2EE9D3F95A}"/>
              </a:ext>
            </a:extLst>
          </p:cNvPr>
          <p:cNvCxnSpPr>
            <a:cxnSpLocks/>
          </p:cNvCxnSpPr>
          <p:nvPr/>
        </p:nvCxnSpPr>
        <p:spPr>
          <a:xfrm flipV="1">
            <a:off x="3501030" y="2076858"/>
            <a:ext cx="605212" cy="4318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3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7D7C-8D35-D0B1-A390-CA53B21A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A1BE7-2DAC-F6BA-2E78-5458A8D6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B1873-B6D3-AFC8-2061-40800F46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AutoShape 2" descr="data:image/png;base64,iVBORw0KGgoAAAANSUhEUgAAAaoAAAH0CAYAAABsC2lxAAAAAXNSR0IArs4c6QAAEsdJREFUeF7t1UENAAAMArHh3/Rs3KNTQMoSdo4AAQIECIQFFs4mGgECBAgQOEPlCQ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KGyg8QIECAQFrAUKXrEY4AAQIEDJUfIECAAIG0gKFK1yMcAQIECBgqP0CAAAECaQFDla5HOAIECBAwVH6AAAECBNIChipdj3AECBAgYKj8AAECBAikBQxVuh7hCBAgQMBQ+QECBAgQSAsYqnQ9whEgQICAofIDBAgQIJAWMFTpeoQjQIAAAUPlBwgQIEAgLWCo0vUIR4AAAQIPSl4B9e6xdAEAAAAASUVORK5CYII=">
            <a:extLst>
              <a:ext uri="{FF2B5EF4-FFF2-40B4-BE49-F238E27FC236}">
                <a16:creationId xmlns:a16="http://schemas.microsoft.com/office/drawing/2014/main" id="{7DE19171-8003-38AA-09B1-7A64812D1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Title 2">
            <a:extLst>
              <a:ext uri="{FF2B5EF4-FFF2-40B4-BE49-F238E27FC236}">
                <a16:creationId xmlns:a16="http://schemas.microsoft.com/office/drawing/2014/main" id="{ED30CA00-DF44-0A8D-315D-11E0D473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77D32-7D43-7648-34F0-3D860F1D084E}"/>
              </a:ext>
            </a:extLst>
          </p:cNvPr>
          <p:cNvSpPr txBox="1"/>
          <p:nvPr/>
        </p:nvSpPr>
        <p:spPr>
          <a:xfrm>
            <a:off x="508409" y="1051323"/>
            <a:ext cx="4661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Our framework – A simplified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F1AD3-53D1-1387-A20A-708FB9C4D0FC}"/>
                  </a:ext>
                </a:extLst>
              </p:cNvPr>
              <p:cNvSpPr txBox="1"/>
              <p:nvPr/>
            </p:nvSpPr>
            <p:spPr>
              <a:xfrm>
                <a:off x="3515421" y="4520650"/>
                <a:ext cx="4019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4F1AD3-53D1-1387-A20A-708FB9C4D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421" y="4520650"/>
                <a:ext cx="401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13C53A-C2B7-B615-ED0D-AA81DE454927}"/>
              </a:ext>
            </a:extLst>
          </p:cNvPr>
          <p:cNvCxnSpPr/>
          <p:nvPr/>
        </p:nvCxnSpPr>
        <p:spPr>
          <a:xfrm flipV="1">
            <a:off x="2604258" y="4811948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0D6C75-3947-0EB9-E798-DE7E724A1AA8}"/>
              </a:ext>
            </a:extLst>
          </p:cNvPr>
          <p:cNvCxnSpPr>
            <a:cxnSpLocks/>
          </p:cNvCxnSpPr>
          <p:nvPr/>
        </p:nvCxnSpPr>
        <p:spPr>
          <a:xfrm flipV="1">
            <a:off x="3696999" y="4828161"/>
            <a:ext cx="0" cy="86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22E2EB-F190-AA83-3F4D-532676F38DE6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36947" y="4815349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FF00F3-4CF3-9380-2E3C-7A1D9046A8E4}"/>
                  </a:ext>
                </a:extLst>
              </p:cNvPr>
              <p:cNvSpPr txBox="1"/>
              <p:nvPr/>
            </p:nvSpPr>
            <p:spPr>
              <a:xfrm>
                <a:off x="2953717" y="5623339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FF00F3-4CF3-9380-2E3C-7A1D9046A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17" y="5623339"/>
                <a:ext cx="4203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FFF915-E280-950C-E8AD-C9D3E9089A05}"/>
                  </a:ext>
                </a:extLst>
              </p:cNvPr>
              <p:cNvSpPr txBox="1"/>
              <p:nvPr/>
            </p:nvSpPr>
            <p:spPr>
              <a:xfrm>
                <a:off x="4083467" y="5623339"/>
                <a:ext cx="4203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FFF915-E280-950C-E8AD-C9D3E9089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7" y="5623339"/>
                <a:ext cx="4203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A90830-632B-E8C1-9909-17D7B6CDA90C}"/>
                  </a:ext>
                </a:extLst>
              </p:cNvPr>
              <p:cNvSpPr txBox="1"/>
              <p:nvPr/>
            </p:nvSpPr>
            <p:spPr>
              <a:xfrm>
                <a:off x="2337646" y="5710135"/>
                <a:ext cx="4881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A90830-632B-E8C1-9909-17D7B6CDA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646" y="5710135"/>
                <a:ext cx="4881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1B39C1-3636-6483-B0FB-A5E9682F040B}"/>
                  </a:ext>
                </a:extLst>
              </p:cNvPr>
              <p:cNvSpPr txBox="1"/>
              <p:nvPr/>
            </p:nvSpPr>
            <p:spPr>
              <a:xfrm>
                <a:off x="3452950" y="5710135"/>
                <a:ext cx="46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1B39C1-3636-6483-B0FB-A5E9682F0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950" y="5710135"/>
                <a:ext cx="460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35C296-1F85-5EC7-D4B4-3E08736558DF}"/>
                  </a:ext>
                </a:extLst>
              </p:cNvPr>
              <p:cNvSpPr txBox="1"/>
              <p:nvPr/>
            </p:nvSpPr>
            <p:spPr>
              <a:xfrm>
                <a:off x="4649472" y="5681004"/>
                <a:ext cx="466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35C296-1F85-5EC7-D4B4-3E0873655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472" y="5681004"/>
                <a:ext cx="46673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4E9C21-FD63-3CFA-C047-5BE3E3EF552D}"/>
                  </a:ext>
                </a:extLst>
              </p:cNvPr>
              <p:cNvSpPr txBox="1"/>
              <p:nvPr/>
            </p:nvSpPr>
            <p:spPr>
              <a:xfrm>
                <a:off x="3123134" y="2382322"/>
                <a:ext cx="3922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4E9C21-FD63-3CFA-C047-5BE3E3EF5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134" y="2382322"/>
                <a:ext cx="39228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C132E71-1A11-F776-1A49-77001875F16F}"/>
                  </a:ext>
                </a:extLst>
              </p:cNvPr>
              <p:cNvSpPr txBox="1"/>
              <p:nvPr/>
            </p:nvSpPr>
            <p:spPr>
              <a:xfrm>
                <a:off x="1286840" y="3336473"/>
                <a:ext cx="5372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C132E71-1A11-F776-1A49-77001875F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840" y="3336473"/>
                <a:ext cx="5372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A23B05-0620-550A-AD48-EA04099299EF}"/>
              </a:ext>
            </a:extLst>
          </p:cNvPr>
          <p:cNvCxnSpPr/>
          <p:nvPr/>
        </p:nvCxnSpPr>
        <p:spPr>
          <a:xfrm flipV="1">
            <a:off x="462731" y="3644781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5F44514-6D07-C268-8B0B-6F91509DA16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95420" y="3648182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DD9DE70-CAA3-86E7-A3DC-A244EB8E4349}"/>
                  </a:ext>
                </a:extLst>
              </p:cNvPr>
              <p:cNvSpPr txBox="1"/>
              <p:nvPr/>
            </p:nvSpPr>
            <p:spPr>
              <a:xfrm>
                <a:off x="196119" y="4542968"/>
                <a:ext cx="37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DD9DE70-CAA3-86E7-A3DC-A244EB8E4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19" y="4542968"/>
                <a:ext cx="3753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AADE74-05E7-041F-4E17-053C4D2422F2}"/>
                  </a:ext>
                </a:extLst>
              </p:cNvPr>
              <p:cNvSpPr txBox="1"/>
              <p:nvPr/>
            </p:nvSpPr>
            <p:spPr>
              <a:xfrm>
                <a:off x="2507945" y="4513837"/>
                <a:ext cx="416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AADE74-05E7-041F-4E17-053C4D242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945" y="4513837"/>
                <a:ext cx="41607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C2DC283-5A5C-F89B-4941-47BBB713E5F4}"/>
              </a:ext>
            </a:extLst>
          </p:cNvPr>
          <p:cNvCxnSpPr>
            <a:cxnSpLocks/>
          </p:cNvCxnSpPr>
          <p:nvPr/>
        </p:nvCxnSpPr>
        <p:spPr>
          <a:xfrm flipV="1">
            <a:off x="1696995" y="2751654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0C288B3-F778-EF46-CAA7-E81B4736083C}"/>
              </a:ext>
            </a:extLst>
          </p:cNvPr>
          <p:cNvCxnSpPr>
            <a:cxnSpLocks/>
          </p:cNvCxnSpPr>
          <p:nvPr/>
        </p:nvCxnSpPr>
        <p:spPr>
          <a:xfrm>
            <a:off x="3515421" y="2751654"/>
            <a:ext cx="1359317" cy="61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69C1D407-5494-5F36-7856-D651E9BAECE6}"/>
              </a:ext>
            </a:extLst>
          </p:cNvPr>
          <p:cNvSpPr/>
          <p:nvPr/>
        </p:nvSpPr>
        <p:spPr>
          <a:xfrm>
            <a:off x="5304454" y="5580076"/>
            <a:ext cx="581227" cy="571188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E68FD3E-4C5A-50A9-A938-45A2AC997B1D}"/>
              </a:ext>
            </a:extLst>
          </p:cNvPr>
          <p:cNvSpPr/>
          <p:nvPr/>
        </p:nvSpPr>
        <p:spPr>
          <a:xfrm>
            <a:off x="6540335" y="5580076"/>
            <a:ext cx="581227" cy="571188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6E9F7F-0F34-4ACA-40D3-C70A361978E3}"/>
              </a:ext>
            </a:extLst>
          </p:cNvPr>
          <p:cNvSpPr txBox="1"/>
          <p:nvPr/>
        </p:nvSpPr>
        <p:spPr>
          <a:xfrm>
            <a:off x="5222746" y="6261868"/>
            <a:ext cx="2636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Virgin and recycled materials </a:t>
            </a:r>
          </a:p>
          <a:p>
            <a:pPr algn="ctr"/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(measured in mass units)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8A5FB6-6862-5154-6938-3C9796D2ABF9}"/>
                  </a:ext>
                </a:extLst>
              </p:cNvPr>
              <p:cNvSpPr txBox="1"/>
              <p:nvPr/>
            </p:nvSpPr>
            <p:spPr>
              <a:xfrm>
                <a:off x="5986671" y="4520801"/>
                <a:ext cx="5541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8A5FB6-6862-5154-6938-3C9796D2A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671" y="4520801"/>
                <a:ext cx="55419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49FD87-8765-084B-D081-06A4CB7BCB66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604818" y="4871685"/>
            <a:ext cx="526965" cy="822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3EBAA8-2998-5BB4-A3ED-683ADA82F5B2}"/>
              </a:ext>
            </a:extLst>
          </p:cNvPr>
          <p:cNvCxnSpPr>
            <a:cxnSpLocks/>
            <a:stCxn id="22" idx="0"/>
            <a:endCxn id="7" idx="2"/>
          </p:cNvCxnSpPr>
          <p:nvPr/>
        </p:nvCxnSpPr>
        <p:spPr>
          <a:xfrm flipH="1" flipV="1">
            <a:off x="6263766" y="4890133"/>
            <a:ext cx="553139" cy="8005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67175C-28C9-242E-9BC9-E30FE4F86263}"/>
                  </a:ext>
                </a:extLst>
              </p:cNvPr>
              <p:cNvSpPr txBox="1"/>
              <p:nvPr/>
            </p:nvSpPr>
            <p:spPr>
              <a:xfrm>
                <a:off x="5345677" y="5694392"/>
                <a:ext cx="518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67175C-28C9-242E-9BC9-E30FE4F86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677" y="5694392"/>
                <a:ext cx="51828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E362D0-0E63-AB40-7785-85045E01F948}"/>
                  </a:ext>
                </a:extLst>
              </p:cNvPr>
              <p:cNvSpPr txBox="1"/>
              <p:nvPr/>
            </p:nvSpPr>
            <p:spPr>
              <a:xfrm>
                <a:off x="6557764" y="5690680"/>
                <a:ext cx="518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E362D0-0E63-AB40-7785-85045E01F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5690680"/>
                <a:ext cx="51828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19B39E-9950-A55A-969D-C36638D8ACFF}"/>
                  </a:ext>
                </a:extLst>
              </p:cNvPr>
              <p:cNvSpPr txBox="1"/>
              <p:nvPr/>
            </p:nvSpPr>
            <p:spPr>
              <a:xfrm>
                <a:off x="4831292" y="3336473"/>
                <a:ext cx="389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19B39E-9950-A55A-969D-C36638D8A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92" y="3336473"/>
                <a:ext cx="38908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F0B6A8-DF3A-7657-1971-897CF43FC302}"/>
              </a:ext>
            </a:extLst>
          </p:cNvPr>
          <p:cNvCxnSpPr/>
          <p:nvPr/>
        </p:nvCxnSpPr>
        <p:spPr>
          <a:xfrm flipV="1">
            <a:off x="3913717" y="3659546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881A79-8F32-36C7-5632-1FF051056D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46406" y="3662947"/>
            <a:ext cx="888460" cy="882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E353247-F266-1A7B-EC2F-C63D2528D2A0}"/>
              </a:ext>
            </a:extLst>
          </p:cNvPr>
          <p:cNvSpPr/>
          <p:nvPr/>
        </p:nvSpPr>
        <p:spPr>
          <a:xfrm>
            <a:off x="2131425" y="5557965"/>
            <a:ext cx="3038838" cy="6591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BBBDEC-3276-EE02-F19D-A8F3092EBC2B}"/>
              </a:ext>
            </a:extLst>
          </p:cNvPr>
          <p:cNvSpPr txBox="1"/>
          <p:nvPr/>
        </p:nvSpPr>
        <p:spPr>
          <a:xfrm>
            <a:off x="2295980" y="6277141"/>
            <a:ext cx="2636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Other intermediate goods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(measured in value terms)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CDDC9D2-42E6-DACD-0BA8-30959A2CA769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571478" y="2572740"/>
            <a:ext cx="3999729" cy="19755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F40958A-0502-6740-8180-8EECD3792C28}"/>
                  </a:ext>
                </a:extLst>
              </p:cNvPr>
              <p:cNvSpPr txBox="1"/>
              <p:nvPr/>
            </p:nvSpPr>
            <p:spPr>
              <a:xfrm>
                <a:off x="4571207" y="2388074"/>
                <a:ext cx="475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F40958A-0502-6740-8180-8EECD3792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207" y="2388074"/>
                <a:ext cx="47583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>
            <a:extLst>
              <a:ext uri="{FF2B5EF4-FFF2-40B4-BE49-F238E27FC236}">
                <a16:creationId xmlns:a16="http://schemas.microsoft.com/office/drawing/2014/main" id="{8D43BF68-C32A-B7F7-E9C6-388552F348C0}"/>
              </a:ext>
            </a:extLst>
          </p:cNvPr>
          <p:cNvSpPr/>
          <p:nvPr/>
        </p:nvSpPr>
        <p:spPr>
          <a:xfrm>
            <a:off x="4503775" y="2278953"/>
            <a:ext cx="581227" cy="571188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9D3F58-B907-A099-5107-E6675AA8769B}"/>
              </a:ext>
            </a:extLst>
          </p:cNvPr>
          <p:cNvSpPr txBox="1"/>
          <p:nvPr/>
        </p:nvSpPr>
        <p:spPr>
          <a:xfrm>
            <a:off x="5073981" y="2421320"/>
            <a:ext cx="778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Waste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47440FC-3FA3-7B8E-05C2-E96B73DF4359}"/>
              </a:ext>
            </a:extLst>
          </p:cNvPr>
          <p:cNvCxnSpPr>
            <a:cxnSpLocks/>
          </p:cNvCxnSpPr>
          <p:nvPr/>
        </p:nvCxnSpPr>
        <p:spPr>
          <a:xfrm flipV="1">
            <a:off x="4983794" y="1766801"/>
            <a:ext cx="1089562" cy="709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73CD38-5B7F-4B8A-2336-8896AEE7F086}"/>
                  </a:ext>
                </a:extLst>
              </p:cNvPr>
              <p:cNvSpPr txBox="1"/>
              <p:nvPr/>
            </p:nvSpPr>
            <p:spPr>
              <a:xfrm>
                <a:off x="6025848" y="1566970"/>
                <a:ext cx="1212640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𝑟𝑒𝑐𝑦𝑐𝑙𝑒𝑑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73CD38-5B7F-4B8A-2336-8896AEE7F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848" y="1566970"/>
                <a:ext cx="1212640" cy="3742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6271669-FD60-8DC5-5F89-D8CA867231D7}"/>
                  </a:ext>
                </a:extLst>
              </p:cNvPr>
              <p:cNvSpPr txBox="1"/>
              <p:nvPr/>
            </p:nvSpPr>
            <p:spPr>
              <a:xfrm>
                <a:off x="6025848" y="3269381"/>
                <a:ext cx="13608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𝑡𝑟𝑒𝑎𝑡𝑚𝑒𝑛𝑡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6271669-FD60-8DC5-5F89-D8CA86723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848" y="3269381"/>
                <a:ext cx="136088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B79F24-0ABB-6BCE-9666-09CDFFE33076}"/>
              </a:ext>
            </a:extLst>
          </p:cNvPr>
          <p:cNvCxnSpPr>
            <a:cxnSpLocks/>
          </p:cNvCxnSpPr>
          <p:nvPr/>
        </p:nvCxnSpPr>
        <p:spPr>
          <a:xfrm>
            <a:off x="4983794" y="2653193"/>
            <a:ext cx="1089562" cy="709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C69F868-4F78-1214-A6B8-0F54B9762318}"/>
              </a:ext>
            </a:extLst>
          </p:cNvPr>
          <p:cNvSpPr txBox="1"/>
          <p:nvPr/>
        </p:nvSpPr>
        <p:spPr>
          <a:xfrm>
            <a:off x="7067902" y="1453622"/>
            <a:ext cx="12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solidFill>
                  <a:schemeClr val="bg2">
                    <a:lumMod val="50000"/>
                  </a:schemeClr>
                </a:solidFill>
              </a:rPr>
              <a:t>Valuable waste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3EF2FA-A929-50D2-0934-309176AF8B0B}"/>
              </a:ext>
            </a:extLst>
          </p:cNvPr>
          <p:cNvSpPr txBox="1"/>
          <p:nvPr/>
        </p:nvSpPr>
        <p:spPr>
          <a:xfrm>
            <a:off x="7307610" y="2976993"/>
            <a:ext cx="1360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Transferred to waste management sector</a:t>
            </a:r>
            <a:endParaRPr lang="en-US" sz="1400" noProof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E795042-DC0C-2B31-5035-40C0C0736E6D}"/>
              </a:ext>
            </a:extLst>
          </p:cNvPr>
          <p:cNvSpPr/>
          <p:nvPr/>
        </p:nvSpPr>
        <p:spPr>
          <a:xfrm>
            <a:off x="5979470" y="1438799"/>
            <a:ext cx="1259018" cy="571188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1F9864A-279B-1F10-8D84-D2A33A0A5B45}"/>
              </a:ext>
            </a:extLst>
          </p:cNvPr>
          <p:cNvSpPr/>
          <p:nvPr/>
        </p:nvSpPr>
        <p:spPr>
          <a:xfrm>
            <a:off x="5926952" y="3174211"/>
            <a:ext cx="1439085" cy="571188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5EF1483-7933-60DD-D2EE-EAF6DAA28555}"/>
              </a:ext>
            </a:extLst>
          </p:cNvPr>
          <p:cNvCxnSpPr>
            <a:cxnSpLocks/>
          </p:cNvCxnSpPr>
          <p:nvPr/>
        </p:nvCxnSpPr>
        <p:spPr>
          <a:xfrm>
            <a:off x="2451100" y="2076858"/>
            <a:ext cx="605212" cy="4318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B18FDB-3ED2-2BA8-1191-89D60722D0A7}"/>
                  </a:ext>
                </a:extLst>
              </p:cNvPr>
              <p:cNvSpPr txBox="1"/>
              <p:nvPr/>
            </p:nvSpPr>
            <p:spPr>
              <a:xfrm>
                <a:off x="2139950" y="1759165"/>
                <a:ext cx="1066767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𝑟𝑒𝑔𝑢𝑙𝑎𝑟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B18FDB-3ED2-2BA8-1191-89D60722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950" y="1759165"/>
                <a:ext cx="1066767" cy="37427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75ECF7-D1F9-24B6-3A63-E0C94BCCE465}"/>
              </a:ext>
            </a:extLst>
          </p:cNvPr>
          <p:cNvCxnSpPr>
            <a:cxnSpLocks/>
          </p:cNvCxnSpPr>
          <p:nvPr/>
        </p:nvCxnSpPr>
        <p:spPr>
          <a:xfrm flipV="1">
            <a:off x="2825793" y="2725140"/>
            <a:ext cx="1897814" cy="178869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401A36-EA30-1FE4-1FCF-C895420CC62A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2680797" y="2757406"/>
            <a:ext cx="2128328" cy="304927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CEA762-51E2-AAAA-3B33-719263572C82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3809097" y="2757406"/>
            <a:ext cx="1000028" cy="29527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17AD30-D5F0-1344-46AE-F00F4748086D}"/>
              </a:ext>
            </a:extLst>
          </p:cNvPr>
          <p:cNvCxnSpPr>
            <a:cxnSpLocks/>
            <a:endCxn id="69" idx="2"/>
          </p:cNvCxnSpPr>
          <p:nvPr/>
        </p:nvCxnSpPr>
        <p:spPr>
          <a:xfrm flipH="1" flipV="1">
            <a:off x="4809125" y="2757406"/>
            <a:ext cx="65613" cy="29527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0225FF-FAE3-739B-8F0F-19E3B972978A}"/>
              </a:ext>
            </a:extLst>
          </p:cNvPr>
          <p:cNvCxnSpPr>
            <a:cxnSpLocks/>
          </p:cNvCxnSpPr>
          <p:nvPr/>
        </p:nvCxnSpPr>
        <p:spPr>
          <a:xfrm flipH="1" flipV="1">
            <a:off x="4932210" y="2725140"/>
            <a:ext cx="560540" cy="29558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5E7BA8-8532-F0DF-DCFC-05F9077140E9}"/>
              </a:ext>
            </a:extLst>
          </p:cNvPr>
          <p:cNvCxnSpPr>
            <a:cxnSpLocks/>
          </p:cNvCxnSpPr>
          <p:nvPr/>
        </p:nvCxnSpPr>
        <p:spPr>
          <a:xfrm flipH="1" flipV="1">
            <a:off x="4934484" y="2735880"/>
            <a:ext cx="1731722" cy="29451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F8D04A-D76D-8645-8B17-6B8D926A2B0C}"/>
                  </a:ext>
                </a:extLst>
              </p:cNvPr>
              <p:cNvSpPr txBox="1"/>
              <p:nvPr/>
            </p:nvSpPr>
            <p:spPr>
              <a:xfrm>
                <a:off x="3803636" y="1758873"/>
                <a:ext cx="1144159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0F8D04A-D76D-8645-8B17-6B8D926A2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636" y="1758873"/>
                <a:ext cx="1144159" cy="37824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97E7FC-EB48-6F14-1BD7-A46EA6A1FDE5}"/>
              </a:ext>
            </a:extLst>
          </p:cNvPr>
          <p:cNvCxnSpPr>
            <a:cxnSpLocks/>
          </p:cNvCxnSpPr>
          <p:nvPr/>
        </p:nvCxnSpPr>
        <p:spPr>
          <a:xfrm flipV="1">
            <a:off x="3501030" y="2076858"/>
            <a:ext cx="605212" cy="43186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36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DB850-4604-5764-999B-2BECD68C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00270B-294F-81D5-42DA-63EF3B75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6C633-CA56-4D79-5A29-E76EBAFE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1D724-A112-0507-D1E2-0CD341B3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06AE8-4625-4218-91B1-19EE9F4FE3A7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5416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The material rebound effect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Similar to the energy rebound effect: the direct effect of policies that aim to reduce primary material use is partly, fully or more than offset due to behavioral responses.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Formalizing the idea (from Zink and Geyer, 2017):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algn="ctr"/>
                <a:r>
                  <a:rPr lang="en-US" sz="2000" dirty="0"/>
                  <a:t>The typical engineer perspective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 algn="ctr"/>
                <a:r>
                  <a:rPr lang="en-US" sz="2000" dirty="0"/>
                  <a:t>The economist's perspective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806AE8-4625-4218-91B1-19EE9F4FE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5416098"/>
              </a:xfrm>
              <a:prstGeom prst="rect">
                <a:avLst/>
              </a:prstGeom>
              <a:blipFill>
                <a:blip r:embed="rId3"/>
                <a:stretch>
                  <a:fillRect l="-758" t="-562" r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531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D9F6-1B2D-604E-8996-D46E9D4C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A97FBD-1546-AEF5-0431-18166789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42A7C-4049-9DA3-A8BA-302E1794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D2078-DADA-DAE6-7A1B-6FE95E7C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603F8-A3DD-F613-8517-91AEF7030CBA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6270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The material rebound effect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We investigate the rebound effect of circular economy policies.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Specifically, we investigate how strong the material rebound effect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𝑠𝑎𝑣𝑖𝑛𝑔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𝑠𝑎𝑣𝑖𝑛𝑔</m:t>
                          </m:r>
                        </m:num>
                        <m:den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𝑠𝑎𝑣𝑖𝑛𝑔</m:t>
                          </m:r>
                        </m:den>
                      </m:f>
                    </m:oMath>
                  </m:oMathPara>
                </a14:m>
                <a:endParaRPr lang="en-US" sz="2000" noProof="0" dirty="0"/>
              </a:p>
              <a:p>
                <a:endParaRPr lang="en-US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Here we are focusing on the saving of primary (virgin) materials.</a:t>
                </a:r>
              </a:p>
              <a:p>
                <a:endParaRPr lang="en-US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Note that: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000" noProof="0" dirty="0"/>
                  <a:t>: partial rebound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noProof="0" dirty="0"/>
                  <a:t>: full rebound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noProof="0" dirty="0"/>
                  <a:t>: zero rebound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000" noProof="0" dirty="0"/>
                  <a:t>: backfire</a:t>
                </a:r>
              </a:p>
              <a:p>
                <a:pPr algn="ctr"/>
                <a:endParaRPr lang="en-US" sz="2000" noProof="0" dirty="0"/>
              </a:p>
              <a:p>
                <a:pPr algn="ctr"/>
                <a:endParaRPr lang="en-US" sz="20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603F8-A3DD-F613-8517-91AEF7030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6270627"/>
              </a:xfrm>
              <a:prstGeom prst="rect">
                <a:avLst/>
              </a:prstGeom>
              <a:blipFill>
                <a:blip r:embed="rId3"/>
                <a:stretch>
                  <a:fillRect l="-758" t="-486" r="-6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66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87F3-86AF-CAB5-B943-572D03E0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06AF61-8238-4E61-2A6E-20F13ABA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EB8EA-900B-56BF-151E-00A12ACE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493E0-E61E-4763-5D6B-80A72E1A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F6E3B-2B7B-068E-B358-8DAF503CCDBF}"/>
              </a:ext>
            </a:extLst>
          </p:cNvPr>
          <p:cNvSpPr txBox="1"/>
          <p:nvPr/>
        </p:nvSpPr>
        <p:spPr>
          <a:xfrm>
            <a:off x="508410" y="1051719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material rebound effect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7E8C3-3236-6030-1ECE-6F3D97AB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50" y="1983180"/>
            <a:ext cx="1682337" cy="132135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E02284-A2EB-DE12-A11A-4699660B6D79}"/>
              </a:ext>
            </a:extLst>
          </p:cNvPr>
          <p:cNvSpPr/>
          <p:nvPr/>
        </p:nvSpPr>
        <p:spPr>
          <a:xfrm>
            <a:off x="56641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Virgin natural resource 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57DD1B-1316-8A3F-9EBC-7B3563B1BAC3}"/>
              </a:ext>
            </a:extLst>
          </p:cNvPr>
          <p:cNvCxnSpPr>
            <a:cxnSpLocks/>
          </p:cNvCxnSpPr>
          <p:nvPr/>
        </p:nvCxnSpPr>
        <p:spPr>
          <a:xfrm>
            <a:off x="2477313" y="2631920"/>
            <a:ext cx="732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F05D883B-F2BB-5889-E75E-E461F02086D3}"/>
              </a:ext>
            </a:extLst>
          </p:cNvPr>
          <p:cNvSpPr/>
          <p:nvPr/>
        </p:nvSpPr>
        <p:spPr>
          <a:xfrm>
            <a:off x="5601843" y="1598299"/>
            <a:ext cx="1853682" cy="48519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F3030461-A868-0612-EC7B-C1263EFD86BF}"/>
              </a:ext>
            </a:extLst>
          </p:cNvPr>
          <p:cNvSpPr/>
          <p:nvPr/>
        </p:nvSpPr>
        <p:spPr>
          <a:xfrm>
            <a:off x="5601843" y="4151788"/>
            <a:ext cx="1853682" cy="75095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  <a:p>
            <a:pPr algn="ctr"/>
            <a:r>
              <a:rPr lang="en-US" dirty="0"/>
              <a:t>(negative value)</a:t>
            </a:r>
          </a:p>
        </p:txBody>
      </p:sp>
      <p:sp>
        <p:nvSpPr>
          <p:cNvPr id="12" name="Rounded Rectangle 23">
            <a:extLst>
              <a:ext uri="{FF2B5EF4-FFF2-40B4-BE49-F238E27FC236}">
                <a16:creationId xmlns:a16="http://schemas.microsoft.com/office/drawing/2014/main" id="{7462893B-D150-8F40-EB6A-5F11A54B2B92}"/>
              </a:ext>
            </a:extLst>
          </p:cNvPr>
          <p:cNvSpPr/>
          <p:nvPr/>
        </p:nvSpPr>
        <p:spPr>
          <a:xfrm>
            <a:off x="5601843" y="2521100"/>
            <a:ext cx="1853682" cy="10841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 (positive value)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D5C1C3-51D8-FBE9-D195-5B94EE0251C5}"/>
              </a:ext>
            </a:extLst>
          </p:cNvPr>
          <p:cNvCxnSpPr>
            <a:cxnSpLocks/>
          </p:cNvCxnSpPr>
          <p:nvPr/>
        </p:nvCxnSpPr>
        <p:spPr>
          <a:xfrm flipV="1">
            <a:off x="4883287" y="2083491"/>
            <a:ext cx="654996" cy="316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163802-24CC-0D46-CAA0-E0130F7353A2}"/>
              </a:ext>
            </a:extLst>
          </p:cNvPr>
          <p:cNvCxnSpPr>
            <a:cxnSpLocks/>
          </p:cNvCxnSpPr>
          <p:nvPr/>
        </p:nvCxnSpPr>
        <p:spPr>
          <a:xfrm>
            <a:off x="4883287" y="2911813"/>
            <a:ext cx="654996" cy="1513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46739F-BA56-E2CA-2660-771878E2A147}"/>
              </a:ext>
            </a:extLst>
          </p:cNvPr>
          <p:cNvCxnSpPr>
            <a:cxnSpLocks/>
          </p:cNvCxnSpPr>
          <p:nvPr/>
        </p:nvCxnSpPr>
        <p:spPr>
          <a:xfrm>
            <a:off x="4883287" y="3404845"/>
            <a:ext cx="654996" cy="746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49FB7C6D-DAF0-E26D-18E6-2A6E346682D0}"/>
              </a:ext>
            </a:extLst>
          </p:cNvPr>
          <p:cNvSpPr/>
          <p:nvPr/>
        </p:nvSpPr>
        <p:spPr>
          <a:xfrm>
            <a:off x="566411" y="3236261"/>
            <a:ext cx="1853682" cy="6150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3CFC03-F29A-B7C7-1073-3075551747B1}"/>
              </a:ext>
            </a:extLst>
          </p:cNvPr>
          <p:cNvCxnSpPr>
            <a:cxnSpLocks/>
          </p:cNvCxnSpPr>
          <p:nvPr/>
        </p:nvCxnSpPr>
        <p:spPr>
          <a:xfrm flipV="1">
            <a:off x="2477313" y="3145277"/>
            <a:ext cx="732817" cy="423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957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8A3ED-85FD-8174-BD77-A527184E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53F8E6-F6D4-38E0-5244-2BA1ABB2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D6E48-6FA6-557C-6AC1-212C2DF1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C662-A9A1-0DBD-869B-4BF03C66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C3F96-540B-5C24-7AAE-0DA7D93446FD}"/>
              </a:ext>
            </a:extLst>
          </p:cNvPr>
          <p:cNvSpPr txBox="1"/>
          <p:nvPr/>
        </p:nvSpPr>
        <p:spPr>
          <a:xfrm>
            <a:off x="508410" y="1051719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material rebound effect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5CEAC-0E39-BE04-F6EC-3B83942E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50" y="1983180"/>
            <a:ext cx="1682337" cy="132135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FB4A64-174F-5448-B34E-5E9EBF71F454}"/>
              </a:ext>
            </a:extLst>
          </p:cNvPr>
          <p:cNvSpPr/>
          <p:nvPr/>
        </p:nvSpPr>
        <p:spPr>
          <a:xfrm>
            <a:off x="56641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Virgin natural resource 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699302-24B5-2F8F-FF31-D77A3B3B9E93}"/>
              </a:ext>
            </a:extLst>
          </p:cNvPr>
          <p:cNvCxnSpPr>
            <a:cxnSpLocks/>
          </p:cNvCxnSpPr>
          <p:nvPr/>
        </p:nvCxnSpPr>
        <p:spPr>
          <a:xfrm>
            <a:off x="2477313" y="2631920"/>
            <a:ext cx="732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B6D3EC9A-8DC8-60CB-0858-27074F3903A7}"/>
              </a:ext>
            </a:extLst>
          </p:cNvPr>
          <p:cNvSpPr/>
          <p:nvPr/>
        </p:nvSpPr>
        <p:spPr>
          <a:xfrm>
            <a:off x="5601843" y="1598299"/>
            <a:ext cx="1853682" cy="48519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0DFA5ADC-19C1-F049-CD81-B9FE7833335C}"/>
              </a:ext>
            </a:extLst>
          </p:cNvPr>
          <p:cNvSpPr/>
          <p:nvPr/>
        </p:nvSpPr>
        <p:spPr>
          <a:xfrm>
            <a:off x="5601843" y="4151788"/>
            <a:ext cx="1853682" cy="75095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  <a:p>
            <a:pPr algn="ctr"/>
            <a:r>
              <a:rPr lang="en-US" dirty="0"/>
              <a:t>(negative value)</a:t>
            </a:r>
          </a:p>
        </p:txBody>
      </p:sp>
      <p:sp>
        <p:nvSpPr>
          <p:cNvPr id="12" name="Rounded Rectangle 23">
            <a:extLst>
              <a:ext uri="{FF2B5EF4-FFF2-40B4-BE49-F238E27FC236}">
                <a16:creationId xmlns:a16="http://schemas.microsoft.com/office/drawing/2014/main" id="{B9435C43-E9F2-4395-3A0B-497268645F5A}"/>
              </a:ext>
            </a:extLst>
          </p:cNvPr>
          <p:cNvSpPr/>
          <p:nvPr/>
        </p:nvSpPr>
        <p:spPr>
          <a:xfrm>
            <a:off x="5601843" y="2521100"/>
            <a:ext cx="1853682" cy="10841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 (positive value)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763EBC-C9B9-71A3-35A6-CBEA951D693C}"/>
              </a:ext>
            </a:extLst>
          </p:cNvPr>
          <p:cNvCxnSpPr>
            <a:cxnSpLocks/>
          </p:cNvCxnSpPr>
          <p:nvPr/>
        </p:nvCxnSpPr>
        <p:spPr>
          <a:xfrm flipV="1">
            <a:off x="4883287" y="2083491"/>
            <a:ext cx="654996" cy="316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69977B-AEFF-E768-DDE7-29EB6286D1A5}"/>
              </a:ext>
            </a:extLst>
          </p:cNvPr>
          <p:cNvCxnSpPr>
            <a:cxnSpLocks/>
          </p:cNvCxnSpPr>
          <p:nvPr/>
        </p:nvCxnSpPr>
        <p:spPr>
          <a:xfrm>
            <a:off x="4883287" y="2911813"/>
            <a:ext cx="654996" cy="1513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7DE829-8C31-3024-5333-F9A8D42DCDBA}"/>
              </a:ext>
            </a:extLst>
          </p:cNvPr>
          <p:cNvCxnSpPr>
            <a:cxnSpLocks/>
          </p:cNvCxnSpPr>
          <p:nvPr/>
        </p:nvCxnSpPr>
        <p:spPr>
          <a:xfrm>
            <a:off x="4883287" y="3404845"/>
            <a:ext cx="654996" cy="746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6939B204-486F-9C51-034E-377962732D61}"/>
              </a:ext>
            </a:extLst>
          </p:cNvPr>
          <p:cNvSpPr/>
          <p:nvPr/>
        </p:nvSpPr>
        <p:spPr>
          <a:xfrm>
            <a:off x="566411" y="3236261"/>
            <a:ext cx="1853682" cy="6150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FF283F-8371-4A3F-4C46-B4DAECA122E4}"/>
              </a:ext>
            </a:extLst>
          </p:cNvPr>
          <p:cNvCxnSpPr>
            <a:cxnSpLocks/>
          </p:cNvCxnSpPr>
          <p:nvPr/>
        </p:nvCxnSpPr>
        <p:spPr>
          <a:xfrm flipV="1">
            <a:off x="2477313" y="3145277"/>
            <a:ext cx="732817" cy="423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BB7CFC8-0848-4B59-549E-85085A24D43F}"/>
              </a:ext>
            </a:extLst>
          </p:cNvPr>
          <p:cNvSpPr/>
          <p:nvPr/>
        </p:nvSpPr>
        <p:spPr>
          <a:xfrm>
            <a:off x="7600547" y="4293799"/>
            <a:ext cx="344481" cy="4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A8F75D2-4F75-2103-4249-D9BCF09A1605}"/>
              </a:ext>
            </a:extLst>
          </p:cNvPr>
          <p:cNvSpPr/>
          <p:nvPr/>
        </p:nvSpPr>
        <p:spPr>
          <a:xfrm rot="10800000">
            <a:off x="7600547" y="2805181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3C752E-EC96-251F-B58D-9094B6F843F3}"/>
              </a:ext>
            </a:extLst>
          </p:cNvPr>
          <p:cNvSpPr txBox="1"/>
          <p:nvPr/>
        </p:nvSpPr>
        <p:spPr>
          <a:xfrm>
            <a:off x="7680210" y="3543788"/>
            <a:ext cx="196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Policy or </a:t>
            </a:r>
          </a:p>
          <a:p>
            <a:r>
              <a:rPr lang="en-US" sz="1200" dirty="0"/>
              <a:t>technological shock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2D22C8B-F2B7-3EA9-A38D-48DAEB6A4DAA}"/>
              </a:ext>
            </a:extLst>
          </p:cNvPr>
          <p:cNvCxnSpPr>
            <a:cxnSpLocks/>
          </p:cNvCxnSpPr>
          <p:nvPr/>
        </p:nvCxnSpPr>
        <p:spPr>
          <a:xfrm flipH="1" flipV="1">
            <a:off x="7929996" y="3272109"/>
            <a:ext cx="293810" cy="296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FD0ABD-80C1-DEF6-0BE2-FE18FC32E6C8}"/>
              </a:ext>
            </a:extLst>
          </p:cNvPr>
          <p:cNvCxnSpPr>
            <a:cxnSpLocks/>
          </p:cNvCxnSpPr>
          <p:nvPr/>
        </p:nvCxnSpPr>
        <p:spPr>
          <a:xfrm flipH="1">
            <a:off x="7945028" y="4005453"/>
            <a:ext cx="329968" cy="359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35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E5D1-35B7-BF29-180E-02A5B0F3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B19C2-2C56-7D36-FC97-CE5BF73C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2E628-934B-DE4E-0E72-7FEA1061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62E9F-AEFC-4535-B761-FC89AD73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AD5A7-E779-33E6-0A82-1A9BF4FE7F0F}"/>
              </a:ext>
            </a:extLst>
          </p:cNvPr>
          <p:cNvSpPr txBox="1"/>
          <p:nvPr/>
        </p:nvSpPr>
        <p:spPr>
          <a:xfrm>
            <a:off x="508410" y="1051719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material rebound effect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D0331-E503-44A4-980F-D8403B8CC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50" y="1983180"/>
            <a:ext cx="1682337" cy="132135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7649DE-4069-4FF3-0BA2-8C5D94D26DCA}"/>
              </a:ext>
            </a:extLst>
          </p:cNvPr>
          <p:cNvSpPr/>
          <p:nvPr/>
        </p:nvSpPr>
        <p:spPr>
          <a:xfrm>
            <a:off x="56641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Virgin natural resource 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2DBA5C-88BD-D441-EAD3-8F4DF967127A}"/>
              </a:ext>
            </a:extLst>
          </p:cNvPr>
          <p:cNvCxnSpPr>
            <a:cxnSpLocks/>
          </p:cNvCxnSpPr>
          <p:nvPr/>
        </p:nvCxnSpPr>
        <p:spPr>
          <a:xfrm>
            <a:off x="2477313" y="2631920"/>
            <a:ext cx="732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A6455FBD-6787-81F6-5E82-AF652E6ED01D}"/>
              </a:ext>
            </a:extLst>
          </p:cNvPr>
          <p:cNvSpPr/>
          <p:nvPr/>
        </p:nvSpPr>
        <p:spPr>
          <a:xfrm>
            <a:off x="5601843" y="1598299"/>
            <a:ext cx="1853682" cy="48519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FEAE1EA1-644A-F802-16BC-C7AB8BCD7772}"/>
              </a:ext>
            </a:extLst>
          </p:cNvPr>
          <p:cNvSpPr/>
          <p:nvPr/>
        </p:nvSpPr>
        <p:spPr>
          <a:xfrm>
            <a:off x="5601843" y="4151788"/>
            <a:ext cx="1853682" cy="75095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  <a:p>
            <a:pPr algn="ctr"/>
            <a:r>
              <a:rPr lang="en-US" dirty="0"/>
              <a:t>(negative value)</a:t>
            </a:r>
          </a:p>
        </p:txBody>
      </p:sp>
      <p:sp>
        <p:nvSpPr>
          <p:cNvPr id="12" name="Rounded Rectangle 23">
            <a:extLst>
              <a:ext uri="{FF2B5EF4-FFF2-40B4-BE49-F238E27FC236}">
                <a16:creationId xmlns:a16="http://schemas.microsoft.com/office/drawing/2014/main" id="{140FD638-150E-A001-66E6-CB07D2BB3891}"/>
              </a:ext>
            </a:extLst>
          </p:cNvPr>
          <p:cNvSpPr/>
          <p:nvPr/>
        </p:nvSpPr>
        <p:spPr>
          <a:xfrm>
            <a:off x="5601843" y="2521100"/>
            <a:ext cx="1853682" cy="10841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 (positive value)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7BE979-78DF-C6F4-B8CD-24DA21574A39}"/>
              </a:ext>
            </a:extLst>
          </p:cNvPr>
          <p:cNvCxnSpPr>
            <a:cxnSpLocks/>
          </p:cNvCxnSpPr>
          <p:nvPr/>
        </p:nvCxnSpPr>
        <p:spPr>
          <a:xfrm flipV="1">
            <a:off x="4883287" y="2083491"/>
            <a:ext cx="654996" cy="316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C25ADD-8F96-9DF5-7F4E-CA57676E9634}"/>
              </a:ext>
            </a:extLst>
          </p:cNvPr>
          <p:cNvCxnSpPr>
            <a:cxnSpLocks/>
          </p:cNvCxnSpPr>
          <p:nvPr/>
        </p:nvCxnSpPr>
        <p:spPr>
          <a:xfrm>
            <a:off x="4883287" y="2911813"/>
            <a:ext cx="654996" cy="1513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DED13D-5908-825B-7AAE-0CC6447792A3}"/>
              </a:ext>
            </a:extLst>
          </p:cNvPr>
          <p:cNvCxnSpPr>
            <a:cxnSpLocks/>
          </p:cNvCxnSpPr>
          <p:nvPr/>
        </p:nvCxnSpPr>
        <p:spPr>
          <a:xfrm>
            <a:off x="4883287" y="3404845"/>
            <a:ext cx="654996" cy="746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6C82E2F4-AC18-AF2F-B200-8755CEAF6F8C}"/>
              </a:ext>
            </a:extLst>
          </p:cNvPr>
          <p:cNvSpPr/>
          <p:nvPr/>
        </p:nvSpPr>
        <p:spPr>
          <a:xfrm>
            <a:off x="566411" y="3236261"/>
            <a:ext cx="1853682" cy="6150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50A13A0-54E8-63CF-73AB-88E65D589F7F}"/>
              </a:ext>
            </a:extLst>
          </p:cNvPr>
          <p:cNvCxnSpPr>
            <a:cxnSpLocks/>
          </p:cNvCxnSpPr>
          <p:nvPr/>
        </p:nvCxnSpPr>
        <p:spPr>
          <a:xfrm flipV="1">
            <a:off x="2477313" y="3145277"/>
            <a:ext cx="732817" cy="423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BCEDEFB-6D52-9DDB-CF87-215ABC5D8138}"/>
              </a:ext>
            </a:extLst>
          </p:cNvPr>
          <p:cNvSpPr/>
          <p:nvPr/>
        </p:nvSpPr>
        <p:spPr>
          <a:xfrm>
            <a:off x="7600547" y="4293799"/>
            <a:ext cx="344481" cy="4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A05AD902-EEDE-4800-2661-8EBA624F87F4}"/>
              </a:ext>
            </a:extLst>
          </p:cNvPr>
          <p:cNvSpPr/>
          <p:nvPr/>
        </p:nvSpPr>
        <p:spPr>
          <a:xfrm rot="10800000">
            <a:off x="7600547" y="2805181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42EA2D3-814C-F1FD-CCF4-41845F9F92F4}"/>
              </a:ext>
            </a:extLst>
          </p:cNvPr>
          <p:cNvGrpSpPr/>
          <p:nvPr/>
        </p:nvGrpSpPr>
        <p:grpSpPr>
          <a:xfrm>
            <a:off x="553443" y="4310165"/>
            <a:ext cx="2815960" cy="1218849"/>
            <a:chOff x="1346123" y="4364790"/>
            <a:chExt cx="2815960" cy="121884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722571-0340-4122-9480-35A47B2FF232}"/>
                </a:ext>
              </a:extLst>
            </p:cNvPr>
            <p:cNvSpPr txBox="1"/>
            <p:nvPr/>
          </p:nvSpPr>
          <p:spPr>
            <a:xfrm>
              <a:off x="1346124" y="4413588"/>
              <a:ext cx="246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 of production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41A8E7-122E-43C0-A2F1-21BE07D97A2C}"/>
                </a:ext>
              </a:extLst>
            </p:cNvPr>
            <p:cNvSpPr txBox="1"/>
            <p:nvPr/>
          </p:nvSpPr>
          <p:spPr>
            <a:xfrm>
              <a:off x="1346123" y="5165509"/>
              <a:ext cx="246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Demand for materials</a:t>
              </a:r>
            </a:p>
          </p:txBody>
        </p:sp>
        <p:sp>
          <p:nvSpPr>
            <p:cNvPr id="35" name="Arrow: Down 34">
              <a:extLst>
                <a:ext uri="{FF2B5EF4-FFF2-40B4-BE49-F238E27FC236}">
                  <a16:creationId xmlns:a16="http://schemas.microsoft.com/office/drawing/2014/main" id="{5EDC1030-F663-77B1-025E-D9EBBB282D28}"/>
                </a:ext>
              </a:extLst>
            </p:cNvPr>
            <p:cNvSpPr/>
            <p:nvPr/>
          </p:nvSpPr>
          <p:spPr>
            <a:xfrm>
              <a:off x="3817602" y="4364790"/>
              <a:ext cx="344481" cy="46692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F6D4EC96-CB25-B160-1D6F-10C34C8DAD38}"/>
                </a:ext>
              </a:extLst>
            </p:cNvPr>
            <p:cNvSpPr/>
            <p:nvPr/>
          </p:nvSpPr>
          <p:spPr>
            <a:xfrm rot="10800000">
              <a:off x="3811756" y="5116711"/>
              <a:ext cx="344481" cy="46692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11DE565-0FEC-57CE-8060-C3EE5CE520F3}"/>
              </a:ext>
            </a:extLst>
          </p:cNvPr>
          <p:cNvSpPr txBox="1"/>
          <p:nvPr/>
        </p:nvSpPr>
        <p:spPr>
          <a:xfrm>
            <a:off x="7680210" y="3543788"/>
            <a:ext cx="196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Policy or </a:t>
            </a:r>
          </a:p>
          <a:p>
            <a:r>
              <a:rPr lang="en-US" sz="1200" dirty="0"/>
              <a:t>technological shock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857E984-A7FF-23B7-E4FB-4BFE4361F001}"/>
              </a:ext>
            </a:extLst>
          </p:cNvPr>
          <p:cNvCxnSpPr>
            <a:cxnSpLocks/>
          </p:cNvCxnSpPr>
          <p:nvPr/>
        </p:nvCxnSpPr>
        <p:spPr>
          <a:xfrm flipH="1" flipV="1">
            <a:off x="7929996" y="3272109"/>
            <a:ext cx="293810" cy="296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CCACFC-3475-D73B-D0DE-C243CA345666}"/>
              </a:ext>
            </a:extLst>
          </p:cNvPr>
          <p:cNvCxnSpPr>
            <a:cxnSpLocks/>
          </p:cNvCxnSpPr>
          <p:nvPr/>
        </p:nvCxnSpPr>
        <p:spPr>
          <a:xfrm flipH="1">
            <a:off x="7945028" y="4005453"/>
            <a:ext cx="329968" cy="359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9C37BF-40F5-1B89-0EA5-B51EC0CAF6B6}"/>
              </a:ext>
            </a:extLst>
          </p:cNvPr>
          <p:cNvSpPr/>
          <p:nvPr/>
        </p:nvSpPr>
        <p:spPr>
          <a:xfrm>
            <a:off x="440987" y="4185121"/>
            <a:ext cx="3158247" cy="147637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30AB3763-125C-1D67-AC7C-449D75AA190B}"/>
              </a:ext>
            </a:extLst>
          </p:cNvPr>
          <p:cNvSpPr/>
          <p:nvPr/>
        </p:nvSpPr>
        <p:spPr>
          <a:xfrm rot="10800000">
            <a:off x="7050697" y="5286255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C32580-589C-E154-9761-49E403B0DF82}"/>
              </a:ext>
            </a:extLst>
          </p:cNvPr>
          <p:cNvSpPr txBox="1"/>
          <p:nvPr/>
        </p:nvSpPr>
        <p:spPr>
          <a:xfrm>
            <a:off x="5292830" y="5196555"/>
            <a:ext cx="1757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for virgin materials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3935192-B729-F6D1-2BC9-BAF9167A4305}"/>
              </a:ext>
            </a:extLst>
          </p:cNvPr>
          <p:cNvSpPr/>
          <p:nvPr/>
        </p:nvSpPr>
        <p:spPr>
          <a:xfrm>
            <a:off x="5253706" y="5144244"/>
            <a:ext cx="2305334" cy="75095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6E189A1-450D-A442-37F6-809136293017}"/>
              </a:ext>
            </a:extLst>
          </p:cNvPr>
          <p:cNvCxnSpPr>
            <a:cxnSpLocks/>
          </p:cNvCxnSpPr>
          <p:nvPr/>
        </p:nvCxnSpPr>
        <p:spPr>
          <a:xfrm>
            <a:off x="3734824" y="5110884"/>
            <a:ext cx="1401380" cy="418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23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92FB-A295-898D-E577-6984E1B9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D4DACD-BC7D-26A5-9D2A-C93C2C08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F8234-00E6-1711-2433-DB0A41CF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B3940-B6D6-666C-C54D-C4E5394D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3C65E-9542-114C-D368-6513B06A5CDF}"/>
              </a:ext>
            </a:extLst>
          </p:cNvPr>
          <p:cNvSpPr txBox="1"/>
          <p:nvPr/>
        </p:nvSpPr>
        <p:spPr>
          <a:xfrm>
            <a:off x="508410" y="1051719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material rebound effect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5D567-BD98-6406-0F22-111D7782A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350" y="1983180"/>
            <a:ext cx="1682337" cy="132135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EAAF6B-0461-F924-6367-72ED3B76747D}"/>
              </a:ext>
            </a:extLst>
          </p:cNvPr>
          <p:cNvSpPr/>
          <p:nvPr/>
        </p:nvSpPr>
        <p:spPr>
          <a:xfrm>
            <a:off x="566411" y="2257155"/>
            <a:ext cx="1853682" cy="749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Virgin natural resource input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B4DCCC-A1D8-20A7-334E-81D957003C32}"/>
              </a:ext>
            </a:extLst>
          </p:cNvPr>
          <p:cNvCxnSpPr>
            <a:cxnSpLocks/>
          </p:cNvCxnSpPr>
          <p:nvPr/>
        </p:nvCxnSpPr>
        <p:spPr>
          <a:xfrm>
            <a:off x="2477313" y="2631920"/>
            <a:ext cx="7328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55E839DF-BC63-A9F3-9F33-B0C1222F6B20}"/>
              </a:ext>
            </a:extLst>
          </p:cNvPr>
          <p:cNvSpPr/>
          <p:nvPr/>
        </p:nvSpPr>
        <p:spPr>
          <a:xfrm>
            <a:off x="5601843" y="1598299"/>
            <a:ext cx="1853682" cy="48519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5C29366D-C335-2D8F-FF23-EFC896B35A74}"/>
              </a:ext>
            </a:extLst>
          </p:cNvPr>
          <p:cNvSpPr/>
          <p:nvPr/>
        </p:nvSpPr>
        <p:spPr>
          <a:xfrm>
            <a:off x="5601843" y="4151788"/>
            <a:ext cx="1853682" cy="75095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Waste</a:t>
            </a:r>
          </a:p>
          <a:p>
            <a:pPr algn="ctr"/>
            <a:r>
              <a:rPr lang="en-US" dirty="0"/>
              <a:t>(negative value)</a:t>
            </a:r>
          </a:p>
        </p:txBody>
      </p:sp>
      <p:sp>
        <p:nvSpPr>
          <p:cNvPr id="12" name="Rounded Rectangle 23">
            <a:extLst>
              <a:ext uri="{FF2B5EF4-FFF2-40B4-BE49-F238E27FC236}">
                <a16:creationId xmlns:a16="http://schemas.microsoft.com/office/drawing/2014/main" id="{81800F35-809A-C5F4-DC4B-75B0D20CA40D}"/>
              </a:ext>
            </a:extLst>
          </p:cNvPr>
          <p:cNvSpPr/>
          <p:nvPr/>
        </p:nvSpPr>
        <p:spPr>
          <a:xfrm>
            <a:off x="5601843" y="2521100"/>
            <a:ext cx="1853682" cy="10841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 (positive value)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9D41CA-02CC-1A04-7002-5BCB8738B66A}"/>
              </a:ext>
            </a:extLst>
          </p:cNvPr>
          <p:cNvCxnSpPr>
            <a:cxnSpLocks/>
          </p:cNvCxnSpPr>
          <p:nvPr/>
        </p:nvCxnSpPr>
        <p:spPr>
          <a:xfrm flipV="1">
            <a:off x="4883287" y="2083491"/>
            <a:ext cx="654996" cy="31673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0CD7E5-2D90-885A-DD74-4F0AD1255FF3}"/>
              </a:ext>
            </a:extLst>
          </p:cNvPr>
          <p:cNvCxnSpPr>
            <a:cxnSpLocks/>
          </p:cNvCxnSpPr>
          <p:nvPr/>
        </p:nvCxnSpPr>
        <p:spPr>
          <a:xfrm>
            <a:off x="4883287" y="2911813"/>
            <a:ext cx="654996" cy="1513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8FB011-0358-F443-3D02-D88AE5596D53}"/>
              </a:ext>
            </a:extLst>
          </p:cNvPr>
          <p:cNvCxnSpPr>
            <a:cxnSpLocks/>
          </p:cNvCxnSpPr>
          <p:nvPr/>
        </p:nvCxnSpPr>
        <p:spPr>
          <a:xfrm>
            <a:off x="4883287" y="3404845"/>
            <a:ext cx="654996" cy="746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CAD01DC2-5697-4B32-6C12-885F2FC1871A}"/>
              </a:ext>
            </a:extLst>
          </p:cNvPr>
          <p:cNvSpPr/>
          <p:nvPr/>
        </p:nvSpPr>
        <p:spPr>
          <a:xfrm>
            <a:off x="566411" y="3236261"/>
            <a:ext cx="1853682" cy="6150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Recycled materials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AAB508-F7CA-0F6E-DF20-1D3A43DBB0F2}"/>
              </a:ext>
            </a:extLst>
          </p:cNvPr>
          <p:cNvCxnSpPr>
            <a:cxnSpLocks/>
          </p:cNvCxnSpPr>
          <p:nvPr/>
        </p:nvCxnSpPr>
        <p:spPr>
          <a:xfrm flipV="1">
            <a:off x="2477313" y="3145277"/>
            <a:ext cx="732817" cy="4232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9809187-CD21-1E90-BE51-B65294239198}"/>
              </a:ext>
            </a:extLst>
          </p:cNvPr>
          <p:cNvSpPr/>
          <p:nvPr/>
        </p:nvSpPr>
        <p:spPr>
          <a:xfrm>
            <a:off x="7600547" y="4293799"/>
            <a:ext cx="344481" cy="4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A8599640-7177-6D99-19D4-1B37726B2370}"/>
              </a:ext>
            </a:extLst>
          </p:cNvPr>
          <p:cNvSpPr/>
          <p:nvPr/>
        </p:nvSpPr>
        <p:spPr>
          <a:xfrm rot="10800000">
            <a:off x="7600547" y="2805181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A485901-0310-5876-20A5-237BE3C82420}"/>
              </a:ext>
            </a:extLst>
          </p:cNvPr>
          <p:cNvGrpSpPr/>
          <p:nvPr/>
        </p:nvGrpSpPr>
        <p:grpSpPr>
          <a:xfrm>
            <a:off x="553443" y="4310165"/>
            <a:ext cx="2815960" cy="1218849"/>
            <a:chOff x="1346123" y="4364790"/>
            <a:chExt cx="2815960" cy="121884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016062-1580-D7C3-0FF6-E4A442F5D93F}"/>
                </a:ext>
              </a:extLst>
            </p:cNvPr>
            <p:cNvSpPr txBox="1"/>
            <p:nvPr/>
          </p:nvSpPr>
          <p:spPr>
            <a:xfrm>
              <a:off x="1346124" y="4413588"/>
              <a:ext cx="246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 of production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EA3097-DB58-482D-AD99-D25F2D7A301B}"/>
                </a:ext>
              </a:extLst>
            </p:cNvPr>
            <p:cNvSpPr txBox="1"/>
            <p:nvPr/>
          </p:nvSpPr>
          <p:spPr>
            <a:xfrm>
              <a:off x="1346123" y="5165509"/>
              <a:ext cx="246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Demand for materials</a:t>
              </a:r>
            </a:p>
          </p:txBody>
        </p:sp>
        <p:sp>
          <p:nvSpPr>
            <p:cNvPr id="35" name="Arrow: Down 34">
              <a:extLst>
                <a:ext uri="{FF2B5EF4-FFF2-40B4-BE49-F238E27FC236}">
                  <a16:creationId xmlns:a16="http://schemas.microsoft.com/office/drawing/2014/main" id="{31BAAF64-2879-969D-2302-D0A0ECE7D217}"/>
                </a:ext>
              </a:extLst>
            </p:cNvPr>
            <p:cNvSpPr/>
            <p:nvPr/>
          </p:nvSpPr>
          <p:spPr>
            <a:xfrm>
              <a:off x="3817602" y="4364790"/>
              <a:ext cx="344481" cy="46692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443F9816-716D-E591-2C27-6660CD5C22D1}"/>
                </a:ext>
              </a:extLst>
            </p:cNvPr>
            <p:cNvSpPr/>
            <p:nvPr/>
          </p:nvSpPr>
          <p:spPr>
            <a:xfrm rot="10800000">
              <a:off x="3811756" y="5116711"/>
              <a:ext cx="344481" cy="46692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52135B4-3810-14A0-3A76-A5E1E61E7586}"/>
              </a:ext>
            </a:extLst>
          </p:cNvPr>
          <p:cNvGrpSpPr/>
          <p:nvPr/>
        </p:nvGrpSpPr>
        <p:grpSpPr>
          <a:xfrm>
            <a:off x="566411" y="5915709"/>
            <a:ext cx="2465633" cy="646331"/>
            <a:chOff x="3496748" y="6020485"/>
            <a:chExt cx="2465633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65171E9-07B0-303E-96A6-69C2BB143F61}"/>
                </a:ext>
              </a:extLst>
            </p:cNvPr>
            <p:cNvSpPr txBox="1"/>
            <p:nvPr/>
          </p:nvSpPr>
          <p:spPr>
            <a:xfrm>
              <a:off x="3496748" y="6020485"/>
              <a:ext cx="24656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Supply of recycled materials</a:t>
              </a:r>
            </a:p>
          </p:txBody>
        </p:sp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9F316B2D-F551-7696-598A-DF4678161D22}"/>
                </a:ext>
              </a:extLst>
            </p:cNvPr>
            <p:cNvSpPr/>
            <p:nvPr/>
          </p:nvSpPr>
          <p:spPr>
            <a:xfrm rot="10800000">
              <a:off x="5601817" y="6141983"/>
              <a:ext cx="344481" cy="46692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37953D4-9805-5DC3-39E4-03DB44B402D1}"/>
              </a:ext>
            </a:extLst>
          </p:cNvPr>
          <p:cNvSpPr txBox="1"/>
          <p:nvPr/>
        </p:nvSpPr>
        <p:spPr>
          <a:xfrm>
            <a:off x="7680210" y="3543788"/>
            <a:ext cx="196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Policy or </a:t>
            </a:r>
          </a:p>
          <a:p>
            <a:r>
              <a:rPr lang="en-US" sz="1200" dirty="0"/>
              <a:t>technological shock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4F50A47-619C-2C96-AEE1-5D5DAB9ABBC1}"/>
              </a:ext>
            </a:extLst>
          </p:cNvPr>
          <p:cNvCxnSpPr>
            <a:cxnSpLocks/>
          </p:cNvCxnSpPr>
          <p:nvPr/>
        </p:nvCxnSpPr>
        <p:spPr>
          <a:xfrm flipH="1" flipV="1">
            <a:off x="7929996" y="3272109"/>
            <a:ext cx="293810" cy="296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7DD726-C054-10EA-4A13-DA44870853AD}"/>
              </a:ext>
            </a:extLst>
          </p:cNvPr>
          <p:cNvCxnSpPr>
            <a:cxnSpLocks/>
          </p:cNvCxnSpPr>
          <p:nvPr/>
        </p:nvCxnSpPr>
        <p:spPr>
          <a:xfrm flipH="1">
            <a:off x="7945028" y="4005453"/>
            <a:ext cx="329968" cy="359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44C639E-F202-FF6F-85FC-2C82D87E3FEA}"/>
              </a:ext>
            </a:extLst>
          </p:cNvPr>
          <p:cNvSpPr/>
          <p:nvPr/>
        </p:nvSpPr>
        <p:spPr>
          <a:xfrm>
            <a:off x="440987" y="4185121"/>
            <a:ext cx="3158247" cy="147637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A141C8-0183-B263-AE27-DB8BD95EB6C7}"/>
              </a:ext>
            </a:extLst>
          </p:cNvPr>
          <p:cNvSpPr/>
          <p:nvPr/>
        </p:nvSpPr>
        <p:spPr>
          <a:xfrm>
            <a:off x="587375" y="5806281"/>
            <a:ext cx="2523817" cy="8474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36007A42-E5A8-A36C-B480-5FD39897C7B4}"/>
              </a:ext>
            </a:extLst>
          </p:cNvPr>
          <p:cNvSpPr/>
          <p:nvPr/>
        </p:nvSpPr>
        <p:spPr>
          <a:xfrm rot="10800000">
            <a:off x="7050697" y="5286255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53E49-082D-8D31-1B73-443709D1EFE0}"/>
              </a:ext>
            </a:extLst>
          </p:cNvPr>
          <p:cNvSpPr txBox="1"/>
          <p:nvPr/>
        </p:nvSpPr>
        <p:spPr>
          <a:xfrm>
            <a:off x="5292830" y="5196555"/>
            <a:ext cx="1757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for virgin materials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19F34CF-F1C8-2B44-AF59-24283428A52C}"/>
              </a:ext>
            </a:extLst>
          </p:cNvPr>
          <p:cNvSpPr/>
          <p:nvPr/>
        </p:nvSpPr>
        <p:spPr>
          <a:xfrm>
            <a:off x="5253706" y="5144244"/>
            <a:ext cx="2305334" cy="75095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39B03C-58D3-D207-CC4A-F08F197F9EE5}"/>
              </a:ext>
            </a:extLst>
          </p:cNvPr>
          <p:cNvCxnSpPr>
            <a:cxnSpLocks/>
          </p:cNvCxnSpPr>
          <p:nvPr/>
        </p:nvCxnSpPr>
        <p:spPr>
          <a:xfrm>
            <a:off x="3734824" y="5110884"/>
            <a:ext cx="1401380" cy="418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82FFE8-B12A-C4D9-36EB-80069B0BBD28}"/>
              </a:ext>
            </a:extLst>
          </p:cNvPr>
          <p:cNvCxnSpPr>
            <a:cxnSpLocks/>
          </p:cNvCxnSpPr>
          <p:nvPr/>
        </p:nvCxnSpPr>
        <p:spPr>
          <a:xfrm>
            <a:off x="3267350" y="6202610"/>
            <a:ext cx="1891125" cy="1889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141806B-6860-EB64-5330-398FE9B28A67}"/>
              </a:ext>
            </a:extLst>
          </p:cNvPr>
          <p:cNvSpPr/>
          <p:nvPr/>
        </p:nvSpPr>
        <p:spPr>
          <a:xfrm>
            <a:off x="7050697" y="6158143"/>
            <a:ext cx="344481" cy="4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8363E-8663-0DF7-C92E-B47AE3C24B81}"/>
              </a:ext>
            </a:extLst>
          </p:cNvPr>
          <p:cNvSpPr txBox="1"/>
          <p:nvPr/>
        </p:nvSpPr>
        <p:spPr>
          <a:xfrm>
            <a:off x="5292830" y="6068443"/>
            <a:ext cx="180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Demand for virgin materials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CADBF5-F6AE-5918-92EF-BCE6ADAA9E89}"/>
              </a:ext>
            </a:extLst>
          </p:cNvPr>
          <p:cNvSpPr/>
          <p:nvPr/>
        </p:nvSpPr>
        <p:spPr>
          <a:xfrm>
            <a:off x="5253706" y="6016132"/>
            <a:ext cx="2305334" cy="75095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4AB-F8B8-131D-8F2F-44A50D59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3C1783-0B1A-FC62-4FC0-B81EB2816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0B2D1-B1BD-31EE-80E7-CC9A27B9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A6ED4-A40E-7E22-6C28-3D6C157B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21CB1-8DE4-51C2-C6F3-4859484821A3}"/>
              </a:ext>
            </a:extLst>
          </p:cNvPr>
          <p:cNvSpPr txBox="1"/>
          <p:nvPr/>
        </p:nvSpPr>
        <p:spPr>
          <a:xfrm>
            <a:off x="508409" y="1051323"/>
            <a:ext cx="8046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xxx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8729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16E4-B042-BE70-9B63-99E872593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DA67BE-7B12-39DE-9111-B5B54E4E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619125"/>
            <a:ext cx="7967664" cy="865188"/>
          </a:xfrm>
        </p:spPr>
        <p:txBody>
          <a:bodyPr anchor="t">
            <a:normAutofit/>
          </a:bodyPr>
          <a:lstStyle/>
          <a:p>
            <a:r>
              <a:rPr lang="en-US" dirty="0"/>
              <a:t>Small macro model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" y="2136651"/>
            <a:ext cx="7967663" cy="3665125"/>
          </a:xfrm>
          <a:prstGeom prst="rect">
            <a:avLst/>
          </a:prstGeo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60A37-8223-9897-5594-400949B1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72722" y="85746"/>
            <a:ext cx="814976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D47CA900-C54E-46DA-9750-FC525BA50C3D}" type="datetime1">
              <a:rPr lang="en-US" smtClean="0"/>
              <a:pPr>
                <a:spcAft>
                  <a:spcPts val="600"/>
                </a:spcAft>
              </a:pPr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27DEF-8AEC-8572-CEE0-35F64688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7914" y="85746"/>
            <a:ext cx="377124" cy="176797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ACB80-43AA-3CF7-B6BF-48779136E775}"/>
              </a:ext>
            </a:extLst>
          </p:cNvPr>
          <p:cNvSpPr txBox="1"/>
          <p:nvPr/>
        </p:nvSpPr>
        <p:spPr>
          <a:xfrm>
            <a:off x="717550" y="5708650"/>
            <a:ext cx="9396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Eurostat.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C097D-4F23-53DA-F022-98B12B431511}"/>
              </a:ext>
            </a:extLst>
          </p:cNvPr>
          <p:cNvSpPr txBox="1"/>
          <p:nvPr/>
        </p:nvSpPr>
        <p:spPr>
          <a:xfrm>
            <a:off x="508409" y="1051323"/>
            <a:ext cx="8046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Observation: Waste can be valuable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540514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B336-1D6D-AF18-08AD-A20EBAF7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4F2E1B-D943-5232-D817-1F212CFD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DFA14-200D-D517-A11B-5276246D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F5916-E06F-E7B0-4360-CE510456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91C63-6EC0-3785-0BE7-1A57491DD3CA}"/>
              </a:ext>
            </a:extLst>
          </p:cNvPr>
          <p:cNvSpPr txBox="1"/>
          <p:nvPr/>
        </p:nvSpPr>
        <p:spPr>
          <a:xfrm>
            <a:off x="508409" y="1051323"/>
            <a:ext cx="8046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AB87A-E6D9-157B-D8A5-6CF15BD36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8" name="Picture 20" descr="Commercial consumers isometric people">
            <a:extLst>
              <a:ext uri="{FF2B5EF4-FFF2-40B4-BE49-F238E27FC236}">
                <a16:creationId xmlns:a16="http://schemas.microsoft.com/office/drawing/2014/main" id="{F2C6BB1A-3E26-8FC1-A3F3-EFBA4D99D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70DB8A-61D2-028C-056E-08F253930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9F03B5-56F2-13C4-DCDD-9E6EBA408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B9DAFA-48B1-4A77-A5F1-80C215D94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2E3055-BDE6-5CF2-77C3-418627635E7C}"/>
              </a:ext>
            </a:extLst>
          </p:cNvPr>
          <p:cNvSpPr txBox="1"/>
          <p:nvPr/>
        </p:nvSpPr>
        <p:spPr>
          <a:xfrm>
            <a:off x="642589" y="2424911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natural 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D64F5-02D2-F06C-2EEB-5C882CB2DBA0}"/>
              </a:ext>
            </a:extLst>
          </p:cNvPr>
          <p:cNvSpPr txBox="1"/>
          <p:nvPr/>
        </p:nvSpPr>
        <p:spPr>
          <a:xfrm>
            <a:off x="3804010" y="1673901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00AEA-96F7-FC2D-5A3D-7E10AE87043B}"/>
              </a:ext>
            </a:extLst>
          </p:cNvPr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A7A81E-0D15-CE46-6155-3EDF140A31F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296575" y="2606265"/>
            <a:ext cx="794984" cy="6508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F0135A-40FC-4C69-9487-AB4B5DC79E33}"/>
              </a:ext>
            </a:extLst>
          </p:cNvPr>
          <p:cNvCxnSpPr/>
          <p:nvPr/>
        </p:nvCxnSpPr>
        <p:spPr>
          <a:xfrm flipV="1">
            <a:off x="2771200" y="2760167"/>
            <a:ext cx="1370177" cy="1375442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D548DB-DEF3-9428-7346-014EF2A83A51}"/>
              </a:ext>
            </a:extLst>
          </p:cNvPr>
          <p:cNvCxnSpPr/>
          <p:nvPr/>
        </p:nvCxnSpPr>
        <p:spPr>
          <a:xfrm>
            <a:off x="5015413" y="2488608"/>
            <a:ext cx="1619936" cy="790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2" descr="Magnetite, iron oxide, iron ore similarities and differences - LKAB Minerals">
            <a:extLst>
              <a:ext uri="{FF2B5EF4-FFF2-40B4-BE49-F238E27FC236}">
                <a16:creationId xmlns:a16="http://schemas.microsoft.com/office/drawing/2014/main" id="{789663A8-1001-3584-A03C-D1C91F62F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18" y="3902450"/>
            <a:ext cx="1308640" cy="87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C625B7-4096-80D4-CF41-22EEAAF934B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296575" y="3257109"/>
            <a:ext cx="814443" cy="17952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38C65D-E881-E3D7-0DC1-10BC22E2A3EB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3296575" y="3257109"/>
            <a:ext cx="814443" cy="125370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F074CE-931F-7E02-82AB-BE8DA8A262BA}"/>
              </a:ext>
            </a:extLst>
          </p:cNvPr>
          <p:cNvCxnSpPr>
            <a:cxnSpLocks/>
          </p:cNvCxnSpPr>
          <p:nvPr/>
        </p:nvCxnSpPr>
        <p:spPr>
          <a:xfrm flipV="1">
            <a:off x="3296575" y="3691191"/>
            <a:ext cx="794984" cy="444418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BCA13B-6D67-65E9-BF32-71DC06C39CB5}"/>
              </a:ext>
            </a:extLst>
          </p:cNvPr>
          <p:cNvCxnSpPr>
            <a:cxnSpLocks/>
          </p:cNvCxnSpPr>
          <p:nvPr/>
        </p:nvCxnSpPr>
        <p:spPr>
          <a:xfrm>
            <a:off x="3397645" y="4483021"/>
            <a:ext cx="677556" cy="174157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F5331CE-C57D-B8E6-285D-ABA5992824BF}"/>
              </a:ext>
            </a:extLst>
          </p:cNvPr>
          <p:cNvCxnSpPr>
            <a:cxnSpLocks/>
          </p:cNvCxnSpPr>
          <p:nvPr/>
        </p:nvCxnSpPr>
        <p:spPr>
          <a:xfrm flipV="1">
            <a:off x="5103419" y="3579068"/>
            <a:ext cx="1481531" cy="138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08E2C4-C7F9-47A2-276F-30B348A474DC}"/>
              </a:ext>
            </a:extLst>
          </p:cNvPr>
          <p:cNvCxnSpPr>
            <a:cxnSpLocks/>
          </p:cNvCxnSpPr>
          <p:nvPr/>
        </p:nvCxnSpPr>
        <p:spPr>
          <a:xfrm flipV="1">
            <a:off x="5103418" y="3869714"/>
            <a:ext cx="1481531" cy="69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586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A645-BDF3-DA46-948D-B3179F0C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B6E235-BBCA-F994-5C21-1CBB0C3A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5C902-F0CB-AC96-4F86-1FC87E5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D11BE-CA62-E9C4-E5E2-AD0DA82D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5BE63-022C-3C09-EFA8-37EE600F0F02}"/>
              </a:ext>
            </a:extLst>
          </p:cNvPr>
          <p:cNvSpPr txBox="1"/>
          <p:nvPr/>
        </p:nvSpPr>
        <p:spPr>
          <a:xfrm>
            <a:off x="508409" y="1051323"/>
            <a:ext cx="8046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FE171-F9E1-3CA8-EFBD-CBEE21DE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65215"/>
            <a:ext cx="2836201" cy="783788"/>
          </a:xfrm>
          <a:prstGeom prst="rect">
            <a:avLst/>
          </a:prstGeom>
        </p:spPr>
      </p:pic>
      <p:pic>
        <p:nvPicPr>
          <p:cNvPr id="8" name="Picture 20" descr="Commercial consumers isometric people">
            <a:extLst>
              <a:ext uri="{FF2B5EF4-FFF2-40B4-BE49-F238E27FC236}">
                <a16:creationId xmlns:a16="http://schemas.microsoft.com/office/drawing/2014/main" id="{A0F74A2E-A7FA-AC41-6B19-3F7F9A76A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658" y="3165081"/>
            <a:ext cx="1972621" cy="147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F46BF4-1C09-443B-ABF9-3DC014FC2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018" y="2021313"/>
            <a:ext cx="900000" cy="706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C2A687-6B46-4B9A-E8D9-778D2BC94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018" y="3082929"/>
            <a:ext cx="900000" cy="707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9682EB-90BE-A33F-2358-C27501161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1018" y="4121084"/>
            <a:ext cx="900000" cy="7794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1A92B0-9E87-B58E-3A68-44D6C2F862B0}"/>
              </a:ext>
            </a:extLst>
          </p:cNvPr>
          <p:cNvSpPr txBox="1"/>
          <p:nvPr/>
        </p:nvSpPr>
        <p:spPr>
          <a:xfrm>
            <a:off x="642589" y="2424911"/>
            <a:ext cx="2287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/>
              <a:t>Labour</a:t>
            </a:r>
            <a:r>
              <a:rPr lang="en-US" sz="1200" b="1" u="sng" dirty="0"/>
              <a:t> and natural resources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9E512-BBD1-1F56-32E2-8A27D6EAEC5F}"/>
              </a:ext>
            </a:extLst>
          </p:cNvPr>
          <p:cNvSpPr txBox="1"/>
          <p:nvPr/>
        </p:nvSpPr>
        <p:spPr>
          <a:xfrm>
            <a:off x="3804010" y="1673901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Production sectors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922FA-4FCC-73A7-8ACF-EF5B1BE34FBD}"/>
              </a:ext>
            </a:extLst>
          </p:cNvPr>
          <p:cNvSpPr txBox="1"/>
          <p:nvPr/>
        </p:nvSpPr>
        <p:spPr>
          <a:xfrm>
            <a:off x="7389678" y="2670102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Consumers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A4C710-29D7-140C-B5C6-21F86872DAD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296575" y="2606265"/>
            <a:ext cx="794984" cy="6508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1CD2CB-A6FA-465D-CA9B-15D68086C98A}"/>
              </a:ext>
            </a:extLst>
          </p:cNvPr>
          <p:cNvCxnSpPr/>
          <p:nvPr/>
        </p:nvCxnSpPr>
        <p:spPr>
          <a:xfrm flipV="1">
            <a:off x="2771200" y="2760167"/>
            <a:ext cx="1370177" cy="1375442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C43F1D-E742-0989-0A2A-F542D8A6687A}"/>
              </a:ext>
            </a:extLst>
          </p:cNvPr>
          <p:cNvCxnSpPr/>
          <p:nvPr/>
        </p:nvCxnSpPr>
        <p:spPr>
          <a:xfrm>
            <a:off x="5015413" y="2488608"/>
            <a:ext cx="1619936" cy="790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2" descr="Magnetite, iron oxide, iron ore similarities and differences - LKAB Minerals">
            <a:extLst>
              <a:ext uri="{FF2B5EF4-FFF2-40B4-BE49-F238E27FC236}">
                <a16:creationId xmlns:a16="http://schemas.microsoft.com/office/drawing/2014/main" id="{966ABEDA-EFA8-1F04-71D3-C14A13E2E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18" y="3902450"/>
            <a:ext cx="1308640" cy="87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8460D4-63C6-7395-A44D-8805BDA84597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296575" y="3257109"/>
            <a:ext cx="814443" cy="17952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3D7D3A5-55CD-B333-B1B1-CE032B785932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3296575" y="3257109"/>
            <a:ext cx="814443" cy="125370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E9916C-9BD3-881F-AA2D-12BE6A456780}"/>
              </a:ext>
            </a:extLst>
          </p:cNvPr>
          <p:cNvCxnSpPr>
            <a:cxnSpLocks/>
          </p:cNvCxnSpPr>
          <p:nvPr/>
        </p:nvCxnSpPr>
        <p:spPr>
          <a:xfrm flipV="1">
            <a:off x="3296575" y="3691191"/>
            <a:ext cx="794984" cy="444418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F76BE3F-5513-2CC2-B8D0-132B7C5A2354}"/>
              </a:ext>
            </a:extLst>
          </p:cNvPr>
          <p:cNvCxnSpPr>
            <a:cxnSpLocks/>
          </p:cNvCxnSpPr>
          <p:nvPr/>
        </p:nvCxnSpPr>
        <p:spPr>
          <a:xfrm>
            <a:off x="3397645" y="4483021"/>
            <a:ext cx="677556" cy="174157"/>
          </a:xfrm>
          <a:prstGeom prst="straightConnector1">
            <a:avLst/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AC887A1-2E45-40CB-57D5-35DCB656A25D}"/>
              </a:ext>
            </a:extLst>
          </p:cNvPr>
          <p:cNvCxnSpPr>
            <a:cxnSpLocks/>
          </p:cNvCxnSpPr>
          <p:nvPr/>
        </p:nvCxnSpPr>
        <p:spPr>
          <a:xfrm flipV="1">
            <a:off x="5103419" y="3579068"/>
            <a:ext cx="1481531" cy="138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8809C0-B518-996D-243B-1AD9C343058A}"/>
              </a:ext>
            </a:extLst>
          </p:cNvPr>
          <p:cNvCxnSpPr>
            <a:cxnSpLocks/>
          </p:cNvCxnSpPr>
          <p:nvPr/>
        </p:nvCxnSpPr>
        <p:spPr>
          <a:xfrm flipV="1">
            <a:off x="5103418" y="3869714"/>
            <a:ext cx="1481531" cy="69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DFA48F11-C02B-FBD9-7AA7-E398F4B7D5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542" y="5622527"/>
            <a:ext cx="2463658" cy="8105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C3B1D4C-6B57-925C-2593-D70EFD8ABBBB}"/>
              </a:ext>
            </a:extLst>
          </p:cNvPr>
          <p:cNvSpPr txBox="1"/>
          <p:nvPr/>
        </p:nvSpPr>
        <p:spPr>
          <a:xfrm>
            <a:off x="791872" y="5299888"/>
            <a:ext cx="1329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Virgin materials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9F1F4E0-6D0B-5B31-7104-EF866FE5F0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6906" y="5758073"/>
            <a:ext cx="774112" cy="80660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B9A8469-78C8-7AE3-71B9-991778D71D5F}"/>
              </a:ext>
            </a:extLst>
          </p:cNvPr>
          <p:cNvSpPr txBox="1"/>
          <p:nvPr/>
        </p:nvSpPr>
        <p:spPr>
          <a:xfrm>
            <a:off x="3795741" y="5438388"/>
            <a:ext cx="1527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/>
              <a:t>Recycled materials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EF9C24B-19C4-A910-929B-6BFB6EDD2516}"/>
              </a:ext>
            </a:extLst>
          </p:cNvPr>
          <p:cNvSpPr/>
          <p:nvPr/>
        </p:nvSpPr>
        <p:spPr>
          <a:xfrm>
            <a:off x="4991100" y="2667000"/>
            <a:ext cx="1408258" cy="3517900"/>
          </a:xfrm>
          <a:custGeom>
            <a:avLst/>
            <a:gdLst>
              <a:gd name="connsiteX0" fmla="*/ 0 w 1408258"/>
              <a:gd name="connsiteY0" fmla="*/ 0 h 3517900"/>
              <a:gd name="connsiteX1" fmla="*/ 1143000 w 1408258"/>
              <a:gd name="connsiteY1" fmla="*/ 1727200 h 3517900"/>
              <a:gd name="connsiteX2" fmla="*/ 1327150 w 1408258"/>
              <a:gd name="connsiteY2" fmla="*/ 3092450 h 3517900"/>
              <a:gd name="connsiteX3" fmla="*/ 69850 w 1408258"/>
              <a:gd name="connsiteY3" fmla="*/ 3517900 h 351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8258" h="3517900">
                <a:moveTo>
                  <a:pt x="0" y="0"/>
                </a:moveTo>
                <a:cubicBezTo>
                  <a:pt x="460904" y="605896"/>
                  <a:pt x="921808" y="1211792"/>
                  <a:pt x="1143000" y="1727200"/>
                </a:cubicBezTo>
                <a:cubicBezTo>
                  <a:pt x="1364192" y="2242608"/>
                  <a:pt x="1506008" y="2794000"/>
                  <a:pt x="1327150" y="3092450"/>
                </a:cubicBezTo>
                <a:cubicBezTo>
                  <a:pt x="1148292" y="3390900"/>
                  <a:pt x="609071" y="3454400"/>
                  <a:pt x="69850" y="351790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9538A74-B5AB-2F8A-AE28-8D2BA8EF1DA7}"/>
              </a:ext>
            </a:extLst>
          </p:cNvPr>
          <p:cNvSpPr/>
          <p:nvPr/>
        </p:nvSpPr>
        <p:spPr>
          <a:xfrm>
            <a:off x="5073650" y="3740150"/>
            <a:ext cx="1196255" cy="2305050"/>
          </a:xfrm>
          <a:custGeom>
            <a:avLst/>
            <a:gdLst>
              <a:gd name="connsiteX0" fmla="*/ 0 w 1196255"/>
              <a:gd name="connsiteY0" fmla="*/ 0 h 2305050"/>
              <a:gd name="connsiteX1" fmla="*/ 1022350 w 1196255"/>
              <a:gd name="connsiteY1" fmla="*/ 1212850 h 2305050"/>
              <a:gd name="connsiteX2" fmla="*/ 1098550 w 1196255"/>
              <a:gd name="connsiteY2" fmla="*/ 1930400 h 2305050"/>
              <a:gd name="connsiteX3" fmla="*/ 25400 w 1196255"/>
              <a:gd name="connsiteY3" fmla="*/ 2305050 h 23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255" h="2305050">
                <a:moveTo>
                  <a:pt x="0" y="0"/>
                </a:moveTo>
                <a:cubicBezTo>
                  <a:pt x="419629" y="445558"/>
                  <a:pt x="839258" y="891117"/>
                  <a:pt x="1022350" y="1212850"/>
                </a:cubicBezTo>
                <a:cubicBezTo>
                  <a:pt x="1205442" y="1534583"/>
                  <a:pt x="1264708" y="1748367"/>
                  <a:pt x="1098550" y="1930400"/>
                </a:cubicBezTo>
                <a:cubicBezTo>
                  <a:pt x="932392" y="2112433"/>
                  <a:pt x="478896" y="2208741"/>
                  <a:pt x="25400" y="230505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FB4D70A-CB61-2BAF-284A-17F60DA4C48A}"/>
              </a:ext>
            </a:extLst>
          </p:cNvPr>
          <p:cNvSpPr/>
          <p:nvPr/>
        </p:nvSpPr>
        <p:spPr>
          <a:xfrm>
            <a:off x="5041900" y="4775200"/>
            <a:ext cx="927107" cy="1136650"/>
          </a:xfrm>
          <a:custGeom>
            <a:avLst/>
            <a:gdLst>
              <a:gd name="connsiteX0" fmla="*/ 12700 w 927107"/>
              <a:gd name="connsiteY0" fmla="*/ 0 h 1136650"/>
              <a:gd name="connsiteX1" fmla="*/ 927100 w 927107"/>
              <a:gd name="connsiteY1" fmla="*/ 679450 h 1136650"/>
              <a:gd name="connsiteX2" fmla="*/ 0 w 927107"/>
              <a:gd name="connsiteY2" fmla="*/ 1136650 h 113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107" h="1136650">
                <a:moveTo>
                  <a:pt x="12700" y="0"/>
                </a:moveTo>
                <a:cubicBezTo>
                  <a:pt x="470958" y="245004"/>
                  <a:pt x="929217" y="490008"/>
                  <a:pt x="927100" y="679450"/>
                </a:cubicBezTo>
                <a:cubicBezTo>
                  <a:pt x="924983" y="868892"/>
                  <a:pt x="462491" y="1002771"/>
                  <a:pt x="0" y="113665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240EFE5-4782-5F78-49C8-FE5D54777001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2467241" y="4774877"/>
            <a:ext cx="139197" cy="80201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BCCA2C8-9522-0A0F-5A11-F15A9BB091BC}"/>
              </a:ext>
            </a:extLst>
          </p:cNvPr>
          <p:cNvSpPr/>
          <p:nvPr/>
        </p:nvSpPr>
        <p:spPr>
          <a:xfrm rot="425904">
            <a:off x="2983730" y="4789989"/>
            <a:ext cx="1193800" cy="1380412"/>
          </a:xfrm>
          <a:custGeom>
            <a:avLst/>
            <a:gdLst>
              <a:gd name="connsiteX0" fmla="*/ 1193800 w 1193800"/>
              <a:gd name="connsiteY0" fmla="*/ 1339850 h 1380412"/>
              <a:gd name="connsiteX1" fmla="*/ 508000 w 1193800"/>
              <a:gd name="connsiteY1" fmla="*/ 1212850 h 1380412"/>
              <a:gd name="connsiteX2" fmla="*/ 0 w 1193800"/>
              <a:gd name="connsiteY2" fmla="*/ 0 h 138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93800" h="1380412">
                <a:moveTo>
                  <a:pt x="1193800" y="1339850"/>
                </a:moveTo>
                <a:cubicBezTo>
                  <a:pt x="950383" y="1388004"/>
                  <a:pt x="706967" y="1436158"/>
                  <a:pt x="508000" y="1212850"/>
                </a:cubicBezTo>
                <a:cubicBezTo>
                  <a:pt x="309033" y="989542"/>
                  <a:pt x="154516" y="494771"/>
                  <a:pt x="0" y="0"/>
                </a:cubicBezTo>
              </a:path>
            </a:pathLst>
          </a:custGeom>
          <a:noFill/>
          <a:ln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44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7B82D-B4B0-E70C-E3F9-5BDB9B2E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1E714-EAD0-A481-D8BF-0C959395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06915-F271-DF71-6B56-597B2DAD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37098-B919-A484-EEA5-0B331732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B558A-A748-271F-618C-1547DC99002F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Final goods sector</a:t>
                </a:r>
              </a:p>
              <a:p>
                <a:r>
                  <a:rPr lang="en-US" sz="2000" noProof="0" dirty="0"/>
                  <a:t>We consider representative firms for each sectors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b="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        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,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&lt;1,      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  <a:p>
                <a:endParaRPr lang="en-US" sz="2000" noProof="0" dirty="0"/>
              </a:p>
              <a:p>
                <a:r>
                  <a:rPr lang="en-US" sz="2000" noProof="0" dirty="0"/>
                  <a:t>First-order conditions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𝑖𝐿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5B558A-A748-271F-618C-1547DC990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blipFill>
                <a:blip r:embed="rId3"/>
                <a:stretch>
                  <a:fillRect l="-758" t="-714" b="-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425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E942-48CA-1EB7-8928-9AE0217F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87A27B-50B8-C6AE-DE55-A4DC5634B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8C60A-87EA-CC9B-9490-2FDA6B0A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EFD2A-6CDE-E490-FCFF-CF774068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664D34-5CAF-1656-AE18-7E93474C12AC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Final goods sector</a:t>
                </a:r>
              </a:p>
              <a:p>
                <a:r>
                  <a:rPr lang="en-US" sz="2000" noProof="0" dirty="0"/>
                  <a:t>We consider representative firms for each sectors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b="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        </m:t>
                      </m:r>
                      <m:sSubSup>
                        <m:sSubSupPr>
                          <m:ctrlP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,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&lt;1,      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  <a:p>
                <a:endParaRPr lang="en-US" sz="2000" noProof="0" dirty="0"/>
              </a:p>
              <a:p>
                <a:r>
                  <a:rPr lang="en-US" sz="2000" noProof="0" dirty="0"/>
                  <a:t>First-order conditions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𝑖𝐿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664D34-5CAF-1656-AE18-7E93474C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blipFill>
                <a:blip r:embed="rId3"/>
                <a:stretch>
                  <a:fillRect l="-758" t="-714" b="-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D97BA26-D68B-BE0A-9F87-61AFD5B7BC8C}"/>
              </a:ext>
            </a:extLst>
          </p:cNvPr>
          <p:cNvSpPr txBox="1"/>
          <p:nvPr/>
        </p:nvSpPr>
        <p:spPr>
          <a:xfrm>
            <a:off x="3333959" y="2000250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Labour</a:t>
            </a:r>
            <a:r>
              <a:rPr lang="en-US" sz="1400" dirty="0">
                <a:solidFill>
                  <a:srgbClr val="FF0000"/>
                </a:solidFill>
              </a:rPr>
              <a:t> 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9A6835-16CF-0E90-951F-E9AE3B691AC8}"/>
              </a:ext>
            </a:extLst>
          </p:cNvPr>
          <p:cNvCxnSpPr>
            <a:cxnSpLocks/>
          </p:cNvCxnSpPr>
          <p:nvPr/>
        </p:nvCxnSpPr>
        <p:spPr>
          <a:xfrm>
            <a:off x="3873500" y="2308027"/>
            <a:ext cx="0" cy="30182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5B5B09-8018-677A-662B-F6B3C29C3B7B}"/>
              </a:ext>
            </a:extLst>
          </p:cNvPr>
          <p:cNvSpPr txBox="1"/>
          <p:nvPr/>
        </p:nvSpPr>
        <p:spPr>
          <a:xfrm>
            <a:off x="4356309" y="1762622"/>
            <a:ext cx="1962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Natural resource 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1005DA-D32F-1128-2514-D58A8770ADF3}"/>
              </a:ext>
            </a:extLst>
          </p:cNvPr>
          <p:cNvCxnSpPr>
            <a:cxnSpLocks/>
          </p:cNvCxnSpPr>
          <p:nvPr/>
        </p:nvCxnSpPr>
        <p:spPr>
          <a:xfrm flipH="1">
            <a:off x="4260850" y="2070399"/>
            <a:ext cx="425450" cy="60295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5EC4CD-7591-EA0F-54E1-348194763FC3}"/>
              </a:ext>
            </a:extLst>
          </p:cNvPr>
          <p:cNvSpPr txBox="1"/>
          <p:nvPr/>
        </p:nvSpPr>
        <p:spPr>
          <a:xfrm>
            <a:off x="5663545" y="2151161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Recyclable waste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DFFF2D-CFD2-6534-C7A4-7CB52850AE16}"/>
              </a:ext>
            </a:extLst>
          </p:cNvPr>
          <p:cNvCxnSpPr>
            <a:cxnSpLocks/>
          </p:cNvCxnSpPr>
          <p:nvPr/>
        </p:nvCxnSpPr>
        <p:spPr>
          <a:xfrm>
            <a:off x="6350456" y="2427188"/>
            <a:ext cx="0" cy="214412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621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3EDCE-119D-AE51-E571-8E53520F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66711F-12DD-40B0-8C65-14D4C37C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CD456-3610-71D9-B153-BA50BCEE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1BA4F-F6AF-16A4-89F4-44F22ADC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4DF88-9B7B-6E7F-1DE9-C52C51B83D78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Final goods sector</a:t>
                </a:r>
              </a:p>
              <a:p>
                <a:r>
                  <a:rPr lang="en-US" sz="2000" noProof="0" dirty="0"/>
                  <a:t>We consider representative firms for each sectors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</m:oMath>
                  </m:oMathPara>
                </a14:m>
                <a:endParaRPr lang="en-US" sz="2000" b="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        </m:t>
                      </m:r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b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,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&lt;1,        0&lt;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&lt;1.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  <a:p>
                <a:endParaRPr lang="en-US" sz="2000" noProof="0" dirty="0"/>
              </a:p>
              <a:p>
                <a:r>
                  <a:rPr lang="en-US" sz="2000" noProof="0" dirty="0"/>
                  <a:t>First-order conditions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𝑖𝐿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𝑖𝑅</m:t>
                          </m:r>
                        </m:sub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4DF88-9B7B-6E7F-1DE9-C52C51B83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4263924"/>
              </a:xfrm>
              <a:prstGeom prst="rect">
                <a:avLst/>
              </a:prstGeom>
              <a:blipFill>
                <a:blip r:embed="rId3"/>
                <a:stretch>
                  <a:fillRect l="-758" t="-714" b="-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BF575E9F-5176-FCEC-CA15-50E696E32972}"/>
              </a:ext>
            </a:extLst>
          </p:cNvPr>
          <p:cNvSpPr/>
          <p:nvPr/>
        </p:nvSpPr>
        <p:spPr>
          <a:xfrm rot="5400000">
            <a:off x="4987754" y="4733758"/>
            <a:ext cx="150348" cy="126604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D357D-38BB-5B13-2740-14A4D165D230}"/>
              </a:ext>
            </a:extLst>
          </p:cNvPr>
          <p:cNvSpPr txBox="1"/>
          <p:nvPr/>
        </p:nvSpPr>
        <p:spPr>
          <a:xfrm>
            <a:off x="3577585" y="5461130"/>
            <a:ext cx="29706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Marginal revenue from increased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8E1C0-8A4C-E050-9D18-3C52D5F2EEEA}"/>
              </a:ext>
            </a:extLst>
          </p:cNvPr>
          <p:cNvSpPr txBox="1"/>
          <p:nvPr/>
        </p:nvSpPr>
        <p:spPr>
          <a:xfrm>
            <a:off x="4553117" y="4533586"/>
            <a:ext cx="36904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Marginal revenue from increased valuable waste output 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5D0FDD4F-F344-C38C-7F33-FC3B2256A436}"/>
              </a:ext>
            </a:extLst>
          </p:cNvPr>
          <p:cNvSpPr/>
          <p:nvPr/>
        </p:nvSpPr>
        <p:spPr>
          <a:xfrm rot="16200000" flipV="1">
            <a:off x="6338659" y="4421566"/>
            <a:ext cx="119350" cy="89676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43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FEB6-B092-774B-1D8F-AA0D9DE3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CAE5CE-7310-947E-A83E-7F62A5C7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F4B432-A1CA-E311-D651-AE280989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AB10-BC38-B747-B8B4-C999A3C6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EB2812-A907-5761-1815-213C22FF80C8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3917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Aggregation sector</a:t>
                </a:r>
              </a:p>
              <a:p>
                <a:r>
                  <a:rPr lang="en-US" sz="2000" noProof="0" dirty="0"/>
                  <a:t>A single firm operating under perfect competition using a constant-returns-to-scale technology produces an aggregate consumption good from all final goods in the set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p>
                        </m:e>
                      </m:fun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b="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   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noProof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EB2812-A907-5761-1815-213C22FF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3917034"/>
              </a:xfrm>
              <a:prstGeom prst="rect">
                <a:avLst/>
              </a:prstGeom>
              <a:blipFill>
                <a:blip r:embed="rId3"/>
                <a:stretch>
                  <a:fillRect l="-758" t="-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209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E0D6-B4F0-B5F8-109E-8E1996B1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0A8148-28A9-5B40-1138-D608D453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E2A9F-9A3D-CA6D-C153-9680E2A69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B1C2E-A79F-1DC4-AF42-0E3FF730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40734E-078B-8E31-D0CF-B4D542B3F05A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5469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Natural resource sector</a:t>
                </a:r>
              </a:p>
              <a:p>
                <a:r>
                  <a:rPr lang="en-US" sz="2000" noProof="0" dirty="0"/>
                  <a:t>Aggregate natural resource supply is given by </a:t>
                </a:r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noProof="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noProof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noProof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,    0&lt;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  <a:p>
                <a:pPr algn="ctr"/>
                <a:endParaRPr lang="en-US" sz="2000" dirty="0"/>
              </a:p>
              <a:p>
                <a:r>
                  <a:rPr lang="en-US" sz="2000" noProof="0" dirty="0"/>
                  <a:t>A representative natural resource firm solves the problem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p>
                              </m:sSup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noProof="0" dirty="0"/>
              </a:p>
              <a:p>
                <a:endParaRPr lang="en-US" sz="2000" i="1" dirty="0"/>
              </a:p>
              <a:p>
                <a:endParaRPr lang="en-US" sz="2000" i="1" dirty="0"/>
              </a:p>
              <a:p>
                <a:r>
                  <a:rPr lang="en-US" sz="2000" dirty="0"/>
                  <a:t>First-order conditions</a:t>
                </a:r>
              </a:p>
              <a:p>
                <a:endParaRPr lang="en-US" sz="2000" i="1" noProof="0" dirty="0"/>
              </a:p>
              <a:p>
                <a:endParaRPr lang="en-US" sz="20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40734E-078B-8E31-D0CF-B4D542B3F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5469574"/>
              </a:xfrm>
              <a:prstGeom prst="rect">
                <a:avLst/>
              </a:prstGeom>
              <a:blipFill>
                <a:blip r:embed="rId3"/>
                <a:stretch>
                  <a:fillRect l="-758" t="-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2A4030-46ED-506D-E411-8850BAD368A5}"/>
              </a:ext>
            </a:extLst>
          </p:cNvPr>
          <p:cNvCxnSpPr>
            <a:cxnSpLocks/>
          </p:cNvCxnSpPr>
          <p:nvPr/>
        </p:nvCxnSpPr>
        <p:spPr>
          <a:xfrm flipH="1" flipV="1">
            <a:off x="3422650" y="2600980"/>
            <a:ext cx="260350" cy="3048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616066-6AAD-F667-A4B3-2D6A5340872A}"/>
              </a:ext>
            </a:extLst>
          </p:cNvPr>
          <p:cNvSpPr txBox="1"/>
          <p:nvPr/>
        </p:nvSpPr>
        <p:spPr>
          <a:xfrm>
            <a:off x="3363085" y="2905780"/>
            <a:ext cx="3691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rgbClr val="00B050"/>
                </a:solidFill>
              </a:rPr>
              <a:t>Virgin natural resources/primary materials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F8598-0502-25BD-4545-4F76418C95D1}"/>
              </a:ext>
            </a:extLst>
          </p:cNvPr>
          <p:cNvSpPr txBox="1"/>
          <p:nvPr/>
        </p:nvSpPr>
        <p:spPr>
          <a:xfrm>
            <a:off x="3988445" y="1762324"/>
            <a:ext cx="3691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accent6"/>
                </a:solidFill>
              </a:rPr>
              <a:t>Recycled materials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5AFFAE-E176-A939-9008-5B90E5FD2342}"/>
              </a:ext>
            </a:extLst>
          </p:cNvPr>
          <p:cNvCxnSpPr>
            <a:cxnSpLocks/>
          </p:cNvCxnSpPr>
          <p:nvPr/>
        </p:nvCxnSpPr>
        <p:spPr>
          <a:xfrm flipH="1">
            <a:off x="4203700" y="2017638"/>
            <a:ext cx="171450" cy="30235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676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12BB-742F-D387-07B7-BA0428CC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8DA11C-632D-4F0B-2E2F-47DF509E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7D352-532C-44DF-11C3-735C13FB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A8012-EF72-FF89-DF21-F45762D6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99CD49-1A81-F8BA-A88B-724E420CD811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5469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Natural resource sector</a:t>
                </a:r>
              </a:p>
              <a:p>
                <a:r>
                  <a:rPr lang="en-US" sz="2000" noProof="0" dirty="0"/>
                  <a:t>Aggregate natural resource supply is given by </a:t>
                </a:r>
              </a:p>
              <a:p>
                <a:endParaRPr lang="en-US" sz="2000" noProof="0" dirty="0"/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noProof="0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,    0&lt;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en-US" sz="2000" noProof="0" dirty="0"/>
              </a:p>
              <a:p>
                <a:pPr algn="ctr"/>
                <a:endParaRPr lang="en-US" sz="2000" noProof="0" dirty="0"/>
              </a:p>
              <a:p>
                <a:pPr algn="ctr"/>
                <a:endParaRPr lang="en-US" sz="2000" dirty="0"/>
              </a:p>
              <a:p>
                <a:r>
                  <a:rPr lang="en-US" sz="2000" noProof="0" dirty="0"/>
                  <a:t>A representative natural resource firm solves the problem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p>
                              </m:sSup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noProof="0" dirty="0"/>
              </a:p>
              <a:p>
                <a:endParaRPr lang="en-US" sz="2000" i="1" dirty="0"/>
              </a:p>
              <a:p>
                <a:endParaRPr lang="en-US" sz="2000" i="1" dirty="0"/>
              </a:p>
              <a:p>
                <a:r>
                  <a:rPr lang="en-US" sz="2000" dirty="0"/>
                  <a:t>First-order conditions</a:t>
                </a:r>
              </a:p>
              <a:p>
                <a:endParaRPr lang="en-US" sz="2000" i="1" noProof="0" dirty="0"/>
              </a:p>
              <a:p>
                <a:endParaRPr lang="en-US" sz="20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p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99CD49-1A81-F8BA-A88B-724E420C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5469574"/>
              </a:xfrm>
              <a:prstGeom prst="rect">
                <a:avLst/>
              </a:prstGeom>
              <a:blipFill>
                <a:blip r:embed="rId3"/>
                <a:stretch>
                  <a:fillRect l="-758" t="-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6530F1-4637-76D7-0450-74B680AB9033}"/>
              </a:ext>
            </a:extLst>
          </p:cNvPr>
          <p:cNvCxnSpPr>
            <a:cxnSpLocks/>
          </p:cNvCxnSpPr>
          <p:nvPr/>
        </p:nvCxnSpPr>
        <p:spPr>
          <a:xfrm flipH="1" flipV="1">
            <a:off x="3886200" y="4476750"/>
            <a:ext cx="260350" cy="304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23B5B2-1441-DC7A-A71A-8F46CE2A6145}"/>
                  </a:ext>
                </a:extLst>
              </p:cNvPr>
              <p:cNvSpPr txBox="1"/>
              <p:nvPr/>
            </p:nvSpPr>
            <p:spPr>
              <a:xfrm>
                <a:off x="3826635" y="4781550"/>
                <a:ext cx="36917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Produced at a constant price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</a:t>
                </a:r>
                <a:r>
                  <a:rPr lang="en-US" sz="1400" u="sng" dirty="0">
                    <a:solidFill>
                      <a:srgbClr val="FF0000"/>
                    </a:solidFill>
                  </a:rPr>
                  <a:t>or</a:t>
                </a:r>
                <a:r>
                  <a:rPr lang="en-US" sz="1400" dirty="0">
                    <a:solidFill>
                      <a:srgbClr val="FF0000"/>
                    </a:solidFill>
                  </a:rPr>
                  <a:t> imported from abroad at a constant price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23B5B2-1441-DC7A-A71A-8F46CE2A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635" y="4781550"/>
                <a:ext cx="3691765" cy="523220"/>
              </a:xfrm>
              <a:prstGeom prst="rect">
                <a:avLst/>
              </a:prstGeom>
              <a:blipFill>
                <a:blip r:embed="rId4"/>
                <a:stretch>
                  <a:fillRect l="-496" r="-1322" b="-127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645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BA9C-8060-3FDE-5713-FD25069C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6717A3-DD7C-A5D7-7713-5C536CCF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0AB48-0A9D-1E1C-72FE-8CB73C25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22B05-D14A-571E-9B3E-3383485C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86C8C1-1569-99F3-01E8-36CB4584FC38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554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Household sector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i="1" noProof="0" dirty="0"/>
              </a:p>
              <a:p>
                <a:endParaRPr lang="en-US" sz="2000" i="1" dirty="0"/>
              </a:p>
              <a:p>
                <a:r>
                  <a:rPr lang="en-US" sz="2000" b="1" dirty="0"/>
                  <a:t>Equilibrium conditions</a:t>
                </a:r>
              </a:p>
              <a:p>
                <a:endParaRPr lang="en-US" sz="20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noProof="0" dirty="0"/>
              </a:p>
              <a:p>
                <a:endParaRPr lang="en-US" sz="1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sz="2000" b="0" i="1" noProof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>
                  <a:ea typeface="Cambria Math" panose="02040503050406030204" pitchFamily="18" charset="0"/>
                </a:endParaRPr>
              </a:p>
              <a:p>
                <a:endParaRPr lang="en-US" sz="10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i="1" dirty="0">
                  <a:ea typeface="Cambria Math" panose="02040503050406030204" pitchFamily="18" charset="0"/>
                </a:endParaRPr>
              </a:p>
              <a:p>
                <a:endParaRPr lang="en-US" sz="10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noProof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86C8C1-1569-99F3-01E8-36CB4584F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5542286"/>
              </a:xfrm>
              <a:prstGeom prst="rect">
                <a:avLst/>
              </a:prstGeom>
              <a:blipFill>
                <a:blip r:embed="rId3"/>
                <a:stretch>
                  <a:fillRect l="-758" t="-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134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15EA-7608-2B46-B8AE-EF959556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F67FC4-2C89-08AE-B906-319078C22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AD33B-0E12-8B08-FE7E-21112264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3DB4-0E88-35F5-B2FF-0321D990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155E21-0B5D-5D38-1B09-0155221E1777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3912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Solving the model</a:t>
                </a:r>
                <a:endParaRPr lang="en-US" sz="2000" b="1" noProof="0" dirty="0"/>
              </a:p>
              <a:p>
                <a:endParaRPr lang="en-US" sz="2000" dirty="0"/>
              </a:p>
              <a:p>
                <a:r>
                  <a:rPr lang="en-US" sz="2000" dirty="0"/>
                  <a:t>Cobb-Douglas production functions: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 0&lt;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&lt;1,   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CES aggregation function: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𝕀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f>
                                        <m:f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num>
                                        <m:den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den>
                                      </m:f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155E21-0B5D-5D38-1B09-0155221E1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3912610"/>
              </a:xfrm>
              <a:prstGeom prst="rect">
                <a:avLst/>
              </a:prstGeom>
              <a:blipFill>
                <a:blip r:embed="rId3"/>
                <a:stretch>
                  <a:fillRect l="-758" t="-7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476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300E-5743-FAF3-6AC8-8E697652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C4404F-B33C-2DEC-39C9-DBDCCF86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B6C6F-455D-B7A8-C721-C207D7EE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48BA7-8FA1-A519-D05D-261A4A69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57701-768C-4D52-867B-85B7BE20EB17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2608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Proposition 1:</a:t>
                </a:r>
              </a:p>
              <a:p>
                <a:r>
                  <a:rPr lang="en-US" sz="2000" dirty="0"/>
                  <a:t>Improving the recycling possibilities in sector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US" sz="2000" dirty="0"/>
                  <a:t> increases aggregate virgin material use of the domestic economy:</a:t>
                </a:r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endParaRPr lang="en-US" sz="2000" noProof="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957701-768C-4D52-867B-85B7BE20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2608727"/>
              </a:xfrm>
              <a:prstGeom prst="rect">
                <a:avLst/>
              </a:prstGeom>
              <a:blipFill>
                <a:blip r:embed="rId3"/>
                <a:stretch>
                  <a:fillRect l="-758" t="-11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983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844F-A8FC-5379-00F3-01448F45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F85C6-0847-1D63-910F-61DACA9B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69346-155E-7EBB-8990-8126D8B5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DAEA4-D7C7-9570-ED71-C92F9507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7030E7-E2B4-C2BD-1157-41D537AFFA9F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4509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Proposition 1:</a:t>
                </a:r>
              </a:p>
              <a:p>
                <a:r>
                  <a:rPr lang="en-US" sz="2000" dirty="0"/>
                  <a:t>Improving the recycling possibilities in sector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US" sz="2000" dirty="0"/>
                  <a:t> increases aggregate virgin material use of the domestic economy:</a:t>
                </a:r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sz="2000" noProof="0" dirty="0"/>
                  <a:t>Hence, we have a strong material rebound effect! 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&gt;1.</m:t>
                      </m:r>
                    </m:oMath>
                  </m:oMathPara>
                </a14:m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sz="2000" noProof="0" dirty="0"/>
                  <a:t>Intuition?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7030E7-E2B4-C2BD-1157-41D537AFF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4509568"/>
              </a:xfrm>
              <a:prstGeom prst="rect">
                <a:avLst/>
              </a:prstGeom>
              <a:blipFill>
                <a:blip r:embed="rId3"/>
                <a:stretch>
                  <a:fillRect l="-758" t="-6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4097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15DA-A86B-5098-E182-D5B4054A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3C8B07-4414-D8BF-12AD-E16AC217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F45C7-CD75-4DBE-EBFA-A48829D5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5F495-11CD-CF21-9A2B-FDC781E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6F43B8-104B-1596-0747-AC42962C0C61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Intuition</a:t>
                </a:r>
              </a:p>
              <a:p>
                <a:endParaRPr lang="en-US" sz="2000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More valuable waste per unit of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noProof="0" dirty="0"/>
                  <a:t>Cheaper to use </a:t>
                </a:r>
                <a:r>
                  <a:rPr lang="en-US" sz="2000" dirty="0"/>
                  <a:t>natural resources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000" dirty="0"/>
                  <a:t>Increases demand for all materials.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Increased supply of recycled materials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Reduces demand for virgin materials.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first effect dominates under the assumed functional forms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Increased demand for virgin materials.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6F43B8-104B-1596-0747-AC42962C0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3785652"/>
              </a:xfrm>
              <a:prstGeom prst="rect">
                <a:avLst/>
              </a:prstGeom>
              <a:blipFill>
                <a:blip r:embed="rId3"/>
                <a:stretch>
                  <a:fillRect l="-758" t="-8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Down 4">
            <a:extLst>
              <a:ext uri="{FF2B5EF4-FFF2-40B4-BE49-F238E27FC236}">
                <a16:creationId xmlns:a16="http://schemas.microsoft.com/office/drawing/2014/main" id="{35C3CBC9-5B1B-F81D-3326-37844F1CFD5D}"/>
              </a:ext>
            </a:extLst>
          </p:cNvPr>
          <p:cNvSpPr/>
          <p:nvPr/>
        </p:nvSpPr>
        <p:spPr>
          <a:xfrm>
            <a:off x="8393464" y="2716642"/>
            <a:ext cx="344481" cy="466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F14F8C0-86B5-BCA6-987D-8C61B5195CC1}"/>
              </a:ext>
            </a:extLst>
          </p:cNvPr>
          <p:cNvSpPr/>
          <p:nvPr/>
        </p:nvSpPr>
        <p:spPr>
          <a:xfrm rot="10800000">
            <a:off x="8393464" y="1728336"/>
            <a:ext cx="344481" cy="4669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36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086D-2007-379F-EAEB-A76600512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FC677E-755F-C954-7036-A0D706AC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223B2-6994-E650-463F-C5C4959F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92D0-F94C-3135-7F1C-00060C2F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9CED1B-D476-64F7-5F12-21D2137EC91A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4713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Proposition 2:</a:t>
                </a:r>
              </a:p>
              <a:p>
                <a:r>
                  <a:rPr lang="en-US" sz="2000" dirty="0"/>
                  <a:t>Improving the recycling possibilities in sector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US" sz="2000" dirty="0"/>
                  <a:t> increases aggregate virgin material use of the domestic economy:</a:t>
                </a:r>
              </a:p>
              <a:p>
                <a:endParaRPr lang="en-US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&gt;0.</m:t>
                      </m:r>
                    </m:oMath>
                  </m:oMathPara>
                </a14:m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sz="2000" noProof="0" dirty="0"/>
                  <a:t>Again, we have a material rebound effect! 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&gt;1.</m:t>
                      </m:r>
                    </m:oMath>
                  </m:oMathPara>
                </a14:m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sz="2000" noProof="0" dirty="0"/>
                  <a:t>Intuition?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Basically, the same as before. </a:t>
                </a:r>
                <a:endParaRPr lang="en-US" sz="2000" noProof="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9CED1B-D476-64F7-5F12-21D2137EC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4713470"/>
              </a:xfrm>
              <a:prstGeom prst="rect">
                <a:avLst/>
              </a:prstGeom>
              <a:blipFill>
                <a:blip r:embed="rId3"/>
                <a:stretch>
                  <a:fillRect l="-758" t="-6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992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E1835-E783-5711-50C9-957C81B2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7CD2C4-EB3B-9C4E-CB5A-B84D1E4B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macro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297F6-9117-3756-42D8-45041EFE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4EAF3-779E-6820-5E25-B74AF442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39002-1F99-225A-EA32-8DDE17F738CD}"/>
              </a:ext>
            </a:extLst>
          </p:cNvPr>
          <p:cNvSpPr txBox="1"/>
          <p:nvPr/>
        </p:nvSpPr>
        <p:spPr>
          <a:xfrm>
            <a:off x="508409" y="1051323"/>
            <a:ext cx="80466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What did we learn and where to go?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learned that we can get a strong rebound effect in a small macroeconomic model without imposing controversial assumptions.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Next, we want to develop an advanced numerical model calibrated to national accounts and material flow account data to compute likely rebound effects for a real-world economy.</a:t>
            </a:r>
          </a:p>
        </p:txBody>
      </p:sp>
    </p:spTree>
    <p:extLst>
      <p:ext uri="{BB962C8B-B14F-4D97-AF65-F5344CB8AC3E}">
        <p14:creationId xmlns:p14="http://schemas.microsoft.com/office/powerpoint/2010/main" val="3440175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13247-0E0B-0FE3-C053-378E167D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99098A-E78E-63D3-8EF2-E5BF1A68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294FA-755F-B4EB-44F3-5EF5106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54398-1BCF-A957-F1AA-16534809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45B8E-062E-3580-6447-2AE22490B61C}"/>
              </a:ext>
            </a:extLst>
          </p:cNvPr>
          <p:cNvSpPr txBox="1"/>
          <p:nvPr/>
        </p:nvSpPr>
        <p:spPr>
          <a:xfrm>
            <a:off x="508409" y="1051323"/>
            <a:ext cx="8046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xxx</a:t>
            </a:r>
          </a:p>
          <a:p>
            <a:r>
              <a:rPr lang="en-US" sz="2000" noProof="0" dirty="0"/>
              <a:t>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3342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99A9-4F99-7303-44E4-34C98A27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1149AE-8D5F-384B-7B47-107D5C30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E0DFF-21D7-96F0-DE6E-3C219B32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AE4BA-B409-E0DF-69B2-02639AEE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AAEF5-BB17-AE0E-A23C-F84D8B3F9A3E}"/>
              </a:ext>
            </a:extLst>
          </p:cNvPr>
          <p:cNvSpPr txBox="1"/>
          <p:nvPr/>
        </p:nvSpPr>
        <p:spPr>
          <a:xfrm>
            <a:off x="508409" y="1051323"/>
            <a:ext cx="8046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xxx</a:t>
            </a:r>
          </a:p>
          <a:p>
            <a:r>
              <a:rPr lang="en-US" sz="2000" noProof="0" dirty="0"/>
              <a:t>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360C5-8438-BEE6-2064-74F4BE144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1" y="1840895"/>
            <a:ext cx="4724400" cy="429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0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061C-ACA9-044D-B7F1-733B5F37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73890C-4F02-92BE-5255-6127E286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D80BF-E154-77E7-BD8F-20103193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BC2B4-A82A-083E-AF11-2A676076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CC94E-05FE-9281-AF4E-1DCF4A8BE466}"/>
              </a:ext>
            </a:extLst>
          </p:cNvPr>
          <p:cNvSpPr txBox="1"/>
          <p:nvPr/>
        </p:nvSpPr>
        <p:spPr>
          <a:xfrm>
            <a:off x="508409" y="1051323"/>
            <a:ext cx="80466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xxx</a:t>
            </a:r>
          </a:p>
          <a:p>
            <a:r>
              <a:rPr lang="en-US" sz="2000" noProof="0" dirty="0"/>
              <a:t>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B706CD-B96F-F9B5-EC4F-557AB656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480" y="2039062"/>
            <a:ext cx="6515453" cy="386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23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69959-10ED-A9A3-4F37-376F145F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E16A62-D427-7F7F-3A77-BC577552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78657-C618-784F-7DB2-B460AE0E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51DBC-F70C-6C28-44A0-F933309C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B7B84-9949-94CE-0785-A4EFF6CD8832}"/>
              </a:ext>
            </a:extLst>
          </p:cNvPr>
          <p:cNvSpPr txBox="1"/>
          <p:nvPr/>
        </p:nvSpPr>
        <p:spPr>
          <a:xfrm>
            <a:off x="508409" y="1051323"/>
            <a:ext cx="80466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Waste generation</a:t>
            </a:r>
            <a:endParaRPr lang="en-US" sz="2000" b="1" noProof="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Waste generation depends on production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fraction is “internal recycling” meaning that the sector ensures that it can be sold on the international market.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remaining fraction is sent to the waste management sector for further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Waste intensities vary over time, industry, goods, and waste types.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2631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4530-021A-6FEF-300C-886DE21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761E71-E0CA-2998-86D3-6C4464B7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1EEDF-C3F4-7961-01C5-B90D1DC3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686D-6E29-D286-C76B-472A27F1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BBA4E-98D8-B90E-E0CA-833958D4C7DF}"/>
              </a:ext>
            </a:extLst>
          </p:cNvPr>
          <p:cNvSpPr txBox="1"/>
          <p:nvPr/>
        </p:nvSpPr>
        <p:spPr>
          <a:xfrm>
            <a:off x="508409" y="1051323"/>
            <a:ext cx="80466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Waste treatment</a:t>
            </a:r>
            <a:endParaRPr lang="en-US" sz="2000" b="1" noProof="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xxxx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4717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3596-18C5-174B-6298-E7417A70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65390-8297-6ED5-510A-010D8EAF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6F697-8707-57EE-D32B-3CD9AF50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3AFFF-B572-1ED8-3D34-BC688A7B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7A2A21-1599-794E-9AC4-52E5A97B4267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3898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Experiment 1: </a:t>
                </a:r>
              </a:p>
              <a:p>
                <a:r>
                  <a:rPr lang="en-US" noProof="0" dirty="0"/>
                  <a:t>An increase in internal recycling efficiency of </a:t>
                </a:r>
                <a:r>
                  <a:rPr lang="en-US" u="sng" noProof="0" dirty="0"/>
                  <a:t>all materials</a:t>
                </a:r>
                <a:r>
                  <a:rPr lang="en-US" noProof="0" dirty="0"/>
                  <a:t>, 10 p.p.</a:t>
                </a:r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dirty="0"/>
                  <a:t>Mechanical/expected effect takes as given: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Input shares (except virgin/recycled materials).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Scale of output.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Waste generation.</a:t>
                </a:r>
              </a:p>
              <a:p>
                <a:endParaRPr lang="en-US" dirty="0"/>
              </a:p>
              <a:p>
                <a:r>
                  <a:rPr lang="en-US" dirty="0"/>
                  <a:t>Given this, increase in recycled materials: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noProof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da-DK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a-DK" b="0" i="0" noProof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a-DK" b="0" i="0" noProof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p>
                      </m:sSup>
                      <m:r>
                        <a:rPr lang="da-DK" b="0" i="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a-DK" b="0" i="0" noProof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a-DK" b="0" i="1" noProof="0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da-DK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da-DK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noProof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da-DK" b="0" i="1" noProof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</m:sSup>
                      <m:r>
                        <a:rPr lang="da-DK" b="0" i="1" noProof="0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noProof="0" dirty="0"/>
              </a:p>
              <a:p>
                <a:endParaRPr lang="en-US" dirty="0"/>
              </a:p>
              <a:p>
                <a:r>
                  <a:rPr lang="en-US" dirty="0"/>
                  <a:t>“Expected” saving: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dirty="0"/>
                  <a:t>, i.e. recycled materials replace virgin 1-to-1.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7A2A21-1599-794E-9AC4-52E5A97B4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3898311"/>
              </a:xfrm>
              <a:prstGeom prst="rect">
                <a:avLst/>
              </a:prstGeom>
              <a:blipFill>
                <a:blip r:embed="rId3"/>
                <a:stretch>
                  <a:fillRect l="-758" t="-781" b="-15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6803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48CC-562F-21EE-3EA8-E24097B8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AEC071-9C59-0472-B4DE-A811CDAE0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FA6CA-84D1-0FC0-0FF3-0E67F973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17AD8-8D93-2F4A-9080-65C842F2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6EEB87-ADC9-0B0E-B0A4-C7C3FCAABDE5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1:</a:t>
            </a:r>
          </a:p>
          <a:p>
            <a:r>
              <a:rPr lang="en-US" dirty="0"/>
              <a:t>Huge rebound rates – in particular for plastic.</a:t>
            </a:r>
          </a:p>
        </p:txBody>
      </p:sp>
      <p:pic>
        <p:nvPicPr>
          <p:cNvPr id="13" name="Picture 1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622431AA-4029-A8B1-9273-14A94C3C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23" y="1942304"/>
            <a:ext cx="6015199" cy="429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69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0EEB-F5EA-DF0E-CB0E-364BB6C4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6ED7FA-CC80-016E-2CBE-033CAFC7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Numerical model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14FD1-5260-DA2D-4BAD-F1BC6124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722F6-331F-CC4E-E1B2-E548F90B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9EC0A-C221-BF1C-1E7A-AE893E917122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1:</a:t>
            </a:r>
          </a:p>
          <a:p>
            <a:r>
              <a:rPr lang="en-US" dirty="0"/>
              <a:t>Recycled materials generally increase more (relatively) than virgin.</a:t>
            </a:r>
            <a:endParaRPr lang="en-US" noProof="0" dirty="0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1483360-4C88-AF3B-35BB-D7B14C13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2" y="1940475"/>
            <a:ext cx="6017760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19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EF1B-9787-BD75-FF64-E114FB32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DE010E-9A2C-9C92-5824-A55C5EB4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Numerical model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F3A41-FCD7-C0E1-AAAE-E391EBFE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AEFD-4FE5-1BED-466C-8776D4E4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6959-0E8A-8853-BAF1-6EB35A80D90C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1:</a:t>
            </a:r>
            <a:endParaRPr lang="en-US" sz="2000" b="1" dirty="0"/>
          </a:p>
          <a:p>
            <a:r>
              <a:rPr lang="en-US" noProof="0" dirty="0"/>
              <a:t>Circular material use rates (CMUR) increase marginally (except for ‘Rubber’).</a:t>
            </a:r>
          </a:p>
        </p:txBody>
      </p:sp>
      <p:pic>
        <p:nvPicPr>
          <p:cNvPr id="10" name="Picture 9" descr="A graph of a bar chart&#10;&#10;AI-generated content may be incorrect.">
            <a:extLst>
              <a:ext uri="{FF2B5EF4-FFF2-40B4-BE49-F238E27FC236}">
                <a16:creationId xmlns:a16="http://schemas.microsoft.com/office/drawing/2014/main" id="{C42A20F0-E475-93C6-8852-60E2BD36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62" y="1940475"/>
            <a:ext cx="6017760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31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A52F-9702-7EB6-2927-16FACD39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210DEC-E88A-C8F7-60E8-B307232E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08786-9CEE-990E-F2E7-1D6E6B4C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6C376-629B-5930-3CB4-61E5EA5E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609E7-D1F6-6909-CEC3-C50CDF8D116C}"/>
              </a:ext>
            </a:extLst>
          </p:cNvPr>
          <p:cNvSpPr txBox="1"/>
          <p:nvPr/>
        </p:nvSpPr>
        <p:spPr>
          <a:xfrm>
            <a:off x="508409" y="1051323"/>
            <a:ext cx="8046629" cy="2812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1: </a:t>
            </a:r>
          </a:p>
          <a:p>
            <a:r>
              <a:rPr lang="en-US" dirty="0"/>
              <a:t>An increase in internal recycling efficiency of </a:t>
            </a:r>
            <a:r>
              <a:rPr lang="en-US" u="sng" dirty="0"/>
              <a:t>all materials</a:t>
            </a:r>
            <a:r>
              <a:rPr lang="en-US" dirty="0"/>
              <a:t>, 10 p.p.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Result: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More recycled materials (also relative to virgin).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CMUR indicates progress (albeit marginal).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But: Rebound effect backfires across the board (&gt;1).</a:t>
            </a:r>
          </a:p>
        </p:txBody>
      </p:sp>
    </p:spTree>
    <p:extLst>
      <p:ext uri="{BB962C8B-B14F-4D97-AF65-F5344CB8AC3E}">
        <p14:creationId xmlns:p14="http://schemas.microsoft.com/office/powerpoint/2010/main" val="3461750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198C-9A07-D7D2-2928-F5E5A0D3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0A7599-5C65-8DDD-B130-B13C2C2B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D3258-689E-586B-6EE8-51C40220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6882D-3FA8-608A-2E0E-1266FEF8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460D8-6157-6C4A-AC17-6BA5241BA374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2: </a:t>
            </a:r>
          </a:p>
          <a:p>
            <a:r>
              <a:rPr lang="en-US" noProof="0" dirty="0"/>
              <a:t>An increase in internal recycling efficiency of </a:t>
            </a:r>
            <a:r>
              <a:rPr lang="en-US" u="sng" dirty="0"/>
              <a:t>one material only</a:t>
            </a:r>
            <a:r>
              <a:rPr lang="en-US" noProof="0" dirty="0"/>
              <a:t>, 10 p.p.</a:t>
            </a:r>
          </a:p>
        </p:txBody>
      </p:sp>
    </p:spTree>
    <p:extLst>
      <p:ext uri="{BB962C8B-B14F-4D97-AF65-F5344CB8AC3E}">
        <p14:creationId xmlns:p14="http://schemas.microsoft.com/office/powerpoint/2010/main" val="1474531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496D-B61A-830F-3160-F011CCB2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D4B5A-8BBB-5CA3-C762-245BF0DF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E2F33-075F-C70C-93F8-D4F0E106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F1933-138D-B802-DC52-AAFD04B2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49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87889-2683-2FD6-9E30-FB8EC8526F99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2: </a:t>
            </a:r>
          </a:p>
          <a:p>
            <a:r>
              <a:rPr lang="en-US" dirty="0"/>
              <a:t>Huge effects on plastic, less so on metal</a:t>
            </a:r>
            <a:endParaRPr lang="en-US" sz="2000" dirty="0"/>
          </a:p>
        </p:txBody>
      </p:sp>
      <p:pic>
        <p:nvPicPr>
          <p:cNvPr id="9" name="Picture 8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1607137B-1ACF-2A50-5CB7-A8F6C007B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453" y="1940475"/>
            <a:ext cx="6017760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84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01FE-9E20-CB3D-C4C1-B06BAA3A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503C81-A03D-3925-A230-1389701B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8987D-8B7A-B3D1-7167-39306B72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F260A-1783-4DA6-ED77-02A030A8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F5256-FD6E-CDED-F6D5-D8A9A7041F02}"/>
              </a:ext>
            </a:extLst>
          </p:cNvPr>
          <p:cNvSpPr txBox="1"/>
          <p:nvPr/>
        </p:nvSpPr>
        <p:spPr>
          <a:xfrm>
            <a:off x="508409" y="1051323"/>
            <a:ext cx="8046629" cy="405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2: </a:t>
            </a:r>
          </a:p>
          <a:p>
            <a:r>
              <a:rPr lang="en-US" dirty="0"/>
              <a:t>An increase in internal recycling efficiency of </a:t>
            </a:r>
            <a:r>
              <a:rPr lang="en-US" u="sng" dirty="0"/>
              <a:t>one material only</a:t>
            </a:r>
            <a:r>
              <a:rPr lang="en-US" dirty="0"/>
              <a:t>, 10 p.p.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Result: </a:t>
            </a:r>
            <a:r>
              <a:rPr lang="en-US" sz="2000" dirty="0"/>
              <a:t>Scale effects are compounding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More recycled metal increases scale of production and demand for </a:t>
            </a:r>
            <a:r>
              <a:rPr lang="en-US" i="1" dirty="0"/>
              <a:t>all </a:t>
            </a:r>
            <a:r>
              <a:rPr lang="en-US" dirty="0"/>
              <a:t>materials.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Whereas virgin metal is a </a:t>
            </a:r>
            <a:r>
              <a:rPr lang="en-US" u="sng" dirty="0"/>
              <a:t>substitute</a:t>
            </a:r>
            <a:r>
              <a:rPr lang="en-US" dirty="0"/>
              <a:t> for recycled metal, other materials are generally </a:t>
            </a:r>
            <a:r>
              <a:rPr lang="en-US" u="sng" dirty="0"/>
              <a:t>complementary</a:t>
            </a:r>
            <a:r>
              <a:rPr lang="en-US" dirty="0"/>
              <a:t> inputs (elasticity of subst. &lt;1).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Metal drives up scale significantly </a:t>
            </a:r>
            <a:r>
              <a:rPr lang="en-US" dirty="0">
                <a:sym typeface="Wingdings" panose="05000000000000000000" pitchFamily="2" charset="2"/>
              </a:rPr>
              <a:t> demand for plastic inputs increase significantly.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04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D979-43DC-F6EA-4472-76497893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B05C9A-46FA-7A2E-5604-34BA974E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A0F16-5B7C-A926-D07B-B5166A67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8BB47-082E-58CE-6C27-21A557A0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560E3C-4FA6-325F-374B-48DA90723530}"/>
                  </a:ext>
                </a:extLst>
              </p:cNvPr>
              <p:cNvSpPr txBox="1"/>
              <p:nvPr/>
            </p:nvSpPr>
            <p:spPr>
              <a:xfrm>
                <a:off x="508409" y="1051323"/>
                <a:ext cx="8046629" cy="3093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noProof="0" dirty="0"/>
                  <a:t>Experiment 3: </a:t>
                </a:r>
              </a:p>
              <a:p>
                <a:r>
                  <a:rPr lang="en-US" noProof="0" dirty="0"/>
                  <a:t>More efficient recycling in waste treatment plants, metal only.</a:t>
                </a:r>
                <a:endParaRPr lang="en-US" sz="2000" noProof="0" dirty="0"/>
              </a:p>
              <a:p>
                <a:endParaRPr lang="en-US" sz="2000" dirty="0"/>
              </a:p>
              <a:p>
                <a:r>
                  <a:rPr lang="en-US" dirty="0"/>
                  <a:t>Mechanical/expected effect takes as given: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Total waste for treatment.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Relative prices (waste incineration vs. recycled outputs).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Scale of all other outputs.</a:t>
                </a:r>
              </a:p>
              <a:p>
                <a:endParaRPr lang="en-US" dirty="0"/>
              </a:p>
              <a:p>
                <a:r>
                  <a:rPr lang="en-US" dirty="0"/>
                  <a:t>“Expected” saving: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dirty="0"/>
                  <a:t>, i.e. recycled materials replace virgin 1-to-1.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560E3C-4FA6-325F-374B-48DA90723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09" y="1051323"/>
                <a:ext cx="8046629" cy="3093154"/>
              </a:xfrm>
              <a:prstGeom prst="rect">
                <a:avLst/>
              </a:prstGeom>
              <a:blipFill>
                <a:blip r:embed="rId3"/>
                <a:stretch>
                  <a:fillRect l="-758" t="-984" b="-13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890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D91A-94D1-04E7-6C13-800B35B1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814094-051D-DDE4-4845-E460FE1E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A2358-3E16-AD3B-29BF-AEE7AEC5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4D245-726B-AB02-97A3-F93B91AD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76A20-7279-3E9A-123C-46C0A1D8B98F}"/>
              </a:ext>
            </a:extLst>
          </p:cNvPr>
          <p:cNvSpPr txBox="1"/>
          <p:nvPr/>
        </p:nvSpPr>
        <p:spPr>
          <a:xfrm>
            <a:off x="508409" y="1051323"/>
            <a:ext cx="8046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3: </a:t>
            </a:r>
          </a:p>
          <a:p>
            <a:r>
              <a:rPr lang="en-US" noProof="0" dirty="0"/>
              <a:t>Rebound effect backfires again – less pronounced than internal recycling.</a:t>
            </a:r>
          </a:p>
        </p:txBody>
      </p:sp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2CEB7765-1CCE-5623-DF99-C2D3F40F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94" y="1940475"/>
            <a:ext cx="6017760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84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4281-174E-9DBF-2AFF-E2AF9989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096A0F-4F08-4802-4559-2300AD17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F0936-7448-53E8-BD5B-506443CB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CD32-492A-060E-2F6A-568FF16F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AD4C2-B596-3034-F925-0EE0AF112E09}"/>
              </a:ext>
            </a:extLst>
          </p:cNvPr>
          <p:cNvSpPr txBox="1"/>
          <p:nvPr/>
        </p:nvSpPr>
        <p:spPr>
          <a:xfrm>
            <a:off x="508409" y="1051323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4: </a:t>
            </a:r>
          </a:p>
          <a:p>
            <a:r>
              <a:rPr lang="en-US" sz="2000" dirty="0"/>
              <a:t>Add ad-valorem tax demand for virgin materials, 10%.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1564080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99D5-20B3-3FEF-25F2-789813A7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191DF-3FAA-F77D-3BC6-C0D2BD16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48BC9-9AA1-8BED-15D2-89CA73D9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683FC-1855-47DF-8396-C2BC8379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857DE-BE3F-DCCC-73F2-3A4675D6EBC7}"/>
              </a:ext>
            </a:extLst>
          </p:cNvPr>
          <p:cNvSpPr txBox="1"/>
          <p:nvPr/>
        </p:nvSpPr>
        <p:spPr>
          <a:xfrm>
            <a:off x="508409" y="1051323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4: </a:t>
            </a:r>
          </a:p>
          <a:p>
            <a:r>
              <a:rPr lang="en-US" sz="2000" dirty="0"/>
              <a:t>Substitution away from virgin materials, towards recycled.</a:t>
            </a:r>
            <a:endParaRPr lang="en-US" sz="2000" noProof="0" dirty="0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D3D7AD9-53CC-CD36-DE79-9EACBD025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95" y="2078350"/>
            <a:ext cx="6017760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05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7E03-9976-D3E5-529A-1FD5C50F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07522C-82FF-6B9A-75CA-0703CB8F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B02FD-DECA-65E2-D654-F5D256BA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FC917-A64E-E7A5-0F25-01090685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E1B39-402A-E616-AB9F-5FA6D25D5A88}"/>
              </a:ext>
            </a:extLst>
          </p:cNvPr>
          <p:cNvSpPr txBox="1"/>
          <p:nvPr/>
        </p:nvSpPr>
        <p:spPr>
          <a:xfrm>
            <a:off x="508409" y="1051323"/>
            <a:ext cx="8046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4: </a:t>
            </a:r>
          </a:p>
          <a:p>
            <a:r>
              <a:rPr lang="en-US" sz="2000" dirty="0"/>
              <a:t>Circular Material Use Rate “improves” as well.</a:t>
            </a:r>
            <a:endParaRPr lang="en-US" sz="2000" noProof="0" dirty="0"/>
          </a:p>
        </p:txBody>
      </p:sp>
      <p:pic>
        <p:nvPicPr>
          <p:cNvPr id="8" name="Picture 7" descr="A graph of a bar&#10;&#10;AI-generated content may be incorrect.">
            <a:extLst>
              <a:ext uri="{FF2B5EF4-FFF2-40B4-BE49-F238E27FC236}">
                <a16:creationId xmlns:a16="http://schemas.microsoft.com/office/drawing/2014/main" id="{95DB085C-C365-25A3-817E-C09DD7019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857" y="2039303"/>
            <a:ext cx="6017759" cy="429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245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FC1D-7978-E35F-B04D-D497B743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27CE4F-617F-C79E-6889-17DDF0BE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0BA895-65C0-EF4B-88F7-B9C62E56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31595-8572-81C3-1784-B92A0904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6A8A9-6F97-EB04-781F-DE83B2CA0182}"/>
              </a:ext>
            </a:extLst>
          </p:cNvPr>
          <p:cNvSpPr txBox="1"/>
          <p:nvPr/>
        </p:nvSpPr>
        <p:spPr>
          <a:xfrm>
            <a:off x="508409" y="1051323"/>
            <a:ext cx="8046629" cy="4474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Experiment 4: </a:t>
            </a:r>
          </a:p>
          <a:p>
            <a:r>
              <a:rPr lang="en-US" dirty="0"/>
              <a:t>Add ad-valorem tax demand for virgin materials, 10%.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Result: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Increases recycling, decreases virgin material consumption.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Recycling </a:t>
            </a:r>
            <a:r>
              <a:rPr lang="en-US" i="1" dirty="0"/>
              <a:t>may </a:t>
            </a:r>
            <a:r>
              <a:rPr lang="en-US" dirty="0"/>
              <a:t>go down (‘textile’)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Substitution effect: Use recycled textile instead of virgin.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Scale effect: More expensive production </a:t>
            </a:r>
            <a:r>
              <a:rPr lang="en-US" dirty="0">
                <a:sym typeface="Wingdings" panose="05000000000000000000" pitchFamily="2" charset="2"/>
              </a:rPr>
              <a:t> lower output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material demand in general.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Cross-substitution: Total metal demand is lower  less demand for textile (complementary input).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157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CB0C-275E-3E8C-EE60-DBEA0880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56841E-9298-8008-9BCE-EFB3894C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5830A-AFDB-FB95-ED8E-AAAA7CDE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072A-CC8B-E5B6-EB01-E2CDE054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B50120-A598-2DE7-F5AF-2FEA58DA1463}"/>
              </a:ext>
            </a:extLst>
          </p:cNvPr>
          <p:cNvSpPr txBox="1"/>
          <p:nvPr/>
        </p:nvSpPr>
        <p:spPr>
          <a:xfrm>
            <a:off x="508409" y="1051323"/>
            <a:ext cx="80466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xxxx</a:t>
            </a:r>
            <a:endParaRPr lang="en-US" sz="2000" b="1" noProof="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xxxx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2308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C7D9-5AA6-0416-9524-20A4E474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04963-F4D9-FB35-0BF5-3FACE866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remarks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7D329-EE75-9E3B-0433-01DFFD35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CA900-C54E-46DA-9750-FC525BA50C3D}" type="datetime1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AC96-8E99-7146-7F9B-D90C427A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US" smtClean="0"/>
              <a:t>58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A890E-EBBB-CF53-3A56-55994A40E797}"/>
              </a:ext>
            </a:extLst>
          </p:cNvPr>
          <p:cNvSpPr txBox="1"/>
          <p:nvPr/>
        </p:nvSpPr>
        <p:spPr>
          <a:xfrm>
            <a:off x="508409" y="1051323"/>
            <a:ext cx="80466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xxxx</a:t>
            </a:r>
            <a:endParaRPr lang="en-US" sz="2000" b="1" noProof="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xxxx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0246697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16">
      <a:dk1>
        <a:sysClr val="windowText" lastClr="000000"/>
      </a:dk1>
      <a:lt1>
        <a:sysClr val="window" lastClr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D49F3A"/>
      </a:accent3>
      <a:accent4>
        <a:srgbClr val="42759B"/>
      </a:accent4>
      <a:accent5>
        <a:srgbClr val="79ADB1"/>
      </a:accent5>
      <a:accent6>
        <a:srgbClr val="779921"/>
      </a:accent6>
      <a:hlink>
        <a:srgbClr val="A31D20"/>
      </a:hlink>
      <a:folHlink>
        <a:srgbClr val="000000"/>
      </a:folHlink>
    </a:clrScheme>
    <a:fontScheme name="KU2016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x3_DK_fuld.potx" id="{0B3BB9A3-20D6-458F-83DA-EC2A8DF0C8CB}" vid="{5D72A563-BDF7-4DF9-BA70-BDAEE4EAE3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a2630e2-1ac5-455e-8217-0156b1936a76}" enabled="1" method="Standard" siteId="{a3927f91-cda1-4696-af89-8c9f1ceffa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4x3_DK_fuld</Template>
  <TotalTime>1712</TotalTime>
  <Words>2108</Words>
  <Application>Microsoft Office PowerPoint</Application>
  <PresentationFormat>On-screen Show (4:3)</PresentationFormat>
  <Paragraphs>682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Cambria Math</vt:lpstr>
      <vt:lpstr>Microsoft New Tai Lue</vt:lpstr>
      <vt:lpstr>Wingdings</vt:lpstr>
      <vt:lpstr>Brugerdefineret design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Literature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Small macro model</vt:lpstr>
      <vt:lpstr>Data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Numerical model</vt:lpstr>
      <vt:lpstr>Discussion </vt:lpstr>
      <vt:lpstr>Concluding remarks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Kjær Kruse-Andersen</dc:creator>
  <cp:lastModifiedBy>Rasmus Kehlet Skjødt Berg</cp:lastModifiedBy>
  <cp:revision>92</cp:revision>
  <dcterms:created xsi:type="dcterms:W3CDTF">2021-04-26T08:33:50Z</dcterms:created>
  <dcterms:modified xsi:type="dcterms:W3CDTF">2025-06-13T12:11:52Z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www.skabelon.dk</vt:lpwstr>
  </property>
  <property fmtid="{D5CDD505-2E9C-101B-9397-08002B2CF9AE}" pid="3" name="MSIP_Label_6a2630e2-1ac5-455e-8217-0156b1936a76_Enabled">
    <vt:lpwstr>true</vt:lpwstr>
  </property>
  <property fmtid="{D5CDD505-2E9C-101B-9397-08002B2CF9AE}" pid="4" name="MSIP_Label_6a2630e2-1ac5-455e-8217-0156b1936a76_SetDate">
    <vt:lpwstr>2023-08-23T08:49:08Z</vt:lpwstr>
  </property>
  <property fmtid="{D5CDD505-2E9C-101B-9397-08002B2CF9AE}" pid="5" name="MSIP_Label_6a2630e2-1ac5-455e-8217-0156b1936a76_Method">
    <vt:lpwstr>Standard</vt:lpwstr>
  </property>
  <property fmtid="{D5CDD505-2E9C-101B-9397-08002B2CF9AE}" pid="6" name="MSIP_Label_6a2630e2-1ac5-455e-8217-0156b1936a76_Name">
    <vt:lpwstr>Notclass</vt:lpwstr>
  </property>
  <property fmtid="{D5CDD505-2E9C-101B-9397-08002B2CF9AE}" pid="7" name="MSIP_Label_6a2630e2-1ac5-455e-8217-0156b1936a76_SiteId">
    <vt:lpwstr>a3927f91-cda1-4696-af89-8c9f1ceffa91</vt:lpwstr>
  </property>
  <property fmtid="{D5CDD505-2E9C-101B-9397-08002B2CF9AE}" pid="8" name="MSIP_Label_6a2630e2-1ac5-455e-8217-0156b1936a76_ActionId">
    <vt:lpwstr>beeb3dc9-be93-4149-8af7-93746805e0a5</vt:lpwstr>
  </property>
  <property fmtid="{D5CDD505-2E9C-101B-9397-08002B2CF9AE}" pid="9" name="MSIP_Label_6a2630e2-1ac5-455e-8217-0156b1936a76_ContentBits">
    <vt:lpwstr>0</vt:lpwstr>
  </property>
  <property fmtid="{D5CDD505-2E9C-101B-9397-08002B2CF9AE}" pid="10" name="SD_DocumentLanguage">
    <vt:lpwstr>en-GB</vt:lpwstr>
  </property>
</Properties>
</file>