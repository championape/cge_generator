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omments/modernComment_2F7_A17D03D9.xml" ContentType="application/vnd.ms-powerpoint.comment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2.xml" ContentType="application/vnd.openxmlformats-officedocument.drawingml.chartshapes+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omments/modernComment_2FB_58401A0D.xml" ContentType="application/vnd.ms-powerpoint.comments+xml"/>
  <Override PartName="/ppt/notesSlides/notesSlide78.xml" ContentType="application/vnd.openxmlformats-officedocument.presentationml.notesSlide+xml"/>
  <Override PartName="/ppt/comments/modernComment_2FC_ACA58493.xml" ContentType="application/vnd.ms-powerpoint.comments+xml"/>
  <Override PartName="/ppt/notesSlides/notesSlide79.xml" ContentType="application/vnd.openxmlformats-officedocument.presentationml.notesSlide+xml"/>
  <Override PartName="/ppt/comments/modernComment_2F1_844ECA4.xml" ContentType="application/vnd.ms-powerpoint.comments+xml"/>
  <Override PartName="/ppt/notesSlides/notesSlide80.xml" ContentType="application/vnd.openxmlformats-officedocument.presentationml.notesSlide+xml"/>
  <Override PartName="/ppt/comments/modernComment_2FD_EEBE2867.xml" ContentType="application/vnd.ms-powerpoint.comments+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8" r:id="rId1"/>
  </p:sldMasterIdLst>
  <p:notesMasterIdLst>
    <p:notesMasterId r:id="rId84"/>
  </p:notesMasterIdLst>
  <p:handoutMasterIdLst>
    <p:handoutMasterId r:id="rId85"/>
  </p:handoutMasterIdLst>
  <p:sldIdLst>
    <p:sldId id="352" r:id="rId2"/>
    <p:sldId id="406" r:id="rId3"/>
    <p:sldId id="681" r:id="rId4"/>
    <p:sldId id="407" r:id="rId5"/>
    <p:sldId id="417" r:id="rId6"/>
    <p:sldId id="760" r:id="rId7"/>
    <p:sldId id="410" r:id="rId8"/>
    <p:sldId id="419" r:id="rId9"/>
    <p:sldId id="420" r:id="rId10"/>
    <p:sldId id="421" r:id="rId11"/>
    <p:sldId id="422" r:id="rId12"/>
    <p:sldId id="684" r:id="rId13"/>
    <p:sldId id="423" r:id="rId14"/>
    <p:sldId id="688" r:id="rId15"/>
    <p:sldId id="717" r:id="rId16"/>
    <p:sldId id="747" r:id="rId17"/>
    <p:sldId id="686" r:id="rId18"/>
    <p:sldId id="690" r:id="rId19"/>
    <p:sldId id="752" r:id="rId20"/>
    <p:sldId id="692" r:id="rId21"/>
    <p:sldId id="761" r:id="rId22"/>
    <p:sldId id="749" r:id="rId23"/>
    <p:sldId id="695" r:id="rId24"/>
    <p:sldId id="754" r:id="rId25"/>
    <p:sldId id="694" r:id="rId26"/>
    <p:sldId id="696" r:id="rId27"/>
    <p:sldId id="697" r:id="rId28"/>
    <p:sldId id="698" r:id="rId29"/>
    <p:sldId id="699" r:id="rId30"/>
    <p:sldId id="705" r:id="rId31"/>
    <p:sldId id="700" r:id="rId32"/>
    <p:sldId id="702" r:id="rId33"/>
    <p:sldId id="701" r:id="rId34"/>
    <p:sldId id="703" r:id="rId35"/>
    <p:sldId id="706" r:id="rId36"/>
    <p:sldId id="708" r:id="rId37"/>
    <p:sldId id="709" r:id="rId38"/>
    <p:sldId id="750" r:id="rId39"/>
    <p:sldId id="755" r:id="rId40"/>
    <p:sldId id="759" r:id="rId41"/>
    <p:sldId id="751" r:id="rId42"/>
    <p:sldId id="756" r:id="rId43"/>
    <p:sldId id="762" r:id="rId44"/>
    <p:sldId id="710" r:id="rId45"/>
    <p:sldId id="711" r:id="rId46"/>
    <p:sldId id="712" r:id="rId47"/>
    <p:sldId id="734" r:id="rId48"/>
    <p:sldId id="735" r:id="rId49"/>
    <p:sldId id="736" r:id="rId50"/>
    <p:sldId id="743" r:id="rId51"/>
    <p:sldId id="713" r:id="rId52"/>
    <p:sldId id="737" r:id="rId53"/>
    <p:sldId id="738" r:id="rId54"/>
    <p:sldId id="718" r:id="rId55"/>
    <p:sldId id="745" r:id="rId56"/>
    <p:sldId id="719" r:id="rId57"/>
    <p:sldId id="723" r:id="rId58"/>
    <p:sldId id="725" r:id="rId59"/>
    <p:sldId id="724" r:id="rId60"/>
    <p:sldId id="727" r:id="rId61"/>
    <p:sldId id="728" r:id="rId62"/>
    <p:sldId id="729" r:id="rId63"/>
    <p:sldId id="720" r:id="rId64"/>
    <p:sldId id="746" r:id="rId65"/>
    <p:sldId id="721" r:id="rId66"/>
    <p:sldId id="730" r:id="rId67"/>
    <p:sldId id="731" r:id="rId68"/>
    <p:sldId id="732" r:id="rId69"/>
    <p:sldId id="733" r:id="rId70"/>
    <p:sldId id="744" r:id="rId71"/>
    <p:sldId id="715" r:id="rId72"/>
    <p:sldId id="716" r:id="rId73"/>
    <p:sldId id="689" r:id="rId74"/>
    <p:sldId id="758" r:id="rId75"/>
    <p:sldId id="757" r:id="rId76"/>
    <p:sldId id="707" r:id="rId77"/>
    <p:sldId id="763" r:id="rId78"/>
    <p:sldId id="764" r:id="rId79"/>
    <p:sldId id="753" r:id="rId80"/>
    <p:sldId id="765" r:id="rId81"/>
    <p:sldId id="766" r:id="rId82"/>
    <p:sldId id="767" r:id="rId83"/>
  </p:sldIdLst>
  <p:sldSz cx="9144000" cy="6858000" type="screen4x3"/>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0">
          <p15:clr>
            <a:srgbClr val="A4A3A4"/>
          </p15:clr>
        </p15:guide>
        <p15:guide id="3" orient="horz" pos="935">
          <p15:clr>
            <a:srgbClr val="A4A3A4"/>
          </p15:clr>
        </p15:guide>
        <p15:guide id="4"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1D9772-52FF-C7AD-0B91-4BF1DDFEB65A}" name="Thor Donsby Noe" initials="TDN" userId="Thor Donsby No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F2B85B"/>
    <a:srgbClr val="F2B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30" autoAdjust="0"/>
  </p:normalViewPr>
  <p:slideViewPr>
    <p:cSldViewPr snapToGrid="0" snapToObjects="1" showGuides="1">
      <p:cViewPr varScale="1">
        <p:scale>
          <a:sx n="159" d="100"/>
          <a:sy n="159" d="100"/>
        </p:scale>
        <p:origin x="1902" y="138"/>
      </p:cViewPr>
      <p:guideLst>
        <p:guide orient="horz" pos="1030"/>
        <p:guide orient="horz" pos="935"/>
        <p:guide pos="2880"/>
      </p:guideLst>
    </p:cSldViewPr>
  </p:slideViewPr>
  <p:outlineViewPr>
    <p:cViewPr>
      <p:scale>
        <a:sx n="33" d="100"/>
        <a:sy n="33" d="100"/>
      </p:scale>
      <p:origin x="0" y="0"/>
    </p:cViewPr>
  </p:outlineViewPr>
  <p:notesTextViewPr>
    <p:cViewPr>
      <p:scale>
        <a:sx n="3" d="2"/>
        <a:sy n="3" d="2"/>
      </p:scale>
      <p:origin x="0" y="0"/>
    </p:cViewPr>
  </p:notesTextViewPr>
  <p:notesViewPr>
    <p:cSldViewPr snapToGrid="0" snapToObjects="1" showGuides="1">
      <p:cViewPr varScale="1">
        <p:scale>
          <a:sx n="122" d="100"/>
          <a:sy n="122" d="100"/>
        </p:scale>
        <p:origin x="4914"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3" Type="http://schemas.openxmlformats.org/officeDocument/2006/relationships/oleObject" Target="file:///\\unicph.domain\users\qnz630\Material%20flows%20and%20the%20circular%20economy\Circular%20Material%20Use%20Rate%20(Eurostat,%20download%2010-06-2025).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_rels/chart2.xml.rels><?xml version="1.0" encoding="UTF-8" standalone="yes"?>
<Relationships xmlns="http://schemas.openxmlformats.org/package/2006/relationships"><Relationship Id="rId3" Type="http://schemas.openxmlformats.org/officeDocument/2006/relationships/oleObject" Target="file:///\\unicph.domain\users\qnz630\Material%20flows%20and%20the%20circular%20economy\Circular%20Material%20Use%20Rate%20(Eurostat,%20download%2010-06-2025).xlsx" TargetMode="Externa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da-DK" sz="1600">
                <a:solidFill>
                  <a:sysClr val="windowText" lastClr="000000"/>
                </a:solidFill>
              </a:rPr>
              <a:t>Circular Material Use Rate in the</a:t>
            </a:r>
            <a:r>
              <a:rPr lang="da-DK" sz="1600" baseline="0">
                <a:solidFill>
                  <a:sysClr val="windowText" lastClr="000000"/>
                </a:solidFill>
              </a:rPr>
              <a:t> EU</a:t>
            </a:r>
            <a:endParaRPr lang="da-DK" sz="1600">
              <a:solidFill>
                <a:sysClr val="windowText" lastClr="0000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da-DK"/>
        </a:p>
      </c:txPr>
    </c:title>
    <c:autoTitleDeleted val="0"/>
    <c:plotArea>
      <c:layout>
        <c:manualLayout>
          <c:layoutTarget val="inner"/>
          <c:xMode val="edge"/>
          <c:yMode val="edge"/>
          <c:x val="7.6814117527531811E-2"/>
          <c:y val="0.18258186192908488"/>
          <c:w val="0.90237468834417456"/>
          <c:h val="0.66177984978476312"/>
        </c:manualLayout>
      </c:layout>
      <c:lineChart>
        <c:grouping val="standard"/>
        <c:varyColors val="0"/>
        <c:ser>
          <c:idx val="0"/>
          <c:order val="0"/>
          <c:spPr>
            <a:ln w="28575" cap="rnd">
              <a:solidFill>
                <a:schemeClr val="accent4"/>
              </a:solidFill>
              <a:round/>
            </a:ln>
            <a:effectLst/>
          </c:spPr>
          <c:marker>
            <c:symbol val="none"/>
          </c:marker>
          <c:cat>
            <c:strRef>
              <c:f>'Sheet 1'!$B$8:$U$8</c:f>
              <c:strCache>
                <c:ptCount val="20"/>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pt idx="16">
                  <c:v>2020</c:v>
                </c:pt>
                <c:pt idx="17">
                  <c:v>2021</c:v>
                </c:pt>
                <c:pt idx="18">
                  <c:v>2022</c:v>
                </c:pt>
                <c:pt idx="19">
                  <c:v>2023</c:v>
                </c:pt>
              </c:strCache>
            </c:strRef>
          </c:cat>
          <c:val>
            <c:numRef>
              <c:f>'Sheet 1'!$B$10:$U$10</c:f>
              <c:numCache>
                <c:formatCode>#,##0.##########</c:formatCode>
                <c:ptCount val="20"/>
                <c:pt idx="0">
                  <c:v>8.1999999999999993</c:v>
                </c:pt>
                <c:pt idx="1">
                  <c:v>8.6999999999999993</c:v>
                </c:pt>
                <c:pt idx="2" formatCode="#,##0">
                  <c:v>9</c:v>
                </c:pt>
                <c:pt idx="3">
                  <c:v>8.9</c:v>
                </c:pt>
                <c:pt idx="4">
                  <c:v>9.1</c:v>
                </c:pt>
                <c:pt idx="5">
                  <c:v>10.4</c:v>
                </c:pt>
                <c:pt idx="6">
                  <c:v>10.7</c:v>
                </c:pt>
                <c:pt idx="7">
                  <c:v>10.199999999999999</c:v>
                </c:pt>
                <c:pt idx="8" formatCode="#,##0">
                  <c:v>11</c:v>
                </c:pt>
                <c:pt idx="9">
                  <c:v>11.2</c:v>
                </c:pt>
                <c:pt idx="10">
                  <c:v>11.1</c:v>
                </c:pt>
                <c:pt idx="11">
                  <c:v>11.2</c:v>
                </c:pt>
                <c:pt idx="12">
                  <c:v>11.4</c:v>
                </c:pt>
                <c:pt idx="13">
                  <c:v>11.5</c:v>
                </c:pt>
                <c:pt idx="14">
                  <c:v>11.6</c:v>
                </c:pt>
                <c:pt idx="15">
                  <c:v>11.2</c:v>
                </c:pt>
                <c:pt idx="16">
                  <c:v>11.2</c:v>
                </c:pt>
                <c:pt idx="17">
                  <c:v>11.1</c:v>
                </c:pt>
                <c:pt idx="18">
                  <c:v>11.5</c:v>
                </c:pt>
                <c:pt idx="19">
                  <c:v>11.8</c:v>
                </c:pt>
              </c:numCache>
            </c:numRef>
          </c:val>
          <c:smooth val="0"/>
          <c:extLst>
            <c:ext xmlns:c16="http://schemas.microsoft.com/office/drawing/2014/chart" uri="{C3380CC4-5D6E-409C-BE32-E72D297353CC}">
              <c16:uniqueId val="{00000000-692E-431C-9490-ECA90DB8FC63}"/>
            </c:ext>
          </c:extLst>
        </c:ser>
        <c:dLbls>
          <c:showLegendKey val="0"/>
          <c:showVal val="0"/>
          <c:showCatName val="0"/>
          <c:showSerName val="0"/>
          <c:showPercent val="0"/>
          <c:showBubbleSize val="0"/>
        </c:dLbls>
        <c:smooth val="0"/>
        <c:axId val="616379711"/>
        <c:axId val="616370591"/>
      </c:lineChart>
      <c:catAx>
        <c:axId val="616379711"/>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da-DK"/>
          </a:p>
        </c:txPr>
        <c:crossAx val="616370591"/>
        <c:crosses val="autoZero"/>
        <c:auto val="1"/>
        <c:lblAlgn val="ctr"/>
        <c:lblOffset val="100"/>
        <c:tickLblSkip val="3"/>
        <c:tickMarkSkip val="4"/>
        <c:noMultiLvlLbl val="0"/>
      </c:catAx>
      <c:valAx>
        <c:axId val="6163705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dirty="0">
                    <a:solidFill>
                      <a:sysClr val="windowText" lastClr="000000"/>
                    </a:solidFill>
                  </a:rPr>
                  <a:t>Percent</a:t>
                </a:r>
              </a:p>
            </c:rich>
          </c:tx>
          <c:layout>
            <c:manualLayout>
              <c:xMode val="edge"/>
              <c:yMode val="edge"/>
              <c:x val="0"/>
              <c:y val="0.4168101315450416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da-DK"/>
            </a:p>
          </c:txPr>
        </c:title>
        <c:numFmt formatCode="#,##0" sourceLinked="0"/>
        <c:majorTickMark val="none"/>
        <c:minorTickMark val="none"/>
        <c:tickLblPos val="nextTo"/>
        <c:spPr>
          <a:noFill/>
          <a:ln>
            <a:solidFill>
              <a:sysClr val="windowText" lastClr="000000"/>
            </a:solid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da-DK"/>
          </a:p>
        </c:txPr>
        <c:crossAx val="61637971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da-DK"/>
    </a:p>
  </c:txPr>
  <c:externalData r:id="rId3">
    <c:autoUpdate val="0"/>
  </c:externalData>
  <c:userShapes r:id="rId4"/>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da-DK" sz="1600">
                <a:solidFill>
                  <a:sysClr val="windowText" lastClr="000000"/>
                </a:solidFill>
              </a:rPr>
              <a:t>Circular Material Use Rate in the</a:t>
            </a:r>
            <a:r>
              <a:rPr lang="da-DK" sz="1600" baseline="0">
                <a:solidFill>
                  <a:sysClr val="windowText" lastClr="000000"/>
                </a:solidFill>
              </a:rPr>
              <a:t> EU</a:t>
            </a:r>
            <a:endParaRPr lang="da-DK" sz="1600">
              <a:solidFill>
                <a:sysClr val="windowText" lastClr="000000"/>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da-DK"/>
        </a:p>
      </c:txPr>
    </c:title>
    <c:autoTitleDeleted val="0"/>
    <c:plotArea>
      <c:layout>
        <c:manualLayout>
          <c:layoutTarget val="inner"/>
          <c:xMode val="edge"/>
          <c:yMode val="edge"/>
          <c:x val="7.6814117527531811E-2"/>
          <c:y val="0.18258186192908488"/>
          <c:w val="0.90237468834417456"/>
          <c:h val="0.66177984978476312"/>
        </c:manualLayout>
      </c:layout>
      <c:lineChart>
        <c:grouping val="standard"/>
        <c:varyColors val="0"/>
        <c:ser>
          <c:idx val="0"/>
          <c:order val="0"/>
          <c:spPr>
            <a:ln w="28575" cap="rnd">
              <a:solidFill>
                <a:schemeClr val="accent4"/>
              </a:solidFill>
              <a:round/>
            </a:ln>
            <a:effectLst/>
          </c:spPr>
          <c:marker>
            <c:symbol val="none"/>
          </c:marker>
          <c:cat>
            <c:strRef>
              <c:f>'Sheet 1'!$B$8:$U$8</c:f>
              <c:strCache>
                <c:ptCount val="20"/>
                <c:pt idx="0">
                  <c:v>2004</c:v>
                </c:pt>
                <c:pt idx="1">
                  <c:v>2005</c:v>
                </c:pt>
                <c:pt idx="2">
                  <c:v>2006</c:v>
                </c:pt>
                <c:pt idx="3">
                  <c:v>2007</c:v>
                </c:pt>
                <c:pt idx="4">
                  <c:v>2008</c:v>
                </c:pt>
                <c:pt idx="5">
                  <c:v>2009</c:v>
                </c:pt>
                <c:pt idx="6">
                  <c:v>2010</c:v>
                </c:pt>
                <c:pt idx="7">
                  <c:v>2011</c:v>
                </c:pt>
                <c:pt idx="8">
                  <c:v>2012</c:v>
                </c:pt>
                <c:pt idx="9">
                  <c:v>2013</c:v>
                </c:pt>
                <c:pt idx="10">
                  <c:v>2014</c:v>
                </c:pt>
                <c:pt idx="11">
                  <c:v>2015</c:v>
                </c:pt>
                <c:pt idx="12">
                  <c:v>2016</c:v>
                </c:pt>
                <c:pt idx="13">
                  <c:v>2017</c:v>
                </c:pt>
                <c:pt idx="14">
                  <c:v>2018</c:v>
                </c:pt>
                <c:pt idx="15">
                  <c:v>2019</c:v>
                </c:pt>
                <c:pt idx="16">
                  <c:v>2020</c:v>
                </c:pt>
                <c:pt idx="17">
                  <c:v>2021</c:v>
                </c:pt>
                <c:pt idx="18">
                  <c:v>2022</c:v>
                </c:pt>
                <c:pt idx="19">
                  <c:v>2023</c:v>
                </c:pt>
              </c:strCache>
            </c:strRef>
          </c:cat>
          <c:val>
            <c:numRef>
              <c:f>'Sheet 1'!$B$10:$U$10</c:f>
              <c:numCache>
                <c:formatCode>#,##0.##########</c:formatCode>
                <c:ptCount val="20"/>
                <c:pt idx="0">
                  <c:v>8.1999999999999993</c:v>
                </c:pt>
                <c:pt idx="1">
                  <c:v>8.6999999999999993</c:v>
                </c:pt>
                <c:pt idx="2" formatCode="#,##0">
                  <c:v>9</c:v>
                </c:pt>
                <c:pt idx="3">
                  <c:v>8.9</c:v>
                </c:pt>
                <c:pt idx="4">
                  <c:v>9.1</c:v>
                </c:pt>
                <c:pt idx="5">
                  <c:v>10.4</c:v>
                </c:pt>
                <c:pt idx="6">
                  <c:v>10.7</c:v>
                </c:pt>
                <c:pt idx="7">
                  <c:v>10.199999999999999</c:v>
                </c:pt>
                <c:pt idx="8" formatCode="#,##0">
                  <c:v>11</c:v>
                </c:pt>
                <c:pt idx="9">
                  <c:v>11.2</c:v>
                </c:pt>
                <c:pt idx="10">
                  <c:v>11.1</c:v>
                </c:pt>
                <c:pt idx="11">
                  <c:v>11.2</c:v>
                </c:pt>
                <c:pt idx="12">
                  <c:v>11.4</c:v>
                </c:pt>
                <c:pt idx="13">
                  <c:v>11.5</c:v>
                </c:pt>
                <c:pt idx="14">
                  <c:v>11.6</c:v>
                </c:pt>
                <c:pt idx="15">
                  <c:v>11.2</c:v>
                </c:pt>
                <c:pt idx="16">
                  <c:v>11.2</c:v>
                </c:pt>
                <c:pt idx="17">
                  <c:v>11.1</c:v>
                </c:pt>
                <c:pt idx="18">
                  <c:v>11.5</c:v>
                </c:pt>
                <c:pt idx="19">
                  <c:v>11.8</c:v>
                </c:pt>
              </c:numCache>
            </c:numRef>
          </c:val>
          <c:smooth val="0"/>
          <c:extLst>
            <c:ext xmlns:c16="http://schemas.microsoft.com/office/drawing/2014/chart" uri="{C3380CC4-5D6E-409C-BE32-E72D297353CC}">
              <c16:uniqueId val="{00000000-692E-431C-9490-ECA90DB8FC63}"/>
            </c:ext>
          </c:extLst>
        </c:ser>
        <c:dLbls>
          <c:showLegendKey val="0"/>
          <c:showVal val="0"/>
          <c:showCatName val="0"/>
          <c:showSerName val="0"/>
          <c:showPercent val="0"/>
          <c:showBubbleSize val="0"/>
        </c:dLbls>
        <c:smooth val="0"/>
        <c:axId val="616379711"/>
        <c:axId val="616370591"/>
      </c:lineChart>
      <c:catAx>
        <c:axId val="616379711"/>
        <c:scaling>
          <c:orientation val="minMax"/>
        </c:scaling>
        <c:delete val="0"/>
        <c:axPos val="b"/>
        <c:numFmt formatCode="General" sourceLinked="1"/>
        <c:majorTickMark val="none"/>
        <c:minorTickMark val="none"/>
        <c:tickLblPos val="nextTo"/>
        <c:spPr>
          <a:noFill/>
          <a:ln w="9525" cap="flat" cmpd="sng" algn="ctr">
            <a:solidFill>
              <a:sysClr val="windowText" lastClr="000000"/>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da-DK"/>
          </a:p>
        </c:txPr>
        <c:crossAx val="616370591"/>
        <c:crosses val="autoZero"/>
        <c:auto val="1"/>
        <c:lblAlgn val="ctr"/>
        <c:lblOffset val="100"/>
        <c:tickLblSkip val="3"/>
        <c:tickMarkSkip val="4"/>
        <c:noMultiLvlLbl val="0"/>
      </c:catAx>
      <c:valAx>
        <c:axId val="6163705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GB" dirty="0">
                    <a:solidFill>
                      <a:sysClr val="windowText" lastClr="000000"/>
                    </a:solidFill>
                  </a:rPr>
                  <a:t>Percent</a:t>
                </a:r>
              </a:p>
            </c:rich>
          </c:tx>
          <c:layout>
            <c:manualLayout>
              <c:xMode val="edge"/>
              <c:yMode val="edge"/>
              <c:x val="0"/>
              <c:y val="0.4168101315450416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da-DK"/>
            </a:p>
          </c:txPr>
        </c:title>
        <c:numFmt formatCode="#,##0" sourceLinked="0"/>
        <c:majorTickMark val="none"/>
        <c:minorTickMark val="none"/>
        <c:tickLblPos val="nextTo"/>
        <c:spPr>
          <a:noFill/>
          <a:ln>
            <a:solidFill>
              <a:sysClr val="windowText" lastClr="000000"/>
            </a:solidFill>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mn-lt"/>
                <a:ea typeface="+mn-ea"/>
                <a:cs typeface="+mn-cs"/>
              </a:defRPr>
            </a:pPr>
            <a:endParaRPr lang="da-DK"/>
          </a:p>
        </c:txPr>
        <c:crossAx val="61637971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da-DK"/>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2F1_844ECA4.xml><?xml version="1.0" encoding="utf-8"?>
<p188:cmLst xmlns:a="http://schemas.openxmlformats.org/drawingml/2006/main" xmlns:r="http://schemas.openxmlformats.org/officeDocument/2006/relationships" xmlns:p188="http://schemas.microsoft.com/office/powerpoint/2018/8/main">
  <p188:cm id="{E846A1E4-3169-4830-B384-FBF6D0CBCD32}" authorId="{761D9772-52FF-C7AD-0B91-4BF1DDFEB65A}" created="2025-06-29T19:53:43.027">
    <ac:deMkLst xmlns:ac="http://schemas.microsoft.com/office/drawing/2013/main/command">
      <pc:docMk xmlns:pc="http://schemas.microsoft.com/office/powerpoint/2013/main/command"/>
      <pc:sldMk xmlns:pc="http://schemas.microsoft.com/office/powerpoint/2013/main/command" cId="138734756" sldId="753"/>
      <ac:spMk id="6" creationId="{0D2F916D-2904-C565-09A6-5B7552973DAB}"/>
    </ac:deMkLst>
    <p188:txBody>
      <a:bodyPr/>
      <a:lstStyle/>
      <a:p>
        <a:r>
          <a:rPr lang="da-DK"/>
          <a:t>Manufacturing industries by sector:
man_met:
240000	Manufacture of basic metals                                                        
250000	Manufacture of fabricated metal products                                           
man_pap:
170000	Manufacture of paper and paper products                                            
man_rub_pla:
220000	Manufacture of rubber and plastic products                                         
man_tex:
130000	Manufacture of textiles                                                            
man_oth:
29 other manufacturing industries.</a:t>
        </a:r>
      </a:p>
    </p188:txBody>
  </p188:cm>
</p188:cmLst>
</file>

<file path=ppt/comments/modernComment_2F7_A17D03D9.xml><?xml version="1.0" encoding="utf-8"?>
<p188:cmLst xmlns:a="http://schemas.openxmlformats.org/drawingml/2006/main" xmlns:r="http://schemas.openxmlformats.org/officeDocument/2006/relationships" xmlns:p188="http://schemas.microsoft.com/office/powerpoint/2018/8/main">
  <p188:cm id="{4DFBE64D-7733-4A64-826B-8512AF3CE57E}" authorId="{761D9772-52FF-C7AD-0B91-4BF1DDFEB65A}" created="2025-06-10T17:49:45.987">
    <ac:deMkLst xmlns:ac="http://schemas.microsoft.com/office/drawing/2013/main/command">
      <pc:docMk xmlns:pc="http://schemas.microsoft.com/office/powerpoint/2013/main/command"/>
      <pc:sldMk xmlns:pc="http://schemas.microsoft.com/office/powerpoint/2013/main/command" cId="2709324761" sldId="759"/>
      <ac:graphicFrameMk id="5" creationId="{3138F487-7C53-C4D2-8EC3-C7A469F34757}"/>
    </ac:deMkLst>
    <p188:txBody>
      <a:bodyPr/>
      <a:lstStyle/>
      <a:p>
        <a:r>
          <a:rPr lang="da-DK"/>
          <a:t>Aggregated as 3 domestic sectors + abroad:
Cons – Consumption: Private consumption only (since waste from government consumption wasn’t sorted as plastic waste in 2020).
SWM – Solid Waste Management firm: IO117 code 383900 (i.e., IO146 codes 383901, 383902, 383903, and 383905).
Prod – Production firm: The 116 industries other than the SWM industry at the national accounts’ 117 industry level (including “residual”, i.e., current and long-term tangible assets).
Imp/Exp: Imports/Exports</a:t>
        </a:r>
      </a:p>
    </p188:txBody>
  </p188:cm>
</p188:cmLst>
</file>

<file path=ppt/comments/modernComment_2FB_58401A0D.xml><?xml version="1.0" encoding="utf-8"?>
<p188:cmLst xmlns:a="http://schemas.openxmlformats.org/drawingml/2006/main" xmlns:r="http://schemas.openxmlformats.org/officeDocument/2006/relationships" xmlns:p188="http://schemas.microsoft.com/office/powerpoint/2018/8/main">
  <p188:cm id="{4DFBE64D-7733-4A64-826B-8512AF3CE57E}" authorId="{761D9772-52FF-C7AD-0B91-4BF1DDFEB65A}" created="2025-06-10T17:49:45.987">
    <ac:deMkLst xmlns:ac="http://schemas.microsoft.com/office/drawing/2013/main/command">
      <pc:docMk xmlns:pc="http://schemas.microsoft.com/office/powerpoint/2013/main/command"/>
      <pc:sldMk xmlns:pc="http://schemas.microsoft.com/office/powerpoint/2013/main/command" cId="2709324761" sldId="751"/>
      <ac:graphicFrameMk id="5" creationId="{3138F487-7C53-C4D2-8EC3-C7A469F34757}"/>
    </ac:deMkLst>
    <p188:txBody>
      <a:bodyPr/>
      <a:lstStyle/>
      <a:p>
        <a:r>
          <a:rPr lang="da-DK"/>
          <a:t>Domestic secondary material use (SMU) rates as R's share of total domestic use of VR.</a:t>
        </a:r>
      </a:p>
    </p188:txBody>
  </p188:cm>
</p188:cmLst>
</file>

<file path=ppt/comments/modernComment_2FC_ACA58493.xml><?xml version="1.0" encoding="utf-8"?>
<p188:cmLst xmlns:a="http://schemas.openxmlformats.org/drawingml/2006/main" xmlns:r="http://schemas.openxmlformats.org/officeDocument/2006/relationships" xmlns:p188="http://schemas.microsoft.com/office/powerpoint/2018/8/main">
  <p188:cm id="{A1248571-9F64-4C35-9A75-8FC9B0C447B3}" authorId="{761D9772-52FF-C7AD-0B91-4BF1DDFEB65A}" created="2025-06-29T19:53:43.027">
    <ac:deMkLst xmlns:ac="http://schemas.microsoft.com/office/drawing/2013/main/command">
      <pc:docMk xmlns:pc="http://schemas.microsoft.com/office/powerpoint/2013/main/command"/>
      <pc:sldMk xmlns:pc="http://schemas.microsoft.com/office/powerpoint/2013/main/command" cId="2896528531" sldId="764"/>
      <ac:spMk id="6" creationId="{71EAAB74-6750-7E06-E757-CDDB213E8686}"/>
    </ac:deMkLst>
    <p188:txBody>
      <a:bodyPr/>
      <a:lstStyle/>
      <a:p>
        <a:r>
          <a:rPr lang="da-DK"/>
          <a:t>Manufacturing industries by sector:
man_met:
240000	Manufacture of basic metals                                                        
250000	Manufacture of fabricated metal products                                           
man_pap:
170000	Manufacture of paper and paper products                                            
man_rub_pla:
220000	Manufacture of rubber and plastic products                                         
man_tex:
130000	Manufacture of textiles                                                            
man_oth:
29 other manufacturing industries.</a:t>
        </a:r>
      </a:p>
    </p188:txBody>
  </p188:cm>
</p188:cmLst>
</file>

<file path=ppt/comments/modernComment_2FD_EEBE2867.xml><?xml version="1.0" encoding="utf-8"?>
<p188:cmLst xmlns:a="http://schemas.openxmlformats.org/drawingml/2006/main" xmlns:r="http://schemas.openxmlformats.org/officeDocument/2006/relationships" xmlns:p188="http://schemas.microsoft.com/office/powerpoint/2018/8/main">
  <p188:cm id="{FABC4373-BCA7-43AB-8E56-B197356F19FE}" authorId="{761D9772-52FF-C7AD-0B91-4BF1DDFEB65A}" created="2025-06-29T20:00:28.595">
    <pc:sldMkLst xmlns:pc="http://schemas.microsoft.com/office/powerpoint/2013/main/command">
      <pc:docMk/>
      <pc:sldMk cId="4005439591" sldId="754"/>
    </pc:sldMkLst>
    <p188:txBody>
      <a:bodyPr/>
      <a:lstStyle/>
      <a:p>
        <a:r>
          <a:rPr lang="da-DK"/>
          <a:t>constr: 
410009	Construction of new buildings                                                      
420000	Civil engeneering                                                                  
430003	Professionel repair and maintenance of buildings                                   
430004	Own-account repair and maintenance of buildings                                    
sale: 
450010	Sale of motor vehicles                                                             
450020	Repair and maintenance of motor vehicles etc.                                      
460000	Wholesale                                                                          
470000	Retail sale                                                                        
pub: 
720002	Scientific research and development (non-market)                                   
840010	Public administration                                                              
840022	Defence, public order, security and justice activities (non-market)                
850010	Primary education                                                                  
850020	Secondary education                                                                
850030	Higher education                                                                   
850042	Adult and other education (non-market)                                             
860010	Hospital activities                                                                
860020	Medical and dental practice activities                                             
870000	Residential care activities                                                        
880000	Social work activities without accommodation                                       
900000	Theatres, concerts, and arts activities                                            
910001	Libraries, museums and other cultural activities (market)                          
910002	Libraries, museums and other cultural activities (non-market)                      
920000	Gambling and betting activities                                                    
other:
57 remaining industries</a:t>
        </a:r>
      </a:p>
    </p188:txBody>
  </p188:cm>
</p188:cmLst>
</file>

<file path=ppt/drawings/drawing1.xml><?xml version="1.0" encoding="utf-8"?>
<c:userShapes xmlns:c="http://schemas.openxmlformats.org/drawingml/2006/chart">
  <cdr:relSizeAnchor xmlns:cdr="http://schemas.openxmlformats.org/drawingml/2006/chartDrawing">
    <cdr:from>
      <cdr:x>0</cdr:x>
      <cdr:y>0.93786</cdr:y>
    </cdr:from>
    <cdr:to>
      <cdr:x>0.14984</cdr:x>
      <cdr:y>0.99904</cdr:y>
    </cdr:to>
    <cdr:sp macro="" textlink="">
      <cdr:nvSpPr>
        <cdr:cNvPr id="2" name="TextBox 1">
          <a:extLst xmlns:a="http://schemas.openxmlformats.org/drawingml/2006/main">
            <a:ext uri="{FF2B5EF4-FFF2-40B4-BE49-F238E27FC236}">
              <a16:creationId xmlns:a16="http://schemas.microsoft.com/office/drawing/2014/main" id="{D4CD4643-AA9A-82F1-A721-811169DB6DCE}"/>
            </a:ext>
          </a:extLst>
        </cdr:cNvPr>
        <cdr:cNvSpPr txBox="1"/>
      </cdr:nvSpPr>
      <cdr:spPr>
        <a:xfrm xmlns:a="http://schemas.openxmlformats.org/drawingml/2006/main">
          <a:off x="-1221075" y="2966258"/>
          <a:ext cx="914400" cy="19351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GB" sz="900" kern="1200" dirty="0"/>
            <a:t>Source: Eurostat.</a:t>
          </a:r>
        </a:p>
      </cdr:txBody>
    </cdr:sp>
  </cdr:relSizeAnchor>
</c:userShapes>
</file>

<file path=ppt/drawings/drawing2.xml><?xml version="1.0" encoding="utf-8"?>
<c:userShapes xmlns:c="http://schemas.openxmlformats.org/drawingml/2006/chart">
  <cdr:relSizeAnchor xmlns:cdr="http://schemas.openxmlformats.org/drawingml/2006/chartDrawing">
    <cdr:from>
      <cdr:x>0</cdr:x>
      <cdr:y>0.93786</cdr:y>
    </cdr:from>
    <cdr:to>
      <cdr:x>0.14984</cdr:x>
      <cdr:y>0.99904</cdr:y>
    </cdr:to>
    <cdr:sp macro="" textlink="">
      <cdr:nvSpPr>
        <cdr:cNvPr id="2" name="TextBox 1">
          <a:extLst xmlns:a="http://schemas.openxmlformats.org/drawingml/2006/main">
            <a:ext uri="{FF2B5EF4-FFF2-40B4-BE49-F238E27FC236}">
              <a16:creationId xmlns:a16="http://schemas.microsoft.com/office/drawing/2014/main" id="{D4CD4643-AA9A-82F1-A721-811169DB6DCE}"/>
            </a:ext>
          </a:extLst>
        </cdr:cNvPr>
        <cdr:cNvSpPr txBox="1"/>
      </cdr:nvSpPr>
      <cdr:spPr>
        <a:xfrm xmlns:a="http://schemas.openxmlformats.org/drawingml/2006/main">
          <a:off x="-1221075" y="2966258"/>
          <a:ext cx="914400" cy="193515"/>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r>
            <a:rPr lang="en-GB" sz="900" kern="1200" dirty="0"/>
            <a:t>Source: Eurostat.</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en-GB" dirty="0"/>
          </a:p>
        </p:txBody>
      </p:sp>
      <p:sp>
        <p:nvSpPr>
          <p:cNvPr id="3" name="Pladsholder til dato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C68F9E11-F642-4BF2-B4DC-AF7D35EA7551}" type="datetimeFigureOut">
              <a:rPr lang="en-GB" smtClean="0"/>
              <a:t>30/06/2025</a:t>
            </a:fld>
            <a:endParaRPr lang="en-GB" dirty="0"/>
          </a:p>
        </p:txBody>
      </p:sp>
      <p:sp>
        <p:nvSpPr>
          <p:cNvPr id="4" name="Pladsholder til sidefod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en-GB" dirty="0"/>
          </a:p>
        </p:txBody>
      </p:sp>
      <p:sp>
        <p:nvSpPr>
          <p:cNvPr id="5" name="Pladsholder til slidenummer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7DA371A3-64EC-4735-8565-D99D78279674}" type="slidenum">
              <a:rPr lang="en-GB" smtClean="0"/>
              <a:t>‹#›</a:t>
            </a:fld>
            <a:endParaRPr lang="en-GB" dirty="0"/>
          </a:p>
        </p:txBody>
      </p:sp>
    </p:spTree>
    <p:extLst>
      <p:ext uri="{BB962C8B-B14F-4D97-AF65-F5344CB8AC3E}">
        <p14:creationId xmlns:p14="http://schemas.microsoft.com/office/powerpoint/2010/main" val="34692714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CD72A38B-F9FA-4036-A084-652409E98F08}" type="datetimeFigureOut">
              <a:rPr lang="en-GB" smtClean="0"/>
              <a:t>30/06/2025</a:t>
            </a:fld>
            <a:endParaRPr lang="en-GB" dirty="0"/>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49436F85-577F-4A92-A47F-D540A2BCC821}" type="slidenum">
              <a:rPr lang="en-GB" smtClean="0"/>
              <a:t>‹#›</a:t>
            </a:fld>
            <a:endParaRPr lang="en-GB" dirty="0"/>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9436F85-577F-4A92-A47F-D540A2BCC821}" type="slidenum">
              <a:rPr lang="en-GB" smtClean="0"/>
              <a:t>1</a:t>
            </a:fld>
            <a:endParaRPr lang="en-GB" dirty="0"/>
          </a:p>
        </p:txBody>
      </p:sp>
    </p:spTree>
    <p:extLst>
      <p:ext uri="{BB962C8B-B14F-4D97-AF65-F5344CB8AC3E}">
        <p14:creationId xmlns:p14="http://schemas.microsoft.com/office/powerpoint/2010/main" val="324692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2</a:t>
            </a:fld>
            <a:endParaRPr lang="da-DK" dirty="0"/>
          </a:p>
        </p:txBody>
      </p:sp>
    </p:spTree>
    <p:extLst>
      <p:ext uri="{BB962C8B-B14F-4D97-AF65-F5344CB8AC3E}">
        <p14:creationId xmlns:p14="http://schemas.microsoft.com/office/powerpoint/2010/main" val="2543422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63778-543A-7E72-B46A-38101C5E1A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BBEA55-C555-C945-1942-0B435B990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A631B-42AB-3CB9-544F-B0993D276BD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F26E1651-D3E1-1A8F-87AE-8D5989FD4B38}"/>
              </a:ext>
            </a:extLst>
          </p:cNvPr>
          <p:cNvSpPr>
            <a:spLocks noGrp="1"/>
          </p:cNvSpPr>
          <p:nvPr>
            <p:ph type="sldNum" sz="quarter" idx="10"/>
          </p:nvPr>
        </p:nvSpPr>
        <p:spPr/>
        <p:txBody>
          <a:bodyPr/>
          <a:lstStyle/>
          <a:p>
            <a:fld id="{49436F85-577F-4A92-A47F-D540A2BCC821}" type="slidenum">
              <a:rPr lang="da-DK" smtClean="0"/>
              <a:t>3</a:t>
            </a:fld>
            <a:endParaRPr lang="da-DK" dirty="0"/>
          </a:p>
        </p:txBody>
      </p:sp>
    </p:spTree>
    <p:extLst>
      <p:ext uri="{BB962C8B-B14F-4D97-AF65-F5344CB8AC3E}">
        <p14:creationId xmlns:p14="http://schemas.microsoft.com/office/powerpoint/2010/main" val="906485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4</a:t>
            </a:fld>
            <a:endParaRPr lang="da-DK" dirty="0"/>
          </a:p>
        </p:txBody>
      </p:sp>
    </p:spTree>
    <p:extLst>
      <p:ext uri="{BB962C8B-B14F-4D97-AF65-F5344CB8AC3E}">
        <p14:creationId xmlns:p14="http://schemas.microsoft.com/office/powerpoint/2010/main" val="29300399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5</a:t>
            </a:fld>
            <a:endParaRPr lang="da-DK" dirty="0"/>
          </a:p>
        </p:txBody>
      </p:sp>
    </p:spTree>
    <p:extLst>
      <p:ext uri="{BB962C8B-B14F-4D97-AF65-F5344CB8AC3E}">
        <p14:creationId xmlns:p14="http://schemas.microsoft.com/office/powerpoint/2010/main" val="2865316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C0AB6-6DB1-E9D9-552B-F9167792D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B934F-4F8C-A92D-CB0C-F808F95B51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E1046-48E8-3337-BD03-5D3ADA1BF52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B3252950-64F5-3292-DF79-EE0FE5404B4E}"/>
              </a:ext>
            </a:extLst>
          </p:cNvPr>
          <p:cNvSpPr>
            <a:spLocks noGrp="1"/>
          </p:cNvSpPr>
          <p:nvPr>
            <p:ph type="sldNum" sz="quarter" idx="10"/>
          </p:nvPr>
        </p:nvSpPr>
        <p:spPr/>
        <p:txBody>
          <a:bodyPr/>
          <a:lstStyle/>
          <a:p>
            <a:fld id="{49436F85-577F-4A92-A47F-D540A2BCC821}" type="slidenum">
              <a:rPr lang="da-DK" smtClean="0"/>
              <a:t>6</a:t>
            </a:fld>
            <a:endParaRPr lang="da-DK" dirty="0"/>
          </a:p>
        </p:txBody>
      </p:sp>
    </p:spTree>
    <p:extLst>
      <p:ext uri="{BB962C8B-B14F-4D97-AF65-F5344CB8AC3E}">
        <p14:creationId xmlns:p14="http://schemas.microsoft.com/office/powerpoint/2010/main" val="3019449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7</a:t>
            </a:fld>
            <a:endParaRPr lang="da-DK" dirty="0"/>
          </a:p>
        </p:txBody>
      </p:sp>
    </p:spTree>
    <p:extLst>
      <p:ext uri="{BB962C8B-B14F-4D97-AF65-F5344CB8AC3E}">
        <p14:creationId xmlns:p14="http://schemas.microsoft.com/office/powerpoint/2010/main" val="3294310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8</a:t>
            </a:fld>
            <a:endParaRPr lang="da-DK" dirty="0"/>
          </a:p>
        </p:txBody>
      </p:sp>
    </p:spTree>
    <p:extLst>
      <p:ext uri="{BB962C8B-B14F-4D97-AF65-F5344CB8AC3E}">
        <p14:creationId xmlns:p14="http://schemas.microsoft.com/office/powerpoint/2010/main" val="1920172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9</a:t>
            </a:fld>
            <a:endParaRPr lang="da-DK" dirty="0"/>
          </a:p>
        </p:txBody>
      </p:sp>
    </p:spTree>
    <p:extLst>
      <p:ext uri="{BB962C8B-B14F-4D97-AF65-F5344CB8AC3E}">
        <p14:creationId xmlns:p14="http://schemas.microsoft.com/office/powerpoint/2010/main" val="1994432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10</a:t>
            </a:fld>
            <a:endParaRPr lang="da-DK" dirty="0"/>
          </a:p>
        </p:txBody>
      </p:sp>
    </p:spTree>
    <p:extLst>
      <p:ext uri="{BB962C8B-B14F-4D97-AF65-F5344CB8AC3E}">
        <p14:creationId xmlns:p14="http://schemas.microsoft.com/office/powerpoint/2010/main" val="3913405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11</a:t>
            </a:fld>
            <a:endParaRPr lang="da-DK" dirty="0"/>
          </a:p>
        </p:txBody>
      </p:sp>
    </p:spTree>
    <p:extLst>
      <p:ext uri="{BB962C8B-B14F-4D97-AF65-F5344CB8AC3E}">
        <p14:creationId xmlns:p14="http://schemas.microsoft.com/office/powerpoint/2010/main" val="2570003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FC71-729B-55C9-9FBD-C612E8FBB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C49816-260F-A2C2-D4F4-6E68E7218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45129-3191-16A2-0DDB-FC6995CEEDFF}"/>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1DA39E15-83E2-D277-13F8-2A7A21FC4E45}"/>
              </a:ext>
            </a:extLst>
          </p:cNvPr>
          <p:cNvSpPr>
            <a:spLocks noGrp="1"/>
          </p:cNvSpPr>
          <p:nvPr>
            <p:ph type="sldNum" sz="quarter" idx="10"/>
          </p:nvPr>
        </p:nvSpPr>
        <p:spPr/>
        <p:txBody>
          <a:bodyPr/>
          <a:lstStyle/>
          <a:p>
            <a:fld id="{49436F85-577F-4A92-A47F-D540A2BCC821}" type="slidenum">
              <a:rPr lang="da-DK" smtClean="0"/>
              <a:t>12</a:t>
            </a:fld>
            <a:endParaRPr lang="da-DK" dirty="0"/>
          </a:p>
        </p:txBody>
      </p:sp>
    </p:spTree>
    <p:extLst>
      <p:ext uri="{BB962C8B-B14F-4D97-AF65-F5344CB8AC3E}">
        <p14:creationId xmlns:p14="http://schemas.microsoft.com/office/powerpoint/2010/main" val="3544443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dirty="0"/>
          </a:p>
        </p:txBody>
      </p:sp>
      <p:sp>
        <p:nvSpPr>
          <p:cNvPr id="4" name="Slide Number Placeholder 3"/>
          <p:cNvSpPr>
            <a:spLocks noGrp="1"/>
          </p:cNvSpPr>
          <p:nvPr>
            <p:ph type="sldNum" sz="quarter" idx="10"/>
          </p:nvPr>
        </p:nvSpPr>
        <p:spPr/>
        <p:txBody>
          <a:bodyPr/>
          <a:lstStyle/>
          <a:p>
            <a:fld id="{49436F85-577F-4A92-A47F-D540A2BCC821}" type="slidenum">
              <a:rPr lang="da-DK" smtClean="0"/>
              <a:t>13</a:t>
            </a:fld>
            <a:endParaRPr lang="da-DK" dirty="0"/>
          </a:p>
        </p:txBody>
      </p:sp>
    </p:spTree>
    <p:extLst>
      <p:ext uri="{BB962C8B-B14F-4D97-AF65-F5344CB8AC3E}">
        <p14:creationId xmlns:p14="http://schemas.microsoft.com/office/powerpoint/2010/main" val="20002221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5F631-F1C5-2EE0-C277-6E0F0A87A4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196D02-8C70-E46D-A998-8BD984FF2E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ACE786-F916-2383-E452-C07B7D3857DE}"/>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F0E0ED4-B28A-7F26-D91C-740E32AE6376}"/>
              </a:ext>
            </a:extLst>
          </p:cNvPr>
          <p:cNvSpPr>
            <a:spLocks noGrp="1"/>
          </p:cNvSpPr>
          <p:nvPr>
            <p:ph type="sldNum" sz="quarter" idx="10"/>
          </p:nvPr>
        </p:nvSpPr>
        <p:spPr/>
        <p:txBody>
          <a:bodyPr/>
          <a:lstStyle/>
          <a:p>
            <a:fld id="{49436F85-577F-4A92-A47F-D540A2BCC821}" type="slidenum">
              <a:rPr lang="da-DK" smtClean="0"/>
              <a:t>14</a:t>
            </a:fld>
            <a:endParaRPr lang="da-DK" dirty="0"/>
          </a:p>
        </p:txBody>
      </p:sp>
    </p:spTree>
    <p:extLst>
      <p:ext uri="{BB962C8B-B14F-4D97-AF65-F5344CB8AC3E}">
        <p14:creationId xmlns:p14="http://schemas.microsoft.com/office/powerpoint/2010/main" val="35687522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4F934-B570-5B6C-E9ED-3ACC84892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FD752-EE00-E2CB-4ECE-A6D805411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7A5F77-5EB9-E13D-82F9-A7B5A5C05874}"/>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9C7B9F7-EF13-6B21-B9EF-9F6EB0C9A246}"/>
              </a:ext>
            </a:extLst>
          </p:cNvPr>
          <p:cNvSpPr>
            <a:spLocks noGrp="1"/>
          </p:cNvSpPr>
          <p:nvPr>
            <p:ph type="sldNum" sz="quarter" idx="10"/>
          </p:nvPr>
        </p:nvSpPr>
        <p:spPr/>
        <p:txBody>
          <a:bodyPr/>
          <a:lstStyle/>
          <a:p>
            <a:fld id="{49436F85-577F-4A92-A47F-D540A2BCC821}" type="slidenum">
              <a:rPr lang="da-DK" smtClean="0"/>
              <a:t>15</a:t>
            </a:fld>
            <a:endParaRPr lang="da-DK" dirty="0"/>
          </a:p>
        </p:txBody>
      </p:sp>
    </p:spTree>
    <p:extLst>
      <p:ext uri="{BB962C8B-B14F-4D97-AF65-F5344CB8AC3E}">
        <p14:creationId xmlns:p14="http://schemas.microsoft.com/office/powerpoint/2010/main" val="98925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26273-6F8A-CC3F-7220-F472690BA9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86E9E-267E-039B-B174-03F320B74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1D78F-E43B-8EE9-4C34-4EA23B95116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97BC10F2-53AE-CB76-7A67-49FE355FBE9A}"/>
              </a:ext>
            </a:extLst>
          </p:cNvPr>
          <p:cNvSpPr>
            <a:spLocks noGrp="1"/>
          </p:cNvSpPr>
          <p:nvPr>
            <p:ph type="sldNum" sz="quarter" idx="10"/>
          </p:nvPr>
        </p:nvSpPr>
        <p:spPr/>
        <p:txBody>
          <a:bodyPr/>
          <a:lstStyle/>
          <a:p>
            <a:fld id="{49436F85-577F-4A92-A47F-D540A2BCC821}" type="slidenum">
              <a:rPr lang="da-DK" smtClean="0"/>
              <a:t>16</a:t>
            </a:fld>
            <a:endParaRPr lang="da-DK" dirty="0"/>
          </a:p>
        </p:txBody>
      </p:sp>
    </p:spTree>
    <p:extLst>
      <p:ext uri="{BB962C8B-B14F-4D97-AF65-F5344CB8AC3E}">
        <p14:creationId xmlns:p14="http://schemas.microsoft.com/office/powerpoint/2010/main" val="38004611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91AB7-ACBF-E5A4-8A05-8472A03CF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2F112-B617-7B21-25F9-1E51E95C7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8F4EA-A570-5673-5CAE-2FEFEA81D5F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82AEABC-A990-2EF2-157A-A7CBD43350FC}"/>
              </a:ext>
            </a:extLst>
          </p:cNvPr>
          <p:cNvSpPr>
            <a:spLocks noGrp="1"/>
          </p:cNvSpPr>
          <p:nvPr>
            <p:ph type="sldNum" sz="quarter" idx="10"/>
          </p:nvPr>
        </p:nvSpPr>
        <p:spPr/>
        <p:txBody>
          <a:bodyPr/>
          <a:lstStyle/>
          <a:p>
            <a:fld id="{49436F85-577F-4A92-A47F-D540A2BCC821}" type="slidenum">
              <a:rPr lang="da-DK" smtClean="0"/>
              <a:t>17</a:t>
            </a:fld>
            <a:endParaRPr lang="da-DK" dirty="0"/>
          </a:p>
        </p:txBody>
      </p:sp>
    </p:spTree>
    <p:extLst>
      <p:ext uri="{BB962C8B-B14F-4D97-AF65-F5344CB8AC3E}">
        <p14:creationId xmlns:p14="http://schemas.microsoft.com/office/powerpoint/2010/main" val="361981388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DC391-C8FB-05DB-21E4-376964A8B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5FCEC-8856-8144-F7C6-282A83336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B0FA9-872A-4F74-0A86-C74ADC3B03CE}"/>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48ECF564-65DA-9F2C-CDFA-842D84D984AF}"/>
              </a:ext>
            </a:extLst>
          </p:cNvPr>
          <p:cNvSpPr>
            <a:spLocks noGrp="1"/>
          </p:cNvSpPr>
          <p:nvPr>
            <p:ph type="sldNum" sz="quarter" idx="10"/>
          </p:nvPr>
        </p:nvSpPr>
        <p:spPr/>
        <p:txBody>
          <a:bodyPr/>
          <a:lstStyle/>
          <a:p>
            <a:fld id="{49436F85-577F-4A92-A47F-D540A2BCC821}" type="slidenum">
              <a:rPr lang="da-DK" smtClean="0"/>
              <a:t>18</a:t>
            </a:fld>
            <a:endParaRPr lang="da-DK" dirty="0"/>
          </a:p>
        </p:txBody>
      </p:sp>
    </p:spTree>
    <p:extLst>
      <p:ext uri="{BB962C8B-B14F-4D97-AF65-F5344CB8AC3E}">
        <p14:creationId xmlns:p14="http://schemas.microsoft.com/office/powerpoint/2010/main" val="36958690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09F0B-708D-4936-2F63-34D567E136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3A73E-D27F-F296-6088-4994B9DF6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A687F2-1DC0-E175-15A4-0A6E5FD52D4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69FA8A1-6CFF-4FFE-941B-126686E9621D}"/>
              </a:ext>
            </a:extLst>
          </p:cNvPr>
          <p:cNvSpPr>
            <a:spLocks noGrp="1"/>
          </p:cNvSpPr>
          <p:nvPr>
            <p:ph type="sldNum" sz="quarter" idx="10"/>
          </p:nvPr>
        </p:nvSpPr>
        <p:spPr/>
        <p:txBody>
          <a:bodyPr/>
          <a:lstStyle/>
          <a:p>
            <a:fld id="{49436F85-577F-4A92-A47F-D540A2BCC821}" type="slidenum">
              <a:rPr lang="da-DK" smtClean="0"/>
              <a:t>19</a:t>
            </a:fld>
            <a:endParaRPr lang="da-DK" dirty="0"/>
          </a:p>
        </p:txBody>
      </p:sp>
    </p:spTree>
    <p:extLst>
      <p:ext uri="{BB962C8B-B14F-4D97-AF65-F5344CB8AC3E}">
        <p14:creationId xmlns:p14="http://schemas.microsoft.com/office/powerpoint/2010/main" val="205375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CF655-A9FE-EA2C-ED81-666E506B4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E3AB5-4545-2C83-D329-2EAE70B49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90270-548C-3DEC-88F3-003328C26C2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D539F7E-7459-0515-533F-FB276FA8813D}"/>
              </a:ext>
            </a:extLst>
          </p:cNvPr>
          <p:cNvSpPr>
            <a:spLocks noGrp="1"/>
          </p:cNvSpPr>
          <p:nvPr>
            <p:ph type="sldNum" sz="quarter" idx="10"/>
          </p:nvPr>
        </p:nvSpPr>
        <p:spPr/>
        <p:txBody>
          <a:bodyPr/>
          <a:lstStyle/>
          <a:p>
            <a:fld id="{49436F85-577F-4A92-A47F-D540A2BCC821}" type="slidenum">
              <a:rPr lang="da-DK" smtClean="0"/>
              <a:t>20</a:t>
            </a:fld>
            <a:endParaRPr lang="da-DK" dirty="0"/>
          </a:p>
        </p:txBody>
      </p:sp>
    </p:spTree>
    <p:extLst>
      <p:ext uri="{BB962C8B-B14F-4D97-AF65-F5344CB8AC3E}">
        <p14:creationId xmlns:p14="http://schemas.microsoft.com/office/powerpoint/2010/main" val="1771423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59F2D-52AD-90E8-8627-0AD1B3B2DB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6B481-FBE4-BDFF-E28D-57F443E970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383B1-DB3B-C610-BF27-0A3772C8AF0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B5BAC69-BB3C-944B-1B40-CA880C65751E}"/>
              </a:ext>
            </a:extLst>
          </p:cNvPr>
          <p:cNvSpPr>
            <a:spLocks noGrp="1"/>
          </p:cNvSpPr>
          <p:nvPr>
            <p:ph type="sldNum" sz="quarter" idx="10"/>
          </p:nvPr>
        </p:nvSpPr>
        <p:spPr/>
        <p:txBody>
          <a:bodyPr/>
          <a:lstStyle/>
          <a:p>
            <a:fld id="{49436F85-577F-4A92-A47F-D540A2BCC821}" type="slidenum">
              <a:rPr lang="da-DK" smtClean="0"/>
              <a:t>21</a:t>
            </a:fld>
            <a:endParaRPr lang="da-DK" dirty="0"/>
          </a:p>
        </p:txBody>
      </p:sp>
    </p:spTree>
    <p:extLst>
      <p:ext uri="{BB962C8B-B14F-4D97-AF65-F5344CB8AC3E}">
        <p14:creationId xmlns:p14="http://schemas.microsoft.com/office/powerpoint/2010/main" val="30385356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BC100-A2C0-5419-DF36-3D07ECFB6E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7CDF5-AF4F-A6F4-6307-82D1A573FE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D64F5-C981-6F82-181F-E6A5017B50FA}"/>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337300EC-E063-1C24-8768-4E13DB9C4427}"/>
              </a:ext>
            </a:extLst>
          </p:cNvPr>
          <p:cNvSpPr>
            <a:spLocks noGrp="1"/>
          </p:cNvSpPr>
          <p:nvPr>
            <p:ph type="sldNum" sz="quarter" idx="10"/>
          </p:nvPr>
        </p:nvSpPr>
        <p:spPr/>
        <p:txBody>
          <a:bodyPr/>
          <a:lstStyle/>
          <a:p>
            <a:fld id="{49436F85-577F-4A92-A47F-D540A2BCC821}" type="slidenum">
              <a:rPr lang="da-DK" smtClean="0"/>
              <a:t>22</a:t>
            </a:fld>
            <a:endParaRPr lang="da-DK" dirty="0"/>
          </a:p>
        </p:txBody>
      </p:sp>
    </p:spTree>
    <p:extLst>
      <p:ext uri="{BB962C8B-B14F-4D97-AF65-F5344CB8AC3E}">
        <p14:creationId xmlns:p14="http://schemas.microsoft.com/office/powerpoint/2010/main" val="130598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35B41-AD54-9D8B-95EB-37D910E1D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5C428-DBC2-863E-E05D-B68CD57D10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74A61-E7DD-50F8-D7B5-2721A8DB4321}"/>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EF11572-C91B-92FF-1E97-762869DAE720}"/>
              </a:ext>
            </a:extLst>
          </p:cNvPr>
          <p:cNvSpPr>
            <a:spLocks noGrp="1"/>
          </p:cNvSpPr>
          <p:nvPr>
            <p:ph type="sldNum" sz="quarter" idx="10"/>
          </p:nvPr>
        </p:nvSpPr>
        <p:spPr/>
        <p:txBody>
          <a:bodyPr/>
          <a:lstStyle/>
          <a:p>
            <a:fld id="{49436F85-577F-4A92-A47F-D540A2BCC821}" type="slidenum">
              <a:rPr lang="da-DK" smtClean="0"/>
              <a:t>23</a:t>
            </a:fld>
            <a:endParaRPr lang="da-DK" dirty="0"/>
          </a:p>
        </p:txBody>
      </p:sp>
    </p:spTree>
    <p:extLst>
      <p:ext uri="{BB962C8B-B14F-4D97-AF65-F5344CB8AC3E}">
        <p14:creationId xmlns:p14="http://schemas.microsoft.com/office/powerpoint/2010/main" val="27788439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04B47-E3FC-35C1-7B33-C041FDCA7C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3D9ECF-81CC-63DF-C4FD-AC5F75596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A89D2-E20A-D73A-285C-C6EBB417C86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116AB162-B6B3-0D50-CECA-9D9E656F0887}"/>
              </a:ext>
            </a:extLst>
          </p:cNvPr>
          <p:cNvSpPr>
            <a:spLocks noGrp="1"/>
          </p:cNvSpPr>
          <p:nvPr>
            <p:ph type="sldNum" sz="quarter" idx="10"/>
          </p:nvPr>
        </p:nvSpPr>
        <p:spPr/>
        <p:txBody>
          <a:bodyPr/>
          <a:lstStyle/>
          <a:p>
            <a:fld id="{49436F85-577F-4A92-A47F-D540A2BCC821}" type="slidenum">
              <a:rPr lang="da-DK" smtClean="0"/>
              <a:t>24</a:t>
            </a:fld>
            <a:endParaRPr lang="da-DK" dirty="0"/>
          </a:p>
        </p:txBody>
      </p:sp>
    </p:spTree>
    <p:extLst>
      <p:ext uri="{BB962C8B-B14F-4D97-AF65-F5344CB8AC3E}">
        <p14:creationId xmlns:p14="http://schemas.microsoft.com/office/powerpoint/2010/main" val="208662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FC109-794A-0D35-3251-4D2270931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DB308-BE8A-B5D4-62B4-B553259AD4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2695E-1300-A461-87E2-451354D27DB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EBD06E6-3C53-CEC5-6D2B-DD1B213226F6}"/>
              </a:ext>
            </a:extLst>
          </p:cNvPr>
          <p:cNvSpPr>
            <a:spLocks noGrp="1"/>
          </p:cNvSpPr>
          <p:nvPr>
            <p:ph type="sldNum" sz="quarter" idx="10"/>
          </p:nvPr>
        </p:nvSpPr>
        <p:spPr/>
        <p:txBody>
          <a:bodyPr/>
          <a:lstStyle/>
          <a:p>
            <a:fld id="{49436F85-577F-4A92-A47F-D540A2BCC821}" type="slidenum">
              <a:rPr lang="da-DK" smtClean="0"/>
              <a:t>25</a:t>
            </a:fld>
            <a:endParaRPr lang="da-DK" dirty="0"/>
          </a:p>
        </p:txBody>
      </p:sp>
    </p:spTree>
    <p:extLst>
      <p:ext uri="{BB962C8B-B14F-4D97-AF65-F5344CB8AC3E}">
        <p14:creationId xmlns:p14="http://schemas.microsoft.com/office/powerpoint/2010/main" val="42025526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20924-97CB-30E7-CF0B-6D49686CDB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7B98D-5E23-8DE0-5EBB-5ADE2A7B8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F08910-6E4E-0964-8ACD-7DB5B8667071}"/>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49343B20-354F-21E5-FEAB-EA456AFD92D2}"/>
              </a:ext>
            </a:extLst>
          </p:cNvPr>
          <p:cNvSpPr>
            <a:spLocks noGrp="1"/>
          </p:cNvSpPr>
          <p:nvPr>
            <p:ph type="sldNum" sz="quarter" idx="10"/>
          </p:nvPr>
        </p:nvSpPr>
        <p:spPr/>
        <p:txBody>
          <a:bodyPr/>
          <a:lstStyle/>
          <a:p>
            <a:fld id="{49436F85-577F-4A92-A47F-D540A2BCC821}" type="slidenum">
              <a:rPr lang="da-DK" smtClean="0"/>
              <a:t>26</a:t>
            </a:fld>
            <a:endParaRPr lang="da-DK" dirty="0"/>
          </a:p>
        </p:txBody>
      </p:sp>
    </p:spTree>
    <p:extLst>
      <p:ext uri="{BB962C8B-B14F-4D97-AF65-F5344CB8AC3E}">
        <p14:creationId xmlns:p14="http://schemas.microsoft.com/office/powerpoint/2010/main" val="37408994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60A11-1936-FB2B-4459-EB48BBE95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CFB61-0770-F556-2410-CE76D5F669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EB4115-566F-7784-DE5D-D55B956C560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2C578B9-2FB9-9610-9A5A-F688C4F79864}"/>
              </a:ext>
            </a:extLst>
          </p:cNvPr>
          <p:cNvSpPr>
            <a:spLocks noGrp="1"/>
          </p:cNvSpPr>
          <p:nvPr>
            <p:ph type="sldNum" sz="quarter" idx="10"/>
          </p:nvPr>
        </p:nvSpPr>
        <p:spPr/>
        <p:txBody>
          <a:bodyPr/>
          <a:lstStyle/>
          <a:p>
            <a:fld id="{49436F85-577F-4A92-A47F-D540A2BCC821}" type="slidenum">
              <a:rPr lang="da-DK" smtClean="0"/>
              <a:t>27</a:t>
            </a:fld>
            <a:endParaRPr lang="da-DK" dirty="0"/>
          </a:p>
        </p:txBody>
      </p:sp>
    </p:spTree>
    <p:extLst>
      <p:ext uri="{BB962C8B-B14F-4D97-AF65-F5344CB8AC3E}">
        <p14:creationId xmlns:p14="http://schemas.microsoft.com/office/powerpoint/2010/main" val="39977402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504EC-104D-9B71-8712-9216637F6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8B24E-F6E0-64D8-C0C0-AC35925FD5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CE9B5-7800-D389-CFB1-0F821BE91A4A}"/>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D816A3BF-5AF7-4A61-8742-35E5404C9911}"/>
              </a:ext>
            </a:extLst>
          </p:cNvPr>
          <p:cNvSpPr>
            <a:spLocks noGrp="1"/>
          </p:cNvSpPr>
          <p:nvPr>
            <p:ph type="sldNum" sz="quarter" idx="10"/>
          </p:nvPr>
        </p:nvSpPr>
        <p:spPr/>
        <p:txBody>
          <a:bodyPr/>
          <a:lstStyle/>
          <a:p>
            <a:fld id="{49436F85-577F-4A92-A47F-D540A2BCC821}" type="slidenum">
              <a:rPr lang="da-DK" smtClean="0"/>
              <a:t>28</a:t>
            </a:fld>
            <a:endParaRPr lang="da-DK" dirty="0"/>
          </a:p>
        </p:txBody>
      </p:sp>
    </p:spTree>
    <p:extLst>
      <p:ext uri="{BB962C8B-B14F-4D97-AF65-F5344CB8AC3E}">
        <p14:creationId xmlns:p14="http://schemas.microsoft.com/office/powerpoint/2010/main" val="1371221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61066-3E5B-619B-8F23-E9BB5E68D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81BF2E-ED6E-C215-4957-8C6D76D05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0ED721-B487-B87E-5B8C-585C8075A1F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DA05B76-405D-1DF4-4911-08E8359D1661}"/>
              </a:ext>
            </a:extLst>
          </p:cNvPr>
          <p:cNvSpPr>
            <a:spLocks noGrp="1"/>
          </p:cNvSpPr>
          <p:nvPr>
            <p:ph type="sldNum" sz="quarter" idx="10"/>
          </p:nvPr>
        </p:nvSpPr>
        <p:spPr/>
        <p:txBody>
          <a:bodyPr/>
          <a:lstStyle/>
          <a:p>
            <a:fld id="{49436F85-577F-4A92-A47F-D540A2BCC821}" type="slidenum">
              <a:rPr lang="da-DK" smtClean="0"/>
              <a:t>29</a:t>
            </a:fld>
            <a:endParaRPr lang="da-DK" dirty="0"/>
          </a:p>
        </p:txBody>
      </p:sp>
    </p:spTree>
    <p:extLst>
      <p:ext uri="{BB962C8B-B14F-4D97-AF65-F5344CB8AC3E}">
        <p14:creationId xmlns:p14="http://schemas.microsoft.com/office/powerpoint/2010/main" val="40616401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5BD34-7CF1-11B3-06D8-9D88E40D0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2BF16-15AE-AF7F-5982-1F3FC213C2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9AA4EE-AE8A-6D5A-1905-FB9303C7F814}"/>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F758A99D-6A21-0115-77EA-5B456E14A939}"/>
              </a:ext>
            </a:extLst>
          </p:cNvPr>
          <p:cNvSpPr>
            <a:spLocks noGrp="1"/>
          </p:cNvSpPr>
          <p:nvPr>
            <p:ph type="sldNum" sz="quarter" idx="10"/>
          </p:nvPr>
        </p:nvSpPr>
        <p:spPr/>
        <p:txBody>
          <a:bodyPr/>
          <a:lstStyle/>
          <a:p>
            <a:fld id="{49436F85-577F-4A92-A47F-D540A2BCC821}" type="slidenum">
              <a:rPr lang="da-DK" smtClean="0"/>
              <a:t>30</a:t>
            </a:fld>
            <a:endParaRPr lang="da-DK" dirty="0"/>
          </a:p>
        </p:txBody>
      </p:sp>
    </p:spTree>
    <p:extLst>
      <p:ext uri="{BB962C8B-B14F-4D97-AF65-F5344CB8AC3E}">
        <p14:creationId xmlns:p14="http://schemas.microsoft.com/office/powerpoint/2010/main" val="38386696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17210-B2DD-358F-BF69-0F7E638029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90A56-1095-3FD7-7462-C770334B2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55B63F-5C21-58DA-5726-533DA6C2FE96}"/>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F9B76D2-E633-32F9-173F-176272D39FAC}"/>
              </a:ext>
            </a:extLst>
          </p:cNvPr>
          <p:cNvSpPr>
            <a:spLocks noGrp="1"/>
          </p:cNvSpPr>
          <p:nvPr>
            <p:ph type="sldNum" sz="quarter" idx="10"/>
          </p:nvPr>
        </p:nvSpPr>
        <p:spPr/>
        <p:txBody>
          <a:bodyPr/>
          <a:lstStyle/>
          <a:p>
            <a:fld id="{49436F85-577F-4A92-A47F-D540A2BCC821}" type="slidenum">
              <a:rPr lang="da-DK" smtClean="0"/>
              <a:t>31</a:t>
            </a:fld>
            <a:endParaRPr lang="da-DK" dirty="0"/>
          </a:p>
        </p:txBody>
      </p:sp>
    </p:spTree>
    <p:extLst>
      <p:ext uri="{BB962C8B-B14F-4D97-AF65-F5344CB8AC3E}">
        <p14:creationId xmlns:p14="http://schemas.microsoft.com/office/powerpoint/2010/main" val="38453590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D8511-58D9-E8FA-A425-7AE30D2017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76E8DA-832A-6496-6DDA-C0554FEAD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EA2AD0-9269-4534-B8C4-103B240EB7B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241AD300-9286-26B4-8406-3645B9DFD7AA}"/>
              </a:ext>
            </a:extLst>
          </p:cNvPr>
          <p:cNvSpPr>
            <a:spLocks noGrp="1"/>
          </p:cNvSpPr>
          <p:nvPr>
            <p:ph type="sldNum" sz="quarter" idx="10"/>
          </p:nvPr>
        </p:nvSpPr>
        <p:spPr/>
        <p:txBody>
          <a:bodyPr/>
          <a:lstStyle/>
          <a:p>
            <a:fld id="{49436F85-577F-4A92-A47F-D540A2BCC821}" type="slidenum">
              <a:rPr lang="da-DK" smtClean="0"/>
              <a:t>32</a:t>
            </a:fld>
            <a:endParaRPr lang="da-DK" dirty="0"/>
          </a:p>
        </p:txBody>
      </p:sp>
    </p:spTree>
    <p:extLst>
      <p:ext uri="{BB962C8B-B14F-4D97-AF65-F5344CB8AC3E}">
        <p14:creationId xmlns:p14="http://schemas.microsoft.com/office/powerpoint/2010/main" val="40004650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1E5B1-0809-B71D-2E35-832BE5E108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AFC5FD-6A45-9C3D-D0FE-2D0EEA583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95021-64A9-C965-797D-7C81F416DD8B}"/>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3E28476-959E-ACE3-651B-AA40E4477B32}"/>
              </a:ext>
            </a:extLst>
          </p:cNvPr>
          <p:cNvSpPr>
            <a:spLocks noGrp="1"/>
          </p:cNvSpPr>
          <p:nvPr>
            <p:ph type="sldNum" sz="quarter" idx="10"/>
          </p:nvPr>
        </p:nvSpPr>
        <p:spPr/>
        <p:txBody>
          <a:bodyPr/>
          <a:lstStyle/>
          <a:p>
            <a:fld id="{49436F85-577F-4A92-A47F-D540A2BCC821}" type="slidenum">
              <a:rPr lang="da-DK" smtClean="0"/>
              <a:t>33</a:t>
            </a:fld>
            <a:endParaRPr lang="da-DK" dirty="0"/>
          </a:p>
        </p:txBody>
      </p:sp>
    </p:spTree>
    <p:extLst>
      <p:ext uri="{BB962C8B-B14F-4D97-AF65-F5344CB8AC3E}">
        <p14:creationId xmlns:p14="http://schemas.microsoft.com/office/powerpoint/2010/main" val="25389616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27C66-204C-320C-5868-23F8120ED6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3B37F-A52C-3FBD-6099-D2B13A862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73834-CFC4-F3CA-CAFD-E5E7584A81F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CA6FDDF7-5C4C-9C49-2E17-F4E14D60C1C8}"/>
              </a:ext>
            </a:extLst>
          </p:cNvPr>
          <p:cNvSpPr>
            <a:spLocks noGrp="1"/>
          </p:cNvSpPr>
          <p:nvPr>
            <p:ph type="sldNum" sz="quarter" idx="10"/>
          </p:nvPr>
        </p:nvSpPr>
        <p:spPr/>
        <p:txBody>
          <a:bodyPr/>
          <a:lstStyle/>
          <a:p>
            <a:fld id="{49436F85-577F-4A92-A47F-D540A2BCC821}" type="slidenum">
              <a:rPr lang="da-DK" smtClean="0"/>
              <a:t>34</a:t>
            </a:fld>
            <a:endParaRPr lang="da-DK" dirty="0"/>
          </a:p>
        </p:txBody>
      </p:sp>
    </p:spTree>
    <p:extLst>
      <p:ext uri="{BB962C8B-B14F-4D97-AF65-F5344CB8AC3E}">
        <p14:creationId xmlns:p14="http://schemas.microsoft.com/office/powerpoint/2010/main" val="13840962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438A5-DF71-5596-B1CC-ECD74AC42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BCEE6-5DC6-9105-7155-A0EF68586E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1E4960-F205-1AA1-77BD-95B77C80BBED}"/>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709B1BD9-6287-3C9B-441F-4331602FFA8D}"/>
              </a:ext>
            </a:extLst>
          </p:cNvPr>
          <p:cNvSpPr>
            <a:spLocks noGrp="1"/>
          </p:cNvSpPr>
          <p:nvPr>
            <p:ph type="sldNum" sz="quarter" idx="10"/>
          </p:nvPr>
        </p:nvSpPr>
        <p:spPr/>
        <p:txBody>
          <a:bodyPr/>
          <a:lstStyle/>
          <a:p>
            <a:fld id="{49436F85-577F-4A92-A47F-D540A2BCC821}" type="slidenum">
              <a:rPr lang="da-DK" smtClean="0"/>
              <a:t>35</a:t>
            </a:fld>
            <a:endParaRPr lang="da-DK" dirty="0"/>
          </a:p>
        </p:txBody>
      </p:sp>
    </p:spTree>
    <p:extLst>
      <p:ext uri="{BB962C8B-B14F-4D97-AF65-F5344CB8AC3E}">
        <p14:creationId xmlns:p14="http://schemas.microsoft.com/office/powerpoint/2010/main" val="15418797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2C508-374B-D8CE-EEB2-86BF0001B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8427B-271D-F7A1-E9D8-39AB20092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4E22AB-97DA-166E-A25D-AACEC09DC8F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5CF9E5D-AF83-65EC-7DD0-8767C9D52F4A}"/>
              </a:ext>
            </a:extLst>
          </p:cNvPr>
          <p:cNvSpPr>
            <a:spLocks noGrp="1"/>
          </p:cNvSpPr>
          <p:nvPr>
            <p:ph type="sldNum" sz="quarter" idx="10"/>
          </p:nvPr>
        </p:nvSpPr>
        <p:spPr/>
        <p:txBody>
          <a:bodyPr/>
          <a:lstStyle/>
          <a:p>
            <a:fld id="{49436F85-577F-4A92-A47F-D540A2BCC821}" type="slidenum">
              <a:rPr lang="da-DK" smtClean="0"/>
              <a:t>36</a:t>
            </a:fld>
            <a:endParaRPr lang="da-DK" dirty="0"/>
          </a:p>
        </p:txBody>
      </p:sp>
    </p:spTree>
    <p:extLst>
      <p:ext uri="{BB962C8B-B14F-4D97-AF65-F5344CB8AC3E}">
        <p14:creationId xmlns:p14="http://schemas.microsoft.com/office/powerpoint/2010/main" val="281829492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6CDC3-5565-5D32-FFB3-EF4F2F281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763F2-351F-91FE-807D-6051A198E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CA6FFC-D9A9-70F2-C58B-C249660655EB}"/>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56299995-98AC-95B2-9F98-A0D4206A7EEE}"/>
              </a:ext>
            </a:extLst>
          </p:cNvPr>
          <p:cNvSpPr>
            <a:spLocks noGrp="1"/>
          </p:cNvSpPr>
          <p:nvPr>
            <p:ph type="sldNum" sz="quarter" idx="10"/>
          </p:nvPr>
        </p:nvSpPr>
        <p:spPr/>
        <p:txBody>
          <a:bodyPr/>
          <a:lstStyle/>
          <a:p>
            <a:fld id="{49436F85-577F-4A92-A47F-D540A2BCC821}" type="slidenum">
              <a:rPr lang="da-DK" smtClean="0"/>
              <a:t>37</a:t>
            </a:fld>
            <a:endParaRPr lang="da-DK" dirty="0"/>
          </a:p>
        </p:txBody>
      </p:sp>
    </p:spTree>
    <p:extLst>
      <p:ext uri="{BB962C8B-B14F-4D97-AF65-F5344CB8AC3E}">
        <p14:creationId xmlns:p14="http://schemas.microsoft.com/office/powerpoint/2010/main" val="40689054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CECD0-294C-5295-8B2A-4B4D64C8A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FA515-5697-9D34-3334-43F8AEAFA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99775-9F60-3D97-FFDF-1A3D7D71C86B}"/>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1A2BA0F-6E38-C935-2D10-6DAD4D20103D}"/>
              </a:ext>
            </a:extLst>
          </p:cNvPr>
          <p:cNvSpPr>
            <a:spLocks noGrp="1"/>
          </p:cNvSpPr>
          <p:nvPr>
            <p:ph type="sldNum" sz="quarter" idx="10"/>
          </p:nvPr>
        </p:nvSpPr>
        <p:spPr/>
        <p:txBody>
          <a:bodyPr/>
          <a:lstStyle/>
          <a:p>
            <a:fld id="{49436F85-577F-4A92-A47F-D540A2BCC821}" type="slidenum">
              <a:rPr lang="da-DK" smtClean="0"/>
              <a:t>38</a:t>
            </a:fld>
            <a:endParaRPr lang="da-DK" dirty="0"/>
          </a:p>
        </p:txBody>
      </p:sp>
    </p:spTree>
    <p:extLst>
      <p:ext uri="{BB962C8B-B14F-4D97-AF65-F5344CB8AC3E}">
        <p14:creationId xmlns:p14="http://schemas.microsoft.com/office/powerpoint/2010/main" val="8197358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7074-F435-C093-9842-613E48B60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9660E-2A12-D91E-761B-B07395F27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6B67A2-EA10-B44D-EF2C-AE9DF21413B1}"/>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947C5A4E-1574-8843-4BF7-F5C1D036F453}"/>
              </a:ext>
            </a:extLst>
          </p:cNvPr>
          <p:cNvSpPr>
            <a:spLocks noGrp="1"/>
          </p:cNvSpPr>
          <p:nvPr>
            <p:ph type="sldNum" sz="quarter" idx="10"/>
          </p:nvPr>
        </p:nvSpPr>
        <p:spPr/>
        <p:txBody>
          <a:bodyPr/>
          <a:lstStyle/>
          <a:p>
            <a:fld id="{49436F85-577F-4A92-A47F-D540A2BCC821}" type="slidenum">
              <a:rPr lang="da-DK" smtClean="0"/>
              <a:t>39</a:t>
            </a:fld>
            <a:endParaRPr lang="da-DK" dirty="0"/>
          </a:p>
        </p:txBody>
      </p:sp>
    </p:spTree>
    <p:extLst>
      <p:ext uri="{BB962C8B-B14F-4D97-AF65-F5344CB8AC3E}">
        <p14:creationId xmlns:p14="http://schemas.microsoft.com/office/powerpoint/2010/main" val="19543956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3CC2-46E7-8D5E-E13F-533BA3A96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D0B3F-7C13-2302-F7C8-08BD3F2F7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69D27-DC1A-BB04-AF37-889E49B7159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0F91F63F-7954-4EF0-79FB-2C806F3AB7E3}"/>
              </a:ext>
            </a:extLst>
          </p:cNvPr>
          <p:cNvSpPr>
            <a:spLocks noGrp="1"/>
          </p:cNvSpPr>
          <p:nvPr>
            <p:ph type="sldNum" sz="quarter" idx="10"/>
          </p:nvPr>
        </p:nvSpPr>
        <p:spPr/>
        <p:txBody>
          <a:bodyPr/>
          <a:lstStyle/>
          <a:p>
            <a:fld id="{49436F85-577F-4A92-A47F-D540A2BCC821}" type="slidenum">
              <a:rPr lang="da-DK" smtClean="0"/>
              <a:t>40</a:t>
            </a:fld>
            <a:endParaRPr lang="da-DK" dirty="0"/>
          </a:p>
        </p:txBody>
      </p:sp>
    </p:spTree>
    <p:extLst>
      <p:ext uri="{BB962C8B-B14F-4D97-AF65-F5344CB8AC3E}">
        <p14:creationId xmlns:p14="http://schemas.microsoft.com/office/powerpoint/2010/main" val="502169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2AF3F-48DF-7B16-459F-D873E203F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CF3A5-A1D9-B1F8-BF1C-7F607D4CB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216A3-C592-C2DD-416F-227A2B0FC47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51A305BA-3871-4785-777D-6ADC7E43DE80}"/>
              </a:ext>
            </a:extLst>
          </p:cNvPr>
          <p:cNvSpPr>
            <a:spLocks noGrp="1"/>
          </p:cNvSpPr>
          <p:nvPr>
            <p:ph type="sldNum" sz="quarter" idx="10"/>
          </p:nvPr>
        </p:nvSpPr>
        <p:spPr/>
        <p:txBody>
          <a:bodyPr/>
          <a:lstStyle/>
          <a:p>
            <a:fld id="{49436F85-577F-4A92-A47F-D540A2BCC821}" type="slidenum">
              <a:rPr lang="da-DK" smtClean="0"/>
              <a:t>41</a:t>
            </a:fld>
            <a:endParaRPr lang="da-DK" dirty="0"/>
          </a:p>
        </p:txBody>
      </p:sp>
    </p:spTree>
    <p:extLst>
      <p:ext uri="{BB962C8B-B14F-4D97-AF65-F5344CB8AC3E}">
        <p14:creationId xmlns:p14="http://schemas.microsoft.com/office/powerpoint/2010/main" val="35971018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B1E51-EFBB-AFF1-42F1-B30D05362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5CDB3-56A6-6851-F83B-7E01B40C6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CA8DD-7ABE-F495-D859-F45F8D28106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BB2D5FB7-3837-71AD-C276-B850C65E364A}"/>
              </a:ext>
            </a:extLst>
          </p:cNvPr>
          <p:cNvSpPr>
            <a:spLocks noGrp="1"/>
          </p:cNvSpPr>
          <p:nvPr>
            <p:ph type="sldNum" sz="quarter" idx="10"/>
          </p:nvPr>
        </p:nvSpPr>
        <p:spPr/>
        <p:txBody>
          <a:bodyPr/>
          <a:lstStyle/>
          <a:p>
            <a:fld id="{49436F85-577F-4A92-A47F-D540A2BCC821}" type="slidenum">
              <a:rPr lang="da-DK" smtClean="0"/>
              <a:t>42</a:t>
            </a:fld>
            <a:endParaRPr lang="da-DK" dirty="0"/>
          </a:p>
        </p:txBody>
      </p:sp>
    </p:spTree>
    <p:extLst>
      <p:ext uri="{BB962C8B-B14F-4D97-AF65-F5344CB8AC3E}">
        <p14:creationId xmlns:p14="http://schemas.microsoft.com/office/powerpoint/2010/main" val="427757742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5957-351B-0DC1-81B5-93D734B5C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85B56-B3D9-D163-E12F-E2D25A0E4F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45F68-AE19-B6A2-A8FD-5D0A788AB87F}"/>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48B0C195-908C-A4A9-E8D8-4752E81B3A69}"/>
              </a:ext>
            </a:extLst>
          </p:cNvPr>
          <p:cNvSpPr>
            <a:spLocks noGrp="1"/>
          </p:cNvSpPr>
          <p:nvPr>
            <p:ph type="sldNum" sz="quarter" idx="10"/>
          </p:nvPr>
        </p:nvSpPr>
        <p:spPr/>
        <p:txBody>
          <a:bodyPr/>
          <a:lstStyle/>
          <a:p>
            <a:fld id="{49436F85-577F-4A92-A47F-D540A2BCC821}" type="slidenum">
              <a:rPr lang="da-DK" smtClean="0"/>
              <a:t>43</a:t>
            </a:fld>
            <a:endParaRPr lang="da-DK" dirty="0"/>
          </a:p>
        </p:txBody>
      </p:sp>
    </p:spTree>
    <p:extLst>
      <p:ext uri="{BB962C8B-B14F-4D97-AF65-F5344CB8AC3E}">
        <p14:creationId xmlns:p14="http://schemas.microsoft.com/office/powerpoint/2010/main" val="29081245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8B08C-6E50-BFAF-50BA-ACA824EAD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A56A3-5512-EFEA-6037-6B2C4314AF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2FAACF-1E01-79F5-E96D-6B18ED2132B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21DD6B35-88C7-F87B-B505-2045A688ECAF}"/>
              </a:ext>
            </a:extLst>
          </p:cNvPr>
          <p:cNvSpPr>
            <a:spLocks noGrp="1"/>
          </p:cNvSpPr>
          <p:nvPr>
            <p:ph type="sldNum" sz="quarter" idx="10"/>
          </p:nvPr>
        </p:nvSpPr>
        <p:spPr/>
        <p:txBody>
          <a:bodyPr/>
          <a:lstStyle/>
          <a:p>
            <a:fld id="{49436F85-577F-4A92-A47F-D540A2BCC821}" type="slidenum">
              <a:rPr lang="da-DK" smtClean="0"/>
              <a:t>44</a:t>
            </a:fld>
            <a:endParaRPr lang="da-DK" dirty="0"/>
          </a:p>
        </p:txBody>
      </p:sp>
    </p:spTree>
    <p:extLst>
      <p:ext uri="{BB962C8B-B14F-4D97-AF65-F5344CB8AC3E}">
        <p14:creationId xmlns:p14="http://schemas.microsoft.com/office/powerpoint/2010/main" val="31340256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9389C-3339-1EC3-CB87-A28B482F58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C815E-635B-6D28-16E2-99F7FA3EAA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C3FBFE-1EB7-88A7-8A9E-6816BDA4F33E}"/>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7C8A630-0141-FF6B-EC54-E55308318EA1}"/>
              </a:ext>
            </a:extLst>
          </p:cNvPr>
          <p:cNvSpPr>
            <a:spLocks noGrp="1"/>
          </p:cNvSpPr>
          <p:nvPr>
            <p:ph type="sldNum" sz="quarter" idx="10"/>
          </p:nvPr>
        </p:nvSpPr>
        <p:spPr/>
        <p:txBody>
          <a:bodyPr/>
          <a:lstStyle/>
          <a:p>
            <a:fld id="{49436F85-577F-4A92-A47F-D540A2BCC821}" type="slidenum">
              <a:rPr lang="da-DK" smtClean="0"/>
              <a:t>45</a:t>
            </a:fld>
            <a:endParaRPr lang="da-DK" dirty="0"/>
          </a:p>
        </p:txBody>
      </p:sp>
    </p:spTree>
    <p:extLst>
      <p:ext uri="{BB962C8B-B14F-4D97-AF65-F5344CB8AC3E}">
        <p14:creationId xmlns:p14="http://schemas.microsoft.com/office/powerpoint/2010/main" val="8064685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4182A-0922-C742-49C2-9CE46530A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CDA56A-14E3-BF60-BB21-54B79B66CB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60C1EF-4B3F-118F-C951-6C610D909B6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84F0256-762E-6AE7-C6E5-CF60B302B251}"/>
              </a:ext>
            </a:extLst>
          </p:cNvPr>
          <p:cNvSpPr>
            <a:spLocks noGrp="1"/>
          </p:cNvSpPr>
          <p:nvPr>
            <p:ph type="sldNum" sz="quarter" idx="10"/>
          </p:nvPr>
        </p:nvSpPr>
        <p:spPr/>
        <p:txBody>
          <a:bodyPr/>
          <a:lstStyle/>
          <a:p>
            <a:fld id="{49436F85-577F-4A92-A47F-D540A2BCC821}" type="slidenum">
              <a:rPr lang="da-DK" smtClean="0"/>
              <a:t>46</a:t>
            </a:fld>
            <a:endParaRPr lang="da-DK" dirty="0"/>
          </a:p>
        </p:txBody>
      </p:sp>
    </p:spTree>
    <p:extLst>
      <p:ext uri="{BB962C8B-B14F-4D97-AF65-F5344CB8AC3E}">
        <p14:creationId xmlns:p14="http://schemas.microsoft.com/office/powerpoint/2010/main" val="18331267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F6D1D-20E8-D768-D520-F55755F7CD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3B19A-99D4-768B-4E71-7F098709B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44DA50-2623-FFED-A09A-FD36A485EE9C}"/>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C7010B80-5989-AF60-BDB8-6CF0BC265028}"/>
              </a:ext>
            </a:extLst>
          </p:cNvPr>
          <p:cNvSpPr>
            <a:spLocks noGrp="1"/>
          </p:cNvSpPr>
          <p:nvPr>
            <p:ph type="sldNum" sz="quarter" idx="10"/>
          </p:nvPr>
        </p:nvSpPr>
        <p:spPr/>
        <p:txBody>
          <a:bodyPr/>
          <a:lstStyle/>
          <a:p>
            <a:fld id="{49436F85-577F-4A92-A47F-D540A2BCC821}" type="slidenum">
              <a:rPr lang="da-DK" smtClean="0"/>
              <a:t>47</a:t>
            </a:fld>
            <a:endParaRPr lang="da-DK" dirty="0"/>
          </a:p>
        </p:txBody>
      </p:sp>
    </p:spTree>
    <p:extLst>
      <p:ext uri="{BB962C8B-B14F-4D97-AF65-F5344CB8AC3E}">
        <p14:creationId xmlns:p14="http://schemas.microsoft.com/office/powerpoint/2010/main" val="27811721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F4CA2-D5E9-B84E-FF2B-30BBFA3615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E8E20-0A83-CF70-4523-7C70F2D0F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93E81A-CFD8-6A54-C364-1AF2BD4AE72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C4791C41-DCF2-B14A-AB6B-921C8410B8AD}"/>
              </a:ext>
            </a:extLst>
          </p:cNvPr>
          <p:cNvSpPr>
            <a:spLocks noGrp="1"/>
          </p:cNvSpPr>
          <p:nvPr>
            <p:ph type="sldNum" sz="quarter" idx="10"/>
          </p:nvPr>
        </p:nvSpPr>
        <p:spPr/>
        <p:txBody>
          <a:bodyPr/>
          <a:lstStyle/>
          <a:p>
            <a:fld id="{49436F85-577F-4A92-A47F-D540A2BCC821}" type="slidenum">
              <a:rPr lang="da-DK" smtClean="0"/>
              <a:t>48</a:t>
            </a:fld>
            <a:endParaRPr lang="da-DK" dirty="0"/>
          </a:p>
        </p:txBody>
      </p:sp>
    </p:spTree>
    <p:extLst>
      <p:ext uri="{BB962C8B-B14F-4D97-AF65-F5344CB8AC3E}">
        <p14:creationId xmlns:p14="http://schemas.microsoft.com/office/powerpoint/2010/main" val="19175287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B96BD-3EA9-536D-7F9E-4B0397685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52604-91BA-89EB-F533-A4A049D7F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98E6B5-DBBA-31F2-C5B0-FAF1A4F598BF}"/>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0429E71-CB31-037F-02A9-275FA30C753B}"/>
              </a:ext>
            </a:extLst>
          </p:cNvPr>
          <p:cNvSpPr>
            <a:spLocks noGrp="1"/>
          </p:cNvSpPr>
          <p:nvPr>
            <p:ph type="sldNum" sz="quarter" idx="10"/>
          </p:nvPr>
        </p:nvSpPr>
        <p:spPr/>
        <p:txBody>
          <a:bodyPr/>
          <a:lstStyle/>
          <a:p>
            <a:fld id="{49436F85-577F-4A92-A47F-D540A2BCC821}" type="slidenum">
              <a:rPr lang="da-DK" smtClean="0"/>
              <a:t>49</a:t>
            </a:fld>
            <a:endParaRPr lang="da-DK" dirty="0"/>
          </a:p>
        </p:txBody>
      </p:sp>
    </p:spTree>
    <p:extLst>
      <p:ext uri="{BB962C8B-B14F-4D97-AF65-F5344CB8AC3E}">
        <p14:creationId xmlns:p14="http://schemas.microsoft.com/office/powerpoint/2010/main" val="38141174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BB0F4-8D44-1D99-12AB-B55CB5B8C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1C034-7FB9-48B9-E4DA-CED9E6681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6AE2A-EBE2-6953-ED7A-EBF819972086}"/>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CC9AD8E6-6785-AADE-0637-7E5133CD2F92}"/>
              </a:ext>
            </a:extLst>
          </p:cNvPr>
          <p:cNvSpPr>
            <a:spLocks noGrp="1"/>
          </p:cNvSpPr>
          <p:nvPr>
            <p:ph type="sldNum" sz="quarter" idx="10"/>
          </p:nvPr>
        </p:nvSpPr>
        <p:spPr/>
        <p:txBody>
          <a:bodyPr/>
          <a:lstStyle/>
          <a:p>
            <a:fld id="{49436F85-577F-4A92-A47F-D540A2BCC821}" type="slidenum">
              <a:rPr lang="da-DK" smtClean="0"/>
              <a:t>50</a:t>
            </a:fld>
            <a:endParaRPr lang="da-DK" dirty="0"/>
          </a:p>
        </p:txBody>
      </p:sp>
    </p:spTree>
    <p:extLst>
      <p:ext uri="{BB962C8B-B14F-4D97-AF65-F5344CB8AC3E}">
        <p14:creationId xmlns:p14="http://schemas.microsoft.com/office/powerpoint/2010/main" val="133612090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2461D-C71C-882D-8227-15ECCDFB1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23D60-82D8-B343-E31E-0DE0F1BF22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97E35-D9A6-EA69-EB88-44EE7EDE2C21}"/>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55F83DBE-7E4B-1C82-3D6D-096FAA2E500C}"/>
              </a:ext>
            </a:extLst>
          </p:cNvPr>
          <p:cNvSpPr>
            <a:spLocks noGrp="1"/>
          </p:cNvSpPr>
          <p:nvPr>
            <p:ph type="sldNum" sz="quarter" idx="10"/>
          </p:nvPr>
        </p:nvSpPr>
        <p:spPr/>
        <p:txBody>
          <a:bodyPr/>
          <a:lstStyle/>
          <a:p>
            <a:fld id="{49436F85-577F-4A92-A47F-D540A2BCC821}" type="slidenum">
              <a:rPr lang="da-DK" smtClean="0"/>
              <a:t>51</a:t>
            </a:fld>
            <a:endParaRPr lang="da-DK" dirty="0"/>
          </a:p>
        </p:txBody>
      </p:sp>
    </p:spTree>
    <p:extLst>
      <p:ext uri="{BB962C8B-B14F-4D97-AF65-F5344CB8AC3E}">
        <p14:creationId xmlns:p14="http://schemas.microsoft.com/office/powerpoint/2010/main" val="10114313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4F64B-E259-EF43-2691-1363A66B1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5EDAC-C1D2-3F4C-7BDC-A4C359597D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DDED97-BEC8-5DB8-1B49-EF36973EA5F9}"/>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3618454B-FD3F-05FF-4A63-6DDD23887CDC}"/>
              </a:ext>
            </a:extLst>
          </p:cNvPr>
          <p:cNvSpPr>
            <a:spLocks noGrp="1"/>
          </p:cNvSpPr>
          <p:nvPr>
            <p:ph type="sldNum" sz="quarter" idx="10"/>
          </p:nvPr>
        </p:nvSpPr>
        <p:spPr/>
        <p:txBody>
          <a:bodyPr/>
          <a:lstStyle/>
          <a:p>
            <a:fld id="{49436F85-577F-4A92-A47F-D540A2BCC821}" type="slidenum">
              <a:rPr lang="da-DK" smtClean="0"/>
              <a:t>52</a:t>
            </a:fld>
            <a:endParaRPr lang="da-DK" dirty="0"/>
          </a:p>
        </p:txBody>
      </p:sp>
    </p:spTree>
    <p:extLst>
      <p:ext uri="{BB962C8B-B14F-4D97-AF65-F5344CB8AC3E}">
        <p14:creationId xmlns:p14="http://schemas.microsoft.com/office/powerpoint/2010/main" val="111135193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399F3-F406-F68E-D801-380A321C8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6F246-6CFA-7B64-60D1-6A2F164EE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BA8328-DBCF-B993-D37C-992EA848A2D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9ED331F4-E695-311B-7193-29853C0758F4}"/>
              </a:ext>
            </a:extLst>
          </p:cNvPr>
          <p:cNvSpPr>
            <a:spLocks noGrp="1"/>
          </p:cNvSpPr>
          <p:nvPr>
            <p:ph type="sldNum" sz="quarter" idx="10"/>
          </p:nvPr>
        </p:nvSpPr>
        <p:spPr/>
        <p:txBody>
          <a:bodyPr/>
          <a:lstStyle/>
          <a:p>
            <a:fld id="{49436F85-577F-4A92-A47F-D540A2BCC821}" type="slidenum">
              <a:rPr lang="da-DK" smtClean="0"/>
              <a:t>53</a:t>
            </a:fld>
            <a:endParaRPr lang="da-DK" dirty="0"/>
          </a:p>
        </p:txBody>
      </p:sp>
    </p:spTree>
    <p:extLst>
      <p:ext uri="{BB962C8B-B14F-4D97-AF65-F5344CB8AC3E}">
        <p14:creationId xmlns:p14="http://schemas.microsoft.com/office/powerpoint/2010/main" val="21153906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30756-8060-F265-6A58-43711A77A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0D33DA-18F8-CFE7-3E12-01793F3BE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D3D530-7221-2CEA-7332-EAB61158619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2C934E32-AA48-952C-EC5C-D1F74B79FFB1}"/>
              </a:ext>
            </a:extLst>
          </p:cNvPr>
          <p:cNvSpPr>
            <a:spLocks noGrp="1"/>
          </p:cNvSpPr>
          <p:nvPr>
            <p:ph type="sldNum" sz="quarter" idx="10"/>
          </p:nvPr>
        </p:nvSpPr>
        <p:spPr/>
        <p:txBody>
          <a:bodyPr/>
          <a:lstStyle/>
          <a:p>
            <a:fld id="{49436F85-577F-4A92-A47F-D540A2BCC821}" type="slidenum">
              <a:rPr lang="da-DK" smtClean="0"/>
              <a:t>54</a:t>
            </a:fld>
            <a:endParaRPr lang="da-DK" dirty="0"/>
          </a:p>
        </p:txBody>
      </p:sp>
    </p:spTree>
    <p:extLst>
      <p:ext uri="{BB962C8B-B14F-4D97-AF65-F5344CB8AC3E}">
        <p14:creationId xmlns:p14="http://schemas.microsoft.com/office/powerpoint/2010/main" val="66056410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EB5DD-60BE-C3FC-5933-C00EDD4306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6EC44-0753-00BE-4EFA-8257AEB8E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1CBD1B-015F-C507-B882-8FFF9E44C961}"/>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490A8FF-4EE8-3504-1354-E55BEC097BCC}"/>
              </a:ext>
            </a:extLst>
          </p:cNvPr>
          <p:cNvSpPr>
            <a:spLocks noGrp="1"/>
          </p:cNvSpPr>
          <p:nvPr>
            <p:ph type="sldNum" sz="quarter" idx="10"/>
          </p:nvPr>
        </p:nvSpPr>
        <p:spPr/>
        <p:txBody>
          <a:bodyPr/>
          <a:lstStyle/>
          <a:p>
            <a:fld id="{49436F85-577F-4A92-A47F-D540A2BCC821}" type="slidenum">
              <a:rPr lang="da-DK" smtClean="0"/>
              <a:t>55</a:t>
            </a:fld>
            <a:endParaRPr lang="da-DK" dirty="0"/>
          </a:p>
        </p:txBody>
      </p:sp>
    </p:spTree>
    <p:extLst>
      <p:ext uri="{BB962C8B-B14F-4D97-AF65-F5344CB8AC3E}">
        <p14:creationId xmlns:p14="http://schemas.microsoft.com/office/powerpoint/2010/main" val="145578371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D3170-C5FE-43C7-E2F6-9F9EECDA8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88856B-55C4-43CE-D023-F89896098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149F2D-F2A1-BF4C-7AF0-89A72B9480D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2DFF7EF5-870D-E0C5-7ACE-5118D18BD1F9}"/>
              </a:ext>
            </a:extLst>
          </p:cNvPr>
          <p:cNvSpPr>
            <a:spLocks noGrp="1"/>
          </p:cNvSpPr>
          <p:nvPr>
            <p:ph type="sldNum" sz="quarter" idx="10"/>
          </p:nvPr>
        </p:nvSpPr>
        <p:spPr/>
        <p:txBody>
          <a:bodyPr/>
          <a:lstStyle/>
          <a:p>
            <a:fld id="{49436F85-577F-4A92-A47F-D540A2BCC821}" type="slidenum">
              <a:rPr lang="da-DK" smtClean="0"/>
              <a:t>56</a:t>
            </a:fld>
            <a:endParaRPr lang="da-DK" dirty="0"/>
          </a:p>
        </p:txBody>
      </p:sp>
    </p:spTree>
    <p:extLst>
      <p:ext uri="{BB962C8B-B14F-4D97-AF65-F5344CB8AC3E}">
        <p14:creationId xmlns:p14="http://schemas.microsoft.com/office/powerpoint/2010/main" val="4574671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25EB0-529E-103F-9A20-CCFA4C053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C0BDD-53DD-14D6-35E5-8E36385F0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72725E-FC56-0906-EFF7-9F3E5CE8E06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E3FC987A-4741-7CF3-69B3-B90B900EF744}"/>
              </a:ext>
            </a:extLst>
          </p:cNvPr>
          <p:cNvSpPr>
            <a:spLocks noGrp="1"/>
          </p:cNvSpPr>
          <p:nvPr>
            <p:ph type="sldNum" sz="quarter" idx="10"/>
          </p:nvPr>
        </p:nvSpPr>
        <p:spPr/>
        <p:txBody>
          <a:bodyPr/>
          <a:lstStyle/>
          <a:p>
            <a:fld id="{49436F85-577F-4A92-A47F-D540A2BCC821}" type="slidenum">
              <a:rPr lang="da-DK" smtClean="0"/>
              <a:t>57</a:t>
            </a:fld>
            <a:endParaRPr lang="da-DK" dirty="0"/>
          </a:p>
        </p:txBody>
      </p:sp>
    </p:spTree>
    <p:extLst>
      <p:ext uri="{BB962C8B-B14F-4D97-AF65-F5344CB8AC3E}">
        <p14:creationId xmlns:p14="http://schemas.microsoft.com/office/powerpoint/2010/main" val="13312577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84C39-2345-AADB-1447-27831B551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542B1-183E-7D6A-CECD-EAA1B825E5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3A76F-62FE-7FED-492A-6581A3A42C89}"/>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FF1A142F-1169-853D-7BF6-B6AA34615D5B}"/>
              </a:ext>
            </a:extLst>
          </p:cNvPr>
          <p:cNvSpPr>
            <a:spLocks noGrp="1"/>
          </p:cNvSpPr>
          <p:nvPr>
            <p:ph type="sldNum" sz="quarter" idx="10"/>
          </p:nvPr>
        </p:nvSpPr>
        <p:spPr/>
        <p:txBody>
          <a:bodyPr/>
          <a:lstStyle/>
          <a:p>
            <a:fld id="{49436F85-577F-4A92-A47F-D540A2BCC821}" type="slidenum">
              <a:rPr lang="da-DK" smtClean="0"/>
              <a:t>58</a:t>
            </a:fld>
            <a:endParaRPr lang="da-DK" dirty="0"/>
          </a:p>
        </p:txBody>
      </p:sp>
    </p:spTree>
    <p:extLst>
      <p:ext uri="{BB962C8B-B14F-4D97-AF65-F5344CB8AC3E}">
        <p14:creationId xmlns:p14="http://schemas.microsoft.com/office/powerpoint/2010/main" val="227564228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38A66-A7B1-E616-72FD-562FE9528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7CB01-EBFC-97F0-082E-8CEB3DCEE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121F60-2480-4715-B700-CD39D85FBD6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FAAEFAE4-587C-4320-3837-F887F913B5A1}"/>
              </a:ext>
            </a:extLst>
          </p:cNvPr>
          <p:cNvSpPr>
            <a:spLocks noGrp="1"/>
          </p:cNvSpPr>
          <p:nvPr>
            <p:ph type="sldNum" sz="quarter" idx="10"/>
          </p:nvPr>
        </p:nvSpPr>
        <p:spPr/>
        <p:txBody>
          <a:bodyPr/>
          <a:lstStyle/>
          <a:p>
            <a:fld id="{49436F85-577F-4A92-A47F-D540A2BCC821}" type="slidenum">
              <a:rPr lang="da-DK" smtClean="0"/>
              <a:t>59</a:t>
            </a:fld>
            <a:endParaRPr lang="da-DK" dirty="0"/>
          </a:p>
        </p:txBody>
      </p:sp>
    </p:spTree>
    <p:extLst>
      <p:ext uri="{BB962C8B-B14F-4D97-AF65-F5344CB8AC3E}">
        <p14:creationId xmlns:p14="http://schemas.microsoft.com/office/powerpoint/2010/main" val="21630784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473F4-BD67-B3A8-2A13-F27E04223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18544B-A1D8-B11A-8538-4FE4C1EEA4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D117E-9353-1C27-E134-780855250441}"/>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173F053B-9FEC-8C2A-7C3D-0B7B256CEE56}"/>
              </a:ext>
            </a:extLst>
          </p:cNvPr>
          <p:cNvSpPr>
            <a:spLocks noGrp="1"/>
          </p:cNvSpPr>
          <p:nvPr>
            <p:ph type="sldNum" sz="quarter" idx="10"/>
          </p:nvPr>
        </p:nvSpPr>
        <p:spPr/>
        <p:txBody>
          <a:bodyPr/>
          <a:lstStyle/>
          <a:p>
            <a:fld id="{49436F85-577F-4A92-A47F-D540A2BCC821}" type="slidenum">
              <a:rPr lang="da-DK" smtClean="0"/>
              <a:t>60</a:t>
            </a:fld>
            <a:endParaRPr lang="da-DK" dirty="0"/>
          </a:p>
        </p:txBody>
      </p:sp>
    </p:spTree>
    <p:extLst>
      <p:ext uri="{BB962C8B-B14F-4D97-AF65-F5344CB8AC3E}">
        <p14:creationId xmlns:p14="http://schemas.microsoft.com/office/powerpoint/2010/main" val="12006382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EDB68-5681-5D7E-EE3C-E9DA250F7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BCB8B-AD37-E752-9893-F46EB3C5C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95A4E-8091-E0D3-7FBE-4A5C351DD601}"/>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6256242A-6D37-CCCB-AC75-C6F5CD37D0F4}"/>
              </a:ext>
            </a:extLst>
          </p:cNvPr>
          <p:cNvSpPr>
            <a:spLocks noGrp="1"/>
          </p:cNvSpPr>
          <p:nvPr>
            <p:ph type="sldNum" sz="quarter" idx="10"/>
          </p:nvPr>
        </p:nvSpPr>
        <p:spPr/>
        <p:txBody>
          <a:bodyPr/>
          <a:lstStyle/>
          <a:p>
            <a:fld id="{49436F85-577F-4A92-A47F-D540A2BCC821}" type="slidenum">
              <a:rPr lang="da-DK" smtClean="0"/>
              <a:t>61</a:t>
            </a:fld>
            <a:endParaRPr lang="da-DK" dirty="0"/>
          </a:p>
        </p:txBody>
      </p:sp>
    </p:spTree>
    <p:extLst>
      <p:ext uri="{BB962C8B-B14F-4D97-AF65-F5344CB8AC3E}">
        <p14:creationId xmlns:p14="http://schemas.microsoft.com/office/powerpoint/2010/main" val="13447700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D21CC-4AC7-76BE-8E53-B082A6D4E1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06BEA-8189-BEB6-4426-AD174EB121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08E0E6-EBA7-6B14-38EA-821BB1E0625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78BD69BF-CF98-3B84-F680-19AAA0851E80}"/>
              </a:ext>
            </a:extLst>
          </p:cNvPr>
          <p:cNvSpPr>
            <a:spLocks noGrp="1"/>
          </p:cNvSpPr>
          <p:nvPr>
            <p:ph type="sldNum" sz="quarter" idx="10"/>
          </p:nvPr>
        </p:nvSpPr>
        <p:spPr/>
        <p:txBody>
          <a:bodyPr/>
          <a:lstStyle/>
          <a:p>
            <a:fld id="{49436F85-577F-4A92-A47F-D540A2BCC821}" type="slidenum">
              <a:rPr lang="da-DK" smtClean="0"/>
              <a:t>62</a:t>
            </a:fld>
            <a:endParaRPr lang="da-DK" dirty="0"/>
          </a:p>
        </p:txBody>
      </p:sp>
    </p:spTree>
    <p:extLst>
      <p:ext uri="{BB962C8B-B14F-4D97-AF65-F5344CB8AC3E}">
        <p14:creationId xmlns:p14="http://schemas.microsoft.com/office/powerpoint/2010/main" val="283506599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A6B7A-56A3-7233-E90D-4CF71B752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D0475-ED8A-00CA-7333-8C51F39C44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B4340-D2BF-9282-3E8B-39C727B62172}"/>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2E9EE6F5-A6C4-5EB1-57B4-578E63534F17}"/>
              </a:ext>
            </a:extLst>
          </p:cNvPr>
          <p:cNvSpPr>
            <a:spLocks noGrp="1"/>
          </p:cNvSpPr>
          <p:nvPr>
            <p:ph type="sldNum" sz="quarter" idx="10"/>
          </p:nvPr>
        </p:nvSpPr>
        <p:spPr/>
        <p:txBody>
          <a:bodyPr/>
          <a:lstStyle/>
          <a:p>
            <a:fld id="{49436F85-577F-4A92-A47F-D540A2BCC821}" type="slidenum">
              <a:rPr lang="da-DK" smtClean="0"/>
              <a:t>63</a:t>
            </a:fld>
            <a:endParaRPr lang="da-DK" dirty="0"/>
          </a:p>
        </p:txBody>
      </p:sp>
    </p:spTree>
    <p:extLst>
      <p:ext uri="{BB962C8B-B14F-4D97-AF65-F5344CB8AC3E}">
        <p14:creationId xmlns:p14="http://schemas.microsoft.com/office/powerpoint/2010/main" val="40748066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74E2A-9823-A133-234E-82C81FADDE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9BF6C-2717-7953-3DA5-752A6C4DF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63363-AEBB-B1B0-CD85-9BBB8188C5B2}"/>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145D70BF-B386-E07D-737B-AB1AECE013CC}"/>
              </a:ext>
            </a:extLst>
          </p:cNvPr>
          <p:cNvSpPr>
            <a:spLocks noGrp="1"/>
          </p:cNvSpPr>
          <p:nvPr>
            <p:ph type="sldNum" sz="quarter" idx="10"/>
          </p:nvPr>
        </p:nvSpPr>
        <p:spPr/>
        <p:txBody>
          <a:bodyPr/>
          <a:lstStyle/>
          <a:p>
            <a:fld id="{49436F85-577F-4A92-A47F-D540A2BCC821}" type="slidenum">
              <a:rPr lang="da-DK" smtClean="0"/>
              <a:t>64</a:t>
            </a:fld>
            <a:endParaRPr lang="da-DK" dirty="0"/>
          </a:p>
        </p:txBody>
      </p:sp>
    </p:spTree>
    <p:extLst>
      <p:ext uri="{BB962C8B-B14F-4D97-AF65-F5344CB8AC3E}">
        <p14:creationId xmlns:p14="http://schemas.microsoft.com/office/powerpoint/2010/main" val="137979058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4D158-CCB6-2FA3-1631-4E8B1A79BC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D3765-6DB1-A48D-6665-A6BF6AAA0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D1E48F-A9C0-677C-4E39-42C540025F2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0AA0D07E-5496-CE7E-7B05-607F6F1418C2}"/>
              </a:ext>
            </a:extLst>
          </p:cNvPr>
          <p:cNvSpPr>
            <a:spLocks noGrp="1"/>
          </p:cNvSpPr>
          <p:nvPr>
            <p:ph type="sldNum" sz="quarter" idx="10"/>
          </p:nvPr>
        </p:nvSpPr>
        <p:spPr/>
        <p:txBody>
          <a:bodyPr/>
          <a:lstStyle/>
          <a:p>
            <a:fld id="{49436F85-577F-4A92-A47F-D540A2BCC821}" type="slidenum">
              <a:rPr lang="da-DK" smtClean="0"/>
              <a:t>65</a:t>
            </a:fld>
            <a:endParaRPr lang="da-DK" dirty="0"/>
          </a:p>
        </p:txBody>
      </p:sp>
    </p:spTree>
    <p:extLst>
      <p:ext uri="{BB962C8B-B14F-4D97-AF65-F5344CB8AC3E}">
        <p14:creationId xmlns:p14="http://schemas.microsoft.com/office/powerpoint/2010/main" val="34014921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42A0B-9A8F-152F-E0A5-BE51FDE0E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0FB28D-527C-93BC-9742-EE7C43375B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53C2F7-FCDE-5E69-15E3-A3DBFB0836AE}"/>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4BB47B4B-C134-FDEE-91EF-E9A130A8B7AF}"/>
              </a:ext>
            </a:extLst>
          </p:cNvPr>
          <p:cNvSpPr>
            <a:spLocks noGrp="1"/>
          </p:cNvSpPr>
          <p:nvPr>
            <p:ph type="sldNum" sz="quarter" idx="10"/>
          </p:nvPr>
        </p:nvSpPr>
        <p:spPr/>
        <p:txBody>
          <a:bodyPr/>
          <a:lstStyle/>
          <a:p>
            <a:fld id="{49436F85-577F-4A92-A47F-D540A2BCC821}" type="slidenum">
              <a:rPr lang="da-DK" smtClean="0"/>
              <a:t>66</a:t>
            </a:fld>
            <a:endParaRPr lang="da-DK" dirty="0"/>
          </a:p>
        </p:txBody>
      </p:sp>
    </p:spTree>
    <p:extLst>
      <p:ext uri="{BB962C8B-B14F-4D97-AF65-F5344CB8AC3E}">
        <p14:creationId xmlns:p14="http://schemas.microsoft.com/office/powerpoint/2010/main" val="15711388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7FFB2-1050-2362-20E6-4E3C43059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B045B2-7E1E-47D9-08AD-14030AA14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DD0AB-1B03-4F32-C58C-20F69DCC429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7699CC1E-D96C-6021-5F2D-ABC2F185F862}"/>
              </a:ext>
            </a:extLst>
          </p:cNvPr>
          <p:cNvSpPr>
            <a:spLocks noGrp="1"/>
          </p:cNvSpPr>
          <p:nvPr>
            <p:ph type="sldNum" sz="quarter" idx="10"/>
          </p:nvPr>
        </p:nvSpPr>
        <p:spPr/>
        <p:txBody>
          <a:bodyPr/>
          <a:lstStyle/>
          <a:p>
            <a:fld id="{49436F85-577F-4A92-A47F-D540A2BCC821}" type="slidenum">
              <a:rPr lang="da-DK" smtClean="0"/>
              <a:t>67</a:t>
            </a:fld>
            <a:endParaRPr lang="da-DK" dirty="0"/>
          </a:p>
        </p:txBody>
      </p:sp>
    </p:spTree>
    <p:extLst>
      <p:ext uri="{BB962C8B-B14F-4D97-AF65-F5344CB8AC3E}">
        <p14:creationId xmlns:p14="http://schemas.microsoft.com/office/powerpoint/2010/main" val="387387982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EA252-411E-3103-0D8B-67EA772EF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4A6AA-945E-E8D4-5C0F-CCE7A495BC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C6000-738D-2248-4F98-5429CA737640}"/>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D0F2FA41-73BD-F481-2AE7-D31B29A55AE7}"/>
              </a:ext>
            </a:extLst>
          </p:cNvPr>
          <p:cNvSpPr>
            <a:spLocks noGrp="1"/>
          </p:cNvSpPr>
          <p:nvPr>
            <p:ph type="sldNum" sz="quarter" idx="10"/>
          </p:nvPr>
        </p:nvSpPr>
        <p:spPr/>
        <p:txBody>
          <a:bodyPr/>
          <a:lstStyle/>
          <a:p>
            <a:fld id="{49436F85-577F-4A92-A47F-D540A2BCC821}" type="slidenum">
              <a:rPr lang="da-DK" smtClean="0"/>
              <a:t>68</a:t>
            </a:fld>
            <a:endParaRPr lang="da-DK" dirty="0"/>
          </a:p>
        </p:txBody>
      </p:sp>
    </p:spTree>
    <p:extLst>
      <p:ext uri="{BB962C8B-B14F-4D97-AF65-F5344CB8AC3E}">
        <p14:creationId xmlns:p14="http://schemas.microsoft.com/office/powerpoint/2010/main" val="107385373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CDC6B-9827-E442-DBA4-C4DDCCB4AD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A68D5-7421-C401-E5D5-D3D3BA2CAF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AC3909-D005-DE86-29B3-1713067DE70F}"/>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98552E36-4BF2-1C68-B874-306284F2918C}"/>
              </a:ext>
            </a:extLst>
          </p:cNvPr>
          <p:cNvSpPr>
            <a:spLocks noGrp="1"/>
          </p:cNvSpPr>
          <p:nvPr>
            <p:ph type="sldNum" sz="quarter" idx="10"/>
          </p:nvPr>
        </p:nvSpPr>
        <p:spPr/>
        <p:txBody>
          <a:bodyPr/>
          <a:lstStyle/>
          <a:p>
            <a:fld id="{49436F85-577F-4A92-A47F-D540A2BCC821}" type="slidenum">
              <a:rPr lang="da-DK" smtClean="0"/>
              <a:t>69</a:t>
            </a:fld>
            <a:endParaRPr lang="da-DK" dirty="0"/>
          </a:p>
        </p:txBody>
      </p:sp>
    </p:spTree>
    <p:extLst>
      <p:ext uri="{BB962C8B-B14F-4D97-AF65-F5344CB8AC3E}">
        <p14:creationId xmlns:p14="http://schemas.microsoft.com/office/powerpoint/2010/main" val="121825906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EAED0-8557-155B-08C1-0560A62A5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EDA6EC-19D0-1EF0-4318-8AC6F51B9F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A546FA-B5A6-2708-52DD-C8C85B1AD842}"/>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DE0270CE-4780-EB1C-0F3C-885B88998E35}"/>
              </a:ext>
            </a:extLst>
          </p:cNvPr>
          <p:cNvSpPr>
            <a:spLocks noGrp="1"/>
          </p:cNvSpPr>
          <p:nvPr>
            <p:ph type="sldNum" sz="quarter" idx="10"/>
          </p:nvPr>
        </p:nvSpPr>
        <p:spPr/>
        <p:txBody>
          <a:bodyPr/>
          <a:lstStyle/>
          <a:p>
            <a:fld id="{49436F85-577F-4A92-A47F-D540A2BCC821}" type="slidenum">
              <a:rPr lang="da-DK" smtClean="0"/>
              <a:t>70</a:t>
            </a:fld>
            <a:endParaRPr lang="da-DK" dirty="0"/>
          </a:p>
        </p:txBody>
      </p:sp>
    </p:spTree>
    <p:extLst>
      <p:ext uri="{BB962C8B-B14F-4D97-AF65-F5344CB8AC3E}">
        <p14:creationId xmlns:p14="http://schemas.microsoft.com/office/powerpoint/2010/main" val="28362601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15063-DA0A-12E6-438F-ED5A5A654E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B068E-1553-4DA9-5D33-BC540E012E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F0FF7D-ED6B-ACF6-ED0F-87A841E2326B}"/>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D0457FBE-B53E-395B-77E7-D7CFB78DFD8D}"/>
              </a:ext>
            </a:extLst>
          </p:cNvPr>
          <p:cNvSpPr>
            <a:spLocks noGrp="1"/>
          </p:cNvSpPr>
          <p:nvPr>
            <p:ph type="sldNum" sz="quarter" idx="10"/>
          </p:nvPr>
        </p:nvSpPr>
        <p:spPr/>
        <p:txBody>
          <a:bodyPr/>
          <a:lstStyle/>
          <a:p>
            <a:fld id="{49436F85-577F-4A92-A47F-D540A2BCC821}" type="slidenum">
              <a:rPr lang="da-DK" smtClean="0"/>
              <a:t>71</a:t>
            </a:fld>
            <a:endParaRPr lang="da-DK" dirty="0"/>
          </a:p>
        </p:txBody>
      </p:sp>
    </p:spTree>
    <p:extLst>
      <p:ext uri="{BB962C8B-B14F-4D97-AF65-F5344CB8AC3E}">
        <p14:creationId xmlns:p14="http://schemas.microsoft.com/office/powerpoint/2010/main" val="38856221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9AF09-EE2E-DE4E-D2B4-7ADFF102DB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A79E2-69F2-F7A5-0DFA-849179489F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CE949B-C1AC-A5B6-0114-B8F0EB41F316}"/>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7AB0E8C7-04DC-C1D4-4D8B-FF8D5548F73A}"/>
              </a:ext>
            </a:extLst>
          </p:cNvPr>
          <p:cNvSpPr>
            <a:spLocks noGrp="1"/>
          </p:cNvSpPr>
          <p:nvPr>
            <p:ph type="sldNum" sz="quarter" idx="10"/>
          </p:nvPr>
        </p:nvSpPr>
        <p:spPr/>
        <p:txBody>
          <a:bodyPr/>
          <a:lstStyle/>
          <a:p>
            <a:fld id="{49436F85-577F-4A92-A47F-D540A2BCC821}" type="slidenum">
              <a:rPr lang="da-DK" smtClean="0"/>
              <a:t>72</a:t>
            </a:fld>
            <a:endParaRPr lang="da-DK" dirty="0"/>
          </a:p>
        </p:txBody>
      </p:sp>
    </p:spTree>
    <p:extLst>
      <p:ext uri="{BB962C8B-B14F-4D97-AF65-F5344CB8AC3E}">
        <p14:creationId xmlns:p14="http://schemas.microsoft.com/office/powerpoint/2010/main" val="53670413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98B52-56A4-E372-BCC0-70CDE6ADA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9E9C0-A469-2F89-8659-82D2106FBB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3C1E48-32AF-D109-EC24-396307F0CBF3}"/>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F72DD124-952A-FC7B-484E-43C46FC97C75}"/>
              </a:ext>
            </a:extLst>
          </p:cNvPr>
          <p:cNvSpPr>
            <a:spLocks noGrp="1"/>
          </p:cNvSpPr>
          <p:nvPr>
            <p:ph type="sldNum" sz="quarter" idx="10"/>
          </p:nvPr>
        </p:nvSpPr>
        <p:spPr/>
        <p:txBody>
          <a:bodyPr/>
          <a:lstStyle/>
          <a:p>
            <a:fld id="{49436F85-577F-4A92-A47F-D540A2BCC821}" type="slidenum">
              <a:rPr lang="da-DK" smtClean="0"/>
              <a:t>73</a:t>
            </a:fld>
            <a:endParaRPr lang="da-DK" dirty="0"/>
          </a:p>
        </p:txBody>
      </p:sp>
    </p:spTree>
    <p:extLst>
      <p:ext uri="{BB962C8B-B14F-4D97-AF65-F5344CB8AC3E}">
        <p14:creationId xmlns:p14="http://schemas.microsoft.com/office/powerpoint/2010/main" val="209286221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AE2A9-E720-3D20-76D8-84F3BD697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CC61BD-98AB-D982-00A6-B653F8AE2A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844E69-4024-8018-EC83-1DDB5D05CC05}"/>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BF82AC54-69FD-0130-72DE-DCD1CBA9AA65}"/>
              </a:ext>
            </a:extLst>
          </p:cNvPr>
          <p:cNvSpPr>
            <a:spLocks noGrp="1"/>
          </p:cNvSpPr>
          <p:nvPr>
            <p:ph type="sldNum" sz="quarter" idx="10"/>
          </p:nvPr>
        </p:nvSpPr>
        <p:spPr/>
        <p:txBody>
          <a:bodyPr/>
          <a:lstStyle/>
          <a:p>
            <a:fld id="{49436F85-577F-4A92-A47F-D540A2BCC821}" type="slidenum">
              <a:rPr lang="da-DK" smtClean="0"/>
              <a:t>74</a:t>
            </a:fld>
            <a:endParaRPr lang="da-DK" dirty="0"/>
          </a:p>
        </p:txBody>
      </p:sp>
    </p:spTree>
    <p:extLst>
      <p:ext uri="{BB962C8B-B14F-4D97-AF65-F5344CB8AC3E}">
        <p14:creationId xmlns:p14="http://schemas.microsoft.com/office/powerpoint/2010/main" val="135441983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5C01B-C306-DFBB-1A96-893BF48B6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8F1417-5A39-4D77-D915-58376D4636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522A8-1263-E2C2-035E-59B1AAE029B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D0A96F9D-8628-0FF8-8378-47262EBFF848}"/>
              </a:ext>
            </a:extLst>
          </p:cNvPr>
          <p:cNvSpPr>
            <a:spLocks noGrp="1"/>
          </p:cNvSpPr>
          <p:nvPr>
            <p:ph type="sldNum" sz="quarter" idx="10"/>
          </p:nvPr>
        </p:nvSpPr>
        <p:spPr/>
        <p:txBody>
          <a:bodyPr/>
          <a:lstStyle/>
          <a:p>
            <a:fld id="{49436F85-577F-4A92-A47F-D540A2BCC821}" type="slidenum">
              <a:rPr lang="da-DK" smtClean="0"/>
              <a:t>75</a:t>
            </a:fld>
            <a:endParaRPr lang="da-DK" dirty="0"/>
          </a:p>
        </p:txBody>
      </p:sp>
    </p:spTree>
    <p:extLst>
      <p:ext uri="{BB962C8B-B14F-4D97-AF65-F5344CB8AC3E}">
        <p14:creationId xmlns:p14="http://schemas.microsoft.com/office/powerpoint/2010/main" val="140073349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CECD0-294C-5295-8B2A-4B4D64C8A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0FA515-5697-9D34-3334-43F8AEAFAD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99775-9F60-3D97-FFDF-1A3D7D71C86B}"/>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81A2BA0F-6E38-C935-2D10-6DAD4D20103D}"/>
              </a:ext>
            </a:extLst>
          </p:cNvPr>
          <p:cNvSpPr>
            <a:spLocks noGrp="1"/>
          </p:cNvSpPr>
          <p:nvPr>
            <p:ph type="sldNum" sz="quarter" idx="10"/>
          </p:nvPr>
        </p:nvSpPr>
        <p:spPr/>
        <p:txBody>
          <a:bodyPr/>
          <a:lstStyle/>
          <a:p>
            <a:fld id="{49436F85-577F-4A92-A47F-D540A2BCC821}" type="slidenum">
              <a:rPr lang="da-DK" smtClean="0"/>
              <a:t>76</a:t>
            </a:fld>
            <a:endParaRPr lang="da-DK" dirty="0"/>
          </a:p>
        </p:txBody>
      </p:sp>
    </p:spTree>
    <p:extLst>
      <p:ext uri="{BB962C8B-B14F-4D97-AF65-F5344CB8AC3E}">
        <p14:creationId xmlns:p14="http://schemas.microsoft.com/office/powerpoint/2010/main" val="81973586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3CC2-46E7-8D5E-E13F-533BA3A961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D0B3F-7C13-2302-F7C8-08BD3F2F74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69D27-DC1A-BB04-AF37-889E49B71598}"/>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0F91F63F-7954-4EF0-79FB-2C806F3AB7E3}"/>
              </a:ext>
            </a:extLst>
          </p:cNvPr>
          <p:cNvSpPr>
            <a:spLocks noGrp="1"/>
          </p:cNvSpPr>
          <p:nvPr>
            <p:ph type="sldNum" sz="quarter" idx="10"/>
          </p:nvPr>
        </p:nvSpPr>
        <p:spPr/>
        <p:txBody>
          <a:bodyPr/>
          <a:lstStyle/>
          <a:p>
            <a:fld id="{49436F85-577F-4A92-A47F-D540A2BCC821}" type="slidenum">
              <a:rPr lang="da-DK" smtClean="0"/>
              <a:t>77</a:t>
            </a:fld>
            <a:endParaRPr lang="da-DK" dirty="0"/>
          </a:p>
        </p:txBody>
      </p:sp>
    </p:spTree>
    <p:extLst>
      <p:ext uri="{BB962C8B-B14F-4D97-AF65-F5344CB8AC3E}">
        <p14:creationId xmlns:p14="http://schemas.microsoft.com/office/powerpoint/2010/main" val="5021690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6F3EE-35F8-230A-FBB2-F2CF9E9D0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D5AB40-8FDE-1AB1-B0D2-9FCEB5E59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01345A-7BAD-D954-676E-49424EEF265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06B4188D-64C4-31C5-AB09-9C09FD7AFDED}"/>
              </a:ext>
            </a:extLst>
          </p:cNvPr>
          <p:cNvSpPr>
            <a:spLocks noGrp="1"/>
          </p:cNvSpPr>
          <p:nvPr>
            <p:ph type="sldNum" sz="quarter" idx="10"/>
          </p:nvPr>
        </p:nvSpPr>
        <p:spPr/>
        <p:txBody>
          <a:bodyPr/>
          <a:lstStyle/>
          <a:p>
            <a:fld id="{49436F85-577F-4A92-A47F-D540A2BCC821}" type="slidenum">
              <a:rPr lang="da-DK" smtClean="0"/>
              <a:t>78</a:t>
            </a:fld>
            <a:endParaRPr lang="da-DK" dirty="0"/>
          </a:p>
        </p:txBody>
      </p:sp>
    </p:spTree>
    <p:extLst>
      <p:ext uri="{BB962C8B-B14F-4D97-AF65-F5344CB8AC3E}">
        <p14:creationId xmlns:p14="http://schemas.microsoft.com/office/powerpoint/2010/main" val="183650880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5716D-AA68-027D-12EE-AAF4CF745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47278-7B25-006E-C2A3-EA2293F53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6EC61-CB23-E881-CCA5-0133288C3E3D}"/>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A6EE5BF5-06C9-084C-CECC-087BE7D3F967}"/>
              </a:ext>
            </a:extLst>
          </p:cNvPr>
          <p:cNvSpPr>
            <a:spLocks noGrp="1"/>
          </p:cNvSpPr>
          <p:nvPr>
            <p:ph type="sldNum" sz="quarter" idx="10"/>
          </p:nvPr>
        </p:nvSpPr>
        <p:spPr/>
        <p:txBody>
          <a:bodyPr/>
          <a:lstStyle/>
          <a:p>
            <a:fld id="{49436F85-577F-4A92-A47F-D540A2BCC821}" type="slidenum">
              <a:rPr lang="da-DK" smtClean="0"/>
              <a:t>79</a:t>
            </a:fld>
            <a:endParaRPr lang="da-DK" dirty="0"/>
          </a:p>
        </p:txBody>
      </p:sp>
    </p:spTree>
    <p:extLst>
      <p:ext uri="{BB962C8B-B14F-4D97-AF65-F5344CB8AC3E}">
        <p14:creationId xmlns:p14="http://schemas.microsoft.com/office/powerpoint/2010/main" val="347437537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10F06-A996-2FB2-A98C-B5E7F5BD0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7D0643-989C-69CD-92E9-46D06B123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72B0E8-65D5-2327-4497-DEB5BF60669D}"/>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577043AA-5C0B-CDF0-31BE-0477BEE72E4D}"/>
              </a:ext>
            </a:extLst>
          </p:cNvPr>
          <p:cNvSpPr>
            <a:spLocks noGrp="1"/>
          </p:cNvSpPr>
          <p:nvPr>
            <p:ph type="sldNum" sz="quarter" idx="10"/>
          </p:nvPr>
        </p:nvSpPr>
        <p:spPr/>
        <p:txBody>
          <a:bodyPr/>
          <a:lstStyle/>
          <a:p>
            <a:fld id="{49436F85-577F-4A92-A47F-D540A2BCC821}" type="slidenum">
              <a:rPr lang="da-DK" smtClean="0"/>
              <a:t>80</a:t>
            </a:fld>
            <a:endParaRPr lang="da-DK" dirty="0"/>
          </a:p>
        </p:txBody>
      </p:sp>
    </p:spTree>
    <p:extLst>
      <p:ext uri="{BB962C8B-B14F-4D97-AF65-F5344CB8AC3E}">
        <p14:creationId xmlns:p14="http://schemas.microsoft.com/office/powerpoint/2010/main" val="9868121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1B64D-402C-C155-50B9-F892E95C2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66DF35-6C6E-8930-CA30-F7CC38115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ADF4A-A464-94B6-C06F-944B280A4D9E}"/>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DA591653-58D1-EDB6-429D-B9FF3304E7D2}"/>
              </a:ext>
            </a:extLst>
          </p:cNvPr>
          <p:cNvSpPr>
            <a:spLocks noGrp="1"/>
          </p:cNvSpPr>
          <p:nvPr>
            <p:ph type="sldNum" sz="quarter" idx="10"/>
          </p:nvPr>
        </p:nvSpPr>
        <p:spPr/>
        <p:txBody>
          <a:bodyPr/>
          <a:lstStyle/>
          <a:p>
            <a:fld id="{49436F85-577F-4A92-A47F-D540A2BCC821}" type="slidenum">
              <a:rPr lang="da-DK" smtClean="0"/>
              <a:t>81</a:t>
            </a:fld>
            <a:endParaRPr lang="da-DK" dirty="0"/>
          </a:p>
        </p:txBody>
      </p:sp>
    </p:spTree>
    <p:extLst>
      <p:ext uri="{BB962C8B-B14F-4D97-AF65-F5344CB8AC3E}">
        <p14:creationId xmlns:p14="http://schemas.microsoft.com/office/powerpoint/2010/main" val="184548768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2AF3F-48DF-7B16-459F-D873E203F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6CF3A5-A1D9-B1F8-BF1C-7F607D4CB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216A3-C592-C2DD-416F-227A2B0FC477}"/>
              </a:ext>
            </a:extLst>
          </p:cNvPr>
          <p:cNvSpPr>
            <a:spLocks noGrp="1"/>
          </p:cNvSpPr>
          <p:nvPr>
            <p:ph type="body" idx="1"/>
          </p:nvPr>
        </p:nvSpPr>
        <p:spPr/>
        <p:txBody>
          <a:bodyPr/>
          <a:lstStyle/>
          <a:p>
            <a:endParaRPr lang="da-DK" dirty="0"/>
          </a:p>
        </p:txBody>
      </p:sp>
      <p:sp>
        <p:nvSpPr>
          <p:cNvPr id="4" name="Slide Number Placeholder 3">
            <a:extLst>
              <a:ext uri="{FF2B5EF4-FFF2-40B4-BE49-F238E27FC236}">
                <a16:creationId xmlns:a16="http://schemas.microsoft.com/office/drawing/2014/main" id="{51A305BA-3871-4785-777D-6ADC7E43DE80}"/>
              </a:ext>
            </a:extLst>
          </p:cNvPr>
          <p:cNvSpPr>
            <a:spLocks noGrp="1"/>
          </p:cNvSpPr>
          <p:nvPr>
            <p:ph type="sldNum" sz="quarter" idx="10"/>
          </p:nvPr>
        </p:nvSpPr>
        <p:spPr/>
        <p:txBody>
          <a:bodyPr/>
          <a:lstStyle/>
          <a:p>
            <a:fld id="{49436F85-577F-4A92-A47F-D540A2BCC821}" type="slidenum">
              <a:rPr lang="da-DK" smtClean="0"/>
              <a:t>82</a:t>
            </a:fld>
            <a:endParaRPr lang="da-DK" dirty="0"/>
          </a:p>
        </p:txBody>
      </p:sp>
    </p:spTree>
    <p:extLst>
      <p:ext uri="{BB962C8B-B14F-4D97-AF65-F5344CB8AC3E}">
        <p14:creationId xmlns:p14="http://schemas.microsoft.com/office/powerpoint/2010/main" val="35971018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hyperlink" Target="http://www.designguide.ku.dk/ku/skabeloner/powerpoint/praesentationer/" TargetMode="External"/><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hyperlink" Target="https://designguide.ku.dk/skabeloner/powerpoint/praesentationer/" TargetMode="External"/><Relationship Id="rId4" Type="http://schemas.openxmlformats.org/officeDocument/2006/relationships/hyperlink" Target="http://image.ku.dk/lightbox/211/13407586855728741badb20/" TargetMode="Externa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 billede stor venstre">
    <p:spTree>
      <p:nvGrpSpPr>
        <p:cNvPr id="1" name=""/>
        <p:cNvGrpSpPr/>
        <p:nvPr/>
      </p:nvGrpSpPr>
      <p:grpSpPr>
        <a:xfrm>
          <a:off x="0" y="0"/>
          <a:ext cx="0" cy="0"/>
          <a:chOff x="0" y="0"/>
          <a:chExt cx="0" cy="0"/>
        </a:xfrm>
      </p:grpSpPr>
      <p:sp>
        <p:nvSpPr>
          <p:cNvPr id="10" name="Pladsholder til billede 9"/>
          <p:cNvSpPr>
            <a:spLocks noGrp="1"/>
          </p:cNvSpPr>
          <p:nvPr>
            <p:ph type="pic" sz="quarter" idx="14" hasCustomPrompt="1"/>
          </p:nvPr>
        </p:nvSpPr>
        <p:spPr>
          <a:xfrm>
            <a:off x="0" y="0"/>
            <a:ext cx="9144000" cy="6858000"/>
          </a:xfrm>
          <a:blipFill>
            <a:blip r:embed="rId2"/>
            <a:stretch>
              <a:fillRect/>
            </a:stretch>
          </a:blipFill>
        </p:spPr>
        <p:txBody>
          <a:bodyPr lIns="4932000" tIns="360000" anchor="ctr" anchorCtr="0"/>
          <a:lstStyle>
            <a:lvl1pPr marL="0" indent="0" algn="l">
              <a:buNone/>
              <a:defRPr sz="2400" baseline="0">
                <a:solidFill>
                  <a:schemeClr val="bg1"/>
                </a:solidFill>
                <a:sym typeface="Wingdings" panose="05000000000000000000" pitchFamily="2" charset="2"/>
              </a:defRPr>
            </a:lvl1pPr>
          </a:lstStyle>
          <a:p>
            <a:r>
              <a:rPr lang="en-GB" dirty="0"/>
              <a:t> </a:t>
            </a:r>
            <a:r>
              <a:rPr lang="en-GB" dirty="0" err="1"/>
              <a:t>Klik</a:t>
            </a:r>
            <a:r>
              <a:rPr lang="en-GB" dirty="0"/>
              <a:t> </a:t>
            </a:r>
            <a:r>
              <a:rPr lang="en-GB" dirty="0" err="1"/>
              <a:t>på</a:t>
            </a:r>
            <a:r>
              <a:rPr lang="en-GB" dirty="0"/>
              <a:t> </a:t>
            </a:r>
            <a:r>
              <a:rPr lang="en-GB" dirty="0" err="1"/>
              <a:t>ikonet</a:t>
            </a:r>
            <a:r>
              <a:rPr lang="en-GB" dirty="0"/>
              <a:t>, </a:t>
            </a:r>
            <a:r>
              <a:rPr lang="en-GB" dirty="0" err="1"/>
              <a:t>hvis</a:t>
            </a:r>
            <a:r>
              <a:rPr lang="en-GB" dirty="0"/>
              <a:t> du </a:t>
            </a:r>
            <a:r>
              <a:rPr lang="en-GB" dirty="0" err="1"/>
              <a:t>vil</a:t>
            </a:r>
            <a:r>
              <a:rPr lang="en-GB" dirty="0"/>
              <a:t> </a:t>
            </a:r>
            <a:r>
              <a:rPr lang="en-GB" dirty="0" err="1"/>
              <a:t>udskifte</a:t>
            </a:r>
            <a:r>
              <a:rPr lang="en-GB" dirty="0"/>
              <a:t> </a:t>
            </a:r>
            <a:r>
              <a:rPr lang="en-GB" dirty="0" err="1"/>
              <a:t>billedet</a:t>
            </a:r>
            <a:endParaRPr lang="en-GB" dirty="0"/>
          </a:p>
        </p:txBody>
      </p:sp>
      <p:sp>
        <p:nvSpPr>
          <p:cNvPr id="2" name="Titel 2"/>
          <p:cNvSpPr>
            <a:spLocks noGrp="1"/>
          </p:cNvSpPr>
          <p:nvPr>
            <p:ph type="ctrTitle"/>
          </p:nvPr>
        </p:nvSpPr>
        <p:spPr>
          <a:xfrm>
            <a:off x="0" y="691816"/>
            <a:ext cx="4469607" cy="5474035"/>
          </a:xfrm>
          <a:blipFill>
            <a:blip r:embed="rId3"/>
            <a:stretch>
              <a:fillRect/>
            </a:stretch>
          </a:blipFill>
        </p:spPr>
        <p:txBody>
          <a:bodyPr lIns="540000" tIns="468000" rIns="360000" bIns="3384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4" name="Pladsholder til dato 3"/>
          <p:cNvSpPr>
            <a:spLocks noGrp="1"/>
          </p:cNvSpPr>
          <p:nvPr>
            <p:ph type="dt" sz="half" idx="10"/>
          </p:nvPr>
        </p:nvSpPr>
        <p:spPr>
          <a:xfrm>
            <a:off x="7746833" y="-385200"/>
            <a:ext cx="611232" cy="176797"/>
          </a:xfrm>
        </p:spPr>
        <p:txBody>
          <a:bodyPr/>
          <a:lstStyle>
            <a:lvl1pPr>
              <a:defRPr sz="100">
                <a:solidFill>
                  <a:schemeClr val="bg1"/>
                </a:solidFill>
              </a:defRPr>
            </a:lvl1pPr>
          </a:lstStyle>
          <a:p>
            <a:fld id="{61AA464C-5665-4E3C-98E0-7AD01E0024D6}" type="datetime1">
              <a:rPr lang="en-GB" smtClean="0"/>
              <a:t>30/06/2025</a:t>
            </a:fld>
            <a:endParaRPr lang="en-GB" dirty="0"/>
          </a:p>
        </p:txBody>
      </p:sp>
      <p:sp>
        <p:nvSpPr>
          <p:cNvPr id="5" name="Pladsholder til sidefod 4"/>
          <p:cNvSpPr>
            <a:spLocks noGrp="1"/>
          </p:cNvSpPr>
          <p:nvPr>
            <p:ph type="ftr" sz="quarter" idx="11"/>
          </p:nvPr>
        </p:nvSpPr>
        <p:spPr>
          <a:xfrm>
            <a:off x="2427371" y="-385200"/>
            <a:ext cx="5235872" cy="176797"/>
          </a:xfrm>
        </p:spPr>
        <p:txBody>
          <a:bodyPr/>
          <a:lstStyle>
            <a:lvl1pPr>
              <a:defRPr sz="100">
                <a:solidFill>
                  <a:schemeClr val="bg1"/>
                </a:solidFill>
              </a:defRPr>
            </a:lvl1pPr>
          </a:lstStyle>
          <a:p>
            <a:endParaRPr lang="en-GB" dirty="0"/>
          </a:p>
        </p:txBody>
      </p:sp>
      <p:sp>
        <p:nvSpPr>
          <p:cNvPr id="6" name="Pladsholder til slidenummer 5"/>
          <p:cNvSpPr>
            <a:spLocks noGrp="1"/>
          </p:cNvSpPr>
          <p:nvPr>
            <p:ph type="sldNum" sz="quarter" idx="12"/>
          </p:nvPr>
        </p:nvSpPr>
        <p:spPr>
          <a:xfrm>
            <a:off x="8441657" y="-385200"/>
            <a:ext cx="286319" cy="176797"/>
          </a:xfrm>
        </p:spPr>
        <p:txBody>
          <a:bodyPr/>
          <a:lstStyle>
            <a:lvl1pPr>
              <a:defRPr sz="100">
                <a:solidFill>
                  <a:schemeClr val="bg1"/>
                </a:solidFill>
              </a:defRPr>
            </a:lvl1pPr>
          </a:lstStyle>
          <a:p>
            <a:fld id="{091A926C-488A-4E3E-9C21-57CAA120E114}" type="slidenum">
              <a:rPr lang="en-GB" smtClean="0"/>
              <a:pPr/>
              <a:t>‹#›</a:t>
            </a:fld>
            <a:endParaRPr lang="en-GB" dirty="0"/>
          </a:p>
        </p:txBody>
      </p:sp>
      <p:sp>
        <p:nvSpPr>
          <p:cNvPr id="11" name="Pladsholder til tekst 14"/>
          <p:cNvSpPr>
            <a:spLocks noGrp="1"/>
          </p:cNvSpPr>
          <p:nvPr>
            <p:ph type="body" sz="quarter" idx="13" hasCustomPrompt="1"/>
          </p:nvPr>
        </p:nvSpPr>
        <p:spPr>
          <a:xfrm>
            <a:off x="587375" y="4053600"/>
            <a:ext cx="3564334" cy="899766"/>
          </a:xfrm>
        </p:spPr>
        <p:txBody>
          <a:bodyPr rIns="0">
            <a:noAutofit/>
          </a:bodyPr>
          <a:lstStyle>
            <a:lvl1pPr marL="0" indent="0">
              <a:lnSpc>
                <a:spcPct val="100000"/>
              </a:lnSpc>
              <a:spcBef>
                <a:spcPts val="0"/>
              </a:spcBef>
              <a:buNone/>
              <a:defRPr sz="1800" baseline="0"/>
            </a:lvl1pPr>
          </a:lstStyle>
          <a:p>
            <a:pPr lvl="0"/>
            <a:r>
              <a:rPr lang="en-GB" dirty="0" err="1"/>
              <a:t>Navn</a:t>
            </a:r>
            <a:r>
              <a:rPr lang="en-GB" dirty="0"/>
              <a:t> </a:t>
            </a:r>
            <a:r>
              <a:rPr lang="en-GB" dirty="0" err="1"/>
              <a:t>på</a:t>
            </a:r>
            <a:r>
              <a:rPr lang="en-GB" dirty="0"/>
              <a:t> </a:t>
            </a:r>
            <a:r>
              <a:rPr lang="en-GB" dirty="0" err="1"/>
              <a:t>oplægsholder</a:t>
            </a:r>
            <a:r>
              <a:rPr lang="en-GB" dirty="0"/>
              <a:t>, KU-</a:t>
            </a:r>
            <a:r>
              <a:rPr lang="en-GB" dirty="0" err="1"/>
              <a:t>enhed</a:t>
            </a:r>
            <a:r>
              <a:rPr lang="en-GB" dirty="0"/>
              <a:t>, </a:t>
            </a:r>
            <a:r>
              <a:rPr lang="en-GB" dirty="0" err="1"/>
              <a:t>sted</a:t>
            </a:r>
            <a:r>
              <a:rPr lang="en-GB" dirty="0"/>
              <a:t> og </a:t>
            </a:r>
            <a:r>
              <a:rPr lang="en-GB" dirty="0" err="1"/>
              <a:t>dato</a:t>
            </a:r>
            <a:endParaRPr lang="en-GB" dirty="0"/>
          </a:p>
        </p:txBody>
      </p:sp>
      <p:sp>
        <p:nvSpPr>
          <p:cNvPr id="9" name="Undertitel 2"/>
          <p:cNvSpPr>
            <a:spLocks noGrp="1"/>
          </p:cNvSpPr>
          <p:nvPr>
            <p:ph type="subTitle" idx="1" hasCustomPrompt="1"/>
          </p:nvPr>
        </p:nvSpPr>
        <p:spPr>
          <a:xfrm>
            <a:off x="587375" y="3007286"/>
            <a:ext cx="3564334" cy="726435"/>
          </a:xfrm>
        </p:spPr>
        <p:txBody>
          <a:bodyPr rIns="0">
            <a:noAutofit/>
          </a:bodyPr>
          <a:lstStyle>
            <a:lvl1pPr marL="0" indent="0" algn="l">
              <a:lnSpc>
                <a:spcPct val="100000"/>
              </a:lnSpc>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err="1"/>
              <a:t>Klik</a:t>
            </a:r>
            <a:r>
              <a:rPr lang="en-GB" dirty="0"/>
              <a:t> for at </a:t>
            </a:r>
            <a:r>
              <a:rPr lang="en-GB" dirty="0" err="1"/>
              <a:t>tilføje</a:t>
            </a:r>
            <a:r>
              <a:rPr lang="en-GB" dirty="0"/>
              <a:t> </a:t>
            </a:r>
            <a:r>
              <a:rPr lang="en-GB" dirty="0" err="1"/>
              <a:t>undertitel</a:t>
            </a:r>
            <a:endParaRPr lang="en-GB" dirty="0"/>
          </a:p>
        </p:txBody>
      </p:sp>
      <p:sp>
        <p:nvSpPr>
          <p:cNvPr id="12" name="Titel 1"/>
          <p:cNvSpPr>
            <a:spLocks noGrp="1"/>
          </p:cNvSpPr>
          <p:nvPr>
            <p:ph type="body" sz="quarter" idx="15" hasCustomPrompt="1"/>
          </p:nvPr>
        </p:nvSpPr>
        <p:spPr>
          <a:xfrm>
            <a:off x="587375" y="1020200"/>
            <a:ext cx="3564334" cy="1763813"/>
          </a:xfrm>
        </p:spPr>
        <p:txBody>
          <a:bodyPr rIns="0">
            <a:noAutofit/>
          </a:bodyPr>
          <a:lstStyle>
            <a:lvl1pPr marL="0" indent="0">
              <a:lnSpc>
                <a:spcPct val="100000"/>
              </a:lnSpc>
              <a:spcBef>
                <a:spcPts val="0"/>
              </a:spcBef>
              <a:buNone/>
              <a:defRPr sz="3600" baseline="0">
                <a:solidFill>
                  <a:schemeClr val="accent1"/>
                </a:solidFill>
              </a:defRPr>
            </a:lvl1pPr>
          </a:lstStyle>
          <a:p>
            <a:pPr lvl="0"/>
            <a:r>
              <a:rPr lang="en-GB" dirty="0" err="1"/>
              <a:t>Klik</a:t>
            </a:r>
            <a:r>
              <a:rPr lang="en-GB" dirty="0"/>
              <a:t> for at </a:t>
            </a:r>
            <a:r>
              <a:rPr lang="en-GB" dirty="0" err="1"/>
              <a:t>tilføje</a:t>
            </a:r>
            <a:r>
              <a:rPr lang="en-GB" dirty="0"/>
              <a:t> </a:t>
            </a:r>
            <a:r>
              <a:rPr lang="en-GB" dirty="0" err="1"/>
              <a:t>titel</a:t>
            </a:r>
            <a:endParaRPr lang="en-GB" dirty="0"/>
          </a:p>
        </p:txBody>
      </p:sp>
    </p:spTree>
    <p:extLst>
      <p:ext uri="{BB962C8B-B14F-4D97-AF65-F5344CB8AC3E}">
        <p14:creationId xmlns:p14="http://schemas.microsoft.com/office/powerpoint/2010/main" val="3829081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 billede lille venstre ">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9144000" cy="6858000"/>
          </a:xfrm>
          <a:blipFill>
            <a:blip r:embed="rId2"/>
            <a:stretch>
              <a:fillRect/>
            </a:stretch>
          </a:blipFill>
        </p:spPr>
        <p:txBody>
          <a:bodyPr lIns="4932000" tIns="360000" anchor="ctr" anchorCtr="0"/>
          <a:lstStyle>
            <a:lvl1pPr marL="0" indent="0" algn="l" defTabSz="685800" rtl="0" eaLnBrk="1" latinLnBrk="0" hangingPunct="1">
              <a:lnSpc>
                <a:spcPct val="90000"/>
              </a:lnSpc>
              <a:spcBef>
                <a:spcPts val="750"/>
              </a:spcBef>
              <a:buFont typeface="Arial" panose="020B0604020202020204" pitchFamily="34" charset="0"/>
              <a:buNone/>
              <a:defRPr lang="da-DK" sz="2400" kern="1200" baseline="0" dirty="0">
                <a:solidFill>
                  <a:schemeClr val="bg1"/>
                </a:solidFill>
                <a:latin typeface="+mn-lt"/>
                <a:ea typeface="+mn-ea"/>
                <a:cs typeface="+mn-cs"/>
                <a:sym typeface="Wingdings" panose="05000000000000000000" pitchFamily="2" charset="2"/>
              </a:defRPr>
            </a:lvl1pPr>
          </a:lstStyle>
          <a:p>
            <a:r>
              <a:rPr lang="en-GB" dirty="0"/>
              <a:t> </a:t>
            </a:r>
            <a:r>
              <a:rPr lang="en-GB" dirty="0" err="1"/>
              <a:t>Klik</a:t>
            </a:r>
            <a:r>
              <a:rPr lang="en-GB" dirty="0"/>
              <a:t> </a:t>
            </a:r>
            <a:r>
              <a:rPr lang="en-GB" dirty="0" err="1"/>
              <a:t>på</a:t>
            </a:r>
            <a:r>
              <a:rPr lang="en-GB" dirty="0"/>
              <a:t> </a:t>
            </a:r>
            <a:r>
              <a:rPr lang="en-GB" dirty="0" err="1"/>
              <a:t>ikonet</a:t>
            </a:r>
            <a:r>
              <a:rPr lang="en-GB" dirty="0"/>
              <a:t>, </a:t>
            </a:r>
            <a:r>
              <a:rPr lang="en-GB" dirty="0" err="1"/>
              <a:t>hvis</a:t>
            </a:r>
            <a:r>
              <a:rPr lang="en-GB" dirty="0"/>
              <a:t> du </a:t>
            </a:r>
            <a:r>
              <a:rPr lang="en-GB" dirty="0" err="1"/>
              <a:t>vil</a:t>
            </a:r>
            <a:r>
              <a:rPr lang="en-GB" dirty="0"/>
              <a:t> </a:t>
            </a:r>
            <a:r>
              <a:rPr lang="en-GB" dirty="0" err="1"/>
              <a:t>udskifte</a:t>
            </a:r>
            <a:r>
              <a:rPr lang="en-GB" dirty="0"/>
              <a:t> </a:t>
            </a:r>
            <a:r>
              <a:rPr lang="en-GB" dirty="0" err="1"/>
              <a:t>billedet</a:t>
            </a:r>
            <a:endParaRPr lang="en-GB" dirty="0"/>
          </a:p>
        </p:txBody>
      </p:sp>
      <p:sp>
        <p:nvSpPr>
          <p:cNvPr id="4" name="Pladsholder til dato 3"/>
          <p:cNvSpPr>
            <a:spLocks noGrp="1"/>
          </p:cNvSpPr>
          <p:nvPr>
            <p:ph type="dt" sz="half" idx="10"/>
          </p:nvPr>
        </p:nvSpPr>
        <p:spPr>
          <a:xfrm>
            <a:off x="7746833" y="-385200"/>
            <a:ext cx="611232" cy="176797"/>
          </a:xfrm>
        </p:spPr>
        <p:txBody>
          <a:bodyPr/>
          <a:lstStyle>
            <a:lvl1pPr>
              <a:defRPr sz="100">
                <a:solidFill>
                  <a:schemeClr val="bg1"/>
                </a:solidFill>
              </a:defRPr>
            </a:lvl1pPr>
          </a:lstStyle>
          <a:p>
            <a:fld id="{1F599886-E993-489E-9C40-159B7212D8E2}" type="datetime1">
              <a:rPr lang="en-GB" smtClean="0"/>
              <a:t>30/06/2025</a:t>
            </a:fld>
            <a:endParaRPr lang="en-GB" dirty="0"/>
          </a:p>
        </p:txBody>
      </p:sp>
      <p:sp>
        <p:nvSpPr>
          <p:cNvPr id="5" name="Pladsholder til sidefod 4"/>
          <p:cNvSpPr>
            <a:spLocks noGrp="1"/>
          </p:cNvSpPr>
          <p:nvPr>
            <p:ph type="ftr" sz="quarter" idx="11"/>
          </p:nvPr>
        </p:nvSpPr>
        <p:spPr>
          <a:xfrm>
            <a:off x="2427371" y="-385200"/>
            <a:ext cx="5235872" cy="176797"/>
          </a:xfrm>
        </p:spPr>
        <p:txBody>
          <a:bodyPr/>
          <a:lstStyle>
            <a:lvl1pPr>
              <a:defRPr sz="100">
                <a:solidFill>
                  <a:schemeClr val="bg1"/>
                </a:solidFill>
              </a:defRPr>
            </a:lvl1pPr>
          </a:lstStyle>
          <a:p>
            <a:endParaRPr lang="en-GB" dirty="0"/>
          </a:p>
        </p:txBody>
      </p:sp>
      <p:sp>
        <p:nvSpPr>
          <p:cNvPr id="6" name="Pladsholder til slidenummer 5"/>
          <p:cNvSpPr>
            <a:spLocks noGrp="1"/>
          </p:cNvSpPr>
          <p:nvPr>
            <p:ph type="sldNum" sz="quarter" idx="12"/>
          </p:nvPr>
        </p:nvSpPr>
        <p:spPr>
          <a:xfrm>
            <a:off x="8441657" y="-385200"/>
            <a:ext cx="286319" cy="176797"/>
          </a:xfrm>
        </p:spPr>
        <p:txBody>
          <a:bodyPr/>
          <a:lstStyle>
            <a:lvl1pPr>
              <a:defRPr sz="100">
                <a:solidFill>
                  <a:schemeClr val="bg1"/>
                </a:solidFill>
              </a:defRPr>
            </a:lvl1pPr>
          </a:lstStyle>
          <a:p>
            <a:fld id="{091A926C-488A-4E3E-9C21-57CAA120E114}" type="slidenum">
              <a:rPr lang="en-GB" smtClean="0"/>
              <a:pPr/>
              <a:t>‹#›</a:t>
            </a:fld>
            <a:endParaRPr lang="en-GB" dirty="0"/>
          </a:p>
        </p:txBody>
      </p:sp>
      <p:sp>
        <p:nvSpPr>
          <p:cNvPr id="22" name="Titel 2"/>
          <p:cNvSpPr>
            <a:spLocks noGrp="1"/>
          </p:cNvSpPr>
          <p:nvPr>
            <p:ph type="ctrTitle"/>
          </p:nvPr>
        </p:nvSpPr>
        <p:spPr>
          <a:xfrm>
            <a:off x="0" y="2271092"/>
            <a:ext cx="4469607" cy="3895200"/>
          </a:xfrm>
          <a:blipFill>
            <a:blip r:embed="rId3"/>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26" name="Pladsholder til tekst 14"/>
          <p:cNvSpPr>
            <a:spLocks noGrp="1"/>
          </p:cNvSpPr>
          <p:nvPr>
            <p:ph type="body" sz="quarter" idx="13" hasCustomPrompt="1"/>
          </p:nvPr>
        </p:nvSpPr>
        <p:spPr>
          <a:xfrm>
            <a:off x="587374" y="4042705"/>
            <a:ext cx="3563425" cy="899766"/>
          </a:xfrm>
        </p:spPr>
        <p:txBody>
          <a:bodyPr rIns="0">
            <a:noAutofit/>
          </a:bodyPr>
          <a:lstStyle>
            <a:lvl1pPr marL="0" indent="0">
              <a:spcBef>
                <a:spcPts val="0"/>
              </a:spcBef>
              <a:buNone/>
              <a:defRPr sz="1800" baseline="0"/>
            </a:lvl1pPr>
          </a:lstStyle>
          <a:p>
            <a:pPr lvl="0"/>
            <a:r>
              <a:rPr lang="en-GB" dirty="0" err="1"/>
              <a:t>Navn</a:t>
            </a:r>
            <a:r>
              <a:rPr lang="en-GB" dirty="0"/>
              <a:t> </a:t>
            </a:r>
            <a:r>
              <a:rPr lang="en-GB" dirty="0" err="1"/>
              <a:t>på</a:t>
            </a:r>
            <a:r>
              <a:rPr lang="en-GB" dirty="0"/>
              <a:t> </a:t>
            </a:r>
            <a:r>
              <a:rPr lang="en-GB" dirty="0" err="1"/>
              <a:t>oplægsholder</a:t>
            </a:r>
            <a:r>
              <a:rPr lang="en-GB" dirty="0"/>
              <a:t>, KU-</a:t>
            </a:r>
            <a:r>
              <a:rPr lang="en-GB" dirty="0" err="1"/>
              <a:t>enhed</a:t>
            </a:r>
            <a:r>
              <a:rPr lang="en-GB" dirty="0"/>
              <a:t>, </a:t>
            </a:r>
            <a:r>
              <a:rPr lang="en-GB" dirty="0" err="1"/>
              <a:t>sted</a:t>
            </a:r>
            <a:r>
              <a:rPr lang="en-GB" dirty="0"/>
              <a:t> og </a:t>
            </a:r>
            <a:r>
              <a:rPr lang="en-GB" dirty="0" err="1"/>
              <a:t>dato</a:t>
            </a:r>
            <a:endParaRPr lang="en-GB" dirty="0"/>
          </a:p>
        </p:txBody>
      </p:sp>
      <p:sp>
        <p:nvSpPr>
          <p:cNvPr id="8" name="Titel 1"/>
          <p:cNvSpPr>
            <a:spLocks noGrp="1"/>
          </p:cNvSpPr>
          <p:nvPr>
            <p:ph type="body" sz="quarter" idx="15" hasCustomPrompt="1"/>
          </p:nvPr>
        </p:nvSpPr>
        <p:spPr>
          <a:xfrm>
            <a:off x="587373" y="2610941"/>
            <a:ext cx="3563426" cy="1212926"/>
          </a:xfrm>
        </p:spPr>
        <p:txBody>
          <a:bodyPr rIns="0">
            <a:noAutofit/>
          </a:bodyPr>
          <a:lstStyle>
            <a:lvl1pPr marL="0" indent="0">
              <a:lnSpc>
                <a:spcPct val="100000"/>
              </a:lnSpc>
              <a:spcBef>
                <a:spcPts val="0"/>
              </a:spcBef>
              <a:buNone/>
              <a:defRPr sz="3600" baseline="0">
                <a:solidFill>
                  <a:schemeClr val="accent1"/>
                </a:solidFill>
              </a:defRPr>
            </a:lvl1pPr>
          </a:lstStyle>
          <a:p>
            <a:pPr lvl="0"/>
            <a:r>
              <a:rPr lang="en-GB" dirty="0" err="1"/>
              <a:t>Klik</a:t>
            </a:r>
            <a:r>
              <a:rPr lang="en-GB" dirty="0"/>
              <a:t> for at </a:t>
            </a:r>
            <a:r>
              <a:rPr lang="en-GB" dirty="0" err="1"/>
              <a:t>tilføje</a:t>
            </a:r>
            <a:r>
              <a:rPr lang="en-GB" dirty="0"/>
              <a:t> </a:t>
            </a:r>
            <a:r>
              <a:rPr lang="en-GB" dirty="0" err="1"/>
              <a:t>titel</a:t>
            </a:r>
            <a:endParaRPr lang="en-GB" dirty="0"/>
          </a:p>
        </p:txBody>
      </p:sp>
    </p:spTree>
    <p:extLst>
      <p:ext uri="{BB962C8B-B14F-4D97-AF65-F5344CB8AC3E}">
        <p14:creationId xmlns:p14="http://schemas.microsoft.com/office/powerpoint/2010/main" val="29678034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 billede stor højre ">
    <p:spTree>
      <p:nvGrpSpPr>
        <p:cNvPr id="1" name=""/>
        <p:cNvGrpSpPr/>
        <p:nvPr/>
      </p:nvGrpSpPr>
      <p:grpSpPr>
        <a:xfrm>
          <a:off x="0" y="0"/>
          <a:ext cx="0" cy="0"/>
          <a:chOff x="0" y="0"/>
          <a:chExt cx="0" cy="0"/>
        </a:xfrm>
      </p:grpSpPr>
      <p:sp>
        <p:nvSpPr>
          <p:cNvPr id="12" name="Pladsholder til billede 9"/>
          <p:cNvSpPr>
            <a:spLocks noGrp="1"/>
          </p:cNvSpPr>
          <p:nvPr>
            <p:ph type="pic" sz="quarter" idx="14" hasCustomPrompt="1"/>
          </p:nvPr>
        </p:nvSpPr>
        <p:spPr>
          <a:xfrm>
            <a:off x="0" y="0"/>
            <a:ext cx="9150603" cy="6858000"/>
          </a:xfrm>
          <a:blipFill>
            <a:blip r:embed="rId2"/>
            <a:stretch>
              <a:fillRect/>
            </a:stretch>
          </a:blipFill>
        </p:spPr>
        <p:txBody>
          <a:bodyPr lIns="0" tIns="360000" rIns="4932000" anchor="ctr" anchorCtr="0"/>
          <a:lstStyle>
            <a:lvl1pPr marL="0" indent="0" algn="r">
              <a:buNone/>
              <a:defRPr sz="2400" baseline="0">
                <a:sym typeface="Wingdings" panose="05000000000000000000" pitchFamily="2" charset="2"/>
              </a:defRPr>
            </a:lvl1pPr>
          </a:lstStyle>
          <a:p>
            <a:br>
              <a:rPr lang="en-GB" dirty="0"/>
            </a:br>
            <a:r>
              <a:rPr lang="en-GB" dirty="0" err="1"/>
              <a:t>Klik</a:t>
            </a:r>
            <a:r>
              <a:rPr lang="en-GB" dirty="0"/>
              <a:t> </a:t>
            </a:r>
            <a:r>
              <a:rPr lang="en-GB" dirty="0" err="1"/>
              <a:t>på</a:t>
            </a:r>
            <a:r>
              <a:rPr lang="en-GB" dirty="0"/>
              <a:t> </a:t>
            </a:r>
            <a:r>
              <a:rPr lang="en-GB" dirty="0" err="1"/>
              <a:t>ikonet</a:t>
            </a:r>
            <a:r>
              <a:rPr lang="en-GB" dirty="0"/>
              <a:t>, </a:t>
            </a:r>
            <a:r>
              <a:rPr lang="en-GB" dirty="0" err="1"/>
              <a:t>hvis</a:t>
            </a:r>
            <a:r>
              <a:rPr lang="en-GB" dirty="0"/>
              <a:t>   </a:t>
            </a:r>
            <a:br>
              <a:rPr lang="en-GB" dirty="0"/>
            </a:br>
            <a:r>
              <a:rPr lang="en-GB" dirty="0"/>
              <a:t>du </a:t>
            </a:r>
            <a:r>
              <a:rPr lang="en-GB" dirty="0" err="1"/>
              <a:t>vil</a:t>
            </a:r>
            <a:r>
              <a:rPr lang="en-GB" dirty="0"/>
              <a:t> </a:t>
            </a:r>
            <a:r>
              <a:rPr lang="en-GB" dirty="0" err="1"/>
              <a:t>udskifte</a:t>
            </a:r>
            <a:r>
              <a:rPr lang="en-GB" dirty="0"/>
              <a:t> </a:t>
            </a:r>
            <a:r>
              <a:rPr lang="en-GB" dirty="0" err="1"/>
              <a:t>billedet</a:t>
            </a:r>
            <a:endParaRPr lang="en-GB" dirty="0"/>
          </a:p>
          <a:p>
            <a:r>
              <a:rPr lang="en-GB" dirty="0"/>
              <a:t> </a:t>
            </a:r>
          </a:p>
        </p:txBody>
      </p:sp>
      <p:sp>
        <p:nvSpPr>
          <p:cNvPr id="2" name="Titel 2"/>
          <p:cNvSpPr>
            <a:spLocks noGrp="1"/>
          </p:cNvSpPr>
          <p:nvPr>
            <p:ph type="ctrTitle"/>
          </p:nvPr>
        </p:nvSpPr>
        <p:spPr>
          <a:xfrm>
            <a:off x="4682728" y="691816"/>
            <a:ext cx="4461272" cy="5474035"/>
          </a:xfrm>
          <a:blipFill>
            <a:blip r:embed="rId3"/>
            <a:stretch>
              <a:fillRect/>
            </a:stretch>
          </a:blipFill>
        </p:spPr>
        <p:txBody>
          <a:bodyPr lIns="360000" tIns="468000" rIns="540000" bIns="3384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4" name="Pladsholder til dato 3"/>
          <p:cNvSpPr>
            <a:spLocks noGrp="1"/>
          </p:cNvSpPr>
          <p:nvPr>
            <p:ph type="dt" sz="half" idx="10"/>
          </p:nvPr>
        </p:nvSpPr>
        <p:spPr>
          <a:xfrm>
            <a:off x="7746833" y="-385164"/>
            <a:ext cx="611232" cy="176797"/>
          </a:xfrm>
        </p:spPr>
        <p:txBody>
          <a:bodyPr/>
          <a:lstStyle>
            <a:lvl1pPr>
              <a:defRPr sz="100">
                <a:solidFill>
                  <a:schemeClr val="bg1"/>
                </a:solidFill>
              </a:defRPr>
            </a:lvl1pPr>
          </a:lstStyle>
          <a:p>
            <a:fld id="{60C36C7C-CAAB-455E-83CB-807F4F1E4F87}" type="datetime1">
              <a:rPr lang="en-GB" smtClean="0"/>
              <a:t>30/06/2025</a:t>
            </a:fld>
            <a:endParaRPr lang="en-GB" dirty="0"/>
          </a:p>
        </p:txBody>
      </p:sp>
      <p:sp>
        <p:nvSpPr>
          <p:cNvPr id="5" name="Pladsholder til sidefod 4"/>
          <p:cNvSpPr>
            <a:spLocks noGrp="1"/>
          </p:cNvSpPr>
          <p:nvPr>
            <p:ph type="ftr" sz="quarter" idx="11"/>
          </p:nvPr>
        </p:nvSpPr>
        <p:spPr>
          <a:xfrm>
            <a:off x="2427371" y="-385164"/>
            <a:ext cx="5235872" cy="176797"/>
          </a:xfrm>
        </p:spPr>
        <p:txBody>
          <a:bodyPr/>
          <a:lstStyle>
            <a:lvl1pPr>
              <a:defRPr sz="100">
                <a:solidFill>
                  <a:schemeClr val="bg1"/>
                </a:solidFill>
              </a:defRPr>
            </a:lvl1pPr>
          </a:lstStyle>
          <a:p>
            <a:endParaRPr lang="en-GB" dirty="0"/>
          </a:p>
        </p:txBody>
      </p:sp>
      <p:sp>
        <p:nvSpPr>
          <p:cNvPr id="6" name="Pladsholder til slidenummer 5"/>
          <p:cNvSpPr>
            <a:spLocks noGrp="1"/>
          </p:cNvSpPr>
          <p:nvPr>
            <p:ph type="sldNum" sz="quarter" idx="12"/>
          </p:nvPr>
        </p:nvSpPr>
        <p:spPr>
          <a:xfrm>
            <a:off x="8441657" y="-385164"/>
            <a:ext cx="286319" cy="176797"/>
          </a:xfrm>
        </p:spPr>
        <p:txBody>
          <a:bodyPr/>
          <a:lstStyle>
            <a:lvl1pPr>
              <a:defRPr sz="100">
                <a:solidFill>
                  <a:schemeClr val="bg1"/>
                </a:solidFill>
              </a:defRPr>
            </a:lvl1pPr>
          </a:lstStyle>
          <a:p>
            <a:fld id="{091A926C-488A-4E3E-9C21-57CAA120E114}" type="slidenum">
              <a:rPr lang="en-GB" smtClean="0"/>
              <a:pPr/>
              <a:t>‹#›</a:t>
            </a:fld>
            <a:endParaRPr lang="en-GB" dirty="0"/>
          </a:p>
        </p:txBody>
      </p:sp>
      <p:sp>
        <p:nvSpPr>
          <p:cNvPr id="15" name="Pladsholder til tekst 14"/>
          <p:cNvSpPr>
            <a:spLocks noGrp="1"/>
          </p:cNvSpPr>
          <p:nvPr>
            <p:ph type="body" sz="quarter" idx="13" hasCustomPrompt="1"/>
          </p:nvPr>
        </p:nvSpPr>
        <p:spPr>
          <a:xfrm>
            <a:off x="5055748" y="4053600"/>
            <a:ext cx="3499292" cy="899766"/>
          </a:xfrm>
        </p:spPr>
        <p:txBody>
          <a:bodyPr rIns="0">
            <a:noAutofit/>
          </a:bodyPr>
          <a:lstStyle>
            <a:lvl1pPr marL="0" indent="0">
              <a:spcBef>
                <a:spcPts val="0"/>
              </a:spcBef>
              <a:buNone/>
              <a:defRPr sz="1800" baseline="0"/>
            </a:lvl1pPr>
          </a:lstStyle>
          <a:p>
            <a:pPr lvl="0"/>
            <a:r>
              <a:rPr lang="en-GB" dirty="0" err="1"/>
              <a:t>Navn</a:t>
            </a:r>
            <a:r>
              <a:rPr lang="en-GB" dirty="0"/>
              <a:t> </a:t>
            </a:r>
            <a:r>
              <a:rPr lang="en-GB" dirty="0" err="1"/>
              <a:t>på</a:t>
            </a:r>
            <a:r>
              <a:rPr lang="en-GB" dirty="0"/>
              <a:t> </a:t>
            </a:r>
            <a:r>
              <a:rPr lang="en-GB" dirty="0" err="1"/>
              <a:t>oplægsholder</a:t>
            </a:r>
            <a:r>
              <a:rPr lang="en-GB" dirty="0"/>
              <a:t>, KU-</a:t>
            </a:r>
            <a:r>
              <a:rPr lang="en-GB" dirty="0" err="1"/>
              <a:t>enhed</a:t>
            </a:r>
            <a:r>
              <a:rPr lang="en-GB" dirty="0"/>
              <a:t>, </a:t>
            </a:r>
            <a:r>
              <a:rPr lang="en-GB" dirty="0" err="1"/>
              <a:t>sted</a:t>
            </a:r>
            <a:r>
              <a:rPr lang="en-GB" dirty="0"/>
              <a:t> og </a:t>
            </a:r>
            <a:r>
              <a:rPr lang="en-GB" dirty="0" err="1"/>
              <a:t>dato</a:t>
            </a:r>
            <a:endParaRPr lang="en-GB" dirty="0"/>
          </a:p>
        </p:txBody>
      </p:sp>
      <p:sp>
        <p:nvSpPr>
          <p:cNvPr id="9" name="Undertitel 2"/>
          <p:cNvSpPr>
            <a:spLocks noGrp="1"/>
          </p:cNvSpPr>
          <p:nvPr>
            <p:ph type="subTitle" idx="1" hasCustomPrompt="1"/>
          </p:nvPr>
        </p:nvSpPr>
        <p:spPr>
          <a:xfrm>
            <a:off x="5055747" y="3007286"/>
            <a:ext cx="3499291" cy="726435"/>
          </a:xfrm>
        </p:spPr>
        <p:txBody>
          <a:bodyPr rIns="0">
            <a:noAutofit/>
          </a:bodyPr>
          <a:lstStyle>
            <a:lvl1pPr marL="0" indent="0" algn="l">
              <a:lnSpc>
                <a:spcPct val="100000"/>
              </a:lnSpc>
              <a:buNone/>
              <a:defRPr sz="2400"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err="1"/>
              <a:t>Klik</a:t>
            </a:r>
            <a:r>
              <a:rPr lang="en-GB" dirty="0"/>
              <a:t> for at </a:t>
            </a:r>
            <a:r>
              <a:rPr lang="en-GB" dirty="0" err="1"/>
              <a:t>tilføje</a:t>
            </a:r>
            <a:r>
              <a:rPr lang="en-GB" dirty="0"/>
              <a:t> </a:t>
            </a:r>
            <a:r>
              <a:rPr lang="en-GB" dirty="0" err="1"/>
              <a:t>undertitel</a:t>
            </a:r>
            <a:endParaRPr lang="en-GB" dirty="0"/>
          </a:p>
        </p:txBody>
      </p:sp>
      <p:sp>
        <p:nvSpPr>
          <p:cNvPr id="10" name="Titel 1"/>
          <p:cNvSpPr>
            <a:spLocks noGrp="1"/>
          </p:cNvSpPr>
          <p:nvPr>
            <p:ph type="body" sz="quarter" idx="15" hasCustomPrompt="1"/>
          </p:nvPr>
        </p:nvSpPr>
        <p:spPr>
          <a:xfrm>
            <a:off x="5055747" y="1020200"/>
            <a:ext cx="3511991" cy="1763813"/>
          </a:xfrm>
        </p:spPr>
        <p:txBody>
          <a:bodyPr rIns="0">
            <a:noAutofit/>
          </a:bodyPr>
          <a:lstStyle>
            <a:lvl1pPr marL="0" indent="0">
              <a:lnSpc>
                <a:spcPct val="100000"/>
              </a:lnSpc>
              <a:spcBef>
                <a:spcPts val="0"/>
              </a:spcBef>
              <a:buNone/>
              <a:defRPr sz="3600" baseline="0">
                <a:solidFill>
                  <a:schemeClr val="accent1"/>
                </a:solidFill>
              </a:defRPr>
            </a:lvl1pPr>
          </a:lstStyle>
          <a:p>
            <a:pPr lvl="0"/>
            <a:r>
              <a:rPr lang="en-GB" dirty="0" err="1"/>
              <a:t>Klik</a:t>
            </a:r>
            <a:r>
              <a:rPr lang="en-GB" dirty="0"/>
              <a:t> for at </a:t>
            </a:r>
            <a:r>
              <a:rPr lang="en-GB" dirty="0" err="1"/>
              <a:t>tilføje</a:t>
            </a:r>
            <a:r>
              <a:rPr lang="en-GB" dirty="0"/>
              <a:t> </a:t>
            </a:r>
            <a:r>
              <a:rPr lang="en-GB" dirty="0" err="1"/>
              <a:t>titel</a:t>
            </a:r>
            <a:endParaRPr lang="en-GB" dirty="0"/>
          </a:p>
        </p:txBody>
      </p:sp>
    </p:spTree>
    <p:extLst>
      <p:ext uri="{BB962C8B-B14F-4D97-AF65-F5344CB8AC3E}">
        <p14:creationId xmlns:p14="http://schemas.microsoft.com/office/powerpoint/2010/main" val="2903454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 billede lille højre">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9144000" cy="6858000"/>
          </a:xfrm>
          <a:blipFill>
            <a:blip r:embed="rId2"/>
            <a:stretch>
              <a:fillRect/>
            </a:stretch>
          </a:blipFill>
        </p:spPr>
        <p:txBody>
          <a:bodyPr lIns="0" tIns="360000" rIns="4932000" anchor="ctr" anchorCtr="0"/>
          <a:lstStyle>
            <a:lvl1pPr marL="0" indent="0" algn="r">
              <a:buNone/>
              <a:defRPr sz="2400" baseline="0">
                <a:solidFill>
                  <a:schemeClr val="bg1"/>
                </a:solidFill>
                <a:sym typeface="Wingdings" panose="05000000000000000000" pitchFamily="2" charset="2"/>
              </a:defRPr>
            </a:lvl1pPr>
          </a:lstStyle>
          <a:p>
            <a:r>
              <a:rPr lang="en-GB" dirty="0" err="1"/>
              <a:t>Klik</a:t>
            </a:r>
            <a:r>
              <a:rPr lang="en-GB" dirty="0"/>
              <a:t> </a:t>
            </a:r>
            <a:r>
              <a:rPr lang="en-GB" dirty="0" err="1"/>
              <a:t>på</a:t>
            </a:r>
            <a:r>
              <a:rPr lang="en-GB" dirty="0"/>
              <a:t> </a:t>
            </a:r>
            <a:r>
              <a:rPr lang="en-GB" dirty="0" err="1"/>
              <a:t>ikonet</a:t>
            </a:r>
            <a:r>
              <a:rPr lang="en-GB" dirty="0"/>
              <a:t>, </a:t>
            </a:r>
            <a:r>
              <a:rPr lang="en-GB" dirty="0" err="1"/>
              <a:t>hvis</a:t>
            </a:r>
            <a:r>
              <a:rPr lang="en-GB" dirty="0"/>
              <a:t>   </a:t>
            </a:r>
            <a:br>
              <a:rPr lang="en-GB" dirty="0"/>
            </a:br>
            <a:r>
              <a:rPr lang="en-GB" dirty="0"/>
              <a:t>du </a:t>
            </a:r>
            <a:r>
              <a:rPr lang="en-GB" dirty="0" err="1"/>
              <a:t>vil</a:t>
            </a:r>
            <a:r>
              <a:rPr lang="en-GB" dirty="0"/>
              <a:t> </a:t>
            </a:r>
            <a:r>
              <a:rPr lang="en-GB" dirty="0" err="1"/>
              <a:t>udskifte</a:t>
            </a:r>
            <a:r>
              <a:rPr lang="en-GB" dirty="0"/>
              <a:t> </a:t>
            </a:r>
            <a:r>
              <a:rPr lang="en-GB" dirty="0" err="1"/>
              <a:t>billedet</a:t>
            </a:r>
            <a:endParaRPr lang="en-GB" dirty="0"/>
          </a:p>
        </p:txBody>
      </p:sp>
      <p:sp>
        <p:nvSpPr>
          <p:cNvPr id="4" name="Pladsholder til dato 3"/>
          <p:cNvSpPr>
            <a:spLocks noGrp="1"/>
          </p:cNvSpPr>
          <p:nvPr>
            <p:ph type="dt" sz="half" idx="10"/>
          </p:nvPr>
        </p:nvSpPr>
        <p:spPr>
          <a:xfrm>
            <a:off x="7746833" y="-385200"/>
            <a:ext cx="611232" cy="176797"/>
          </a:xfrm>
        </p:spPr>
        <p:txBody>
          <a:bodyPr/>
          <a:lstStyle>
            <a:lvl1pPr>
              <a:defRPr sz="100">
                <a:solidFill>
                  <a:schemeClr val="bg1"/>
                </a:solidFill>
              </a:defRPr>
            </a:lvl1pPr>
          </a:lstStyle>
          <a:p>
            <a:fld id="{6BCB1702-2CEC-4E0F-9B3B-2164FA62A897}" type="datetime1">
              <a:rPr lang="en-GB" smtClean="0"/>
              <a:t>30/06/2025</a:t>
            </a:fld>
            <a:endParaRPr lang="en-GB" dirty="0"/>
          </a:p>
        </p:txBody>
      </p:sp>
      <p:sp>
        <p:nvSpPr>
          <p:cNvPr id="5" name="Pladsholder til sidefod 4"/>
          <p:cNvSpPr>
            <a:spLocks noGrp="1"/>
          </p:cNvSpPr>
          <p:nvPr>
            <p:ph type="ftr" sz="quarter" idx="11"/>
          </p:nvPr>
        </p:nvSpPr>
        <p:spPr>
          <a:xfrm>
            <a:off x="2427371" y="-385200"/>
            <a:ext cx="5235872" cy="176797"/>
          </a:xfrm>
        </p:spPr>
        <p:txBody>
          <a:bodyPr/>
          <a:lstStyle>
            <a:lvl1pPr>
              <a:defRPr sz="100">
                <a:solidFill>
                  <a:schemeClr val="bg1"/>
                </a:solidFill>
              </a:defRPr>
            </a:lvl1pPr>
          </a:lstStyle>
          <a:p>
            <a:endParaRPr lang="en-GB" dirty="0"/>
          </a:p>
        </p:txBody>
      </p:sp>
      <p:sp>
        <p:nvSpPr>
          <p:cNvPr id="6" name="Pladsholder til slidenummer 5"/>
          <p:cNvSpPr>
            <a:spLocks noGrp="1"/>
          </p:cNvSpPr>
          <p:nvPr>
            <p:ph type="sldNum" sz="quarter" idx="12"/>
          </p:nvPr>
        </p:nvSpPr>
        <p:spPr>
          <a:xfrm>
            <a:off x="8441657" y="-385200"/>
            <a:ext cx="286319" cy="176797"/>
          </a:xfrm>
        </p:spPr>
        <p:txBody>
          <a:bodyPr/>
          <a:lstStyle>
            <a:lvl1pPr>
              <a:defRPr sz="100">
                <a:solidFill>
                  <a:schemeClr val="bg1"/>
                </a:solidFill>
              </a:defRPr>
            </a:lvl1pPr>
          </a:lstStyle>
          <a:p>
            <a:fld id="{091A926C-488A-4E3E-9C21-57CAA120E114}" type="slidenum">
              <a:rPr lang="en-GB" smtClean="0"/>
              <a:pPr/>
              <a:t>‹#›</a:t>
            </a:fld>
            <a:endParaRPr lang="en-GB" dirty="0"/>
          </a:p>
        </p:txBody>
      </p:sp>
      <p:sp>
        <p:nvSpPr>
          <p:cNvPr id="22" name="Titel 2"/>
          <p:cNvSpPr>
            <a:spLocks noGrp="1"/>
          </p:cNvSpPr>
          <p:nvPr>
            <p:ph type="ctrTitle"/>
          </p:nvPr>
        </p:nvSpPr>
        <p:spPr>
          <a:xfrm>
            <a:off x="4682728" y="2271092"/>
            <a:ext cx="4461272" cy="3895200"/>
          </a:xfrm>
          <a:blipFill>
            <a:blip r:embed="rId3"/>
            <a:stretch>
              <a:fillRect/>
            </a:stretch>
          </a:blipFill>
        </p:spPr>
        <p:txBody>
          <a:bodyPr lIns="360000" tIns="468000" rIns="540000" bIns="2448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9" name="Pladsholder til tekst 14"/>
          <p:cNvSpPr>
            <a:spLocks noGrp="1"/>
          </p:cNvSpPr>
          <p:nvPr>
            <p:ph type="body" sz="quarter" idx="13" hasCustomPrompt="1"/>
          </p:nvPr>
        </p:nvSpPr>
        <p:spPr>
          <a:xfrm>
            <a:off x="5054401" y="4053600"/>
            <a:ext cx="3500638" cy="899766"/>
          </a:xfrm>
        </p:spPr>
        <p:txBody>
          <a:bodyPr rIns="0">
            <a:noAutofit/>
          </a:bodyPr>
          <a:lstStyle>
            <a:lvl1pPr marL="0" indent="0">
              <a:spcBef>
                <a:spcPts val="0"/>
              </a:spcBef>
              <a:buNone/>
              <a:defRPr sz="1800" baseline="0"/>
            </a:lvl1pPr>
          </a:lstStyle>
          <a:p>
            <a:pPr lvl="0"/>
            <a:r>
              <a:rPr lang="en-GB" dirty="0" err="1"/>
              <a:t>Navn</a:t>
            </a:r>
            <a:r>
              <a:rPr lang="en-GB" dirty="0"/>
              <a:t> </a:t>
            </a:r>
            <a:r>
              <a:rPr lang="en-GB" dirty="0" err="1"/>
              <a:t>på</a:t>
            </a:r>
            <a:r>
              <a:rPr lang="en-GB" dirty="0"/>
              <a:t> </a:t>
            </a:r>
            <a:r>
              <a:rPr lang="en-GB" dirty="0" err="1"/>
              <a:t>oplægsholder</a:t>
            </a:r>
            <a:r>
              <a:rPr lang="en-GB" dirty="0"/>
              <a:t>, KU-</a:t>
            </a:r>
            <a:r>
              <a:rPr lang="en-GB" dirty="0" err="1"/>
              <a:t>enhed</a:t>
            </a:r>
            <a:r>
              <a:rPr lang="en-GB" dirty="0"/>
              <a:t>, </a:t>
            </a:r>
            <a:r>
              <a:rPr lang="en-GB" dirty="0" err="1"/>
              <a:t>sted</a:t>
            </a:r>
            <a:r>
              <a:rPr lang="en-GB" dirty="0"/>
              <a:t> og </a:t>
            </a:r>
            <a:r>
              <a:rPr lang="en-GB" dirty="0" err="1"/>
              <a:t>dato</a:t>
            </a:r>
            <a:endParaRPr lang="en-GB" dirty="0"/>
          </a:p>
        </p:txBody>
      </p:sp>
      <p:sp>
        <p:nvSpPr>
          <p:cNvPr id="8" name="Titel 1"/>
          <p:cNvSpPr>
            <a:spLocks noGrp="1"/>
          </p:cNvSpPr>
          <p:nvPr>
            <p:ph type="body" sz="quarter" idx="15" hasCustomPrompt="1"/>
          </p:nvPr>
        </p:nvSpPr>
        <p:spPr>
          <a:xfrm>
            <a:off x="5054401" y="2610941"/>
            <a:ext cx="3513337" cy="1212926"/>
          </a:xfrm>
        </p:spPr>
        <p:txBody>
          <a:bodyPr rIns="0">
            <a:noAutofit/>
          </a:bodyPr>
          <a:lstStyle>
            <a:lvl1pPr marL="0" indent="0">
              <a:lnSpc>
                <a:spcPct val="100000"/>
              </a:lnSpc>
              <a:spcBef>
                <a:spcPts val="0"/>
              </a:spcBef>
              <a:buNone/>
              <a:defRPr sz="3600" baseline="0">
                <a:solidFill>
                  <a:schemeClr val="accent1"/>
                </a:solidFill>
              </a:defRPr>
            </a:lvl1pPr>
          </a:lstStyle>
          <a:p>
            <a:pPr lvl="0"/>
            <a:r>
              <a:rPr lang="en-GB" dirty="0" err="1"/>
              <a:t>Klik</a:t>
            </a:r>
            <a:r>
              <a:rPr lang="en-GB" dirty="0"/>
              <a:t> for at </a:t>
            </a:r>
            <a:r>
              <a:rPr lang="en-GB" dirty="0" err="1"/>
              <a:t>tilføje</a:t>
            </a:r>
            <a:r>
              <a:rPr lang="en-GB" dirty="0"/>
              <a:t> </a:t>
            </a:r>
            <a:r>
              <a:rPr lang="en-GB" dirty="0" err="1"/>
              <a:t>titel</a:t>
            </a:r>
            <a:endParaRPr lang="en-GB" dirty="0"/>
          </a:p>
        </p:txBody>
      </p:sp>
    </p:spTree>
    <p:extLst>
      <p:ext uri="{BB962C8B-B14F-4D97-AF65-F5344CB8AC3E}">
        <p14:creationId xmlns:p14="http://schemas.microsoft.com/office/powerpoint/2010/main" val="629679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 segl stor ">
    <p:spTree>
      <p:nvGrpSpPr>
        <p:cNvPr id="1" name=""/>
        <p:cNvGrpSpPr/>
        <p:nvPr/>
      </p:nvGrpSpPr>
      <p:grpSpPr>
        <a:xfrm>
          <a:off x="0" y="0"/>
          <a:ext cx="0" cy="0"/>
          <a:chOff x="0" y="0"/>
          <a:chExt cx="0" cy="0"/>
        </a:xfrm>
      </p:grpSpPr>
      <p:sp>
        <p:nvSpPr>
          <p:cNvPr id="8" name="Rectangle 7"/>
          <p:cNvSpPr/>
          <p:nvPr userDrawn="1"/>
        </p:nvSpPr>
        <p:spPr>
          <a:xfrm>
            <a:off x="1" y="0"/>
            <a:ext cx="914400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pic>
        <p:nvPicPr>
          <p:cNvPr id="10"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534" r="15398" b="7654"/>
          <a:stretch/>
        </p:blipFill>
        <p:spPr>
          <a:xfrm>
            <a:off x="-763323" y="0"/>
            <a:ext cx="9907323" cy="6858000"/>
          </a:xfrm>
          <a:prstGeom prst="rect">
            <a:avLst/>
          </a:prstGeom>
        </p:spPr>
      </p:pic>
      <p:sp>
        <p:nvSpPr>
          <p:cNvPr id="4" name="Pladsholder til dato 3"/>
          <p:cNvSpPr>
            <a:spLocks noGrp="1"/>
          </p:cNvSpPr>
          <p:nvPr>
            <p:ph type="dt" sz="half" idx="10"/>
          </p:nvPr>
        </p:nvSpPr>
        <p:spPr>
          <a:xfrm>
            <a:off x="7746833" y="-385200"/>
            <a:ext cx="611232" cy="176797"/>
          </a:xfrm>
        </p:spPr>
        <p:txBody>
          <a:bodyPr/>
          <a:lstStyle>
            <a:lvl1pPr>
              <a:defRPr sz="100">
                <a:solidFill>
                  <a:schemeClr val="bg1"/>
                </a:solidFill>
              </a:defRPr>
            </a:lvl1pPr>
          </a:lstStyle>
          <a:p>
            <a:fld id="{FA49D84D-A19B-45C3-B862-94FCBB800B25}" type="datetime1">
              <a:rPr lang="en-GB" smtClean="0"/>
              <a:t>30/06/2025</a:t>
            </a:fld>
            <a:endParaRPr lang="en-GB" dirty="0"/>
          </a:p>
        </p:txBody>
      </p:sp>
      <p:sp>
        <p:nvSpPr>
          <p:cNvPr id="5" name="Pladsholder til sidefod 4"/>
          <p:cNvSpPr>
            <a:spLocks noGrp="1"/>
          </p:cNvSpPr>
          <p:nvPr>
            <p:ph type="ftr" sz="quarter" idx="11"/>
          </p:nvPr>
        </p:nvSpPr>
        <p:spPr>
          <a:xfrm>
            <a:off x="2427371" y="-385200"/>
            <a:ext cx="5235872" cy="176797"/>
          </a:xfrm>
        </p:spPr>
        <p:txBody>
          <a:bodyPr/>
          <a:lstStyle>
            <a:lvl1pPr>
              <a:defRPr sz="100">
                <a:solidFill>
                  <a:schemeClr val="bg1"/>
                </a:solidFill>
              </a:defRPr>
            </a:lvl1pPr>
          </a:lstStyle>
          <a:p>
            <a:endParaRPr lang="en-GB" dirty="0"/>
          </a:p>
        </p:txBody>
      </p:sp>
      <p:sp>
        <p:nvSpPr>
          <p:cNvPr id="6" name="Pladsholder til slidenummer 5"/>
          <p:cNvSpPr>
            <a:spLocks noGrp="1"/>
          </p:cNvSpPr>
          <p:nvPr>
            <p:ph type="sldNum" sz="quarter" idx="12"/>
          </p:nvPr>
        </p:nvSpPr>
        <p:spPr>
          <a:xfrm>
            <a:off x="8441657" y="-385200"/>
            <a:ext cx="286319" cy="176797"/>
          </a:xfrm>
        </p:spPr>
        <p:txBody>
          <a:bodyPr/>
          <a:lstStyle>
            <a:lvl1pPr>
              <a:defRPr sz="100">
                <a:solidFill>
                  <a:schemeClr val="bg1"/>
                </a:solidFill>
              </a:defRPr>
            </a:lvl1pPr>
          </a:lstStyle>
          <a:p>
            <a:fld id="{091A926C-488A-4E3E-9C21-57CAA120E114}" type="slidenum">
              <a:rPr lang="en-GB" smtClean="0"/>
              <a:pPr/>
              <a:t>‹#›</a:t>
            </a:fld>
            <a:endParaRPr lang="en-GB" dirty="0"/>
          </a:p>
        </p:txBody>
      </p:sp>
      <p:sp>
        <p:nvSpPr>
          <p:cNvPr id="22" name="Titel 2"/>
          <p:cNvSpPr>
            <a:spLocks noGrp="1"/>
          </p:cNvSpPr>
          <p:nvPr>
            <p:ph type="ctrTitle"/>
          </p:nvPr>
        </p:nvSpPr>
        <p:spPr>
          <a:xfrm>
            <a:off x="0" y="691816"/>
            <a:ext cx="4469607" cy="5474035"/>
          </a:xfrm>
          <a:blipFill>
            <a:blip r:embed="rId3"/>
            <a:stretch>
              <a:fillRect/>
            </a:stretch>
          </a:blipFill>
        </p:spPr>
        <p:txBody>
          <a:bodyPr lIns="540000" tIns="468000" rIns="360000" bIns="3384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37" name="Undertitel 2"/>
          <p:cNvSpPr>
            <a:spLocks noGrp="1"/>
          </p:cNvSpPr>
          <p:nvPr>
            <p:ph type="subTitle" idx="1" hasCustomPrompt="1"/>
          </p:nvPr>
        </p:nvSpPr>
        <p:spPr>
          <a:xfrm>
            <a:off x="587375" y="3007286"/>
            <a:ext cx="3564334" cy="726435"/>
          </a:xfrm>
        </p:spPr>
        <p:txBody>
          <a:bodyPr rIns="0">
            <a:noAutofit/>
          </a:bodyPr>
          <a:lstStyle>
            <a:lvl1pPr marL="0" indent="0" algn="l">
              <a:lnSpc>
                <a:spcPct val="100000"/>
              </a:lnSpc>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err="1"/>
              <a:t>Klik</a:t>
            </a:r>
            <a:r>
              <a:rPr lang="en-GB" dirty="0"/>
              <a:t> for at </a:t>
            </a:r>
            <a:r>
              <a:rPr lang="en-GB" dirty="0" err="1"/>
              <a:t>tilføje</a:t>
            </a:r>
            <a:r>
              <a:rPr lang="en-GB" dirty="0"/>
              <a:t> </a:t>
            </a:r>
            <a:r>
              <a:rPr lang="en-GB" dirty="0" err="1"/>
              <a:t>undertitel</a:t>
            </a:r>
            <a:endParaRPr lang="en-GB" dirty="0"/>
          </a:p>
        </p:txBody>
      </p:sp>
      <p:sp>
        <p:nvSpPr>
          <p:cNvPr id="38" name="Pladsholder til tekst 14"/>
          <p:cNvSpPr>
            <a:spLocks noGrp="1"/>
          </p:cNvSpPr>
          <p:nvPr>
            <p:ph type="body" sz="quarter" idx="13" hasCustomPrompt="1"/>
          </p:nvPr>
        </p:nvSpPr>
        <p:spPr>
          <a:xfrm>
            <a:off x="587375" y="4053600"/>
            <a:ext cx="3564334" cy="899766"/>
          </a:xfrm>
        </p:spPr>
        <p:txBody>
          <a:bodyPr rIns="0">
            <a:noAutofit/>
          </a:bodyPr>
          <a:lstStyle>
            <a:lvl1pPr marL="0" indent="0">
              <a:lnSpc>
                <a:spcPct val="100000"/>
              </a:lnSpc>
              <a:spcBef>
                <a:spcPts val="0"/>
              </a:spcBef>
              <a:buNone/>
              <a:defRPr sz="1800" baseline="0"/>
            </a:lvl1pPr>
          </a:lstStyle>
          <a:p>
            <a:pPr lvl="0"/>
            <a:r>
              <a:rPr lang="en-GB" dirty="0" err="1"/>
              <a:t>Navn</a:t>
            </a:r>
            <a:r>
              <a:rPr lang="en-GB" dirty="0"/>
              <a:t> </a:t>
            </a:r>
            <a:r>
              <a:rPr lang="en-GB" dirty="0" err="1"/>
              <a:t>på</a:t>
            </a:r>
            <a:r>
              <a:rPr lang="en-GB" dirty="0"/>
              <a:t> </a:t>
            </a:r>
            <a:r>
              <a:rPr lang="en-GB" dirty="0" err="1"/>
              <a:t>oplægsholder</a:t>
            </a:r>
            <a:r>
              <a:rPr lang="en-GB" dirty="0"/>
              <a:t>, KU-</a:t>
            </a:r>
            <a:r>
              <a:rPr lang="en-GB" dirty="0" err="1"/>
              <a:t>enhed</a:t>
            </a:r>
            <a:r>
              <a:rPr lang="en-GB" dirty="0"/>
              <a:t>, </a:t>
            </a:r>
            <a:r>
              <a:rPr lang="en-GB" dirty="0" err="1"/>
              <a:t>sted</a:t>
            </a:r>
            <a:r>
              <a:rPr lang="en-GB" dirty="0"/>
              <a:t> og </a:t>
            </a:r>
            <a:r>
              <a:rPr lang="en-GB" dirty="0" err="1"/>
              <a:t>dato</a:t>
            </a:r>
            <a:endParaRPr lang="en-GB" dirty="0"/>
          </a:p>
        </p:txBody>
      </p:sp>
      <p:sp>
        <p:nvSpPr>
          <p:cNvPr id="12" name="Titel 1"/>
          <p:cNvSpPr>
            <a:spLocks noGrp="1"/>
          </p:cNvSpPr>
          <p:nvPr>
            <p:ph type="body" sz="quarter" idx="14" hasCustomPrompt="1"/>
          </p:nvPr>
        </p:nvSpPr>
        <p:spPr>
          <a:xfrm>
            <a:off x="587375" y="1020200"/>
            <a:ext cx="3564334" cy="1763813"/>
          </a:xfrm>
        </p:spPr>
        <p:txBody>
          <a:bodyPr rIns="0">
            <a:noAutofit/>
          </a:bodyPr>
          <a:lstStyle>
            <a:lvl1pPr marL="0" indent="0">
              <a:lnSpc>
                <a:spcPct val="100000"/>
              </a:lnSpc>
              <a:spcBef>
                <a:spcPts val="0"/>
              </a:spcBef>
              <a:buNone/>
              <a:defRPr sz="3600" baseline="0">
                <a:solidFill>
                  <a:schemeClr val="accent1"/>
                </a:solidFill>
              </a:defRPr>
            </a:lvl1pPr>
          </a:lstStyle>
          <a:p>
            <a:pPr lvl="0"/>
            <a:r>
              <a:rPr lang="en-GB" dirty="0" err="1"/>
              <a:t>Klik</a:t>
            </a:r>
            <a:r>
              <a:rPr lang="en-GB" dirty="0"/>
              <a:t> for at </a:t>
            </a:r>
            <a:r>
              <a:rPr lang="en-GB" dirty="0" err="1"/>
              <a:t>tilføje</a:t>
            </a:r>
            <a:r>
              <a:rPr lang="en-GB" dirty="0"/>
              <a:t> </a:t>
            </a:r>
            <a:r>
              <a:rPr lang="en-GB" dirty="0" err="1"/>
              <a:t>titel</a:t>
            </a:r>
            <a:endParaRPr lang="en-GB" dirty="0"/>
          </a:p>
        </p:txBody>
      </p:sp>
    </p:spTree>
    <p:extLst>
      <p:ext uri="{BB962C8B-B14F-4D97-AF65-F5344CB8AC3E}">
        <p14:creationId xmlns:p14="http://schemas.microsoft.com/office/powerpoint/2010/main" val="4281795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 segl lille ">
    <p:spTree>
      <p:nvGrpSpPr>
        <p:cNvPr id="1" name=""/>
        <p:cNvGrpSpPr/>
        <p:nvPr/>
      </p:nvGrpSpPr>
      <p:grpSpPr>
        <a:xfrm>
          <a:off x="0" y="0"/>
          <a:ext cx="0" cy="0"/>
          <a:chOff x="0" y="0"/>
          <a:chExt cx="0" cy="0"/>
        </a:xfrm>
      </p:grpSpPr>
      <p:sp>
        <p:nvSpPr>
          <p:cNvPr id="11" name="Rectangle 7"/>
          <p:cNvSpPr/>
          <p:nvPr userDrawn="1"/>
        </p:nvSpPr>
        <p:spPr>
          <a:xfrm>
            <a:off x="1" y="0"/>
            <a:ext cx="914400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pic>
        <p:nvPicPr>
          <p:cNvPr id="10"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534" r="15398" b="7654"/>
          <a:stretch/>
        </p:blipFill>
        <p:spPr>
          <a:xfrm>
            <a:off x="-763323" y="0"/>
            <a:ext cx="9907323" cy="6858000"/>
          </a:xfrm>
          <a:prstGeom prst="rect">
            <a:avLst/>
          </a:prstGeom>
        </p:spPr>
      </p:pic>
      <p:sp>
        <p:nvSpPr>
          <p:cNvPr id="4" name="Pladsholder til dato 3"/>
          <p:cNvSpPr>
            <a:spLocks noGrp="1"/>
          </p:cNvSpPr>
          <p:nvPr>
            <p:ph type="dt" sz="half" idx="10"/>
          </p:nvPr>
        </p:nvSpPr>
        <p:spPr>
          <a:xfrm>
            <a:off x="7746833" y="-385200"/>
            <a:ext cx="611232" cy="176797"/>
          </a:xfrm>
        </p:spPr>
        <p:txBody>
          <a:bodyPr/>
          <a:lstStyle>
            <a:lvl1pPr>
              <a:defRPr sz="100">
                <a:solidFill>
                  <a:schemeClr val="bg1"/>
                </a:solidFill>
              </a:defRPr>
            </a:lvl1pPr>
          </a:lstStyle>
          <a:p>
            <a:fld id="{F6A51040-FFCC-4DA5-9EE7-1D801F662BDF}" type="datetime1">
              <a:rPr lang="en-GB" smtClean="0"/>
              <a:t>30/06/2025</a:t>
            </a:fld>
            <a:endParaRPr lang="en-GB" dirty="0"/>
          </a:p>
        </p:txBody>
      </p:sp>
      <p:sp>
        <p:nvSpPr>
          <p:cNvPr id="5" name="Pladsholder til sidefod 4"/>
          <p:cNvSpPr>
            <a:spLocks noGrp="1"/>
          </p:cNvSpPr>
          <p:nvPr>
            <p:ph type="ftr" sz="quarter" idx="11"/>
          </p:nvPr>
        </p:nvSpPr>
        <p:spPr>
          <a:xfrm>
            <a:off x="2427371" y="-385200"/>
            <a:ext cx="5235872" cy="176797"/>
          </a:xfrm>
        </p:spPr>
        <p:txBody>
          <a:bodyPr/>
          <a:lstStyle>
            <a:lvl1pPr>
              <a:defRPr sz="100">
                <a:solidFill>
                  <a:schemeClr val="bg1"/>
                </a:solidFill>
              </a:defRPr>
            </a:lvl1pPr>
          </a:lstStyle>
          <a:p>
            <a:endParaRPr lang="en-GB" dirty="0"/>
          </a:p>
        </p:txBody>
      </p:sp>
      <p:sp>
        <p:nvSpPr>
          <p:cNvPr id="6" name="Pladsholder til slidenummer 5"/>
          <p:cNvSpPr>
            <a:spLocks noGrp="1"/>
          </p:cNvSpPr>
          <p:nvPr>
            <p:ph type="sldNum" sz="quarter" idx="12"/>
          </p:nvPr>
        </p:nvSpPr>
        <p:spPr>
          <a:xfrm>
            <a:off x="8441657" y="-385200"/>
            <a:ext cx="286319" cy="176797"/>
          </a:xfrm>
        </p:spPr>
        <p:txBody>
          <a:bodyPr/>
          <a:lstStyle>
            <a:lvl1pPr>
              <a:defRPr sz="100">
                <a:solidFill>
                  <a:schemeClr val="bg1"/>
                </a:solidFill>
              </a:defRPr>
            </a:lvl1pPr>
          </a:lstStyle>
          <a:p>
            <a:fld id="{091A926C-488A-4E3E-9C21-57CAA120E114}" type="slidenum">
              <a:rPr lang="en-GB" smtClean="0"/>
              <a:pPr/>
              <a:t>‹#›</a:t>
            </a:fld>
            <a:endParaRPr lang="en-GB" dirty="0"/>
          </a:p>
        </p:txBody>
      </p:sp>
      <p:sp>
        <p:nvSpPr>
          <p:cNvPr id="22" name="Titel 2"/>
          <p:cNvSpPr>
            <a:spLocks noGrp="1"/>
          </p:cNvSpPr>
          <p:nvPr>
            <p:ph type="ctrTitle"/>
          </p:nvPr>
        </p:nvSpPr>
        <p:spPr>
          <a:xfrm>
            <a:off x="0" y="2271092"/>
            <a:ext cx="4469607" cy="3895200"/>
          </a:xfrm>
          <a:blipFill>
            <a:blip r:embed="rId3"/>
            <a:stretch>
              <a:fillRect/>
            </a:stretch>
          </a:blipFill>
        </p:spPr>
        <p:txBody>
          <a:bodyPr lIns="540000" tIns="468000" rIns="360000" bIns="2340000" anchor="b" anchorCtr="0">
            <a:noAutofit/>
          </a:bodyPr>
          <a:lstStyle>
            <a:lvl1pPr algn="l">
              <a:lnSpc>
                <a:spcPts val="4000"/>
              </a:lnSpc>
              <a:defRPr sz="3600">
                <a:solidFill>
                  <a:schemeClr val="bg1"/>
                </a:solidFill>
              </a:defRPr>
            </a:lvl1pPr>
          </a:lstStyle>
          <a:p>
            <a:r>
              <a:rPr lang="en-GB" dirty="0"/>
              <a:t>Click to edit Master title style</a:t>
            </a:r>
          </a:p>
        </p:txBody>
      </p:sp>
      <p:sp>
        <p:nvSpPr>
          <p:cNvPr id="15" name="Pladsholder til tekst 14"/>
          <p:cNvSpPr>
            <a:spLocks noGrp="1"/>
          </p:cNvSpPr>
          <p:nvPr>
            <p:ph type="body" sz="quarter" idx="13" hasCustomPrompt="1"/>
          </p:nvPr>
        </p:nvSpPr>
        <p:spPr>
          <a:xfrm>
            <a:off x="587374" y="4053600"/>
            <a:ext cx="3563425" cy="899766"/>
          </a:xfrm>
        </p:spPr>
        <p:txBody>
          <a:bodyPr rIns="0">
            <a:noAutofit/>
          </a:bodyPr>
          <a:lstStyle>
            <a:lvl1pPr marL="0" indent="0">
              <a:lnSpc>
                <a:spcPct val="100000"/>
              </a:lnSpc>
              <a:spcBef>
                <a:spcPts val="0"/>
              </a:spcBef>
              <a:buNone/>
              <a:defRPr sz="1800" baseline="0"/>
            </a:lvl1pPr>
          </a:lstStyle>
          <a:p>
            <a:pPr lvl="0"/>
            <a:r>
              <a:rPr lang="en-GB" dirty="0" err="1"/>
              <a:t>Navn</a:t>
            </a:r>
            <a:r>
              <a:rPr lang="en-GB" dirty="0"/>
              <a:t> </a:t>
            </a:r>
            <a:r>
              <a:rPr lang="en-GB" dirty="0" err="1"/>
              <a:t>på</a:t>
            </a:r>
            <a:r>
              <a:rPr lang="en-GB" dirty="0"/>
              <a:t> </a:t>
            </a:r>
            <a:r>
              <a:rPr lang="en-GB" dirty="0" err="1"/>
              <a:t>oplægsholder</a:t>
            </a:r>
            <a:r>
              <a:rPr lang="en-GB" dirty="0"/>
              <a:t>, KU-</a:t>
            </a:r>
            <a:r>
              <a:rPr lang="en-GB" dirty="0" err="1"/>
              <a:t>enhed</a:t>
            </a:r>
            <a:r>
              <a:rPr lang="en-GB" dirty="0"/>
              <a:t>, </a:t>
            </a:r>
            <a:r>
              <a:rPr lang="en-GB" dirty="0" err="1"/>
              <a:t>sted</a:t>
            </a:r>
            <a:r>
              <a:rPr lang="en-GB" dirty="0"/>
              <a:t> og </a:t>
            </a:r>
            <a:r>
              <a:rPr lang="en-GB" dirty="0" err="1"/>
              <a:t>dato</a:t>
            </a:r>
            <a:endParaRPr lang="en-GB" dirty="0"/>
          </a:p>
        </p:txBody>
      </p:sp>
      <p:sp>
        <p:nvSpPr>
          <p:cNvPr id="9" name="Titel 1"/>
          <p:cNvSpPr>
            <a:spLocks noGrp="1"/>
          </p:cNvSpPr>
          <p:nvPr>
            <p:ph type="body" sz="quarter" idx="15" hasCustomPrompt="1"/>
          </p:nvPr>
        </p:nvSpPr>
        <p:spPr>
          <a:xfrm>
            <a:off x="587373" y="2610941"/>
            <a:ext cx="3563426" cy="1212926"/>
          </a:xfrm>
        </p:spPr>
        <p:txBody>
          <a:bodyPr rIns="0">
            <a:noAutofit/>
          </a:bodyPr>
          <a:lstStyle>
            <a:lvl1pPr marL="0" indent="0">
              <a:lnSpc>
                <a:spcPct val="100000"/>
              </a:lnSpc>
              <a:spcBef>
                <a:spcPts val="0"/>
              </a:spcBef>
              <a:buNone/>
              <a:defRPr sz="3600" baseline="0">
                <a:solidFill>
                  <a:schemeClr val="accent1"/>
                </a:solidFill>
              </a:defRPr>
            </a:lvl1pPr>
          </a:lstStyle>
          <a:p>
            <a:pPr lvl="0"/>
            <a:r>
              <a:rPr lang="en-GB" dirty="0" err="1"/>
              <a:t>Klik</a:t>
            </a:r>
            <a:r>
              <a:rPr lang="en-GB" dirty="0"/>
              <a:t> for at </a:t>
            </a:r>
            <a:r>
              <a:rPr lang="en-GB" dirty="0" err="1"/>
              <a:t>tilføje</a:t>
            </a:r>
            <a:r>
              <a:rPr lang="en-GB" dirty="0"/>
              <a:t> </a:t>
            </a:r>
            <a:r>
              <a:rPr lang="en-GB" dirty="0" err="1"/>
              <a:t>titel</a:t>
            </a:r>
            <a:endParaRPr lang="en-GB" dirty="0"/>
          </a:p>
        </p:txBody>
      </p:sp>
    </p:spTree>
    <p:extLst>
      <p:ext uri="{BB962C8B-B14F-4D97-AF65-F5344CB8AC3E}">
        <p14:creationId xmlns:p14="http://schemas.microsoft.com/office/powerpoint/2010/main" val="1690682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og indholdsobjek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7375" y="619125"/>
            <a:ext cx="7967664" cy="865188"/>
          </a:xfrm>
        </p:spPr>
        <p:txBody>
          <a:bodyPr/>
          <a:lstStyle/>
          <a:p>
            <a:r>
              <a:rPr lang="en-GB" dirty="0" err="1"/>
              <a:t>Klik</a:t>
            </a:r>
            <a:r>
              <a:rPr lang="en-GB" dirty="0"/>
              <a:t> for at </a:t>
            </a:r>
            <a:r>
              <a:rPr lang="en-GB" dirty="0" err="1"/>
              <a:t>tilføje</a:t>
            </a:r>
            <a:r>
              <a:rPr lang="en-GB" dirty="0"/>
              <a:t> </a:t>
            </a:r>
            <a:r>
              <a:rPr lang="en-GB" dirty="0" err="1"/>
              <a:t>overskrift</a:t>
            </a:r>
            <a:endParaRPr lang="en-GB" dirty="0"/>
          </a:p>
        </p:txBody>
      </p:sp>
      <p:sp>
        <p:nvSpPr>
          <p:cNvPr id="3" name="Pladsholder til indhold 2"/>
          <p:cNvSpPr>
            <a:spLocks noGrp="1"/>
          </p:cNvSpPr>
          <p:nvPr>
            <p:ph idx="1" hasCustomPrompt="1"/>
          </p:nvPr>
        </p:nvSpPr>
        <p:spPr>
          <a:xfrm>
            <a:off x="587375" y="1635125"/>
            <a:ext cx="7967663" cy="4668178"/>
          </a:xfrm>
        </p:spPr>
        <p:txBody>
          <a:bodyPr vert="horz" lIns="0" tIns="0" rIns="0" bIns="0" rtlCol="0">
            <a:noAutofit/>
          </a:bodyPr>
          <a:lstStyle>
            <a:lvl1pPr>
              <a:defRPr lang="da-DK" dirty="0" smtClean="0"/>
            </a:lvl1pPr>
            <a:lvl2pPr>
              <a:defRPr lang="da-DK" dirty="0" smtClean="0"/>
            </a:lvl2pPr>
            <a:lvl3pPr>
              <a:defRPr lang="da-DK" dirty="0" smtClean="0"/>
            </a:lvl3pPr>
            <a:lvl4pPr>
              <a:defRPr lang="da-DK" dirty="0" smtClean="0"/>
            </a:lvl4pPr>
            <a:lvl5pPr>
              <a:defRPr lang="da-DK" dirty="0"/>
            </a:lvl5pPr>
          </a:lstStyle>
          <a:p>
            <a:pPr lvl="0"/>
            <a:r>
              <a:rPr lang="en-GB" dirty="0" err="1"/>
              <a:t>Klik</a:t>
            </a:r>
            <a:r>
              <a:rPr lang="en-GB" dirty="0"/>
              <a:t> for at </a:t>
            </a:r>
            <a:r>
              <a:rPr lang="en-GB" dirty="0" err="1"/>
              <a:t>indsætte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4" name="Pladsholder til dato 3"/>
          <p:cNvSpPr>
            <a:spLocks noGrp="1"/>
          </p:cNvSpPr>
          <p:nvPr>
            <p:ph type="dt" sz="half" idx="10"/>
          </p:nvPr>
        </p:nvSpPr>
        <p:spPr/>
        <p:txBody>
          <a:bodyPr/>
          <a:lstStyle/>
          <a:p>
            <a:fld id="{9559C3B8-8305-4302-86E9-000A6603B7F0}"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7968597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og to indholdsobjekter ">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7376" y="619125"/>
            <a:ext cx="7967662" cy="865188"/>
          </a:xfrm>
        </p:spPr>
        <p:txBody>
          <a:bodyPr/>
          <a:lstStyle/>
          <a:p>
            <a:r>
              <a:rPr lang="en-GB" dirty="0" err="1"/>
              <a:t>Klik</a:t>
            </a:r>
            <a:r>
              <a:rPr lang="en-GB" dirty="0"/>
              <a:t> for at </a:t>
            </a:r>
            <a:r>
              <a:rPr lang="en-GB" dirty="0" err="1"/>
              <a:t>tilføje</a:t>
            </a:r>
            <a:r>
              <a:rPr lang="en-GB" dirty="0"/>
              <a:t> </a:t>
            </a:r>
            <a:r>
              <a:rPr lang="en-GB" dirty="0" err="1"/>
              <a:t>overskrift</a:t>
            </a:r>
            <a:endParaRPr lang="en-GB" dirty="0"/>
          </a:p>
        </p:txBody>
      </p:sp>
      <p:sp>
        <p:nvSpPr>
          <p:cNvPr id="3" name="Pladsholder til indhold 2"/>
          <p:cNvSpPr>
            <a:spLocks noGrp="1"/>
          </p:cNvSpPr>
          <p:nvPr>
            <p:ph sz="half" idx="1" hasCustomPrompt="1"/>
          </p:nvPr>
        </p:nvSpPr>
        <p:spPr>
          <a:xfrm>
            <a:off x="587376" y="1635125"/>
            <a:ext cx="3873247" cy="4667250"/>
          </a:xfrm>
        </p:spPr>
        <p:txBody>
          <a:bodyPr vert="horz" lIns="0" tIns="0" rIns="0" bIns="0" rtlCol="0">
            <a:noAutofit/>
          </a:bodyPr>
          <a:lstStyle>
            <a:lvl1pPr>
              <a:defRPr lang="da-DK" dirty="0" smtClean="0"/>
            </a:lvl1pPr>
            <a:lvl2pPr>
              <a:defRPr lang="da-DK" dirty="0" smtClean="0"/>
            </a:lvl2pPr>
            <a:lvl3pPr>
              <a:defRPr lang="da-DK" dirty="0" smtClean="0"/>
            </a:lvl3pPr>
            <a:lvl4pPr>
              <a:defRPr lang="da-DK" dirty="0" smtClean="0"/>
            </a:lvl4pPr>
            <a:lvl5pPr>
              <a:defRPr lang="da-DK" dirty="0"/>
            </a:lvl5pPr>
          </a:lstStyle>
          <a:p>
            <a:pPr lvl="0"/>
            <a:r>
              <a:rPr lang="en-GB" dirty="0" err="1"/>
              <a:t>Klik</a:t>
            </a:r>
            <a:r>
              <a:rPr lang="en-GB" dirty="0"/>
              <a:t> for at </a:t>
            </a:r>
            <a:r>
              <a:rPr lang="en-GB" dirty="0" err="1"/>
              <a:t>indsætte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4" name="Pladsholder til indhold 3"/>
          <p:cNvSpPr>
            <a:spLocks noGrp="1"/>
          </p:cNvSpPr>
          <p:nvPr>
            <p:ph sz="half" idx="2" hasCustomPrompt="1"/>
          </p:nvPr>
        </p:nvSpPr>
        <p:spPr>
          <a:xfrm>
            <a:off x="4678759" y="1635125"/>
            <a:ext cx="3876280" cy="4667250"/>
          </a:xfrm>
        </p:spPr>
        <p:txBody>
          <a:bodyPr vert="horz" lIns="0" tIns="0" rIns="0" bIns="0" rtlCol="0">
            <a:noAutofit/>
          </a:bodyPr>
          <a:lstStyle>
            <a:lvl1pPr>
              <a:defRPr lang="da-DK" dirty="0" smtClean="0"/>
            </a:lvl1pPr>
            <a:lvl2pPr>
              <a:defRPr lang="da-DK" dirty="0" smtClean="0"/>
            </a:lvl2pPr>
            <a:lvl3pPr>
              <a:defRPr lang="da-DK" dirty="0" smtClean="0"/>
            </a:lvl3pPr>
            <a:lvl4pPr>
              <a:defRPr lang="da-DK" dirty="0" smtClean="0"/>
            </a:lvl4pPr>
            <a:lvl5pPr>
              <a:defRPr lang="da-DK" dirty="0"/>
            </a:lvl5pPr>
          </a:lstStyle>
          <a:p>
            <a:pPr lvl="0"/>
            <a:r>
              <a:rPr lang="en-GB" dirty="0" err="1"/>
              <a:t>Klik</a:t>
            </a:r>
            <a:r>
              <a:rPr lang="en-GB" dirty="0"/>
              <a:t> for at </a:t>
            </a:r>
            <a:r>
              <a:rPr lang="en-GB" dirty="0" err="1"/>
              <a:t>indsætte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0B471D04-F937-432B-8A66-FEEF5F593FD8}" type="datetime1">
              <a:rPr lang="en-GB" smtClean="0"/>
              <a:t>30/06/2025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754967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indhold og billede">
    <p:spTree>
      <p:nvGrpSpPr>
        <p:cNvPr id="1" name=""/>
        <p:cNvGrpSpPr/>
        <p:nvPr/>
      </p:nvGrpSpPr>
      <p:grpSpPr>
        <a:xfrm>
          <a:off x="0" y="0"/>
          <a:ext cx="0" cy="0"/>
          <a:chOff x="0" y="0"/>
          <a:chExt cx="0" cy="0"/>
        </a:xfrm>
      </p:grpSpPr>
      <p:sp>
        <p:nvSpPr>
          <p:cNvPr id="9" name="Pladsholder til billede 9"/>
          <p:cNvSpPr>
            <a:spLocks noGrp="1"/>
          </p:cNvSpPr>
          <p:nvPr>
            <p:ph type="pic" sz="quarter" idx="15" hasCustomPrompt="1"/>
          </p:nvPr>
        </p:nvSpPr>
        <p:spPr>
          <a:xfrm>
            <a:off x="4682729" y="1635125"/>
            <a:ext cx="3872309" cy="4667251"/>
          </a:xfrm>
          <a:blipFill>
            <a:blip r:embed="rId2"/>
            <a:srcRect/>
            <a:stretch>
              <a:fillRect l="-11" r="-9936"/>
            </a:stretch>
          </a:blipFill>
        </p:spPr>
        <p:txBody>
          <a:bodyPr lIns="0" tIns="2304000" rIns="0" anchor="t" anchorCtr="0"/>
          <a:lstStyle>
            <a:lvl1pPr marL="0" indent="0" algn="ctr">
              <a:buNone/>
              <a:defRPr sz="2400" baseline="0">
                <a:solidFill>
                  <a:schemeClr val="bg1"/>
                </a:solidFill>
                <a:sym typeface="Wingdings" panose="05000000000000000000" pitchFamily="2" charset="2"/>
              </a:defRPr>
            </a:lvl1pPr>
          </a:lstStyle>
          <a:p>
            <a:r>
              <a:rPr lang="en-GB" dirty="0" err="1"/>
              <a:t>Klik</a:t>
            </a:r>
            <a:r>
              <a:rPr lang="en-GB" dirty="0"/>
              <a:t> </a:t>
            </a:r>
            <a:r>
              <a:rPr lang="en-GB" dirty="0" err="1"/>
              <a:t>på</a:t>
            </a:r>
            <a:r>
              <a:rPr lang="en-GB" dirty="0"/>
              <a:t> </a:t>
            </a:r>
            <a:r>
              <a:rPr lang="en-GB" dirty="0" err="1"/>
              <a:t>ikonet</a:t>
            </a:r>
            <a:r>
              <a:rPr lang="en-GB" dirty="0"/>
              <a:t>, </a:t>
            </a:r>
            <a:r>
              <a:rPr lang="en-GB" dirty="0" err="1"/>
              <a:t>hvis</a:t>
            </a:r>
            <a:br>
              <a:rPr lang="en-GB" dirty="0"/>
            </a:br>
            <a:r>
              <a:rPr lang="en-GB" dirty="0"/>
              <a:t>du </a:t>
            </a:r>
            <a:r>
              <a:rPr lang="en-GB" dirty="0" err="1"/>
              <a:t>vil</a:t>
            </a:r>
            <a:r>
              <a:rPr lang="en-GB" dirty="0"/>
              <a:t> </a:t>
            </a:r>
            <a:r>
              <a:rPr lang="en-GB" dirty="0" err="1"/>
              <a:t>udskifte</a:t>
            </a:r>
            <a:r>
              <a:rPr lang="en-GB" dirty="0"/>
              <a:t> </a:t>
            </a:r>
            <a:r>
              <a:rPr lang="en-GB" dirty="0" err="1"/>
              <a:t>billedet</a:t>
            </a:r>
            <a:endParaRPr lang="en-GB" dirty="0"/>
          </a:p>
        </p:txBody>
      </p:sp>
      <p:sp>
        <p:nvSpPr>
          <p:cNvPr id="2" name="Titel 1"/>
          <p:cNvSpPr>
            <a:spLocks noGrp="1"/>
          </p:cNvSpPr>
          <p:nvPr>
            <p:ph type="title" hasCustomPrompt="1"/>
          </p:nvPr>
        </p:nvSpPr>
        <p:spPr>
          <a:xfrm>
            <a:off x="587377" y="619125"/>
            <a:ext cx="7967662" cy="865188"/>
          </a:xfrm>
        </p:spPr>
        <p:txBody>
          <a:bodyPr/>
          <a:lstStyle/>
          <a:p>
            <a:r>
              <a:rPr lang="en-GB" dirty="0" err="1"/>
              <a:t>Klik</a:t>
            </a:r>
            <a:r>
              <a:rPr lang="en-GB" dirty="0"/>
              <a:t> for at </a:t>
            </a:r>
            <a:r>
              <a:rPr lang="en-GB" dirty="0" err="1"/>
              <a:t>tilføje</a:t>
            </a:r>
            <a:r>
              <a:rPr lang="en-GB" dirty="0"/>
              <a:t> </a:t>
            </a:r>
            <a:r>
              <a:rPr lang="en-GB" dirty="0" err="1"/>
              <a:t>overskrift</a:t>
            </a:r>
            <a:endParaRPr lang="en-GB" dirty="0"/>
          </a:p>
        </p:txBody>
      </p:sp>
      <p:sp>
        <p:nvSpPr>
          <p:cNvPr id="3" name="Pladsholder til indhold 2"/>
          <p:cNvSpPr>
            <a:spLocks noGrp="1"/>
          </p:cNvSpPr>
          <p:nvPr>
            <p:ph sz="half" idx="1" hasCustomPrompt="1"/>
          </p:nvPr>
        </p:nvSpPr>
        <p:spPr>
          <a:xfrm>
            <a:off x="587376" y="1635125"/>
            <a:ext cx="3882486" cy="4667251"/>
          </a:xfrm>
        </p:spPr>
        <p:txBody>
          <a:bodyPr vert="horz" lIns="0" tIns="0" rIns="0" bIns="0" rtlCol="0">
            <a:noAutofit/>
          </a:bodyPr>
          <a:lstStyle>
            <a:lvl1pPr>
              <a:defRPr lang="da-DK" dirty="0" smtClean="0"/>
            </a:lvl1pPr>
            <a:lvl2pPr>
              <a:defRPr lang="da-DK" dirty="0" smtClean="0"/>
            </a:lvl2pPr>
            <a:lvl3pPr>
              <a:defRPr lang="da-DK" dirty="0" smtClean="0"/>
            </a:lvl3pPr>
            <a:lvl4pPr>
              <a:defRPr lang="da-DK" dirty="0" smtClean="0"/>
            </a:lvl4pPr>
            <a:lvl5pPr>
              <a:defRPr lang="da-DK" dirty="0"/>
            </a:lvl5pPr>
          </a:lstStyle>
          <a:p>
            <a:pPr lvl="0"/>
            <a:r>
              <a:rPr lang="en-GB" dirty="0" err="1"/>
              <a:t>Klik</a:t>
            </a:r>
            <a:r>
              <a:rPr lang="en-GB" dirty="0"/>
              <a:t> for at </a:t>
            </a:r>
            <a:r>
              <a:rPr lang="en-GB" dirty="0" err="1"/>
              <a:t>indsætte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p:txBody>
      </p:sp>
      <p:sp>
        <p:nvSpPr>
          <p:cNvPr id="5" name="Pladsholder til dato 4"/>
          <p:cNvSpPr>
            <a:spLocks noGrp="1"/>
          </p:cNvSpPr>
          <p:nvPr>
            <p:ph type="dt" sz="half" idx="10"/>
          </p:nvPr>
        </p:nvSpPr>
        <p:spPr/>
        <p:txBody>
          <a:bodyPr/>
          <a:lstStyle/>
          <a:p>
            <a:fld id="{2735B13D-916E-4C6C-A578-315329E247C9}" type="datetime1">
              <a:rPr lang="en-GB" smtClean="0"/>
              <a:t>30/06/2025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017783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og billede ">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587376" y="1635125"/>
            <a:ext cx="7967662" cy="4667250"/>
          </a:xfrm>
          <a:blipFill>
            <a:blip r:embed="rId2"/>
            <a:stretch>
              <a:fillRect/>
            </a:stretch>
          </a:blipFill>
        </p:spPr>
        <p:txBody>
          <a:bodyPr lIns="0" tIns="2304000" rIns="0" anchor="t" anchorCtr="0"/>
          <a:lstStyle>
            <a:lvl1pPr marL="0" indent="0" algn="ctr">
              <a:buNone/>
              <a:defRPr sz="2400" baseline="0">
                <a:solidFill>
                  <a:schemeClr val="bg1"/>
                </a:solidFill>
                <a:sym typeface="Wingdings" panose="05000000000000000000" pitchFamily="2" charset="2"/>
              </a:defRPr>
            </a:lvl1pPr>
          </a:lstStyle>
          <a:p>
            <a:r>
              <a:rPr lang="en-GB" dirty="0" err="1"/>
              <a:t>Klik</a:t>
            </a:r>
            <a:r>
              <a:rPr lang="en-GB" dirty="0"/>
              <a:t> </a:t>
            </a:r>
            <a:r>
              <a:rPr lang="en-GB" dirty="0" err="1"/>
              <a:t>på</a:t>
            </a:r>
            <a:r>
              <a:rPr lang="en-GB" dirty="0"/>
              <a:t> </a:t>
            </a:r>
            <a:r>
              <a:rPr lang="en-GB" dirty="0" err="1"/>
              <a:t>ikonet</a:t>
            </a:r>
            <a:r>
              <a:rPr lang="en-GB" dirty="0"/>
              <a:t>, </a:t>
            </a:r>
            <a:r>
              <a:rPr lang="en-GB" dirty="0" err="1"/>
              <a:t>hvis</a:t>
            </a:r>
            <a:br>
              <a:rPr lang="en-GB" dirty="0"/>
            </a:br>
            <a:r>
              <a:rPr lang="en-GB" dirty="0"/>
              <a:t>du </a:t>
            </a:r>
            <a:r>
              <a:rPr lang="en-GB" dirty="0" err="1"/>
              <a:t>vil</a:t>
            </a:r>
            <a:r>
              <a:rPr lang="en-GB" dirty="0"/>
              <a:t> </a:t>
            </a:r>
            <a:r>
              <a:rPr lang="en-GB" dirty="0" err="1"/>
              <a:t>udskifte</a:t>
            </a:r>
            <a:r>
              <a:rPr lang="en-GB" dirty="0"/>
              <a:t> </a:t>
            </a:r>
            <a:r>
              <a:rPr lang="en-GB" dirty="0" err="1"/>
              <a:t>billedet</a:t>
            </a:r>
            <a:endParaRPr lang="en-GB" dirty="0"/>
          </a:p>
        </p:txBody>
      </p:sp>
      <p:sp>
        <p:nvSpPr>
          <p:cNvPr id="2" name="Titel 1"/>
          <p:cNvSpPr>
            <a:spLocks noGrp="1"/>
          </p:cNvSpPr>
          <p:nvPr>
            <p:ph type="title" hasCustomPrompt="1"/>
          </p:nvPr>
        </p:nvSpPr>
        <p:spPr>
          <a:xfrm>
            <a:off x="587376" y="619125"/>
            <a:ext cx="7967663" cy="865188"/>
          </a:xfrm>
        </p:spPr>
        <p:txBody>
          <a:bodyPr/>
          <a:lstStyle/>
          <a:p>
            <a:r>
              <a:rPr lang="en-GB" dirty="0" err="1"/>
              <a:t>Klik</a:t>
            </a:r>
            <a:r>
              <a:rPr lang="en-GB" dirty="0"/>
              <a:t> for at </a:t>
            </a:r>
            <a:r>
              <a:rPr lang="en-GB" dirty="0" err="1"/>
              <a:t>tilføje</a:t>
            </a:r>
            <a:r>
              <a:rPr lang="en-GB" dirty="0"/>
              <a:t> </a:t>
            </a:r>
            <a:r>
              <a:rPr lang="en-GB" dirty="0" err="1"/>
              <a:t>overskrift</a:t>
            </a:r>
            <a:endParaRPr lang="en-GB" dirty="0"/>
          </a:p>
        </p:txBody>
      </p:sp>
      <p:sp>
        <p:nvSpPr>
          <p:cNvPr id="5" name="Pladsholder til dato 4"/>
          <p:cNvSpPr>
            <a:spLocks noGrp="1"/>
          </p:cNvSpPr>
          <p:nvPr>
            <p:ph type="dt" sz="half" idx="10"/>
          </p:nvPr>
        </p:nvSpPr>
        <p:spPr/>
        <p:txBody>
          <a:bodyPr/>
          <a:lstStyle/>
          <a:p>
            <a:fld id="{1235C9CB-6104-43B9-8E3B-B5E961BFB42C}" type="datetime1">
              <a:rPr lang="en-GB" smtClean="0"/>
              <a:t>30/06/2025</a:t>
            </a:fld>
            <a:endParaRPr lang="en-GB" dirty="0"/>
          </a:p>
        </p:txBody>
      </p:sp>
      <p:sp>
        <p:nvSpPr>
          <p:cNvPr id="6" name="Pladsholder til sidefod 5"/>
          <p:cNvSpPr>
            <a:spLocks noGrp="1"/>
          </p:cNvSpPr>
          <p:nvPr>
            <p:ph type="ftr" sz="quarter" idx="11"/>
          </p:nvPr>
        </p:nvSpPr>
        <p:spPr/>
        <p:txBody>
          <a:bodyPr/>
          <a:lstStyle/>
          <a:p>
            <a:endParaRPr lang="en-GB" dirty="0"/>
          </a:p>
        </p:txBody>
      </p:sp>
      <p:sp>
        <p:nvSpPr>
          <p:cNvPr id="7" name="Pladsholder til slidenummer 6"/>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19167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ille tekstlabel højre og billede ">
    <p:spTree>
      <p:nvGrpSpPr>
        <p:cNvPr id="1" name=""/>
        <p:cNvGrpSpPr/>
        <p:nvPr/>
      </p:nvGrpSpPr>
      <p:grpSpPr>
        <a:xfrm>
          <a:off x="0" y="0"/>
          <a:ext cx="0" cy="0"/>
          <a:chOff x="0" y="0"/>
          <a:chExt cx="0" cy="0"/>
        </a:xfrm>
      </p:grpSpPr>
      <p:sp>
        <p:nvSpPr>
          <p:cNvPr id="7" name="Pladsholder til billede 9"/>
          <p:cNvSpPr>
            <a:spLocks noGrp="1"/>
          </p:cNvSpPr>
          <p:nvPr>
            <p:ph type="pic" sz="quarter" idx="14" hasCustomPrompt="1"/>
          </p:nvPr>
        </p:nvSpPr>
        <p:spPr>
          <a:xfrm>
            <a:off x="0" y="334852"/>
            <a:ext cx="9144000" cy="6523149"/>
          </a:xfrm>
          <a:blipFill>
            <a:blip r:embed="rId2"/>
            <a:stretch>
              <a:fillRect/>
            </a:stretch>
          </a:blipFill>
        </p:spPr>
        <p:txBody>
          <a:bodyPr lIns="0" tIns="360000" rIns="4932000" anchor="ctr" anchorCtr="0"/>
          <a:lstStyle>
            <a:lvl1pPr marL="0" indent="0" algn="r">
              <a:buNone/>
              <a:defRPr sz="2400" baseline="0">
                <a:solidFill>
                  <a:schemeClr val="tx1"/>
                </a:solidFill>
                <a:sym typeface="Wingdings" panose="05000000000000000000" pitchFamily="2" charset="2"/>
              </a:defRPr>
            </a:lvl1pPr>
          </a:lstStyle>
          <a:p>
            <a:r>
              <a:rPr lang="en-GB" dirty="0" err="1"/>
              <a:t>Klik</a:t>
            </a:r>
            <a:r>
              <a:rPr lang="en-GB" dirty="0"/>
              <a:t> </a:t>
            </a:r>
            <a:r>
              <a:rPr lang="en-GB" dirty="0" err="1"/>
              <a:t>på</a:t>
            </a:r>
            <a:r>
              <a:rPr lang="en-GB" dirty="0"/>
              <a:t> </a:t>
            </a:r>
            <a:r>
              <a:rPr lang="en-GB" dirty="0" err="1"/>
              <a:t>ikonet</a:t>
            </a:r>
            <a:r>
              <a:rPr lang="en-GB" dirty="0"/>
              <a:t>, </a:t>
            </a:r>
            <a:r>
              <a:rPr lang="en-GB" dirty="0" err="1"/>
              <a:t>hvis</a:t>
            </a:r>
            <a:r>
              <a:rPr lang="en-GB" dirty="0"/>
              <a:t>   </a:t>
            </a:r>
            <a:br>
              <a:rPr lang="en-GB" dirty="0"/>
            </a:br>
            <a:r>
              <a:rPr lang="en-GB" dirty="0"/>
              <a:t>du </a:t>
            </a:r>
            <a:r>
              <a:rPr lang="en-GB" dirty="0" err="1"/>
              <a:t>vil</a:t>
            </a:r>
            <a:r>
              <a:rPr lang="en-GB" dirty="0"/>
              <a:t> </a:t>
            </a:r>
            <a:r>
              <a:rPr lang="en-GB" dirty="0" err="1"/>
              <a:t>udskifte</a:t>
            </a:r>
            <a:r>
              <a:rPr lang="en-GB" dirty="0"/>
              <a:t> </a:t>
            </a:r>
            <a:r>
              <a:rPr lang="en-GB" dirty="0" err="1"/>
              <a:t>billedet</a:t>
            </a:r>
            <a:endParaRPr lang="en-GB" dirty="0"/>
          </a:p>
        </p:txBody>
      </p:sp>
      <p:sp>
        <p:nvSpPr>
          <p:cNvPr id="2" name="Titel 1"/>
          <p:cNvSpPr>
            <a:spLocks noGrp="1"/>
          </p:cNvSpPr>
          <p:nvPr>
            <p:ph type="title" hasCustomPrompt="1"/>
          </p:nvPr>
        </p:nvSpPr>
        <p:spPr>
          <a:xfrm>
            <a:off x="4682728" y="4903567"/>
            <a:ext cx="4461272" cy="1398808"/>
          </a:xfrm>
          <a:solidFill>
            <a:srgbClr val="A31D20">
              <a:alpha val="95000"/>
            </a:srgbClr>
          </a:solidFill>
        </p:spPr>
        <p:txBody>
          <a:bodyPr lIns="252000" tIns="144000" rIns="540000" bIns="144000" anchor="t" anchorCtr="0"/>
          <a:lstStyle>
            <a:lvl1pPr marL="0" marR="0" indent="0" algn="l" defTabSz="685800" rtl="0" eaLnBrk="1" fontAlgn="auto" latinLnBrk="0" hangingPunct="1">
              <a:lnSpc>
                <a:spcPct val="100000"/>
              </a:lnSpc>
              <a:spcBef>
                <a:spcPct val="0"/>
              </a:spcBef>
              <a:spcAft>
                <a:spcPts val="0"/>
              </a:spcAft>
              <a:buClrTx/>
              <a:buSzTx/>
              <a:buFontTx/>
              <a:buNone/>
              <a:tabLst/>
              <a:defRPr sz="2400">
                <a:solidFill>
                  <a:schemeClr val="bg1"/>
                </a:solidFill>
              </a:defRPr>
            </a:lvl1pPr>
          </a:lstStyle>
          <a:p>
            <a:r>
              <a:rPr lang="en-GB" dirty="0" err="1"/>
              <a:t>Klik</a:t>
            </a:r>
            <a:r>
              <a:rPr lang="en-GB" dirty="0"/>
              <a:t> for at </a:t>
            </a:r>
            <a:r>
              <a:rPr lang="en-GB" dirty="0" err="1"/>
              <a:t>tilføje</a:t>
            </a:r>
            <a:r>
              <a:rPr lang="en-GB" dirty="0"/>
              <a:t> </a:t>
            </a:r>
            <a:r>
              <a:rPr lang="en-GB" dirty="0" err="1"/>
              <a:t>tekst</a:t>
            </a:r>
            <a:r>
              <a:rPr lang="en-GB" dirty="0"/>
              <a:t> </a:t>
            </a:r>
          </a:p>
        </p:txBody>
      </p:sp>
      <p:sp>
        <p:nvSpPr>
          <p:cNvPr id="4" name="Pladsholder til dato 3"/>
          <p:cNvSpPr>
            <a:spLocks noGrp="1"/>
          </p:cNvSpPr>
          <p:nvPr>
            <p:ph type="dt" sz="half" idx="10"/>
          </p:nvPr>
        </p:nvSpPr>
        <p:spPr/>
        <p:txBody>
          <a:bodyPr/>
          <a:lstStyle/>
          <a:p>
            <a:fld id="{71178177-EBF0-42B2-86B5-15CE90E902C5}"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25605502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lle tekstlabel venstre og billede">
    <p:spTree>
      <p:nvGrpSpPr>
        <p:cNvPr id="1" name=""/>
        <p:cNvGrpSpPr/>
        <p:nvPr/>
      </p:nvGrpSpPr>
      <p:grpSpPr>
        <a:xfrm>
          <a:off x="0" y="0"/>
          <a:ext cx="0" cy="0"/>
          <a:chOff x="0" y="0"/>
          <a:chExt cx="0" cy="0"/>
        </a:xfrm>
      </p:grpSpPr>
      <p:sp>
        <p:nvSpPr>
          <p:cNvPr id="7" name="Pladsholder til billede 9"/>
          <p:cNvSpPr>
            <a:spLocks noGrp="1"/>
          </p:cNvSpPr>
          <p:nvPr>
            <p:ph type="pic" sz="quarter" idx="14" hasCustomPrompt="1"/>
          </p:nvPr>
        </p:nvSpPr>
        <p:spPr>
          <a:xfrm>
            <a:off x="0" y="334852"/>
            <a:ext cx="9144000" cy="6523149"/>
          </a:xfrm>
          <a:blipFill>
            <a:blip r:embed="rId2"/>
            <a:stretch>
              <a:fillRect/>
            </a:stretch>
          </a:blipFill>
        </p:spPr>
        <p:txBody>
          <a:bodyPr lIns="0" tIns="360000" rIns="4932000" anchor="ctr" anchorCtr="0"/>
          <a:lstStyle>
            <a:lvl1pPr marL="0" indent="0" algn="r">
              <a:buNone/>
              <a:defRPr sz="2400" baseline="0">
                <a:solidFill>
                  <a:schemeClr val="bg1"/>
                </a:solidFill>
                <a:sym typeface="Wingdings" panose="05000000000000000000" pitchFamily="2" charset="2"/>
              </a:defRPr>
            </a:lvl1pPr>
          </a:lstStyle>
          <a:p>
            <a:r>
              <a:rPr lang="en-GB" dirty="0" err="1"/>
              <a:t>Klik</a:t>
            </a:r>
            <a:r>
              <a:rPr lang="en-GB" dirty="0"/>
              <a:t> </a:t>
            </a:r>
            <a:r>
              <a:rPr lang="en-GB" dirty="0" err="1"/>
              <a:t>på</a:t>
            </a:r>
            <a:r>
              <a:rPr lang="en-GB" dirty="0"/>
              <a:t> </a:t>
            </a:r>
            <a:r>
              <a:rPr lang="en-GB" dirty="0" err="1"/>
              <a:t>ikonet</a:t>
            </a:r>
            <a:r>
              <a:rPr lang="en-GB" dirty="0"/>
              <a:t>, </a:t>
            </a:r>
            <a:r>
              <a:rPr lang="en-GB" dirty="0" err="1"/>
              <a:t>hvis</a:t>
            </a:r>
            <a:r>
              <a:rPr lang="en-GB" dirty="0"/>
              <a:t>   </a:t>
            </a:r>
            <a:br>
              <a:rPr lang="en-GB" dirty="0"/>
            </a:br>
            <a:r>
              <a:rPr lang="en-GB" dirty="0"/>
              <a:t>du </a:t>
            </a:r>
            <a:r>
              <a:rPr lang="en-GB" dirty="0" err="1"/>
              <a:t>vil</a:t>
            </a:r>
            <a:r>
              <a:rPr lang="en-GB" dirty="0"/>
              <a:t> </a:t>
            </a:r>
            <a:r>
              <a:rPr lang="en-GB" dirty="0" err="1"/>
              <a:t>udskifte</a:t>
            </a:r>
            <a:r>
              <a:rPr lang="en-GB" dirty="0"/>
              <a:t> </a:t>
            </a:r>
            <a:r>
              <a:rPr lang="en-GB" dirty="0" err="1"/>
              <a:t>billedet</a:t>
            </a:r>
            <a:endParaRPr lang="en-GB" dirty="0"/>
          </a:p>
        </p:txBody>
      </p:sp>
      <p:sp>
        <p:nvSpPr>
          <p:cNvPr id="2" name="Titel 1"/>
          <p:cNvSpPr>
            <a:spLocks noGrp="1"/>
          </p:cNvSpPr>
          <p:nvPr>
            <p:ph type="title" hasCustomPrompt="1"/>
          </p:nvPr>
        </p:nvSpPr>
        <p:spPr>
          <a:xfrm>
            <a:off x="0" y="4903567"/>
            <a:ext cx="4461272" cy="1398808"/>
          </a:xfrm>
          <a:solidFill>
            <a:srgbClr val="A31D20">
              <a:alpha val="95000"/>
            </a:srgbClr>
          </a:solidFill>
        </p:spPr>
        <p:txBody>
          <a:bodyPr lIns="576000" tIns="144000" rIns="252000" bIns="144000" anchor="t" anchorCtr="0"/>
          <a:lstStyle>
            <a:lvl1pPr marL="0" marR="0" indent="0" algn="l" defTabSz="685800" rtl="0" eaLnBrk="1" fontAlgn="auto" latinLnBrk="0" hangingPunct="1">
              <a:lnSpc>
                <a:spcPct val="100000"/>
              </a:lnSpc>
              <a:spcBef>
                <a:spcPct val="0"/>
              </a:spcBef>
              <a:spcAft>
                <a:spcPts val="0"/>
              </a:spcAft>
              <a:buClrTx/>
              <a:buSzTx/>
              <a:buFontTx/>
              <a:buNone/>
              <a:tabLst/>
              <a:defRPr sz="2400">
                <a:solidFill>
                  <a:schemeClr val="bg1"/>
                </a:solidFill>
              </a:defRPr>
            </a:lvl1pPr>
          </a:lstStyle>
          <a:p>
            <a:r>
              <a:rPr lang="en-GB" dirty="0" err="1"/>
              <a:t>Klik</a:t>
            </a:r>
            <a:r>
              <a:rPr lang="en-GB" dirty="0"/>
              <a:t> for at </a:t>
            </a:r>
            <a:r>
              <a:rPr lang="en-GB" dirty="0" err="1"/>
              <a:t>tilføje</a:t>
            </a:r>
            <a:r>
              <a:rPr lang="en-GB" dirty="0"/>
              <a:t> </a:t>
            </a:r>
            <a:r>
              <a:rPr lang="en-GB" dirty="0" err="1"/>
              <a:t>tekst</a:t>
            </a:r>
            <a:br>
              <a:rPr lang="en-GB" sz="1800" spc="75" dirty="0">
                <a:solidFill>
                  <a:schemeClr val="bg1"/>
                </a:solidFill>
                <a:latin typeface="+mj-lt"/>
                <a:cs typeface="Microsoft New Tai Lue"/>
              </a:rPr>
            </a:br>
            <a:r>
              <a:rPr lang="en-GB" dirty="0"/>
              <a:t> </a:t>
            </a:r>
          </a:p>
        </p:txBody>
      </p:sp>
      <p:sp>
        <p:nvSpPr>
          <p:cNvPr id="4" name="Pladsholder til dato 3"/>
          <p:cNvSpPr>
            <a:spLocks noGrp="1"/>
          </p:cNvSpPr>
          <p:nvPr>
            <p:ph type="dt" sz="half" idx="10"/>
          </p:nvPr>
        </p:nvSpPr>
        <p:spPr/>
        <p:txBody>
          <a:bodyPr/>
          <a:lstStyle/>
          <a:p>
            <a:fld id="{3F61F12A-79CD-4264-9427-73895824E9C8}"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094560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or tekstlabel højre og billede ">
    <p:spTree>
      <p:nvGrpSpPr>
        <p:cNvPr id="1" name=""/>
        <p:cNvGrpSpPr/>
        <p:nvPr/>
      </p:nvGrpSpPr>
      <p:grpSpPr>
        <a:xfrm>
          <a:off x="0" y="0"/>
          <a:ext cx="0" cy="0"/>
          <a:chOff x="0" y="0"/>
          <a:chExt cx="0" cy="0"/>
        </a:xfrm>
      </p:grpSpPr>
      <p:sp>
        <p:nvSpPr>
          <p:cNvPr id="7" name="Pladsholder til billede 9"/>
          <p:cNvSpPr>
            <a:spLocks noGrp="1"/>
          </p:cNvSpPr>
          <p:nvPr>
            <p:ph type="pic" sz="quarter" idx="14" hasCustomPrompt="1"/>
          </p:nvPr>
        </p:nvSpPr>
        <p:spPr>
          <a:xfrm>
            <a:off x="0" y="334852"/>
            <a:ext cx="9144000" cy="6523149"/>
          </a:xfrm>
          <a:blipFill>
            <a:blip r:embed="rId2"/>
            <a:stretch>
              <a:fillRect/>
            </a:stretch>
          </a:blipFill>
        </p:spPr>
        <p:txBody>
          <a:bodyPr lIns="0" tIns="360000" rIns="4932000" anchor="ctr" anchorCtr="0"/>
          <a:lstStyle>
            <a:lvl1pPr marL="0" indent="0" algn="r">
              <a:buNone/>
              <a:defRPr sz="2400" baseline="0">
                <a:sym typeface="Wingdings" panose="05000000000000000000" pitchFamily="2" charset="2"/>
              </a:defRPr>
            </a:lvl1pPr>
          </a:lstStyle>
          <a:p>
            <a:r>
              <a:rPr lang="en-GB" dirty="0" err="1"/>
              <a:t>Klik</a:t>
            </a:r>
            <a:r>
              <a:rPr lang="en-GB" dirty="0"/>
              <a:t> </a:t>
            </a:r>
            <a:r>
              <a:rPr lang="en-GB" dirty="0" err="1"/>
              <a:t>på</a:t>
            </a:r>
            <a:r>
              <a:rPr lang="en-GB" dirty="0"/>
              <a:t> </a:t>
            </a:r>
            <a:r>
              <a:rPr lang="en-GB" dirty="0" err="1"/>
              <a:t>ikonet</a:t>
            </a:r>
            <a:r>
              <a:rPr lang="en-GB" dirty="0"/>
              <a:t>, </a:t>
            </a:r>
            <a:r>
              <a:rPr lang="en-GB" dirty="0" err="1"/>
              <a:t>hvis</a:t>
            </a:r>
            <a:r>
              <a:rPr lang="en-GB" dirty="0"/>
              <a:t>   </a:t>
            </a:r>
            <a:br>
              <a:rPr lang="en-GB" dirty="0"/>
            </a:br>
            <a:r>
              <a:rPr lang="en-GB" dirty="0"/>
              <a:t>du </a:t>
            </a:r>
            <a:r>
              <a:rPr lang="en-GB" dirty="0" err="1"/>
              <a:t>vil</a:t>
            </a:r>
            <a:r>
              <a:rPr lang="en-GB" dirty="0"/>
              <a:t> </a:t>
            </a:r>
            <a:r>
              <a:rPr lang="en-GB" dirty="0" err="1"/>
              <a:t>udskifte</a:t>
            </a:r>
            <a:r>
              <a:rPr lang="en-GB" dirty="0"/>
              <a:t> </a:t>
            </a:r>
            <a:r>
              <a:rPr lang="en-GB" dirty="0" err="1"/>
              <a:t>billedet</a:t>
            </a:r>
            <a:endParaRPr lang="en-GB" dirty="0"/>
          </a:p>
        </p:txBody>
      </p:sp>
      <p:sp>
        <p:nvSpPr>
          <p:cNvPr id="4" name="Pladsholder til dato 3"/>
          <p:cNvSpPr>
            <a:spLocks noGrp="1"/>
          </p:cNvSpPr>
          <p:nvPr>
            <p:ph type="dt" sz="half" idx="10"/>
          </p:nvPr>
        </p:nvSpPr>
        <p:spPr/>
        <p:txBody>
          <a:bodyPr/>
          <a:lstStyle/>
          <a:p>
            <a:fld id="{AC4848D3-3757-4377-9AC6-D4B386FA347A}"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10" name="Pladsholder til tekst 9"/>
          <p:cNvSpPr>
            <a:spLocks noGrp="1"/>
          </p:cNvSpPr>
          <p:nvPr>
            <p:ph type="body" sz="quarter" idx="15" hasCustomPrompt="1"/>
          </p:nvPr>
        </p:nvSpPr>
        <p:spPr>
          <a:xfrm>
            <a:off x="4682728" y="2036763"/>
            <a:ext cx="4461272" cy="4265612"/>
          </a:xfrm>
          <a:solidFill>
            <a:schemeClr val="accent1">
              <a:alpha val="95000"/>
            </a:schemeClr>
          </a:solidFill>
        </p:spPr>
        <p:txBody>
          <a:bodyPr lIns="252000" tIns="144000" rIns="540000" bIns="144000"/>
          <a:lstStyle>
            <a:lvl1pPr marL="0" indent="0">
              <a:buNone/>
              <a:defRPr>
                <a:solidFill>
                  <a:schemeClr val="bg1"/>
                </a:solidFill>
              </a:defRPr>
            </a:lvl1pPr>
            <a:lvl2pPr marL="536575" indent="-271463">
              <a:tabLst/>
              <a:defRPr>
                <a:solidFill>
                  <a:schemeClr val="bg1"/>
                </a:solidFill>
              </a:defRPr>
            </a:lvl2pPr>
            <a:lvl3pPr marL="536575" indent="-271463">
              <a:defRPr sz="2000">
                <a:solidFill>
                  <a:schemeClr val="bg1"/>
                </a:solidFill>
              </a:defRPr>
            </a:lvl3pPr>
            <a:lvl4pPr marL="536575" indent="-271463">
              <a:defRPr sz="2000">
                <a:solidFill>
                  <a:schemeClr val="bg1"/>
                </a:solidFill>
              </a:defRPr>
            </a:lvl4pPr>
            <a:lvl5pPr marL="536575" indent="-271463">
              <a:defRPr sz="2000">
                <a:solidFill>
                  <a:schemeClr val="bg1"/>
                </a:solidFill>
              </a:defRPr>
            </a:lvl5pPr>
          </a:lstStyle>
          <a:p>
            <a:pPr lvl="0"/>
            <a:r>
              <a:rPr lang="en-GB" dirty="0" err="1"/>
              <a:t>Klik</a:t>
            </a:r>
            <a:r>
              <a:rPr lang="en-GB" dirty="0"/>
              <a:t> for at </a:t>
            </a:r>
            <a:r>
              <a:rPr lang="en-GB" dirty="0" err="1"/>
              <a:t>tilføje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err="1"/>
              <a:t>Fjerde</a:t>
            </a:r>
            <a:r>
              <a:rPr lang="en-GB" dirty="0"/>
              <a:t> </a:t>
            </a:r>
            <a:r>
              <a:rPr lang="en-GB" dirty="0" err="1"/>
              <a:t>niveau</a:t>
            </a:r>
            <a:endParaRPr lang="en-GB" dirty="0"/>
          </a:p>
          <a:p>
            <a:pPr lvl="4"/>
            <a:r>
              <a:rPr lang="en-GB" dirty="0" err="1"/>
              <a:t>Femte</a:t>
            </a:r>
            <a:r>
              <a:rPr lang="en-GB" dirty="0"/>
              <a:t> </a:t>
            </a:r>
            <a:r>
              <a:rPr lang="en-GB" dirty="0" err="1"/>
              <a:t>niveau</a:t>
            </a:r>
            <a:endParaRPr lang="en-GB" dirty="0"/>
          </a:p>
        </p:txBody>
      </p:sp>
    </p:spTree>
    <p:extLst>
      <p:ext uri="{BB962C8B-B14F-4D97-AF65-F5344CB8AC3E}">
        <p14:creationId xmlns:p14="http://schemas.microsoft.com/office/powerpoint/2010/main" val="7580104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or tekstlabel venstre og billede ">
    <p:spTree>
      <p:nvGrpSpPr>
        <p:cNvPr id="1" name=""/>
        <p:cNvGrpSpPr/>
        <p:nvPr/>
      </p:nvGrpSpPr>
      <p:grpSpPr>
        <a:xfrm>
          <a:off x="0" y="0"/>
          <a:ext cx="0" cy="0"/>
          <a:chOff x="0" y="0"/>
          <a:chExt cx="0" cy="0"/>
        </a:xfrm>
      </p:grpSpPr>
      <p:sp>
        <p:nvSpPr>
          <p:cNvPr id="7" name="Pladsholder til billede 9"/>
          <p:cNvSpPr>
            <a:spLocks noGrp="1"/>
          </p:cNvSpPr>
          <p:nvPr>
            <p:ph type="pic" sz="quarter" idx="14" hasCustomPrompt="1"/>
          </p:nvPr>
        </p:nvSpPr>
        <p:spPr>
          <a:xfrm>
            <a:off x="0" y="334852"/>
            <a:ext cx="9144000" cy="6523149"/>
          </a:xfrm>
          <a:blipFill>
            <a:blip r:embed="rId2"/>
            <a:stretch>
              <a:fillRect/>
            </a:stretch>
          </a:blipFill>
        </p:spPr>
        <p:txBody>
          <a:bodyPr lIns="4932000" tIns="360000" rIns="0" anchor="ctr" anchorCtr="0"/>
          <a:lstStyle>
            <a:lvl1pPr marL="0" indent="0" algn="l">
              <a:buNone/>
              <a:defRPr sz="2400" baseline="0">
                <a:solidFill>
                  <a:schemeClr val="bg1"/>
                </a:solidFill>
                <a:sym typeface="Wingdings" panose="05000000000000000000" pitchFamily="2" charset="2"/>
              </a:defRPr>
            </a:lvl1pPr>
          </a:lstStyle>
          <a:p>
            <a:r>
              <a:rPr lang="en-GB" dirty="0"/>
              <a:t> </a:t>
            </a:r>
            <a:r>
              <a:rPr lang="en-GB" dirty="0" err="1"/>
              <a:t>Klik</a:t>
            </a:r>
            <a:r>
              <a:rPr lang="en-GB" dirty="0"/>
              <a:t> </a:t>
            </a:r>
            <a:r>
              <a:rPr lang="en-GB" dirty="0" err="1"/>
              <a:t>på</a:t>
            </a:r>
            <a:r>
              <a:rPr lang="en-GB" dirty="0"/>
              <a:t> </a:t>
            </a:r>
            <a:r>
              <a:rPr lang="en-GB" dirty="0" err="1"/>
              <a:t>ikonet</a:t>
            </a:r>
            <a:r>
              <a:rPr lang="en-GB" dirty="0"/>
              <a:t>, </a:t>
            </a:r>
            <a:r>
              <a:rPr lang="en-GB" dirty="0" err="1"/>
              <a:t>hvis</a:t>
            </a:r>
            <a:r>
              <a:rPr lang="en-GB" dirty="0"/>
              <a:t> du </a:t>
            </a:r>
            <a:br>
              <a:rPr lang="en-GB" dirty="0"/>
            </a:br>
            <a:r>
              <a:rPr lang="en-GB" dirty="0" err="1"/>
              <a:t>vil</a:t>
            </a:r>
            <a:r>
              <a:rPr lang="en-GB" dirty="0"/>
              <a:t> </a:t>
            </a:r>
            <a:r>
              <a:rPr lang="en-GB" dirty="0" err="1"/>
              <a:t>udskifte</a:t>
            </a:r>
            <a:r>
              <a:rPr lang="en-GB" dirty="0"/>
              <a:t> </a:t>
            </a:r>
            <a:r>
              <a:rPr lang="en-GB" dirty="0" err="1"/>
              <a:t>billedet</a:t>
            </a:r>
            <a:endParaRPr lang="en-GB" dirty="0"/>
          </a:p>
        </p:txBody>
      </p:sp>
      <p:sp>
        <p:nvSpPr>
          <p:cNvPr id="4" name="Pladsholder til dato 3"/>
          <p:cNvSpPr>
            <a:spLocks noGrp="1"/>
          </p:cNvSpPr>
          <p:nvPr>
            <p:ph type="dt" sz="half" idx="10"/>
          </p:nvPr>
        </p:nvSpPr>
        <p:spPr/>
        <p:txBody>
          <a:bodyPr/>
          <a:lstStyle/>
          <a:p>
            <a:fld id="{32AD4FB0-590F-4C82-9D7E-F7EFC2EC85B3}"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8" name="Pladsholder til tekst 9"/>
          <p:cNvSpPr>
            <a:spLocks noGrp="1"/>
          </p:cNvSpPr>
          <p:nvPr>
            <p:ph type="body" sz="quarter" idx="15" hasCustomPrompt="1"/>
          </p:nvPr>
        </p:nvSpPr>
        <p:spPr>
          <a:xfrm>
            <a:off x="0" y="2036763"/>
            <a:ext cx="4461272" cy="4265612"/>
          </a:xfrm>
          <a:solidFill>
            <a:schemeClr val="accent1">
              <a:alpha val="95000"/>
            </a:schemeClr>
          </a:solidFill>
        </p:spPr>
        <p:txBody>
          <a:bodyPr lIns="576000" tIns="144000" rIns="252000" bIns="144000"/>
          <a:lstStyle>
            <a:lvl1pPr marL="0" indent="0">
              <a:buNone/>
              <a:defRPr>
                <a:solidFill>
                  <a:schemeClr val="bg1"/>
                </a:solidFill>
              </a:defRPr>
            </a:lvl1pPr>
            <a:lvl2pPr marL="536575" indent="-271463">
              <a:defRPr>
                <a:solidFill>
                  <a:schemeClr val="bg1"/>
                </a:solidFill>
              </a:defRPr>
            </a:lvl2pPr>
            <a:lvl3pPr marL="536575" indent="-271463">
              <a:defRPr sz="2000">
                <a:solidFill>
                  <a:schemeClr val="bg1"/>
                </a:solidFill>
              </a:defRPr>
            </a:lvl3pPr>
            <a:lvl4pPr marL="536575" indent="-271463">
              <a:defRPr sz="2000">
                <a:solidFill>
                  <a:schemeClr val="bg1"/>
                </a:solidFill>
              </a:defRPr>
            </a:lvl4pPr>
            <a:lvl5pPr marL="536575" indent="-271463">
              <a:defRPr sz="2000">
                <a:solidFill>
                  <a:schemeClr val="bg1"/>
                </a:solidFill>
              </a:defRPr>
            </a:lvl5pPr>
          </a:lstStyle>
          <a:p>
            <a:pPr lvl="0"/>
            <a:r>
              <a:rPr lang="en-GB" dirty="0" err="1"/>
              <a:t>Klik</a:t>
            </a:r>
            <a:r>
              <a:rPr lang="en-GB" dirty="0"/>
              <a:t> for at </a:t>
            </a:r>
            <a:r>
              <a:rPr lang="en-GB" dirty="0" err="1"/>
              <a:t>tilføje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err="1"/>
              <a:t>Fjerde</a:t>
            </a:r>
            <a:r>
              <a:rPr lang="en-GB" dirty="0"/>
              <a:t> </a:t>
            </a:r>
            <a:r>
              <a:rPr lang="en-GB" dirty="0" err="1"/>
              <a:t>niveau</a:t>
            </a:r>
            <a:endParaRPr lang="en-GB" dirty="0"/>
          </a:p>
          <a:p>
            <a:pPr lvl="4"/>
            <a:r>
              <a:rPr lang="en-GB" dirty="0" err="1"/>
              <a:t>Femte</a:t>
            </a:r>
            <a:r>
              <a:rPr lang="en-GB" dirty="0"/>
              <a:t> </a:t>
            </a:r>
            <a:r>
              <a:rPr lang="en-GB" dirty="0" err="1"/>
              <a:t>niveau</a:t>
            </a:r>
            <a:endParaRPr lang="en-GB" dirty="0"/>
          </a:p>
        </p:txBody>
      </p:sp>
    </p:spTree>
    <p:extLst>
      <p:ext uri="{BB962C8B-B14F-4D97-AF65-F5344CB8AC3E}">
        <p14:creationId xmlns:p14="http://schemas.microsoft.com/office/powerpoint/2010/main" val="21472760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ersal-punktopstilling rød">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2DF400E8-6976-4492-8367-12FD08124152}"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7" name="Pladsholder til tekst 9"/>
          <p:cNvSpPr>
            <a:spLocks noGrp="1"/>
          </p:cNvSpPr>
          <p:nvPr>
            <p:ph type="body" sz="quarter" idx="15" hasCustomPrompt="1"/>
          </p:nvPr>
        </p:nvSpPr>
        <p:spPr>
          <a:xfrm>
            <a:off x="587374" y="622301"/>
            <a:ext cx="7967663" cy="5681002"/>
          </a:xfrm>
          <a:noFill/>
        </p:spPr>
        <p:txBody>
          <a:bodyPr lIns="0" tIns="0" rIns="0" bIns="0"/>
          <a:lstStyle>
            <a:lvl1pPr marL="336947" indent="-336947" algn="l" defTabSz="685800" rtl="0" eaLnBrk="1" latinLnBrk="0" hangingPunct="1">
              <a:lnSpc>
                <a:spcPct val="90000"/>
              </a:lnSpc>
              <a:buFont typeface="Arial" panose="020B0604020202020204" pitchFamily="34" charset="0"/>
              <a:buChar char="•"/>
              <a:defRPr lang="da-DK" sz="4800" b="0" kern="1200" cap="all" spc="180" baseline="0" dirty="0" smtClean="0">
                <a:solidFill>
                  <a:schemeClr val="bg1"/>
                </a:solidFill>
                <a:latin typeface="+mn-lt"/>
                <a:ea typeface="+mn-ea"/>
                <a:cs typeface="+mn-cs"/>
              </a:defRPr>
            </a:lvl1pPr>
            <a:lvl2pPr marL="336947" indent="-336947" algn="l" defTabSz="685800" rtl="0" eaLnBrk="1" latinLnBrk="0" hangingPunct="1">
              <a:lnSpc>
                <a:spcPct val="90000"/>
              </a:lnSpc>
              <a:buFont typeface="Arial" panose="020B0604020202020204" pitchFamily="34" charset="0"/>
              <a:buChar char="•"/>
              <a:defRPr lang="da-DK" sz="4800" b="0" kern="1200" cap="all" spc="180" baseline="0" dirty="0" smtClean="0">
                <a:solidFill>
                  <a:schemeClr val="bg1"/>
                </a:solidFill>
                <a:latin typeface="+mn-lt"/>
                <a:ea typeface="+mn-ea"/>
                <a:cs typeface="+mn-cs"/>
              </a:defRPr>
            </a:lvl2pPr>
            <a:lvl3pPr marL="336947" indent="-336947" algn="l" defTabSz="685800" rtl="0" eaLnBrk="1" latinLnBrk="0" hangingPunct="1">
              <a:lnSpc>
                <a:spcPct val="90000"/>
              </a:lnSpc>
              <a:buFont typeface="Arial" panose="020B0604020202020204" pitchFamily="34" charset="0"/>
              <a:buChar char="•"/>
              <a:defRPr lang="da-DK" sz="4800" b="0" kern="1200" cap="all" spc="180" baseline="0" dirty="0" smtClean="0">
                <a:solidFill>
                  <a:schemeClr val="bg1"/>
                </a:solidFill>
                <a:latin typeface="+mn-lt"/>
                <a:ea typeface="+mn-ea"/>
                <a:cs typeface="+mn-cs"/>
              </a:defRPr>
            </a:lvl3pPr>
            <a:lvl4pPr marL="336947" indent="-336947" algn="l" defTabSz="685800" rtl="0" eaLnBrk="1" latinLnBrk="0" hangingPunct="1">
              <a:lnSpc>
                <a:spcPct val="90000"/>
              </a:lnSpc>
              <a:buFont typeface="Arial" panose="020B0604020202020204" pitchFamily="34" charset="0"/>
              <a:buChar char="•"/>
              <a:defRPr lang="da-DK" sz="4800" b="0" kern="1200" cap="all" spc="180" baseline="0" dirty="0" smtClean="0">
                <a:solidFill>
                  <a:schemeClr val="bg1"/>
                </a:solidFill>
                <a:latin typeface="+mn-lt"/>
                <a:ea typeface="+mn-ea"/>
                <a:cs typeface="+mn-cs"/>
              </a:defRPr>
            </a:lvl4pPr>
            <a:lvl5pPr marL="336947" indent="-336947" algn="l" defTabSz="685800" rtl="0" eaLnBrk="1" latinLnBrk="0" hangingPunct="1">
              <a:lnSpc>
                <a:spcPct val="90000"/>
              </a:lnSpc>
              <a:buFont typeface="Arial" panose="020B0604020202020204" pitchFamily="34" charset="0"/>
              <a:buChar char="•"/>
              <a:defRPr lang="da-DK" sz="4800" b="0" kern="1200" cap="all" spc="180" baseline="0" dirty="0">
                <a:solidFill>
                  <a:schemeClr val="bg1"/>
                </a:solidFill>
                <a:latin typeface="+mn-lt"/>
                <a:ea typeface="+mn-ea"/>
                <a:cs typeface="+mn-cs"/>
              </a:defRPr>
            </a:lvl5pPr>
          </a:lstStyle>
          <a:p>
            <a:pPr lvl="0"/>
            <a:r>
              <a:rPr lang="en-GB" dirty="0" err="1"/>
              <a:t>Klik</a:t>
            </a:r>
            <a:r>
              <a:rPr lang="en-GB" dirty="0"/>
              <a:t> for at </a:t>
            </a:r>
            <a:r>
              <a:rPr lang="en-GB" dirty="0" err="1"/>
              <a:t>tilføje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err="1"/>
              <a:t>Fjerde</a:t>
            </a:r>
            <a:r>
              <a:rPr lang="en-GB" dirty="0"/>
              <a:t> </a:t>
            </a:r>
            <a:r>
              <a:rPr lang="en-GB" dirty="0" err="1"/>
              <a:t>niveau</a:t>
            </a:r>
            <a:endParaRPr lang="en-GB" dirty="0"/>
          </a:p>
          <a:p>
            <a:pPr lvl="4"/>
            <a:r>
              <a:rPr lang="en-GB" dirty="0" err="1"/>
              <a:t>Femte</a:t>
            </a:r>
            <a:r>
              <a:rPr lang="en-GB" dirty="0"/>
              <a:t> </a:t>
            </a:r>
            <a:r>
              <a:rPr lang="en-GB" dirty="0" err="1"/>
              <a:t>niveau</a:t>
            </a:r>
            <a:endParaRPr lang="en-GB" dirty="0"/>
          </a:p>
        </p:txBody>
      </p:sp>
    </p:spTree>
    <p:extLst>
      <p:ext uri="{BB962C8B-B14F-4D97-AF65-F5344CB8AC3E}">
        <p14:creationId xmlns:p14="http://schemas.microsoft.com/office/powerpoint/2010/main" val="1987839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itat ">
    <p:bg>
      <p:bgPr>
        <a:solidFill>
          <a:schemeClr val="accent1"/>
        </a:solidFill>
        <a:effectLst/>
      </p:bgPr>
    </p:bg>
    <p:spTree>
      <p:nvGrpSpPr>
        <p:cNvPr id="1" name=""/>
        <p:cNvGrpSpPr/>
        <p:nvPr/>
      </p:nvGrpSpPr>
      <p:grpSpPr>
        <a:xfrm>
          <a:off x="0" y="0"/>
          <a:ext cx="0" cy="0"/>
          <a:chOff x="0" y="0"/>
          <a:chExt cx="0" cy="0"/>
        </a:xfrm>
      </p:grpSpPr>
      <p:sp>
        <p:nvSpPr>
          <p:cNvPr id="9" name="Tekstfelt 8"/>
          <p:cNvSpPr txBox="1"/>
          <p:nvPr userDrawn="1"/>
        </p:nvSpPr>
        <p:spPr>
          <a:xfrm>
            <a:off x="456070" y="612884"/>
            <a:ext cx="875714" cy="1823576"/>
          </a:xfrm>
          <a:prstGeom prst="rect">
            <a:avLst/>
          </a:prstGeom>
          <a:noFill/>
        </p:spPr>
        <p:txBody>
          <a:bodyPr wrap="square" rtlCol="0">
            <a:spAutoFit/>
          </a:bodyPr>
          <a:lstStyle/>
          <a:p>
            <a:r>
              <a:rPr lang="en-GB" sz="11250" b="1" dirty="0">
                <a:solidFill>
                  <a:schemeClr val="bg1"/>
                </a:solidFill>
              </a:rPr>
              <a:t>”</a:t>
            </a:r>
          </a:p>
        </p:txBody>
      </p:sp>
      <p:sp>
        <p:nvSpPr>
          <p:cNvPr id="4" name="Pladsholder til dato 3"/>
          <p:cNvSpPr>
            <a:spLocks noGrp="1"/>
          </p:cNvSpPr>
          <p:nvPr>
            <p:ph type="dt" sz="half" idx="10"/>
          </p:nvPr>
        </p:nvSpPr>
        <p:spPr/>
        <p:txBody>
          <a:bodyPr/>
          <a:lstStyle/>
          <a:p>
            <a:fld id="{4C08EB04-5303-400E-8B6A-49E7652E4F84}"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7" name="Pladsholder til tekst 9"/>
          <p:cNvSpPr>
            <a:spLocks noGrp="1"/>
          </p:cNvSpPr>
          <p:nvPr>
            <p:ph type="body" sz="quarter" idx="15" hasCustomPrompt="1"/>
          </p:nvPr>
        </p:nvSpPr>
        <p:spPr>
          <a:xfrm>
            <a:off x="587375" y="1633538"/>
            <a:ext cx="7967663" cy="4110037"/>
          </a:xfrm>
          <a:noFill/>
        </p:spPr>
        <p:txBody>
          <a:bodyPr lIns="0" tIns="0" rIns="0" bIns="0" anchor="t" anchorCtr="0"/>
          <a:lstStyle>
            <a:lvl1pPr marL="0" indent="0" algn="l" defTabSz="685800" rtl="0" eaLnBrk="1" latinLnBrk="0" hangingPunct="1">
              <a:lnSpc>
                <a:spcPct val="90000"/>
              </a:lnSpc>
              <a:buFont typeface="Arial" panose="020B0604020202020204" pitchFamily="34" charset="0"/>
              <a:buNone/>
              <a:defRPr lang="da-DK" sz="4800" b="0" kern="1200" cap="none" baseline="0" dirty="0" smtClean="0">
                <a:solidFill>
                  <a:schemeClr val="bg1"/>
                </a:solidFill>
                <a:latin typeface="+mn-lt"/>
                <a:ea typeface="+mn-ea"/>
                <a:cs typeface="+mn-cs"/>
              </a:defRPr>
            </a:lvl1pPr>
            <a:lvl2pPr marL="0" indent="0" algn="l" defTabSz="685800" rtl="0" eaLnBrk="1" latinLnBrk="0" hangingPunct="1">
              <a:lnSpc>
                <a:spcPct val="90000"/>
              </a:lnSpc>
              <a:buFont typeface="Arial" panose="020B0604020202020204" pitchFamily="34" charset="0"/>
              <a:buNone/>
              <a:defRPr lang="da-DK" sz="3600" b="1" kern="1200" cap="all" baseline="0" dirty="0" smtClean="0">
                <a:solidFill>
                  <a:schemeClr val="bg1"/>
                </a:solidFill>
                <a:latin typeface="+mn-lt"/>
                <a:ea typeface="+mn-ea"/>
                <a:cs typeface="+mn-cs"/>
              </a:defRPr>
            </a:lvl2pPr>
            <a:lvl3pPr marL="0" indent="0" algn="l" defTabSz="685800" rtl="0" eaLnBrk="1" latinLnBrk="0" hangingPunct="1">
              <a:lnSpc>
                <a:spcPct val="90000"/>
              </a:lnSpc>
              <a:buFont typeface="Arial" panose="020B0604020202020204" pitchFamily="34" charset="0"/>
              <a:buNone/>
              <a:defRPr lang="da-DK" sz="3600" b="1" kern="1200" cap="all" baseline="0" dirty="0" smtClean="0">
                <a:solidFill>
                  <a:schemeClr val="bg1"/>
                </a:solidFill>
                <a:latin typeface="+mn-lt"/>
                <a:ea typeface="+mn-ea"/>
                <a:cs typeface="+mn-cs"/>
              </a:defRPr>
            </a:lvl3pPr>
            <a:lvl4pPr marL="0" indent="0" algn="l" defTabSz="685800" rtl="0" eaLnBrk="1" latinLnBrk="0" hangingPunct="1">
              <a:lnSpc>
                <a:spcPct val="90000"/>
              </a:lnSpc>
              <a:buFont typeface="Arial" panose="020B0604020202020204" pitchFamily="34" charset="0"/>
              <a:buNone/>
              <a:defRPr lang="da-DK" sz="3600" b="1" kern="1200" cap="all" baseline="0" dirty="0" smtClean="0">
                <a:solidFill>
                  <a:schemeClr val="bg1"/>
                </a:solidFill>
                <a:latin typeface="+mn-lt"/>
                <a:ea typeface="+mn-ea"/>
                <a:cs typeface="+mn-cs"/>
              </a:defRPr>
            </a:lvl4pPr>
            <a:lvl5pPr marL="0" indent="0" algn="l" defTabSz="685800" rtl="0" eaLnBrk="1" latinLnBrk="0" hangingPunct="1">
              <a:lnSpc>
                <a:spcPct val="90000"/>
              </a:lnSpc>
              <a:buFont typeface="Arial" panose="020B0604020202020204" pitchFamily="34" charset="0"/>
              <a:buNone/>
              <a:defRPr lang="da-DK" sz="3600" b="1" kern="1200" cap="all" baseline="0" dirty="0">
                <a:solidFill>
                  <a:schemeClr val="bg1"/>
                </a:solidFill>
                <a:latin typeface="+mn-lt"/>
                <a:ea typeface="+mn-ea"/>
                <a:cs typeface="+mn-cs"/>
              </a:defRPr>
            </a:lvl5pPr>
          </a:lstStyle>
          <a:p>
            <a:pPr lvl="0"/>
            <a:r>
              <a:rPr lang="en-GB" dirty="0" err="1"/>
              <a:t>Klik</a:t>
            </a:r>
            <a:r>
              <a:rPr lang="en-GB" dirty="0"/>
              <a:t> for at </a:t>
            </a:r>
            <a:r>
              <a:rPr lang="en-GB" dirty="0" err="1"/>
              <a:t>tilføje</a:t>
            </a:r>
            <a:r>
              <a:rPr lang="en-GB" dirty="0"/>
              <a:t> </a:t>
            </a:r>
            <a:r>
              <a:rPr lang="en-GB" dirty="0" err="1"/>
              <a:t>tekst</a:t>
            </a:r>
            <a:endParaRPr lang="en-GB" dirty="0"/>
          </a:p>
        </p:txBody>
      </p:sp>
      <p:sp>
        <p:nvSpPr>
          <p:cNvPr id="8" name="Pladsholder til tekst 14"/>
          <p:cNvSpPr>
            <a:spLocks noGrp="1"/>
          </p:cNvSpPr>
          <p:nvPr>
            <p:ph type="body" sz="quarter" idx="13" hasCustomPrompt="1"/>
          </p:nvPr>
        </p:nvSpPr>
        <p:spPr>
          <a:xfrm>
            <a:off x="587375" y="5934971"/>
            <a:ext cx="7967663" cy="367404"/>
          </a:xfrm>
        </p:spPr>
        <p:txBody>
          <a:bodyPr>
            <a:normAutofit/>
          </a:bodyPr>
          <a:lstStyle>
            <a:lvl1pPr marL="0" indent="0">
              <a:buNone/>
              <a:defRPr sz="2400" b="0" baseline="0">
                <a:solidFill>
                  <a:schemeClr val="bg1"/>
                </a:solidFill>
              </a:defRPr>
            </a:lvl1pPr>
          </a:lstStyle>
          <a:p>
            <a:pPr lvl="0"/>
            <a:r>
              <a:rPr lang="en-GB" dirty="0" err="1"/>
              <a:t>Navn</a:t>
            </a:r>
            <a:r>
              <a:rPr lang="en-GB" dirty="0"/>
              <a:t>, </a:t>
            </a:r>
            <a:r>
              <a:rPr lang="en-GB" dirty="0" err="1"/>
              <a:t>kilde</a:t>
            </a:r>
            <a:endParaRPr lang="en-GB" dirty="0"/>
          </a:p>
        </p:txBody>
      </p:sp>
    </p:spTree>
    <p:extLst>
      <p:ext uri="{BB962C8B-B14F-4D97-AF65-F5344CB8AC3E}">
        <p14:creationId xmlns:p14="http://schemas.microsoft.com/office/powerpoint/2010/main" val="4142963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 spejlede tekster">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24355CC2-5367-4AA2-BA99-138D7F08BA16}"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9" name="Pladsholder til tekst 9"/>
          <p:cNvSpPr>
            <a:spLocks noGrp="1"/>
          </p:cNvSpPr>
          <p:nvPr>
            <p:ph type="body" sz="quarter" idx="15" hasCustomPrompt="1"/>
          </p:nvPr>
        </p:nvSpPr>
        <p:spPr>
          <a:xfrm>
            <a:off x="587375" y="1633538"/>
            <a:ext cx="3868583" cy="4669764"/>
          </a:xfrm>
          <a:noFill/>
        </p:spPr>
        <p:txBody>
          <a:bodyPr lIns="0" tIns="0" rIns="0" bIns="0"/>
          <a:lstStyle>
            <a:lvl1pPr marL="0" indent="0" algn="r" defTabSz="685800" rtl="0" eaLnBrk="1" latinLnBrk="0" hangingPunct="1">
              <a:lnSpc>
                <a:spcPct val="90000"/>
              </a:lnSpc>
              <a:spcAft>
                <a:spcPts val="900"/>
              </a:spcAft>
              <a:buFont typeface="Arial" panose="020B0604020202020204" pitchFamily="34" charset="0"/>
              <a:buNone/>
              <a:defRPr lang="da-DK" sz="3600" b="1" kern="1200" cap="none" baseline="0" dirty="0" smtClean="0">
                <a:solidFill>
                  <a:schemeClr val="bg1"/>
                </a:solidFill>
                <a:latin typeface="+mn-lt"/>
                <a:ea typeface="+mn-ea"/>
                <a:cs typeface="+mn-cs"/>
              </a:defRPr>
            </a:lvl1pPr>
            <a:lvl2pPr marL="0" indent="0" algn="r" defTabSz="685800" rtl="0" eaLnBrk="1" latinLnBrk="0" hangingPunct="1">
              <a:lnSpc>
                <a:spcPct val="90000"/>
              </a:lnSpc>
              <a:spcAft>
                <a:spcPts val="900"/>
              </a:spcAft>
              <a:buFont typeface="Arial" panose="020B0604020202020204" pitchFamily="34" charset="0"/>
              <a:buNone/>
              <a:defRPr lang="da-DK" sz="3600" b="1" kern="1200" cap="none" baseline="0" dirty="0" smtClean="0">
                <a:solidFill>
                  <a:schemeClr val="bg1"/>
                </a:solidFill>
                <a:latin typeface="+mn-lt"/>
                <a:ea typeface="+mn-ea"/>
                <a:cs typeface="+mn-cs"/>
              </a:defRPr>
            </a:lvl2pPr>
            <a:lvl3pPr marL="0" indent="0" algn="r" defTabSz="685800" rtl="0" eaLnBrk="1" latinLnBrk="0" hangingPunct="1">
              <a:lnSpc>
                <a:spcPct val="90000"/>
              </a:lnSpc>
              <a:spcAft>
                <a:spcPts val="900"/>
              </a:spcAft>
              <a:buFont typeface="Arial" panose="020B0604020202020204" pitchFamily="34" charset="0"/>
              <a:buNone/>
              <a:defRPr lang="da-DK" sz="3600" b="1" kern="1200" cap="none" baseline="0" dirty="0" smtClean="0">
                <a:solidFill>
                  <a:schemeClr val="bg1"/>
                </a:solidFill>
                <a:latin typeface="+mn-lt"/>
                <a:ea typeface="+mn-ea"/>
                <a:cs typeface="+mn-cs"/>
              </a:defRPr>
            </a:lvl3pPr>
            <a:lvl4pPr marL="0" indent="0" algn="r" defTabSz="685800" rtl="0" eaLnBrk="1" latinLnBrk="0" hangingPunct="1">
              <a:lnSpc>
                <a:spcPct val="90000"/>
              </a:lnSpc>
              <a:spcAft>
                <a:spcPts val="900"/>
              </a:spcAft>
              <a:buFont typeface="Arial" panose="020B0604020202020204" pitchFamily="34" charset="0"/>
              <a:buNone/>
              <a:defRPr lang="da-DK" sz="3600" b="1" kern="1200" cap="none" baseline="0" dirty="0" smtClean="0">
                <a:solidFill>
                  <a:schemeClr val="bg1"/>
                </a:solidFill>
                <a:latin typeface="+mn-lt"/>
                <a:ea typeface="+mn-ea"/>
                <a:cs typeface="+mn-cs"/>
              </a:defRPr>
            </a:lvl4pPr>
            <a:lvl5pPr marL="0" indent="0" algn="r" defTabSz="685800" rtl="0" eaLnBrk="1" latinLnBrk="0" hangingPunct="1">
              <a:lnSpc>
                <a:spcPct val="90000"/>
              </a:lnSpc>
              <a:spcAft>
                <a:spcPts val="900"/>
              </a:spcAft>
              <a:buFont typeface="Arial" panose="020B0604020202020204" pitchFamily="34" charset="0"/>
              <a:buNone/>
              <a:defRPr lang="da-DK" sz="3600" b="1" kern="1200" cap="none" baseline="0" dirty="0">
                <a:solidFill>
                  <a:schemeClr val="bg1"/>
                </a:solidFill>
                <a:latin typeface="+mn-lt"/>
                <a:ea typeface="+mn-ea"/>
                <a:cs typeface="+mn-cs"/>
              </a:defRPr>
            </a:lvl5pPr>
          </a:lstStyle>
          <a:p>
            <a:pPr lvl="0"/>
            <a:r>
              <a:rPr lang="en-GB" dirty="0" err="1"/>
              <a:t>Klik</a:t>
            </a:r>
            <a:r>
              <a:rPr lang="en-GB" dirty="0"/>
              <a:t> for at </a:t>
            </a:r>
            <a:r>
              <a:rPr lang="en-GB" dirty="0" err="1"/>
              <a:t>tilføje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err="1"/>
              <a:t>Fjerde</a:t>
            </a:r>
            <a:r>
              <a:rPr lang="en-GB" dirty="0"/>
              <a:t> </a:t>
            </a:r>
            <a:r>
              <a:rPr lang="en-GB" dirty="0" err="1"/>
              <a:t>niveau</a:t>
            </a:r>
            <a:endParaRPr lang="en-GB" dirty="0"/>
          </a:p>
          <a:p>
            <a:pPr lvl="4"/>
            <a:r>
              <a:rPr lang="en-GB" dirty="0" err="1"/>
              <a:t>Femte</a:t>
            </a:r>
            <a:r>
              <a:rPr lang="en-GB" dirty="0"/>
              <a:t> </a:t>
            </a:r>
            <a:r>
              <a:rPr lang="en-GB" dirty="0" err="1"/>
              <a:t>niveau</a:t>
            </a:r>
            <a:endParaRPr lang="en-GB" dirty="0"/>
          </a:p>
        </p:txBody>
      </p:sp>
      <p:sp>
        <p:nvSpPr>
          <p:cNvPr id="10" name="Pladsholder til tekst 9"/>
          <p:cNvSpPr>
            <a:spLocks noGrp="1"/>
          </p:cNvSpPr>
          <p:nvPr>
            <p:ph type="body" sz="quarter" idx="16" hasCustomPrompt="1"/>
          </p:nvPr>
        </p:nvSpPr>
        <p:spPr>
          <a:xfrm>
            <a:off x="4678760" y="1633538"/>
            <a:ext cx="3876278" cy="4669764"/>
          </a:xfrm>
          <a:noFill/>
        </p:spPr>
        <p:txBody>
          <a:bodyPr lIns="0" tIns="0" rIns="0" bIns="0"/>
          <a:lstStyle>
            <a:lvl1pPr marL="0" indent="0" algn="l" defTabSz="685800" rtl="0" eaLnBrk="1" latinLnBrk="0" hangingPunct="1">
              <a:lnSpc>
                <a:spcPct val="90000"/>
              </a:lnSpc>
              <a:spcAft>
                <a:spcPts val="900"/>
              </a:spcAft>
              <a:buFont typeface="Arial" panose="020B0604020202020204" pitchFamily="34" charset="0"/>
              <a:buNone/>
              <a:defRPr lang="da-DK" sz="3600" b="0" kern="1200" cap="none" baseline="0" dirty="0" smtClean="0">
                <a:solidFill>
                  <a:schemeClr val="bg1"/>
                </a:solidFill>
                <a:latin typeface="+mn-lt"/>
                <a:ea typeface="+mn-ea"/>
                <a:cs typeface="+mn-cs"/>
              </a:defRPr>
            </a:lvl1pPr>
            <a:lvl2pPr marL="0" indent="0" algn="l" defTabSz="685800" rtl="0" eaLnBrk="1" latinLnBrk="0" hangingPunct="1">
              <a:lnSpc>
                <a:spcPct val="90000"/>
              </a:lnSpc>
              <a:spcAft>
                <a:spcPts val="900"/>
              </a:spcAft>
              <a:buFont typeface="Arial" panose="020B0604020202020204" pitchFamily="34" charset="0"/>
              <a:buNone/>
              <a:defRPr lang="da-DK" sz="3600" b="0" kern="1200" cap="none" baseline="0" dirty="0" smtClean="0">
                <a:solidFill>
                  <a:schemeClr val="bg1"/>
                </a:solidFill>
                <a:latin typeface="+mn-lt"/>
                <a:ea typeface="+mn-ea"/>
                <a:cs typeface="+mn-cs"/>
              </a:defRPr>
            </a:lvl2pPr>
            <a:lvl3pPr marL="0" indent="0" algn="l" defTabSz="685800" rtl="0" eaLnBrk="1" latinLnBrk="0" hangingPunct="1">
              <a:lnSpc>
                <a:spcPct val="90000"/>
              </a:lnSpc>
              <a:spcAft>
                <a:spcPts val="900"/>
              </a:spcAft>
              <a:buFont typeface="Arial" panose="020B0604020202020204" pitchFamily="34" charset="0"/>
              <a:buNone/>
              <a:defRPr lang="da-DK" sz="3600" b="0" kern="1200" cap="none" baseline="0" dirty="0" smtClean="0">
                <a:solidFill>
                  <a:schemeClr val="bg1"/>
                </a:solidFill>
                <a:latin typeface="+mn-lt"/>
                <a:ea typeface="+mn-ea"/>
                <a:cs typeface="+mn-cs"/>
              </a:defRPr>
            </a:lvl3pPr>
            <a:lvl4pPr marL="0" indent="0" algn="l" defTabSz="685800" rtl="0" eaLnBrk="1" latinLnBrk="0" hangingPunct="1">
              <a:lnSpc>
                <a:spcPct val="90000"/>
              </a:lnSpc>
              <a:spcAft>
                <a:spcPts val="900"/>
              </a:spcAft>
              <a:buFont typeface="Arial" panose="020B0604020202020204" pitchFamily="34" charset="0"/>
              <a:buNone/>
              <a:defRPr lang="da-DK" sz="3600" b="0" kern="1200" cap="none" baseline="0" dirty="0" smtClean="0">
                <a:solidFill>
                  <a:schemeClr val="bg1"/>
                </a:solidFill>
                <a:latin typeface="+mn-lt"/>
                <a:ea typeface="+mn-ea"/>
                <a:cs typeface="+mn-cs"/>
              </a:defRPr>
            </a:lvl4pPr>
            <a:lvl5pPr marL="0" indent="0" algn="l" defTabSz="685800" rtl="0" eaLnBrk="1" latinLnBrk="0" hangingPunct="1">
              <a:lnSpc>
                <a:spcPct val="90000"/>
              </a:lnSpc>
              <a:spcAft>
                <a:spcPts val="900"/>
              </a:spcAft>
              <a:buFont typeface="Arial" panose="020B0604020202020204" pitchFamily="34" charset="0"/>
              <a:buNone/>
              <a:defRPr lang="da-DK" sz="3600" b="0" kern="1200" cap="none" baseline="0" dirty="0">
                <a:solidFill>
                  <a:schemeClr val="bg1"/>
                </a:solidFill>
                <a:latin typeface="+mn-lt"/>
                <a:ea typeface="+mn-ea"/>
                <a:cs typeface="+mn-cs"/>
              </a:defRPr>
            </a:lvl5pPr>
          </a:lstStyle>
          <a:p>
            <a:pPr lvl="0"/>
            <a:r>
              <a:rPr lang="en-GB" dirty="0" err="1"/>
              <a:t>Klik</a:t>
            </a:r>
            <a:r>
              <a:rPr lang="en-GB" dirty="0"/>
              <a:t> for at </a:t>
            </a:r>
            <a:r>
              <a:rPr lang="en-GB" dirty="0" err="1"/>
              <a:t>tilføje</a:t>
            </a:r>
            <a:r>
              <a:rPr lang="en-GB" dirty="0"/>
              <a:t> </a:t>
            </a:r>
            <a:r>
              <a:rPr lang="en-GB" dirty="0" err="1"/>
              <a:t>tekst</a:t>
            </a:r>
            <a:endParaRPr lang="en-GB" dirty="0"/>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err="1"/>
              <a:t>Fjerde</a:t>
            </a:r>
            <a:r>
              <a:rPr lang="en-GB" dirty="0"/>
              <a:t> </a:t>
            </a:r>
            <a:r>
              <a:rPr lang="en-GB" dirty="0" err="1"/>
              <a:t>niveau</a:t>
            </a:r>
            <a:endParaRPr lang="en-GB" dirty="0"/>
          </a:p>
          <a:p>
            <a:pPr lvl="4"/>
            <a:r>
              <a:rPr lang="en-GB" dirty="0" err="1"/>
              <a:t>Femte</a:t>
            </a:r>
            <a:r>
              <a:rPr lang="en-GB" dirty="0"/>
              <a:t> </a:t>
            </a:r>
            <a:r>
              <a:rPr lang="en-GB" dirty="0" err="1"/>
              <a:t>niveau</a:t>
            </a:r>
            <a:r>
              <a:rPr lang="en-GB" dirty="0"/>
              <a:t> </a:t>
            </a:r>
          </a:p>
        </p:txBody>
      </p:sp>
      <p:sp>
        <p:nvSpPr>
          <p:cNvPr id="7" name="Titel 1"/>
          <p:cNvSpPr>
            <a:spLocks noGrp="1"/>
          </p:cNvSpPr>
          <p:nvPr>
            <p:ph type="title" hasCustomPrompt="1"/>
          </p:nvPr>
        </p:nvSpPr>
        <p:spPr>
          <a:xfrm>
            <a:off x="587377" y="622300"/>
            <a:ext cx="7967662" cy="849313"/>
          </a:xfrm>
        </p:spPr>
        <p:txBody>
          <a:bodyPr/>
          <a:lstStyle>
            <a:lvl1pPr>
              <a:defRPr>
                <a:solidFill>
                  <a:schemeClr val="bg1"/>
                </a:solidFill>
              </a:defRPr>
            </a:lvl1pPr>
          </a:lstStyle>
          <a:p>
            <a:r>
              <a:rPr lang="en-GB" dirty="0" err="1"/>
              <a:t>Klik</a:t>
            </a:r>
            <a:r>
              <a:rPr lang="en-GB" dirty="0"/>
              <a:t> for at </a:t>
            </a:r>
            <a:r>
              <a:rPr lang="en-GB" dirty="0" err="1"/>
              <a:t>tilføje</a:t>
            </a:r>
            <a:r>
              <a:rPr lang="en-GB" dirty="0"/>
              <a:t> </a:t>
            </a:r>
            <a:r>
              <a:rPr lang="en-GB" dirty="0" err="1"/>
              <a:t>overskrift</a:t>
            </a:r>
            <a:endParaRPr lang="en-GB" dirty="0"/>
          </a:p>
        </p:txBody>
      </p:sp>
    </p:spTree>
    <p:extLst>
      <p:ext uri="{BB962C8B-B14F-4D97-AF65-F5344CB8AC3E}">
        <p14:creationId xmlns:p14="http://schemas.microsoft.com/office/powerpoint/2010/main" val="26273087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fsnitsoverskrift">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4DBE6BBF-E28A-4DE1-9242-B708456B3946}"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
        <p:nvSpPr>
          <p:cNvPr id="7" name="Titel 1"/>
          <p:cNvSpPr>
            <a:spLocks noGrp="1"/>
          </p:cNvSpPr>
          <p:nvPr>
            <p:ph type="title" hasCustomPrompt="1"/>
          </p:nvPr>
        </p:nvSpPr>
        <p:spPr>
          <a:xfrm>
            <a:off x="587375" y="1633537"/>
            <a:ext cx="7967663" cy="4668837"/>
          </a:xfrm>
        </p:spPr>
        <p:txBody>
          <a:bodyPr anchor="t" anchorCtr="0"/>
          <a:lstStyle>
            <a:lvl1pPr>
              <a:defRPr sz="6400" b="0" baseline="0">
                <a:solidFill>
                  <a:schemeClr val="bg1"/>
                </a:solidFill>
              </a:defRPr>
            </a:lvl1pPr>
          </a:lstStyle>
          <a:p>
            <a:r>
              <a:rPr lang="en-GB" dirty="0" err="1"/>
              <a:t>Klik</a:t>
            </a:r>
            <a:r>
              <a:rPr lang="en-GB" dirty="0"/>
              <a:t> for at </a:t>
            </a:r>
            <a:r>
              <a:rPr lang="en-GB" dirty="0" err="1"/>
              <a:t>indsætte</a:t>
            </a:r>
            <a:r>
              <a:rPr lang="en-GB" dirty="0"/>
              <a:t> </a:t>
            </a:r>
            <a:r>
              <a:rPr lang="en-GB" dirty="0" err="1"/>
              <a:t>tekst</a:t>
            </a:r>
            <a:endParaRPr lang="en-GB" dirty="0"/>
          </a:p>
        </p:txBody>
      </p:sp>
    </p:spTree>
    <p:extLst>
      <p:ext uri="{BB962C8B-B14F-4D97-AF65-F5344CB8AC3E}">
        <p14:creationId xmlns:p14="http://schemas.microsoft.com/office/powerpoint/2010/main" val="35438843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7375" y="619125"/>
            <a:ext cx="7967663" cy="865188"/>
          </a:xfrm>
        </p:spPr>
        <p:txBody>
          <a:bodyPr/>
          <a:lstStyle/>
          <a:p>
            <a:r>
              <a:rPr lang="en-GB" dirty="0" err="1"/>
              <a:t>Klik</a:t>
            </a:r>
            <a:r>
              <a:rPr lang="en-GB" dirty="0"/>
              <a:t> for at </a:t>
            </a:r>
            <a:r>
              <a:rPr lang="en-GB" dirty="0" err="1"/>
              <a:t>tilføje</a:t>
            </a:r>
            <a:r>
              <a:rPr lang="en-GB" dirty="0"/>
              <a:t> </a:t>
            </a:r>
            <a:r>
              <a:rPr lang="en-GB" dirty="0" err="1"/>
              <a:t>overskrift</a:t>
            </a:r>
            <a:endParaRPr lang="en-GB" dirty="0"/>
          </a:p>
        </p:txBody>
      </p:sp>
      <p:sp>
        <p:nvSpPr>
          <p:cNvPr id="3" name="Pladsholder til dato 2"/>
          <p:cNvSpPr>
            <a:spLocks noGrp="1"/>
          </p:cNvSpPr>
          <p:nvPr>
            <p:ph type="dt" sz="half" idx="10"/>
          </p:nvPr>
        </p:nvSpPr>
        <p:spPr/>
        <p:txBody>
          <a:bodyPr/>
          <a:lstStyle/>
          <a:p>
            <a:fld id="{64F6CB7D-A635-4389-AB55-374A80815EB4}" type="datetime1">
              <a:rPr lang="en-GB" smtClean="0"/>
              <a:t>30/06/2025</a:t>
            </a:fld>
            <a:endParaRPr lang="en-GB" dirty="0"/>
          </a:p>
        </p:txBody>
      </p:sp>
      <p:sp>
        <p:nvSpPr>
          <p:cNvPr id="4" name="Pladsholder til sidefod 3"/>
          <p:cNvSpPr>
            <a:spLocks noGrp="1"/>
          </p:cNvSpPr>
          <p:nvPr>
            <p:ph type="ftr" sz="quarter" idx="11"/>
          </p:nvPr>
        </p:nvSpPr>
        <p:spPr/>
        <p:txBody>
          <a:bodyPr/>
          <a:lstStyle/>
          <a:p>
            <a:endParaRPr lang="en-GB" dirty="0"/>
          </a:p>
        </p:txBody>
      </p:sp>
      <p:sp>
        <p:nvSpPr>
          <p:cNvPr id="5" name="Pladsholder til slidenummer 4"/>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760930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29187D5F-E647-4F9C-93B3-AF8E2B04071B}" type="datetime1">
              <a:rPr lang="en-GB" smtClean="0"/>
              <a:t>30/06/2025</a:t>
            </a:fld>
            <a:endParaRPr lang="en-GB" dirty="0"/>
          </a:p>
        </p:txBody>
      </p:sp>
      <p:sp>
        <p:nvSpPr>
          <p:cNvPr id="3" name="Pladsholder til sidefod 2"/>
          <p:cNvSpPr>
            <a:spLocks noGrp="1"/>
          </p:cNvSpPr>
          <p:nvPr>
            <p:ph type="ftr" sz="quarter" idx="11"/>
          </p:nvPr>
        </p:nvSpPr>
        <p:spPr/>
        <p:txBody>
          <a:bodyPr/>
          <a:lstStyle/>
          <a:p>
            <a:endParaRPr lang="en-GB" dirty="0"/>
          </a:p>
        </p:txBody>
      </p:sp>
      <p:sp>
        <p:nvSpPr>
          <p:cNvPr id="4" name="Pladsholder til slidenummer 3"/>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36315452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Rectangle 6"/>
          <p:cNvSpPr/>
          <p:nvPr userDrawn="1"/>
        </p:nvSpPr>
        <p:spPr>
          <a:xfrm>
            <a:off x="0" y="0"/>
            <a:ext cx="9144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88162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rugerguide">
    <p:spTree>
      <p:nvGrpSpPr>
        <p:cNvPr id="1" name=""/>
        <p:cNvGrpSpPr/>
        <p:nvPr/>
      </p:nvGrpSpPr>
      <p:grpSpPr>
        <a:xfrm>
          <a:off x="0" y="0"/>
          <a:ext cx="0" cy="0"/>
          <a:chOff x="0" y="0"/>
          <a:chExt cx="0" cy="0"/>
        </a:xfrm>
      </p:grpSpPr>
      <p:sp>
        <p:nvSpPr>
          <p:cNvPr id="20" name="Title 1"/>
          <p:cNvSpPr txBox="1">
            <a:spLocks/>
          </p:cNvSpPr>
          <p:nvPr userDrawn="1"/>
        </p:nvSpPr>
        <p:spPr>
          <a:xfrm>
            <a:off x="587376" y="619126"/>
            <a:ext cx="7967662" cy="865188"/>
          </a:xfrm>
          <a:prstGeom prst="rect">
            <a:avLst/>
          </a:prstGeom>
        </p:spPr>
        <p:txBody>
          <a:bodyPr vert="horz" lIns="0" tIns="0" rIns="0" bIns="0" rtlCol="0" anchor="t" anchorCtr="0">
            <a:noAutofit/>
          </a:bodyPr>
          <a:lstStyle>
            <a:lvl1pPr>
              <a:lnSpc>
                <a:spcPct val="100000"/>
              </a:lnSpc>
              <a:spcBef>
                <a:spcPct val="0"/>
              </a:spcBef>
              <a:buNone/>
              <a:defRPr sz="3200">
                <a:solidFill>
                  <a:schemeClr val="bg1"/>
                </a:solidFill>
                <a:latin typeface="+mj-lt"/>
                <a:ea typeface="+mj-ea"/>
                <a:cs typeface="+mj-cs"/>
              </a:defRPr>
            </a:lvl1pPr>
          </a:lstStyle>
          <a:p>
            <a:pPr lvl="0"/>
            <a:r>
              <a:rPr lang="en-GB" sz="3000" dirty="0" err="1">
                <a:solidFill>
                  <a:schemeClr val="tx1"/>
                </a:solidFill>
              </a:rPr>
              <a:t>Brugerguide</a:t>
            </a:r>
            <a:r>
              <a:rPr lang="en-GB" baseline="0" dirty="0">
                <a:solidFill>
                  <a:schemeClr val="tx1"/>
                </a:solidFill>
              </a:rPr>
              <a:t> </a:t>
            </a:r>
            <a:r>
              <a:rPr lang="en-GB" sz="1800" baseline="0" dirty="0">
                <a:solidFill>
                  <a:schemeClr val="tx1"/>
                </a:solidFill>
              </a:rPr>
              <a:t>– </a:t>
            </a:r>
            <a:r>
              <a:rPr lang="en-GB" sz="1800" dirty="0" err="1">
                <a:solidFill>
                  <a:schemeClr val="tx1"/>
                </a:solidFill>
              </a:rPr>
              <a:t>Slet</a:t>
            </a:r>
            <a:r>
              <a:rPr lang="en-GB" sz="1800" dirty="0">
                <a:solidFill>
                  <a:schemeClr val="tx1"/>
                </a:solidFill>
              </a:rPr>
              <a:t>, </a:t>
            </a:r>
            <a:r>
              <a:rPr lang="en-GB" sz="1800" dirty="0" err="1">
                <a:solidFill>
                  <a:schemeClr val="tx1"/>
                </a:solidFill>
              </a:rPr>
              <a:t>før</a:t>
            </a:r>
            <a:r>
              <a:rPr lang="en-GB" sz="1800" dirty="0">
                <a:solidFill>
                  <a:schemeClr val="tx1"/>
                </a:solidFill>
              </a:rPr>
              <a:t> du </a:t>
            </a:r>
            <a:r>
              <a:rPr lang="en-GB" sz="1800" dirty="0" err="1">
                <a:solidFill>
                  <a:schemeClr val="tx1"/>
                </a:solidFill>
              </a:rPr>
              <a:t>færdiggør</a:t>
            </a:r>
            <a:r>
              <a:rPr lang="en-GB" sz="1800" dirty="0">
                <a:solidFill>
                  <a:schemeClr val="tx1"/>
                </a:solidFill>
              </a:rPr>
              <a:t> din</a:t>
            </a:r>
            <a:r>
              <a:rPr lang="en-GB" sz="1800" baseline="0" dirty="0">
                <a:solidFill>
                  <a:schemeClr val="tx1"/>
                </a:solidFill>
              </a:rPr>
              <a:t> </a:t>
            </a:r>
            <a:r>
              <a:rPr lang="en-GB" sz="1800" dirty="0" err="1">
                <a:solidFill>
                  <a:schemeClr val="tx1"/>
                </a:solidFill>
              </a:rPr>
              <a:t>præsentation</a:t>
            </a:r>
            <a:endParaRPr lang="en-GB" sz="1800" dirty="0">
              <a:solidFill>
                <a:schemeClr val="tx1"/>
              </a:solidFill>
            </a:endParaRPr>
          </a:p>
        </p:txBody>
      </p:sp>
      <p:sp>
        <p:nvSpPr>
          <p:cNvPr id="50" name="Text Box 48"/>
          <p:cNvSpPr txBox="1">
            <a:spLocks noChangeArrowheads="1"/>
          </p:cNvSpPr>
          <p:nvPr userDrawn="1"/>
        </p:nvSpPr>
        <p:spPr bwMode="auto">
          <a:xfrm>
            <a:off x="587376" y="1640495"/>
            <a:ext cx="1750290" cy="3842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KU-skabeloner til PowerPoint</a:t>
            </a:r>
            <a:br>
              <a:rPr lang="en-GB" sz="1000" b="1" noProof="1">
                <a:solidFill>
                  <a:schemeClr val="tx1"/>
                </a:solidFill>
                <a:latin typeface="+mn-lt"/>
                <a:cs typeface="Arial" panose="020B0604020202020204" pitchFamily="34" charset="0"/>
              </a:rPr>
            </a:br>
            <a:r>
              <a:rPr lang="en-GB" sz="800" dirty="0" err="1">
                <a:effectLst/>
                <a:latin typeface="+mj-lt"/>
                <a:ea typeface="Calibri" panose="020F0502020204030204" pitchFamily="34" charset="0"/>
                <a:cs typeface="Times New Roman" panose="02020603050405020304" pitchFamily="18" charset="0"/>
              </a:rPr>
              <a:t>Når</a:t>
            </a:r>
            <a:r>
              <a:rPr lang="en-GB" sz="800" dirty="0">
                <a:effectLst/>
                <a:latin typeface="+mj-lt"/>
                <a:ea typeface="Calibri" panose="020F0502020204030204" pitchFamily="34" charset="0"/>
                <a:cs typeface="Times New Roman" panose="02020603050405020304" pitchFamily="18" charset="0"/>
              </a:rPr>
              <a:t> du </a:t>
            </a:r>
            <a:r>
              <a:rPr lang="en-GB" sz="800" dirty="0" err="1">
                <a:effectLst/>
                <a:latin typeface="+mj-lt"/>
                <a:ea typeface="Calibri" panose="020F0502020204030204" pitchFamily="34" charset="0"/>
                <a:cs typeface="Times New Roman" panose="02020603050405020304" pitchFamily="18" charset="0"/>
              </a:rPr>
              <a:t>åbner</a:t>
            </a:r>
            <a:r>
              <a:rPr lang="en-GB" sz="800" dirty="0">
                <a:effectLst/>
                <a:latin typeface="+mj-lt"/>
                <a:ea typeface="Calibri" panose="020F0502020204030204" pitchFamily="34" charset="0"/>
                <a:cs typeface="Times New Roman" panose="02020603050405020304" pitchFamily="18" charset="0"/>
              </a:rPr>
              <a:t> PowerPoint </a:t>
            </a:r>
            <a:r>
              <a:rPr lang="en-GB" sz="800" dirty="0" err="1">
                <a:effectLst/>
                <a:latin typeface="+mj-lt"/>
                <a:ea typeface="Calibri" panose="020F0502020204030204" pitchFamily="34" charset="0"/>
                <a:cs typeface="Times New Roman" panose="02020603050405020304" pitchFamily="18" charset="0"/>
              </a:rPr>
              <a:t>på</a:t>
            </a:r>
            <a:r>
              <a:rPr lang="en-GB" sz="800" dirty="0">
                <a:effectLst/>
                <a:latin typeface="+mj-lt"/>
                <a:ea typeface="Calibri" panose="020F0502020204030204" pitchFamily="34" charset="0"/>
                <a:cs typeface="Times New Roman" panose="02020603050405020304" pitchFamily="18" charset="0"/>
              </a:rPr>
              <a:t> din KU-pc, </a:t>
            </a:r>
            <a:r>
              <a:rPr lang="en-GB" sz="800" dirty="0" err="1">
                <a:effectLst/>
                <a:latin typeface="+mj-lt"/>
                <a:ea typeface="Calibri" panose="020F0502020204030204" pitchFamily="34" charset="0"/>
                <a:cs typeface="Times New Roman" panose="02020603050405020304" pitchFamily="18" charset="0"/>
              </a:rPr>
              <a:t>åbner</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en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skabelon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i</a:t>
            </a:r>
            <a:r>
              <a:rPr lang="en-GB" sz="800" dirty="0">
                <a:effectLst/>
                <a:latin typeface="+mj-lt"/>
                <a:ea typeface="Calibri" panose="020F0502020204030204" pitchFamily="34" charset="0"/>
                <a:cs typeface="Times New Roman" panose="02020603050405020304" pitchFamily="18" charset="0"/>
              </a:rPr>
              <a:t> 4:3-format og med </a:t>
            </a:r>
            <a:r>
              <a:rPr lang="en-GB" sz="800" dirty="0" err="1">
                <a:effectLst/>
                <a:latin typeface="+mj-lt"/>
                <a:ea typeface="Calibri" panose="020F0502020204030204" pitchFamily="34" charset="0"/>
                <a:cs typeface="Times New Roman" panose="02020603050405020304" pitchFamily="18" charset="0"/>
              </a:rPr>
              <a:t>dansk</a:t>
            </a:r>
            <a:r>
              <a:rPr lang="en-GB" sz="800" dirty="0">
                <a:effectLst/>
                <a:latin typeface="+mj-lt"/>
                <a:ea typeface="Calibri" panose="020F0502020204030204" pitchFamily="34" charset="0"/>
                <a:cs typeface="Times New Roman" panose="02020603050405020304" pitchFamily="18" charset="0"/>
              </a:rPr>
              <a:t> KU-logo.</a:t>
            </a:r>
          </a:p>
          <a:p>
            <a:pPr>
              <a:lnSpc>
                <a:spcPct val="115000"/>
              </a:lnSpc>
              <a:spcAft>
                <a:spcPts val="1000"/>
              </a:spcAft>
            </a:pPr>
            <a:r>
              <a:rPr lang="en-GB" sz="800" dirty="0" err="1">
                <a:effectLst/>
                <a:latin typeface="+mj-lt"/>
                <a:ea typeface="Calibri" panose="020F0502020204030204" pitchFamily="34" charset="0"/>
                <a:cs typeface="Times New Roman" panose="02020603050405020304" pitchFamily="18" charset="0"/>
              </a:rPr>
              <a:t>Når</a:t>
            </a:r>
            <a:r>
              <a:rPr lang="en-GB" sz="800" dirty="0">
                <a:effectLst/>
                <a:latin typeface="+mj-lt"/>
                <a:ea typeface="Calibri" panose="020F0502020204030204" pitchFamily="34" charset="0"/>
                <a:cs typeface="Times New Roman" panose="02020603050405020304" pitchFamily="18" charset="0"/>
              </a:rPr>
              <a:t> du </a:t>
            </a:r>
            <a:r>
              <a:rPr lang="en-GB" sz="800" dirty="0" err="1">
                <a:effectLst/>
                <a:latin typeface="+mj-lt"/>
                <a:ea typeface="Calibri" panose="020F0502020204030204" pitchFamily="34" charset="0"/>
                <a:cs typeface="Times New Roman" panose="02020603050405020304" pitchFamily="18" charset="0"/>
              </a:rPr>
              <a:t>klikker</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på</a:t>
            </a:r>
            <a:r>
              <a:rPr lang="en-GB" sz="800" dirty="0">
                <a:effectLst/>
                <a:latin typeface="+mj-lt"/>
                <a:ea typeface="Calibri" panose="020F0502020204030204" pitchFamily="34" charset="0"/>
                <a:cs typeface="Times New Roman" panose="02020603050405020304" pitchFamily="18" charset="0"/>
              </a:rPr>
              <a:t> KU-</a:t>
            </a:r>
            <a:r>
              <a:rPr lang="en-GB" sz="800" dirty="0" err="1">
                <a:effectLst/>
                <a:latin typeface="+mj-lt"/>
                <a:ea typeface="Calibri" panose="020F0502020204030204" pitchFamily="34" charset="0"/>
                <a:cs typeface="Times New Roman" panose="02020603050405020304" pitchFamily="18" charset="0"/>
              </a:rPr>
              <a:t>fanen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i</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værktøjslinjen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kan</a:t>
            </a:r>
            <a:r>
              <a:rPr lang="en-GB" sz="800" dirty="0">
                <a:effectLst/>
                <a:latin typeface="+mj-lt"/>
                <a:ea typeface="Calibri" panose="020F0502020204030204" pitchFamily="34" charset="0"/>
                <a:cs typeface="Times New Roman" panose="02020603050405020304" pitchFamily="18" charset="0"/>
              </a:rPr>
              <a:t> du via </a:t>
            </a:r>
            <a:r>
              <a:rPr lang="en-GB" sz="800" dirty="0" err="1">
                <a:effectLst/>
                <a:latin typeface="+mj-lt"/>
                <a:ea typeface="Calibri" panose="020F0502020204030204" pitchFamily="34" charset="0"/>
                <a:cs typeface="Times New Roman" panose="02020603050405020304" pitchFamily="18" charset="0"/>
              </a:rPr>
              <a:t>knappen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Vælg</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Skabelon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vælge</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mellem</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skabeloner</a:t>
            </a:r>
            <a:endParaRPr lang="en-GB" sz="800" dirty="0">
              <a:effectLst/>
              <a:latin typeface="+mj-lt"/>
              <a:ea typeface="Calibri" panose="020F0502020204030204" pitchFamily="34" charset="0"/>
              <a:cs typeface="Times New Roman" panose="02020603050405020304" pitchFamily="18" charset="0"/>
            </a:endParaRPr>
          </a:p>
          <a:p>
            <a:pPr marL="88900" lvl="0" indent="-88900">
              <a:lnSpc>
                <a:spcPct val="115000"/>
              </a:lnSpc>
              <a:spcAft>
                <a:spcPts val="0"/>
              </a:spcAft>
              <a:buFont typeface="Arial" panose="020B0604020202020204" pitchFamily="34" charset="0"/>
              <a:buChar char="•"/>
              <a:tabLst/>
            </a:pPr>
            <a:r>
              <a:rPr lang="en-GB" sz="800" dirty="0" err="1">
                <a:effectLst/>
                <a:latin typeface="+mj-lt"/>
                <a:ea typeface="Calibri" panose="020F0502020204030204" pitchFamily="34" charset="0"/>
                <a:cs typeface="Times New Roman" panose="02020603050405020304" pitchFamily="18" charset="0"/>
              </a:rPr>
              <a:t>på</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henholdsvis</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dansk</a:t>
            </a:r>
            <a:r>
              <a:rPr lang="en-GB" sz="800" dirty="0">
                <a:effectLst/>
                <a:latin typeface="+mj-lt"/>
                <a:ea typeface="Calibri" panose="020F0502020204030204" pitchFamily="34" charset="0"/>
                <a:cs typeface="Times New Roman" panose="02020603050405020304" pitchFamily="18" charset="0"/>
              </a:rPr>
              <a:t> og </a:t>
            </a:r>
            <a:r>
              <a:rPr lang="en-GB" sz="800" dirty="0" err="1">
                <a:effectLst/>
                <a:latin typeface="+mj-lt"/>
                <a:ea typeface="Calibri" panose="020F0502020204030204" pitchFamily="34" charset="0"/>
                <a:cs typeface="Times New Roman" panose="02020603050405020304" pitchFamily="18" charset="0"/>
              </a:rPr>
              <a:t>engelsk</a:t>
            </a:r>
            <a:r>
              <a:rPr lang="en-GB" sz="800" dirty="0">
                <a:effectLst/>
                <a:latin typeface="+mj-lt"/>
                <a:ea typeface="Calibri" panose="020F0502020204030204" pitchFamily="34" charset="0"/>
                <a:cs typeface="Times New Roman" panose="02020603050405020304" pitchFamily="18" charset="0"/>
              </a:rPr>
              <a:t> </a:t>
            </a:r>
          </a:p>
          <a:p>
            <a:pPr marL="88900" lvl="0" indent="-88900">
              <a:lnSpc>
                <a:spcPct val="115000"/>
              </a:lnSpc>
              <a:spcAft>
                <a:spcPts val="0"/>
              </a:spcAft>
              <a:buFont typeface="Arial" panose="020B0604020202020204" pitchFamily="34" charset="0"/>
              <a:buChar char="•"/>
              <a:tabLst/>
            </a:pPr>
            <a:r>
              <a:rPr lang="en-GB" sz="800" dirty="0" err="1">
                <a:effectLst/>
                <a:latin typeface="+mj-lt"/>
                <a:ea typeface="Calibri" panose="020F0502020204030204" pitchFamily="34" charset="0"/>
                <a:cs typeface="Times New Roman" panose="02020603050405020304" pitchFamily="18" charset="0"/>
              </a:rPr>
              <a:t>i</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formaterne</a:t>
            </a:r>
            <a:r>
              <a:rPr lang="en-GB" sz="800" dirty="0">
                <a:effectLst/>
                <a:latin typeface="+mj-lt"/>
                <a:ea typeface="Calibri" panose="020F0502020204030204" pitchFamily="34" charset="0"/>
                <a:cs typeface="Times New Roman" panose="02020603050405020304" pitchFamily="18" charset="0"/>
              </a:rPr>
              <a:t> 4:3 og 16:9</a:t>
            </a:r>
          </a:p>
          <a:p>
            <a:pPr marL="88900" lvl="0" indent="-88900">
              <a:lnSpc>
                <a:spcPct val="115000"/>
              </a:lnSpc>
              <a:spcAft>
                <a:spcPts val="0"/>
              </a:spcAft>
              <a:buFont typeface="Arial" panose="020B0604020202020204" pitchFamily="34" charset="0"/>
              <a:buChar char="•"/>
              <a:tabLst/>
            </a:pPr>
            <a:r>
              <a:rPr lang="en-GB" sz="800" dirty="0" err="1">
                <a:effectLst/>
                <a:latin typeface="+mj-lt"/>
                <a:ea typeface="Calibri" panose="020F0502020204030204" pitchFamily="34" charset="0"/>
                <a:cs typeface="Times New Roman" panose="02020603050405020304" pitchFamily="18" charset="0"/>
              </a:rPr>
              <a:t>i</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fuld</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eller</a:t>
            </a:r>
            <a:r>
              <a:rPr lang="en-GB" sz="800" dirty="0">
                <a:effectLst/>
                <a:latin typeface="+mj-lt"/>
                <a:ea typeface="Calibri" panose="020F0502020204030204" pitchFamily="34" charset="0"/>
                <a:cs typeface="Times New Roman" panose="02020603050405020304" pitchFamily="18" charset="0"/>
              </a:rPr>
              <a:t> ”tom” version (</a:t>
            </a:r>
            <a:r>
              <a:rPr lang="en-GB" sz="800" dirty="0" err="1">
                <a:effectLst/>
                <a:latin typeface="+mj-lt"/>
                <a:ea typeface="Calibri" panose="020F0502020204030204" pitchFamily="34" charset="0"/>
                <a:cs typeface="Times New Roman" panose="02020603050405020304" pitchFamily="18" charset="0"/>
              </a:rPr>
              <a:t>i</a:t>
            </a:r>
            <a:r>
              <a:rPr lang="en-GB" sz="800" dirty="0">
                <a:effectLst/>
                <a:latin typeface="+mj-lt"/>
                <a:ea typeface="Calibri" panose="020F0502020204030204" pitchFamily="34" charset="0"/>
                <a:cs typeface="Times New Roman" panose="02020603050405020304" pitchFamily="18" charset="0"/>
              </a:rPr>
              <a:t> den </a:t>
            </a:r>
            <a:r>
              <a:rPr lang="en-GB" sz="800" dirty="0" err="1">
                <a:effectLst/>
                <a:latin typeface="+mj-lt"/>
                <a:ea typeface="Calibri" panose="020F0502020204030204" pitchFamily="34" charset="0"/>
                <a:cs typeface="Times New Roman" panose="02020603050405020304" pitchFamily="18" charset="0"/>
              </a:rPr>
              <a:t>fulde</a:t>
            </a:r>
            <a:r>
              <a:rPr lang="en-GB" sz="800" dirty="0">
                <a:effectLst/>
                <a:latin typeface="+mj-lt"/>
                <a:ea typeface="Calibri" panose="020F0502020204030204" pitchFamily="34" charset="0"/>
                <a:cs typeface="Times New Roman" panose="02020603050405020304" pitchFamily="18" charset="0"/>
              </a:rPr>
              <a:t> version </a:t>
            </a:r>
            <a:r>
              <a:rPr lang="en-GB" sz="800" dirty="0" err="1">
                <a:effectLst/>
                <a:latin typeface="+mj-lt"/>
                <a:ea typeface="Calibri" panose="020F0502020204030204" pitchFamily="34" charset="0"/>
                <a:cs typeface="Times New Roman" panose="02020603050405020304" pitchFamily="18" charset="0"/>
              </a:rPr>
              <a:t>ser</a:t>
            </a:r>
            <a:r>
              <a:rPr lang="en-GB" sz="800" dirty="0">
                <a:effectLst/>
                <a:latin typeface="+mj-lt"/>
                <a:ea typeface="Calibri" panose="020F0502020204030204" pitchFamily="34" charset="0"/>
                <a:cs typeface="Times New Roman" panose="02020603050405020304" pitchFamily="18" charset="0"/>
              </a:rPr>
              <a:t> du et </a:t>
            </a:r>
            <a:r>
              <a:rPr lang="en-GB" sz="800" dirty="0" err="1">
                <a:effectLst/>
                <a:latin typeface="+mj-lt"/>
                <a:ea typeface="Calibri" panose="020F0502020204030204" pitchFamily="34" charset="0"/>
                <a:cs typeface="Times New Roman" panose="02020603050405020304" pitchFamily="18" charset="0"/>
              </a:rPr>
              <a:t>eksempel</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på</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hver</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diastype</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i</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venstrespalten</a:t>
            </a:r>
            <a:r>
              <a:rPr lang="en-GB" sz="800" dirty="0">
                <a:effectLst/>
                <a:latin typeface="+mj-lt"/>
                <a:ea typeface="Calibri" panose="020F0502020204030204" pitchFamily="34" charset="0"/>
                <a:cs typeface="Times New Roman" panose="02020603050405020304" pitchFamily="18" charset="0"/>
              </a:rPr>
              <a:t>)</a:t>
            </a:r>
          </a:p>
          <a:p>
            <a:pPr marL="88900" lvl="0" indent="-88900">
              <a:lnSpc>
                <a:spcPct val="115000"/>
              </a:lnSpc>
              <a:spcAft>
                <a:spcPts val="1000"/>
              </a:spcAft>
              <a:buFont typeface="Arial" panose="020B0604020202020204" pitchFamily="34" charset="0"/>
              <a:buChar char="•"/>
              <a:tabLst/>
            </a:pPr>
            <a:r>
              <a:rPr lang="en-GB" sz="800" dirty="0" err="1">
                <a:effectLst/>
                <a:latin typeface="+mj-lt"/>
                <a:ea typeface="Calibri" panose="020F0502020204030204" pitchFamily="34" charset="0"/>
                <a:cs typeface="Times New Roman" panose="02020603050405020304" pitchFamily="18" charset="0"/>
              </a:rPr>
              <a:t>samt</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en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demopræsentation</a:t>
            </a:r>
            <a:r>
              <a:rPr lang="en-GB" sz="800" dirty="0">
                <a:effectLst/>
                <a:latin typeface="+mj-lt"/>
                <a:ea typeface="Calibri" panose="020F0502020204030204" pitchFamily="34" charset="0"/>
                <a:cs typeface="Times New Roman" panose="02020603050405020304" pitchFamily="18" charset="0"/>
              </a:rPr>
              <a:t> med </a:t>
            </a:r>
            <a:r>
              <a:rPr lang="en-GB" sz="800" dirty="0" err="1">
                <a:effectLst/>
                <a:latin typeface="+mj-lt"/>
                <a:ea typeface="Calibri" panose="020F0502020204030204" pitchFamily="34" charset="0"/>
                <a:cs typeface="Times New Roman" panose="02020603050405020304" pitchFamily="18" charset="0"/>
              </a:rPr>
              <a:t>indsat</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tekst</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på</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engelsk</a:t>
            </a:r>
            <a:endParaRPr lang="en-GB" sz="800" dirty="0">
              <a:effectLst/>
              <a:latin typeface="+mj-lt"/>
              <a:ea typeface="Calibri" panose="020F0502020204030204" pitchFamily="34" charset="0"/>
              <a:cs typeface="Times New Roman" panose="02020603050405020304" pitchFamily="18" charset="0"/>
            </a:endParaRPr>
          </a:p>
          <a:p>
            <a:pPr>
              <a:lnSpc>
                <a:spcPct val="115000"/>
              </a:lnSpc>
              <a:spcAft>
                <a:spcPts val="1000"/>
              </a:spcAft>
            </a:pPr>
            <a:r>
              <a:rPr lang="en-GB" sz="800" dirty="0" err="1">
                <a:effectLst/>
                <a:latin typeface="+mj-lt"/>
                <a:ea typeface="Calibri" panose="020F0502020204030204" pitchFamily="34" charset="0"/>
                <a:cs typeface="Times New Roman" panose="02020603050405020304" pitchFamily="18" charset="0"/>
              </a:rPr>
              <a:t>Hvis</a:t>
            </a:r>
            <a:r>
              <a:rPr lang="en-GB" sz="800" dirty="0">
                <a:effectLst/>
                <a:latin typeface="+mj-lt"/>
                <a:ea typeface="Calibri" panose="020F0502020204030204" pitchFamily="34" charset="0"/>
                <a:cs typeface="Times New Roman" panose="02020603050405020304" pitchFamily="18" charset="0"/>
              </a:rPr>
              <a:t> du </a:t>
            </a:r>
            <a:r>
              <a:rPr lang="en-GB" sz="800" dirty="0" err="1">
                <a:effectLst/>
                <a:latin typeface="+mj-lt"/>
                <a:ea typeface="Calibri" panose="020F0502020204030204" pitchFamily="34" charset="0"/>
                <a:cs typeface="Times New Roman" panose="02020603050405020304" pitchFamily="18" charset="0"/>
              </a:rPr>
              <a:t>bruger</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en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fuld</a:t>
            </a:r>
            <a:r>
              <a:rPr lang="en-GB" sz="800" dirty="0">
                <a:effectLst/>
                <a:latin typeface="+mj-lt"/>
                <a:ea typeface="Calibri" panose="020F0502020204030204" pitchFamily="34" charset="0"/>
                <a:cs typeface="Times New Roman" panose="02020603050405020304" pitchFamily="18" charset="0"/>
              </a:rPr>
              <a:t>” version, </a:t>
            </a:r>
            <a:r>
              <a:rPr lang="en-GB" sz="800" dirty="0" err="1">
                <a:effectLst/>
                <a:latin typeface="+mj-lt"/>
                <a:ea typeface="Calibri" panose="020F0502020204030204" pitchFamily="34" charset="0"/>
                <a:cs typeface="Times New Roman" panose="02020603050405020304" pitchFamily="18" charset="0"/>
              </a:rPr>
              <a:t>skal</a:t>
            </a:r>
            <a:r>
              <a:rPr lang="en-GB" sz="800" dirty="0">
                <a:effectLst/>
                <a:latin typeface="+mj-lt"/>
                <a:ea typeface="Calibri" panose="020F0502020204030204" pitchFamily="34" charset="0"/>
                <a:cs typeface="Times New Roman" panose="02020603050405020304" pitchFamily="18" charset="0"/>
              </a:rPr>
              <a:t> du </a:t>
            </a:r>
            <a:r>
              <a:rPr lang="en-GB" sz="800" dirty="0" err="1">
                <a:effectLst/>
                <a:latin typeface="+mj-lt"/>
                <a:ea typeface="Calibri" panose="020F0502020204030204" pitchFamily="34" charset="0"/>
                <a:cs typeface="Times New Roman" panose="02020603050405020304" pitchFamily="18" charset="0"/>
              </a:rPr>
              <a:t>slette</a:t>
            </a:r>
            <a:r>
              <a:rPr lang="en-GB" sz="800" dirty="0">
                <a:effectLst/>
                <a:latin typeface="+mj-lt"/>
                <a:ea typeface="Calibri" panose="020F0502020204030204" pitchFamily="34" charset="0"/>
                <a:cs typeface="Times New Roman" panose="02020603050405020304" pitchFamily="18" charset="0"/>
              </a:rPr>
              <a:t> de </a:t>
            </a:r>
            <a:r>
              <a:rPr lang="en-GB" sz="800" dirty="0" err="1">
                <a:effectLst/>
                <a:latin typeface="+mj-lt"/>
                <a:ea typeface="Calibri" panose="020F0502020204030204" pitchFamily="34" charset="0"/>
                <a:cs typeface="Times New Roman" panose="02020603050405020304" pitchFamily="18" charset="0"/>
              </a:rPr>
              <a:t>dias</a:t>
            </a:r>
            <a:r>
              <a:rPr lang="en-GB" sz="800" dirty="0">
                <a:effectLst/>
                <a:latin typeface="+mj-lt"/>
                <a:ea typeface="Calibri" panose="020F0502020204030204" pitchFamily="34" charset="0"/>
                <a:cs typeface="Times New Roman" panose="02020603050405020304" pitchFamily="18" charset="0"/>
              </a:rPr>
              <a:t>, du </a:t>
            </a:r>
            <a:r>
              <a:rPr lang="en-GB" sz="800" dirty="0" err="1">
                <a:effectLst/>
                <a:latin typeface="+mj-lt"/>
                <a:ea typeface="Calibri" panose="020F0502020204030204" pitchFamily="34" charset="0"/>
                <a:cs typeface="Times New Roman" panose="02020603050405020304" pitchFamily="18" charset="0"/>
              </a:rPr>
              <a:t>ikke</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vil</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bruge</a:t>
            </a:r>
            <a:r>
              <a:rPr lang="en-GB" sz="800" dirty="0">
                <a:effectLst/>
                <a:latin typeface="+mj-lt"/>
                <a:ea typeface="Calibri" panose="020F0502020204030204" pitchFamily="34" charset="0"/>
                <a:cs typeface="Times New Roman" panose="02020603050405020304" pitchFamily="18" charset="0"/>
              </a:rPr>
              <a:t>.</a:t>
            </a:r>
            <a:br>
              <a:rPr lang="en-GB" sz="800" dirty="0">
                <a:effectLst/>
                <a:latin typeface="+mj-lt"/>
                <a:ea typeface="Calibri" panose="020F0502020204030204" pitchFamily="34" charset="0"/>
                <a:cs typeface="Times New Roman" panose="02020603050405020304" pitchFamily="18" charset="0"/>
              </a:rPr>
            </a:br>
            <a:br>
              <a:rPr lang="en-GB" sz="800" dirty="0">
                <a:effectLst/>
                <a:latin typeface="+mj-lt"/>
                <a:ea typeface="Calibri" panose="020F0502020204030204" pitchFamily="34" charset="0"/>
                <a:cs typeface="Times New Roman" panose="02020603050405020304" pitchFamily="18" charset="0"/>
              </a:rPr>
            </a:br>
            <a:r>
              <a:rPr lang="en-GB" sz="800" dirty="0">
                <a:effectLst/>
                <a:latin typeface="+mj-lt"/>
                <a:ea typeface="Calibri" panose="020F0502020204030204" pitchFamily="34" charset="0"/>
                <a:cs typeface="Times New Roman" panose="02020603050405020304" pitchFamily="18" charset="0"/>
              </a:rPr>
              <a:t>Mac-</a:t>
            </a:r>
            <a:r>
              <a:rPr lang="en-GB" sz="800" dirty="0" err="1">
                <a:effectLst/>
                <a:latin typeface="+mj-lt"/>
                <a:ea typeface="Calibri" panose="020F0502020204030204" pitchFamily="34" charset="0"/>
                <a:cs typeface="Times New Roman" panose="02020603050405020304" pitchFamily="18" charset="0"/>
              </a:rPr>
              <a:t>brugere</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m.fl</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kan</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hente</a:t>
            </a:r>
            <a:r>
              <a:rPr lang="en-GB" sz="800" dirty="0">
                <a:effectLst/>
                <a:latin typeface="+mj-lt"/>
                <a:ea typeface="Calibri" panose="020F0502020204030204" pitchFamily="34" charset="0"/>
                <a:cs typeface="Times New Roman" panose="02020603050405020304" pitchFamily="18" charset="0"/>
              </a:rPr>
              <a:t> PowerPoint-</a:t>
            </a:r>
            <a:r>
              <a:rPr lang="en-GB" sz="800" dirty="0" err="1">
                <a:effectLst/>
                <a:latin typeface="+mj-lt"/>
                <a:ea typeface="Calibri" panose="020F0502020204030204" pitchFamily="34" charset="0"/>
                <a:cs typeface="Times New Roman" panose="02020603050405020304" pitchFamily="18" charset="0"/>
              </a:rPr>
              <a:t>skabelonerne</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på</a:t>
            </a:r>
            <a:r>
              <a:rPr lang="en-GB" sz="800" baseline="0" dirty="0">
                <a:effectLst/>
                <a:latin typeface="+mj-lt"/>
                <a:ea typeface="Calibri" panose="020F0502020204030204" pitchFamily="34" charset="0"/>
                <a:cs typeface="Times New Roman" panose="02020603050405020304" pitchFamily="18" charset="0"/>
              </a:rPr>
              <a:t> </a:t>
            </a:r>
            <a:r>
              <a:rPr lang="en-GB" sz="800" dirty="0">
                <a:solidFill>
                  <a:schemeClr val="accent4"/>
                </a:solidFill>
                <a:effectLst/>
                <a:latin typeface="+mj-lt"/>
                <a:ea typeface="Calibri" panose="020F0502020204030204" pitchFamily="34" charset="0"/>
                <a:cs typeface="Times New Roman" panose="02020603050405020304" pitchFamily="18" charset="0"/>
                <a:hlinkClick r:id="rId2"/>
              </a:rPr>
              <a:t>www.designguide.ku.dk/ku/</a:t>
            </a:r>
            <a:br>
              <a:rPr lang="en-GB" sz="800" dirty="0">
                <a:solidFill>
                  <a:schemeClr val="accent4"/>
                </a:solidFill>
                <a:effectLst/>
                <a:latin typeface="+mj-lt"/>
                <a:ea typeface="Calibri" panose="020F0502020204030204" pitchFamily="34" charset="0"/>
                <a:cs typeface="Times New Roman" panose="02020603050405020304" pitchFamily="18" charset="0"/>
                <a:hlinkClick r:id="rId2"/>
              </a:rPr>
            </a:br>
            <a:r>
              <a:rPr lang="en-GB" sz="800" dirty="0" err="1">
                <a:solidFill>
                  <a:schemeClr val="accent4"/>
                </a:solidFill>
                <a:effectLst/>
                <a:latin typeface="+mj-lt"/>
                <a:ea typeface="Calibri" panose="020F0502020204030204" pitchFamily="34" charset="0"/>
                <a:cs typeface="Times New Roman" panose="02020603050405020304" pitchFamily="18" charset="0"/>
                <a:hlinkClick r:id="rId2"/>
              </a:rPr>
              <a:t>skabeloner</a:t>
            </a:r>
            <a:r>
              <a:rPr lang="en-GB" sz="800" dirty="0">
                <a:solidFill>
                  <a:schemeClr val="accent4"/>
                </a:solidFill>
                <a:effectLst/>
                <a:latin typeface="+mj-lt"/>
                <a:ea typeface="Calibri" panose="020F0502020204030204" pitchFamily="34" charset="0"/>
                <a:cs typeface="Times New Roman" panose="02020603050405020304" pitchFamily="18" charset="0"/>
                <a:hlinkClick r:id="rId2"/>
              </a:rPr>
              <a:t>/</a:t>
            </a:r>
            <a:r>
              <a:rPr lang="en-GB" sz="800" dirty="0" err="1">
                <a:solidFill>
                  <a:schemeClr val="accent4"/>
                </a:solidFill>
                <a:effectLst/>
                <a:latin typeface="+mj-lt"/>
                <a:ea typeface="Calibri" panose="020F0502020204030204" pitchFamily="34" charset="0"/>
                <a:cs typeface="Times New Roman" panose="02020603050405020304" pitchFamily="18" charset="0"/>
                <a:hlinkClick r:id="rId2"/>
              </a:rPr>
              <a:t>powerpoint</a:t>
            </a:r>
            <a:r>
              <a:rPr lang="en-GB" sz="800" dirty="0">
                <a:solidFill>
                  <a:schemeClr val="accent4"/>
                </a:solidFill>
                <a:effectLst/>
                <a:latin typeface="+mj-lt"/>
                <a:ea typeface="Calibri" panose="020F0502020204030204" pitchFamily="34" charset="0"/>
                <a:cs typeface="Times New Roman" panose="02020603050405020304" pitchFamily="18" charset="0"/>
                <a:hlinkClick r:id="rId2"/>
              </a:rPr>
              <a:t>/</a:t>
            </a:r>
            <a:br>
              <a:rPr lang="en-GB" sz="800" dirty="0">
                <a:solidFill>
                  <a:schemeClr val="accent4"/>
                </a:solidFill>
                <a:effectLst/>
                <a:latin typeface="+mj-lt"/>
                <a:ea typeface="Calibri" panose="020F0502020204030204" pitchFamily="34" charset="0"/>
                <a:cs typeface="Times New Roman" panose="02020603050405020304" pitchFamily="18" charset="0"/>
                <a:hlinkClick r:id="rId2"/>
              </a:rPr>
            </a:br>
            <a:r>
              <a:rPr lang="en-GB" sz="800" dirty="0" err="1">
                <a:solidFill>
                  <a:schemeClr val="accent4"/>
                </a:solidFill>
                <a:effectLst/>
                <a:latin typeface="+mj-lt"/>
                <a:ea typeface="Calibri" panose="020F0502020204030204" pitchFamily="34" charset="0"/>
                <a:cs typeface="Times New Roman" panose="02020603050405020304" pitchFamily="18" charset="0"/>
                <a:hlinkClick r:id="rId2"/>
              </a:rPr>
              <a:t>praesentationer</a:t>
            </a:r>
            <a:r>
              <a:rPr lang="en-GB" sz="800" dirty="0">
                <a:solidFill>
                  <a:schemeClr val="accent4"/>
                </a:solidFill>
                <a:effectLst/>
                <a:latin typeface="+mj-lt"/>
                <a:ea typeface="Calibri" panose="020F0502020204030204" pitchFamily="34" charset="0"/>
                <a:cs typeface="Times New Roman" panose="02020603050405020304" pitchFamily="18" charset="0"/>
                <a:hlinkClick r:id="rId2"/>
              </a:rPr>
              <a:t>/</a:t>
            </a:r>
            <a:endParaRPr lang="en-GB" sz="800" dirty="0">
              <a:solidFill>
                <a:schemeClr val="accent4"/>
              </a:solidFill>
              <a:effectLst/>
              <a:latin typeface="+mj-lt"/>
              <a:ea typeface="Calibri" panose="020F0502020204030204" pitchFamily="34" charset="0"/>
              <a:cs typeface="Times New Roman" panose="02020603050405020304" pitchFamily="18" charset="0"/>
            </a:endParaRPr>
          </a:p>
        </p:txBody>
      </p:sp>
      <p:sp>
        <p:nvSpPr>
          <p:cNvPr id="51" name="Text Box 48"/>
          <p:cNvSpPr txBox="1">
            <a:spLocks noChangeArrowheads="1"/>
          </p:cNvSpPr>
          <p:nvPr userDrawn="1"/>
        </p:nvSpPr>
        <p:spPr bwMode="auto">
          <a:xfrm>
            <a:off x="2576655" y="4201412"/>
            <a:ext cx="1755548" cy="171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Indsæt  din enheds navn (fx institut), sidenummer og dato</a:t>
            </a:r>
            <a:br>
              <a:rPr lang="en-GB" sz="1000" b="1" noProof="1">
                <a:solidFill>
                  <a:schemeClr val="tx1"/>
                </a:solidFill>
                <a:latin typeface="+mj-lt"/>
                <a:cs typeface="Arial" panose="020B0604020202020204" pitchFamily="34" charset="0"/>
              </a:rPr>
            </a:br>
            <a:r>
              <a:rPr lang="en-GB" sz="800" b="1" dirty="0">
                <a:effectLst/>
                <a:latin typeface="+mj-lt"/>
                <a:ea typeface="Calibri" panose="020F0502020204030204" pitchFamily="34" charset="0"/>
                <a:cs typeface="Times New Roman" panose="02020603050405020304" pitchFamily="18" charset="0"/>
              </a:rPr>
              <a:t>1. </a:t>
            </a:r>
            <a:r>
              <a:rPr lang="en-GB" sz="800" dirty="0" err="1">
                <a:effectLst/>
                <a:latin typeface="+mj-lt"/>
                <a:ea typeface="Calibri" panose="020F0502020204030204" pitchFamily="34" charset="0"/>
                <a:cs typeface="Times New Roman" panose="02020603050405020304" pitchFamily="18" charset="0"/>
              </a:rPr>
              <a:t>Vælg</a:t>
            </a:r>
            <a:r>
              <a:rPr lang="en-GB" sz="800" dirty="0">
                <a:effectLst/>
                <a:latin typeface="+mj-lt"/>
                <a:ea typeface="Calibri" panose="020F0502020204030204" pitchFamily="34" charset="0"/>
                <a:cs typeface="Times New Roman" panose="02020603050405020304" pitchFamily="18" charset="0"/>
              </a:rPr>
              <a:t> </a:t>
            </a:r>
            <a:r>
              <a:rPr lang="en-GB" sz="800" b="1" dirty="0" err="1">
                <a:effectLst/>
                <a:latin typeface="+mj-lt"/>
                <a:ea typeface="Calibri" panose="020F0502020204030204" pitchFamily="34" charset="0"/>
                <a:cs typeface="Times New Roman" panose="02020603050405020304" pitchFamily="18" charset="0"/>
              </a:rPr>
              <a:t>Indsæt</a:t>
            </a:r>
            <a:r>
              <a:rPr lang="en-GB" sz="800" b="1"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i</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topmenuen</a:t>
            </a:r>
            <a:r>
              <a:rPr lang="en-GB" sz="800" dirty="0">
                <a:effectLst/>
                <a:latin typeface="+mj-lt"/>
                <a:ea typeface="Calibri" panose="020F0502020204030204" pitchFamily="34" charset="0"/>
                <a:cs typeface="Times New Roman" panose="02020603050405020304" pitchFamily="18" charset="0"/>
              </a:rPr>
              <a:t> </a:t>
            </a:r>
          </a:p>
          <a:p>
            <a:pPr>
              <a:lnSpc>
                <a:spcPct val="90000"/>
              </a:lnSpc>
              <a:spcAft>
                <a:spcPts val="600"/>
              </a:spcAft>
            </a:pPr>
            <a:r>
              <a:rPr lang="en-GB" sz="800" b="1" dirty="0">
                <a:effectLst/>
                <a:latin typeface="+mj-lt"/>
                <a:ea typeface="Calibri" panose="020F0502020204030204" pitchFamily="34" charset="0"/>
                <a:cs typeface="Times New Roman" panose="02020603050405020304" pitchFamily="18" charset="0"/>
              </a:rPr>
              <a:t>2. </a:t>
            </a:r>
            <a:r>
              <a:rPr lang="en-GB" sz="800" dirty="0" err="1">
                <a:effectLst/>
                <a:latin typeface="+mj-lt"/>
                <a:ea typeface="Calibri" panose="020F0502020204030204" pitchFamily="34" charset="0"/>
                <a:cs typeface="Times New Roman" panose="02020603050405020304" pitchFamily="18" charset="0"/>
              </a:rPr>
              <a:t>Vælg</a:t>
            </a:r>
            <a:r>
              <a:rPr lang="en-GB" sz="800" dirty="0">
                <a:effectLst/>
                <a:latin typeface="+mj-lt"/>
                <a:ea typeface="Calibri" panose="020F0502020204030204" pitchFamily="34" charset="0"/>
                <a:cs typeface="Times New Roman" panose="02020603050405020304" pitchFamily="18" charset="0"/>
              </a:rPr>
              <a:t> </a:t>
            </a:r>
            <a:r>
              <a:rPr lang="en-GB" sz="800" b="1" dirty="0" err="1">
                <a:effectLst/>
                <a:latin typeface="+mj-lt"/>
                <a:ea typeface="Calibri" panose="020F0502020204030204" pitchFamily="34" charset="0"/>
                <a:cs typeface="Times New Roman" panose="02020603050405020304" pitchFamily="18" charset="0"/>
              </a:rPr>
              <a:t>Sidehoved</a:t>
            </a:r>
            <a:r>
              <a:rPr lang="en-GB" sz="800" b="1" dirty="0">
                <a:effectLst/>
                <a:latin typeface="+mj-lt"/>
                <a:ea typeface="Calibri" panose="020F0502020204030204" pitchFamily="34" charset="0"/>
                <a:cs typeface="Times New Roman" panose="02020603050405020304" pitchFamily="18" charset="0"/>
              </a:rPr>
              <a:t> og </a:t>
            </a:r>
            <a:r>
              <a:rPr lang="en-GB" sz="800" b="1" dirty="0" err="1">
                <a:effectLst/>
                <a:latin typeface="+mj-lt"/>
                <a:ea typeface="Calibri" panose="020F0502020204030204" pitchFamily="34" charset="0"/>
                <a:cs typeface="Times New Roman" panose="02020603050405020304" pitchFamily="18" charset="0"/>
              </a:rPr>
              <a:t>Sidefod</a:t>
            </a:r>
            <a:endParaRPr lang="en-GB" sz="800" b="1" dirty="0">
              <a:effectLst/>
              <a:latin typeface="+mj-lt"/>
              <a:ea typeface="Calibri" panose="020F0502020204030204" pitchFamily="34" charset="0"/>
              <a:cs typeface="Times New Roman" panose="02020603050405020304" pitchFamily="18" charset="0"/>
            </a:endParaRPr>
          </a:p>
          <a:p>
            <a:pPr>
              <a:lnSpc>
                <a:spcPct val="90000"/>
              </a:lnSpc>
              <a:spcAft>
                <a:spcPts val="1000"/>
              </a:spcAft>
            </a:pPr>
            <a:r>
              <a:rPr lang="en-GB" sz="800" b="1" dirty="0">
                <a:effectLst/>
                <a:latin typeface="+mj-lt"/>
                <a:ea typeface="Calibri" panose="020F0502020204030204" pitchFamily="34" charset="0"/>
                <a:cs typeface="Times New Roman" panose="02020603050405020304" pitchFamily="18" charset="0"/>
              </a:rPr>
              <a:t>3. </a:t>
            </a:r>
            <a:r>
              <a:rPr lang="en-GB" sz="800" dirty="0" err="1">
                <a:effectLst/>
                <a:latin typeface="+mj-lt"/>
                <a:ea typeface="Calibri" panose="020F0502020204030204" pitchFamily="34" charset="0"/>
                <a:cs typeface="Times New Roman" panose="02020603050405020304" pitchFamily="18" charset="0"/>
              </a:rPr>
              <a:t>Udfyld</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felterne</a:t>
            </a:r>
            <a:endParaRPr lang="en-GB" sz="800" dirty="0">
              <a:effectLst/>
              <a:latin typeface="+mj-lt"/>
              <a:ea typeface="Calibri" panose="020F0502020204030204" pitchFamily="34" charset="0"/>
              <a:cs typeface="Times New Roman" panose="02020603050405020304" pitchFamily="18" charset="0"/>
            </a:endParaRPr>
          </a:p>
          <a:p>
            <a:pPr>
              <a:lnSpc>
                <a:spcPct val="90000"/>
              </a:lnSpc>
              <a:spcAft>
                <a:spcPts val="1000"/>
              </a:spcAft>
            </a:pPr>
            <a:r>
              <a:rPr lang="en-GB" sz="800" dirty="0">
                <a:effectLst/>
                <a:latin typeface="+mj-lt"/>
                <a:ea typeface="Calibri" panose="020F0502020204030204" pitchFamily="34" charset="0"/>
                <a:cs typeface="Times New Roman" panose="02020603050405020304" pitchFamily="18" charset="0"/>
              </a:rPr>
              <a:t>4. </a:t>
            </a:r>
            <a:r>
              <a:rPr lang="en-GB" sz="800" dirty="0" err="1">
                <a:effectLst/>
                <a:latin typeface="+mj-lt"/>
                <a:ea typeface="Calibri" panose="020F0502020204030204" pitchFamily="34" charset="0"/>
                <a:cs typeface="Times New Roman" panose="02020603050405020304" pitchFamily="18" charset="0"/>
              </a:rPr>
              <a:t>Vælg</a:t>
            </a:r>
            <a:r>
              <a:rPr lang="en-GB" sz="800" dirty="0">
                <a:effectLst/>
                <a:latin typeface="+mj-lt"/>
                <a:ea typeface="Calibri" panose="020F0502020204030204" pitchFamily="34" charset="0"/>
                <a:cs typeface="Times New Roman" panose="02020603050405020304" pitchFamily="18" charset="0"/>
              </a:rPr>
              <a:t> </a:t>
            </a:r>
            <a:r>
              <a:rPr lang="en-GB" sz="800" b="1" dirty="0" err="1">
                <a:effectLst/>
                <a:latin typeface="+mj-lt"/>
                <a:ea typeface="Calibri" panose="020F0502020204030204" pitchFamily="34" charset="0"/>
                <a:cs typeface="Times New Roman" panose="02020603050405020304" pitchFamily="18" charset="0"/>
              </a:rPr>
              <a:t>Anvend</a:t>
            </a:r>
            <a:r>
              <a:rPr lang="en-GB" sz="800" b="1" dirty="0">
                <a:effectLst/>
                <a:latin typeface="+mj-lt"/>
                <a:ea typeface="Calibri" panose="020F0502020204030204" pitchFamily="34" charset="0"/>
                <a:cs typeface="Times New Roman" panose="02020603050405020304" pitchFamily="18" charset="0"/>
              </a:rPr>
              <a:t> </a:t>
            </a:r>
            <a:r>
              <a:rPr lang="en-GB" sz="800" b="1" dirty="0" err="1">
                <a:effectLst/>
                <a:latin typeface="+mj-lt"/>
                <a:ea typeface="Calibri" panose="020F0502020204030204" pitchFamily="34" charset="0"/>
                <a:cs typeface="Times New Roman" panose="02020603050405020304" pitchFamily="18" charset="0"/>
              </a:rPr>
              <a:t>på</a:t>
            </a:r>
            <a:r>
              <a:rPr lang="en-GB" sz="800" b="1" dirty="0">
                <a:effectLst/>
                <a:latin typeface="+mj-lt"/>
                <a:ea typeface="Calibri" panose="020F0502020204030204" pitchFamily="34" charset="0"/>
                <a:cs typeface="Times New Roman" panose="02020603050405020304" pitchFamily="18" charset="0"/>
              </a:rPr>
              <a:t> </a:t>
            </a:r>
            <a:r>
              <a:rPr lang="en-GB" sz="800" b="1" dirty="0" err="1">
                <a:effectLst/>
                <a:latin typeface="+mj-lt"/>
                <a:ea typeface="Calibri" panose="020F0502020204030204" pitchFamily="34" charset="0"/>
                <a:cs typeface="Times New Roman" panose="02020603050405020304" pitchFamily="18" charset="0"/>
              </a:rPr>
              <a:t>alle</a:t>
            </a:r>
            <a:r>
              <a:rPr lang="en-GB" sz="800" b="1" dirty="0">
                <a:effectLst/>
                <a:latin typeface="+mj-lt"/>
                <a:ea typeface="Calibri" panose="020F0502020204030204" pitchFamily="34" charset="0"/>
                <a:cs typeface="Times New Roman" panose="02020603050405020304" pitchFamily="18" charset="0"/>
              </a:rPr>
              <a:t> </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eller</a:t>
            </a:r>
            <a:r>
              <a:rPr lang="en-GB" sz="800" dirty="0">
                <a:effectLst/>
                <a:latin typeface="+mj-lt"/>
                <a:ea typeface="Calibri" panose="020F0502020204030204" pitchFamily="34" charset="0"/>
                <a:cs typeface="Times New Roman" panose="02020603050405020304" pitchFamily="18" charset="0"/>
              </a:rPr>
              <a:t> </a:t>
            </a:r>
            <a:r>
              <a:rPr lang="en-GB" sz="800" b="1" dirty="0" err="1">
                <a:effectLst/>
                <a:latin typeface="+mj-lt"/>
                <a:ea typeface="Calibri" panose="020F0502020204030204" pitchFamily="34" charset="0"/>
                <a:cs typeface="Times New Roman" panose="02020603050405020304" pitchFamily="18" charset="0"/>
              </a:rPr>
              <a:t>Anvend</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hvis</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det</a:t>
            </a:r>
            <a:r>
              <a:rPr lang="en-GB" sz="800" dirty="0">
                <a:effectLst/>
                <a:latin typeface="+mj-lt"/>
                <a:ea typeface="Calibri" panose="020F0502020204030204" pitchFamily="34" charset="0"/>
                <a:cs typeface="Times New Roman" panose="02020603050405020304" pitchFamily="18" charset="0"/>
              </a:rPr>
              <a:t> kun </a:t>
            </a:r>
            <a:r>
              <a:rPr lang="en-GB" sz="800" dirty="0" err="1">
                <a:effectLst/>
                <a:latin typeface="+mj-lt"/>
                <a:ea typeface="Calibri" panose="020F0502020204030204" pitchFamily="34" charset="0"/>
                <a:cs typeface="Times New Roman" panose="02020603050405020304" pitchFamily="18" charset="0"/>
              </a:rPr>
              <a:t>skal</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være</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på</a:t>
            </a:r>
            <a:r>
              <a:rPr lang="en-GB" sz="800" dirty="0">
                <a:effectLst/>
                <a:latin typeface="+mj-lt"/>
                <a:ea typeface="Calibri" panose="020F0502020204030204" pitchFamily="34" charset="0"/>
                <a:cs typeface="Times New Roman" panose="02020603050405020304" pitchFamily="18" charset="0"/>
              </a:rPr>
              <a:t> et </a:t>
            </a:r>
            <a:r>
              <a:rPr lang="en-GB" sz="800" dirty="0" err="1">
                <a:effectLst/>
                <a:latin typeface="+mj-lt"/>
                <a:ea typeface="Calibri" panose="020F0502020204030204" pitchFamily="34" charset="0"/>
                <a:cs typeface="Times New Roman" panose="02020603050405020304" pitchFamily="18" charset="0"/>
              </a:rPr>
              <a:t>enkelt</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dias</a:t>
            </a:r>
            <a:r>
              <a:rPr lang="en-GB" sz="800" dirty="0">
                <a:effectLst/>
                <a:latin typeface="+mj-lt"/>
                <a:ea typeface="Calibri" panose="020F0502020204030204" pitchFamily="34" charset="0"/>
                <a:cs typeface="Times New Roman" panose="02020603050405020304" pitchFamily="18" charset="0"/>
              </a:rPr>
              <a:t>/slide</a:t>
            </a:r>
          </a:p>
          <a:p>
            <a:pPr>
              <a:lnSpc>
                <a:spcPct val="90000"/>
              </a:lnSpc>
              <a:spcAft>
                <a:spcPts val="1000"/>
              </a:spcAft>
            </a:pPr>
            <a:r>
              <a:rPr lang="en-GB" sz="800" dirty="0" err="1">
                <a:effectLst/>
                <a:latin typeface="+mj-lt"/>
                <a:ea typeface="Calibri" panose="020F0502020204030204" pitchFamily="34" charset="0"/>
                <a:cs typeface="Times New Roman" panose="02020603050405020304" pitchFamily="18" charset="0"/>
              </a:rPr>
              <a:t>Oplysningerne</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placeres</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i</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højre</a:t>
            </a:r>
            <a:r>
              <a:rPr lang="en-GB" sz="800" dirty="0">
                <a:effectLst/>
                <a:latin typeface="+mj-lt"/>
                <a:ea typeface="Calibri" panose="020F0502020204030204" pitchFamily="34" charset="0"/>
                <a:cs typeface="Times New Roman" panose="02020603050405020304" pitchFamily="18" charset="0"/>
              </a:rPr>
              <a:t> side </a:t>
            </a:r>
            <a:r>
              <a:rPr lang="en-GB" sz="800" dirty="0" err="1">
                <a:effectLst/>
                <a:latin typeface="+mj-lt"/>
                <a:ea typeface="Calibri" panose="020F0502020204030204" pitchFamily="34" charset="0"/>
                <a:cs typeface="Times New Roman" panose="02020603050405020304" pitchFamily="18" charset="0"/>
              </a:rPr>
              <a:t>af</a:t>
            </a:r>
            <a:r>
              <a:rPr lang="en-GB" sz="800" dirty="0">
                <a:effectLst/>
                <a:latin typeface="+mj-lt"/>
                <a:ea typeface="Calibri" panose="020F0502020204030204" pitchFamily="34" charset="0"/>
                <a:cs typeface="Times New Roman" panose="02020603050405020304" pitchFamily="18" charset="0"/>
              </a:rPr>
              <a:t> den </a:t>
            </a:r>
            <a:r>
              <a:rPr lang="en-GB" sz="800" dirty="0" err="1">
                <a:effectLst/>
                <a:latin typeface="+mj-lt"/>
                <a:ea typeface="Calibri" panose="020F0502020204030204" pitchFamily="34" charset="0"/>
                <a:cs typeface="Times New Roman" panose="02020603050405020304" pitchFamily="18" charset="0"/>
              </a:rPr>
              <a:t>grå</a:t>
            </a:r>
            <a:r>
              <a:rPr lang="en-GB" sz="800" dirty="0">
                <a:effectLst/>
                <a:latin typeface="+mj-lt"/>
                <a:ea typeface="Calibri" panose="020F0502020204030204" pitchFamily="34" charset="0"/>
                <a:cs typeface="Times New Roman" panose="02020603050405020304" pitchFamily="18" charset="0"/>
              </a:rPr>
              <a:t> </a:t>
            </a:r>
            <a:r>
              <a:rPr lang="en-GB" sz="800" dirty="0" err="1">
                <a:effectLst/>
                <a:latin typeface="+mj-lt"/>
                <a:ea typeface="Calibri" panose="020F0502020204030204" pitchFamily="34" charset="0"/>
                <a:cs typeface="Times New Roman" panose="02020603050405020304" pitchFamily="18" charset="0"/>
              </a:rPr>
              <a:t>topbjælke</a:t>
            </a:r>
            <a:r>
              <a:rPr lang="en-GB" sz="800" dirty="0">
                <a:effectLst/>
                <a:latin typeface="+mj-lt"/>
                <a:ea typeface="Calibri" panose="020F0502020204030204" pitchFamily="34" charset="0"/>
                <a:cs typeface="Times New Roman" panose="02020603050405020304" pitchFamily="18" charset="0"/>
              </a:rPr>
              <a:t>.</a:t>
            </a:r>
          </a:p>
        </p:txBody>
      </p:sp>
      <p:sp>
        <p:nvSpPr>
          <p:cNvPr id="52" name="Text Box 48"/>
          <p:cNvSpPr txBox="1">
            <a:spLocks noChangeArrowheads="1"/>
          </p:cNvSpPr>
          <p:nvPr userDrawn="1"/>
        </p:nvSpPr>
        <p:spPr bwMode="auto">
          <a:xfrm>
            <a:off x="587375" y="5678667"/>
            <a:ext cx="18995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0"/>
              </a:spcAft>
              <a:defRPr/>
            </a:pPr>
            <a:r>
              <a:rPr lang="en-GB" sz="1000" b="1" noProof="1">
                <a:solidFill>
                  <a:schemeClr val="tx1"/>
                </a:solidFill>
                <a:latin typeface="+mn-lt"/>
                <a:cs typeface="Arial" panose="020B0604020202020204" pitchFamily="34" charset="0"/>
              </a:rPr>
              <a:t>Lav nyt dias/slide (hhv. 2010- + 2013- og 2016-version) </a:t>
            </a:r>
          </a:p>
          <a:p>
            <a:pPr eaLnBrk="1" hangingPunct="1">
              <a:spcAft>
                <a:spcPts val="600"/>
              </a:spcAft>
              <a:defRPr/>
            </a:pP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noProof="1">
                <a:solidFill>
                  <a:schemeClr val="tx1"/>
                </a:solidFill>
                <a:latin typeface="+mn-lt"/>
                <a:cs typeface="Arial" panose="020B0604020202020204" pitchFamily="34" charset="0"/>
              </a:rPr>
              <a:t>Klik på </a:t>
            </a:r>
            <a:r>
              <a:rPr lang="en-GB" altLang="da-DK" sz="800" b="1" noProof="1">
                <a:solidFill>
                  <a:schemeClr val="tx1"/>
                </a:solidFill>
                <a:latin typeface="+mn-lt"/>
                <a:cs typeface="Arial" panose="020B0604020202020204" pitchFamily="34" charset="0"/>
              </a:rPr>
              <a:t>Startside/Hjem</a:t>
            </a:r>
          </a:p>
        </p:txBody>
      </p:sp>
      <p:pic>
        <p:nvPicPr>
          <p:cNvPr id="53" name="Billede 40"/>
          <p:cNvPicPr>
            <a:picLocks noChangeAspect="1"/>
          </p:cNvPicPr>
          <p:nvPr userDrawn="1"/>
        </p:nvPicPr>
        <p:blipFill rotWithShape="1">
          <a:blip r:embed="rId3"/>
          <a:srcRect l="36944" r="2272" b="69429"/>
          <a:stretch/>
        </p:blipFill>
        <p:spPr>
          <a:xfrm>
            <a:off x="4157637" y="2940574"/>
            <a:ext cx="395416" cy="126627"/>
          </a:xfrm>
          <a:prstGeom prst="rect">
            <a:avLst/>
          </a:prstGeom>
        </p:spPr>
      </p:pic>
      <p:sp>
        <p:nvSpPr>
          <p:cNvPr id="54" name="Text Box 48"/>
          <p:cNvSpPr txBox="1">
            <a:spLocks noChangeArrowheads="1"/>
          </p:cNvSpPr>
          <p:nvPr userDrawn="1"/>
        </p:nvSpPr>
        <p:spPr bwMode="auto">
          <a:xfrm>
            <a:off x="2587038" y="2582327"/>
            <a:ext cx="1624241" cy="72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Diastype</a:t>
            </a:r>
            <a:br>
              <a:rPr lang="en-GB" sz="1000" b="1" noProof="1">
                <a:solidFill>
                  <a:schemeClr val="tx1"/>
                </a:solidFill>
                <a:latin typeface="+mn-lt"/>
                <a:cs typeface="Arial" panose="020B0604020202020204" pitchFamily="34" charset="0"/>
              </a:rPr>
            </a:br>
            <a:r>
              <a:rPr lang="en-GB" altLang="da-DK" sz="800" b="1" noProof="1">
                <a:solidFill>
                  <a:schemeClr val="tx1"/>
                </a:solidFill>
                <a:latin typeface="+mn-lt"/>
                <a:cs typeface="Arial" panose="020B0604020202020204" pitchFamily="34" charset="0"/>
              </a:rPr>
              <a:t>1. </a:t>
            </a:r>
            <a:r>
              <a:rPr lang="en-GB" altLang="da-DK" sz="800" noProof="1">
                <a:solidFill>
                  <a:schemeClr val="tx1"/>
                </a:solidFill>
                <a:latin typeface="+mn-lt"/>
                <a:cs typeface="Arial" panose="020B0604020202020204" pitchFamily="34" charset="0"/>
              </a:rPr>
              <a:t>Klik på </a:t>
            </a:r>
            <a:r>
              <a:rPr lang="en-GB" altLang="da-DK" sz="800" b="1" noProof="1">
                <a:solidFill>
                  <a:schemeClr val="tx1"/>
                </a:solidFill>
                <a:latin typeface="+mn-lt"/>
                <a:cs typeface="Arial" panose="020B0604020202020204" pitchFamily="34" charset="0"/>
              </a:rPr>
              <a:t>Startside/Hjem</a:t>
            </a:r>
          </a:p>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Vælg </a:t>
            </a:r>
            <a:r>
              <a:rPr lang="en-GB" altLang="da-DK" sz="800" b="1" baseline="0" noProof="1">
                <a:solidFill>
                  <a:schemeClr val="tx1"/>
                </a:solidFill>
                <a:latin typeface="+mn-lt"/>
                <a:cs typeface="Arial" panose="020B0604020202020204" pitchFamily="34" charset="0"/>
              </a:rPr>
              <a:t>Layout</a:t>
            </a:r>
            <a:r>
              <a:rPr lang="en-GB" altLang="da-DK" sz="800" baseline="0" noProof="1">
                <a:solidFill>
                  <a:schemeClr val="tx1"/>
                </a:solidFill>
                <a:latin typeface="+mn-lt"/>
                <a:cs typeface="Arial" panose="020B0604020202020204" pitchFamily="34" charset="0"/>
              </a:rPr>
              <a:t> for at ændre dit nuværende dias/slide til et alternativt layout</a:t>
            </a:r>
          </a:p>
        </p:txBody>
      </p:sp>
      <p:sp>
        <p:nvSpPr>
          <p:cNvPr id="55" name="Text Box 48"/>
          <p:cNvSpPr txBox="1">
            <a:spLocks noChangeArrowheads="1"/>
          </p:cNvSpPr>
          <p:nvPr userDrawn="1"/>
        </p:nvSpPr>
        <p:spPr bwMode="auto">
          <a:xfrm>
            <a:off x="2576655" y="3571524"/>
            <a:ext cx="16346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sz="1000" b="1" noProof="1">
                <a:solidFill>
                  <a:schemeClr val="tx1"/>
                </a:solidFill>
                <a:latin typeface="+mn-lt"/>
                <a:cs typeface="Arial" panose="020B0604020202020204" pitchFamily="34" charset="0"/>
              </a:rPr>
              <a:t>Skrift</a:t>
            </a:r>
            <a:br>
              <a:rPr lang="en-GB" sz="1000" b="1" noProof="1">
                <a:solidFill>
                  <a:schemeClr val="tx1"/>
                </a:solidFill>
                <a:latin typeface="+mn-lt"/>
                <a:cs typeface="Arial" panose="020B0604020202020204" pitchFamily="34" charset="0"/>
              </a:rPr>
            </a:br>
            <a:r>
              <a:rPr lang="en-GB" altLang="da-DK" sz="800" b="0" noProof="1">
                <a:solidFill>
                  <a:schemeClr val="tx1"/>
                </a:solidFill>
                <a:latin typeface="+mn-lt"/>
                <a:cs typeface="Arial" panose="020B0604020202020204" pitchFamily="34" charset="0"/>
              </a:rPr>
              <a:t>KU Anvender skriften Microsoft New Tai Lue i PowerPoint.</a:t>
            </a:r>
            <a:endParaRPr lang="en-GB" altLang="da-DK" sz="800" b="0" baseline="0" noProof="1">
              <a:solidFill>
                <a:schemeClr val="tx1"/>
              </a:solidFill>
              <a:latin typeface="+mn-lt"/>
              <a:cs typeface="Arial" panose="020B0604020202020204" pitchFamily="34" charset="0"/>
            </a:endParaRPr>
          </a:p>
        </p:txBody>
      </p:sp>
      <p:sp>
        <p:nvSpPr>
          <p:cNvPr id="56" name="Text Box 48"/>
          <p:cNvSpPr txBox="1">
            <a:spLocks noChangeArrowheads="1"/>
          </p:cNvSpPr>
          <p:nvPr userDrawn="1"/>
        </p:nvSpPr>
        <p:spPr bwMode="auto">
          <a:xfrm>
            <a:off x="4739114" y="1627125"/>
            <a:ext cx="1634624" cy="2339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0"/>
              </a:spcAft>
              <a:defRPr/>
            </a:pPr>
            <a:r>
              <a:rPr lang="en-GB" sz="1000" b="1" noProof="1">
                <a:solidFill>
                  <a:schemeClr val="tx1"/>
                </a:solidFill>
                <a:latin typeface="+mj-lt"/>
                <a:cs typeface="Arial" panose="020B0604020202020204" pitchFamily="34" charset="0"/>
              </a:rPr>
              <a:t>Gitter- og hjælpelinjer</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For at se gitter- og hjælpelinjer</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Klik på </a:t>
            </a:r>
            <a:r>
              <a:rPr lang="en-GB" sz="800" b="1" noProof="1">
                <a:solidFill>
                  <a:schemeClr val="tx1"/>
                </a:solidFill>
                <a:latin typeface="+mj-lt"/>
                <a:cs typeface="Arial" panose="020B0604020202020204" pitchFamily="34" charset="0"/>
              </a:rPr>
              <a:t>Vis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Vælg </a:t>
            </a:r>
            <a:r>
              <a:rPr lang="en-GB" sz="800" b="1" noProof="1">
                <a:solidFill>
                  <a:schemeClr val="tx1"/>
                </a:solidFill>
                <a:latin typeface="+mj-lt"/>
                <a:cs typeface="Arial" panose="020B0604020202020204" pitchFamily="34" charset="0"/>
              </a:rPr>
              <a:t>Gitterlinjer</a:t>
            </a:r>
            <a:r>
              <a:rPr lang="en-GB" sz="800" b="0" noProof="1">
                <a:solidFill>
                  <a:schemeClr val="tx1"/>
                </a:solidFill>
                <a:latin typeface="+mj-lt"/>
                <a:cs typeface="Arial" panose="020B0604020202020204" pitchFamily="34" charset="0"/>
              </a:rPr>
              <a:t> og/eller </a:t>
            </a:r>
            <a:r>
              <a:rPr lang="en-GB" sz="800" b="1" noProof="1">
                <a:solidFill>
                  <a:schemeClr val="tx1"/>
                </a:solidFill>
                <a:latin typeface="+mj-lt"/>
                <a:cs typeface="Arial" panose="020B0604020202020204" pitchFamily="34" charset="0"/>
              </a:rPr>
              <a:t>Hjælpelinjer</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For at etablere flere gitter- og hjælpelinjer</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1. </a:t>
            </a:r>
            <a:r>
              <a:rPr lang="en-GB" sz="800" b="0" noProof="1">
                <a:solidFill>
                  <a:schemeClr val="tx1"/>
                </a:solidFill>
                <a:latin typeface="+mj-lt"/>
                <a:cs typeface="Arial" panose="020B0604020202020204" pitchFamily="34" charset="0"/>
              </a:rPr>
              <a:t>Før musen over en eksisterende hjælpelinje og klik på linjen (koordinater på linjen vises)</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Hold </a:t>
            </a:r>
            <a:r>
              <a:rPr lang="en-GB" sz="800" b="1" noProof="1">
                <a:solidFill>
                  <a:schemeClr val="tx1"/>
                </a:solidFill>
                <a:latin typeface="+mj-lt"/>
                <a:cs typeface="Arial" panose="020B0604020202020204" pitchFamily="34" charset="0"/>
              </a:rPr>
              <a:t>CTRL</a:t>
            </a:r>
            <a:r>
              <a:rPr lang="en-GB" sz="800" b="0" noProof="1">
                <a:solidFill>
                  <a:schemeClr val="tx1"/>
                </a:solidFill>
                <a:latin typeface="+mj-lt"/>
                <a:cs typeface="Arial" panose="020B0604020202020204" pitchFamily="34" charset="0"/>
              </a:rPr>
              <a:t> nede, mens du flytter placeringen af den eksisterende linje (tilføjer en ny)</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Tryk </a:t>
            </a:r>
            <a:r>
              <a:rPr lang="en-GB" sz="800" b="1" noProof="1">
                <a:solidFill>
                  <a:schemeClr val="tx1"/>
                </a:solidFill>
                <a:latin typeface="+mj-lt"/>
                <a:cs typeface="Arial" panose="020B0604020202020204" pitchFamily="34" charset="0"/>
              </a:rPr>
              <a:t>Alt + F9</a:t>
            </a:r>
            <a:r>
              <a:rPr lang="en-GB" sz="800" b="0" noProof="1">
                <a:solidFill>
                  <a:schemeClr val="tx1"/>
                </a:solidFill>
                <a:latin typeface="+mj-lt"/>
                <a:cs typeface="Arial" panose="020B0604020202020204" pitchFamily="34" charset="0"/>
              </a:rPr>
              <a:t> for hurtig visning af hjælpelinjer</a:t>
            </a:r>
          </a:p>
        </p:txBody>
      </p:sp>
      <p:sp>
        <p:nvSpPr>
          <p:cNvPr id="57" name="Text Box 48"/>
          <p:cNvSpPr txBox="1">
            <a:spLocks noChangeArrowheads="1"/>
          </p:cNvSpPr>
          <p:nvPr userDrawn="1"/>
        </p:nvSpPr>
        <p:spPr bwMode="auto">
          <a:xfrm>
            <a:off x="4728822" y="4141417"/>
            <a:ext cx="163462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Indsæt billede</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På layouts med billedholder: Klik på ikon og vælg </a:t>
            </a:r>
            <a:r>
              <a:rPr lang="en-GB" sz="800" b="1" noProof="1">
                <a:solidFill>
                  <a:schemeClr val="tx1"/>
                </a:solidFill>
                <a:latin typeface="+mj-lt"/>
                <a:cs typeface="Arial" panose="020B0604020202020204" pitchFamily="34" charset="0"/>
              </a:rPr>
              <a:t>Indsæt</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Teksten ”Klik her, hvis du vil udskifte billedet” bliver ikke vist i din præsentation.  </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Du kan hente KU-billeder, som er tilpasset og minimeret til henholdsvis 4:3- og 16:9-format via dette link:</a:t>
            </a:r>
            <a:br>
              <a:rPr lang="en-GB" sz="800" b="0"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 </a:t>
            </a:r>
            <a:r>
              <a:rPr lang="en-GB" sz="800" b="0" noProof="1">
                <a:solidFill>
                  <a:schemeClr val="accent4"/>
                </a:solidFill>
                <a:latin typeface="+mj-lt"/>
                <a:cs typeface="Arial" panose="020B0604020202020204" pitchFamily="34" charset="0"/>
                <a:hlinkClick r:id="rId4"/>
              </a:rPr>
              <a:t>http://image.ku.dk/lightbox/211/13407586855728741badb20/</a:t>
            </a:r>
            <a:r>
              <a:rPr lang="en-GB" sz="800" b="0" baseline="0" noProof="1">
                <a:solidFill>
                  <a:schemeClr val="accent4"/>
                </a:solidFill>
                <a:latin typeface="+mj-lt"/>
                <a:cs typeface="Arial" panose="020B0604020202020204" pitchFamily="34" charset="0"/>
                <a:hlinkClick r:id="rId4"/>
              </a:rPr>
              <a:t> </a:t>
            </a:r>
            <a:endParaRPr lang="en-GB" sz="800" b="0" noProof="1">
              <a:solidFill>
                <a:schemeClr val="accent4"/>
              </a:solidFill>
              <a:latin typeface="+mj-lt"/>
              <a:cs typeface="Arial" panose="020B0604020202020204" pitchFamily="34" charset="0"/>
            </a:endParaRP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Vælg slideshow-visning for at gøre linket aktivt.</a:t>
            </a:r>
          </a:p>
        </p:txBody>
      </p:sp>
      <p:sp>
        <p:nvSpPr>
          <p:cNvPr id="58" name="Text Box 48"/>
          <p:cNvSpPr txBox="1">
            <a:spLocks noChangeArrowheads="1"/>
          </p:cNvSpPr>
          <p:nvPr userDrawn="1"/>
        </p:nvSpPr>
        <p:spPr bwMode="auto">
          <a:xfrm>
            <a:off x="6691561" y="1640495"/>
            <a:ext cx="163462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Billedstørrelser</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De optimale billedstørrelser er</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4:3-format: 1.500 x 1.073 pixels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16:9-format: 1.500 x 818 pixels</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Gem billederne i 72 dpi og i ”jpg-medium-kvalitet”</a:t>
            </a:r>
          </a:p>
        </p:txBody>
      </p:sp>
      <p:sp>
        <p:nvSpPr>
          <p:cNvPr id="59" name="Text Box 48"/>
          <p:cNvSpPr txBox="1">
            <a:spLocks noChangeArrowheads="1"/>
          </p:cNvSpPr>
          <p:nvPr userDrawn="1"/>
        </p:nvSpPr>
        <p:spPr bwMode="auto">
          <a:xfrm>
            <a:off x="6691561" y="2720006"/>
            <a:ext cx="1634624"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Beskær billede</a:t>
            </a:r>
            <a:br>
              <a:rPr lang="en-GB" sz="1000" b="1" noProof="1">
                <a:solidFill>
                  <a:schemeClr val="tx1"/>
                </a:solidFill>
                <a:latin typeface="+mj-lt"/>
                <a:cs typeface="Arial" panose="020B0604020202020204" pitchFamily="34" charset="0"/>
              </a:rPr>
            </a:br>
            <a:r>
              <a:rPr lang="en-GB" sz="800" b="1" noProof="1">
                <a:solidFill>
                  <a:schemeClr val="tx1"/>
                </a:solidFill>
                <a:latin typeface="+mj-lt"/>
                <a:cs typeface="Arial" panose="020B0604020202020204" pitchFamily="34" charset="0"/>
              </a:rPr>
              <a:t>1</a:t>
            </a:r>
            <a:r>
              <a:rPr lang="en-GB" sz="800" b="0" noProof="1">
                <a:solidFill>
                  <a:schemeClr val="tx1"/>
                </a:solidFill>
                <a:latin typeface="+mj-lt"/>
                <a:cs typeface="Arial" panose="020B0604020202020204" pitchFamily="34" charset="0"/>
              </a:rPr>
              <a:t>. Klik </a:t>
            </a:r>
            <a:r>
              <a:rPr lang="en-GB" sz="800" b="1" noProof="1">
                <a:solidFill>
                  <a:schemeClr val="tx1"/>
                </a:solidFill>
                <a:latin typeface="+mj-lt"/>
                <a:cs typeface="Arial" panose="020B0604020202020204" pitchFamily="34" charset="0"/>
              </a:rPr>
              <a:t>Beskær</a:t>
            </a:r>
            <a:r>
              <a:rPr lang="en-GB" sz="800" b="0" noProof="1">
                <a:solidFill>
                  <a:schemeClr val="tx1"/>
                </a:solidFill>
                <a:latin typeface="+mj-lt"/>
                <a:cs typeface="Arial" panose="020B0604020202020204" pitchFamily="34" charset="0"/>
              </a:rPr>
              <a:t> for at ændre billedets fokus/størrelse</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2. </a:t>
            </a:r>
            <a:r>
              <a:rPr lang="en-GB" sz="800" b="0" noProof="1">
                <a:solidFill>
                  <a:schemeClr val="tx1"/>
                </a:solidFill>
                <a:latin typeface="+mj-lt"/>
                <a:cs typeface="Arial" panose="020B0604020202020204" pitchFamily="34" charset="0"/>
              </a:rPr>
              <a:t>Ønsker du at skalere billedet, så hold </a:t>
            </a:r>
            <a:r>
              <a:rPr lang="en-GB" sz="800" b="1" noProof="1">
                <a:solidFill>
                  <a:schemeClr val="tx1"/>
                </a:solidFill>
                <a:latin typeface="+mj-lt"/>
                <a:cs typeface="Arial" panose="020B0604020202020204" pitchFamily="34" charset="0"/>
              </a:rPr>
              <a:t>SHIFT</a:t>
            </a:r>
            <a:r>
              <a:rPr lang="en-GB" sz="800" b="0" noProof="1">
                <a:solidFill>
                  <a:schemeClr val="tx1"/>
                </a:solidFill>
                <a:latin typeface="+mj-lt"/>
                <a:cs typeface="Arial" panose="020B0604020202020204" pitchFamily="34" charset="0"/>
              </a:rPr>
              <a:t>-knappen nede, mens du trækker i billedets hjørner</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3. </a:t>
            </a:r>
            <a:r>
              <a:rPr lang="en-GB" sz="800" b="0" noProof="1">
                <a:solidFill>
                  <a:schemeClr val="tx1"/>
                </a:solidFill>
                <a:latin typeface="+mj-lt"/>
                <a:cs typeface="Arial" panose="020B0604020202020204" pitchFamily="34" charset="0"/>
              </a:rPr>
              <a:t>Højreklik på billedet og vælg </a:t>
            </a:r>
            <a:r>
              <a:rPr lang="en-GB" sz="800" b="1" noProof="1">
                <a:solidFill>
                  <a:schemeClr val="tx1"/>
                </a:solidFill>
                <a:latin typeface="+mj-lt"/>
                <a:cs typeface="Arial" panose="020B0604020202020204" pitchFamily="34" charset="0"/>
              </a:rPr>
              <a:t>Placer bagerst</a:t>
            </a:r>
          </a:p>
          <a:p>
            <a:pPr eaLnBrk="1" hangingPunct="1">
              <a:lnSpc>
                <a:spcPct val="90000"/>
              </a:lnSpc>
              <a:spcAft>
                <a:spcPts val="600"/>
              </a:spcAft>
              <a:defRPr/>
            </a:pPr>
            <a:r>
              <a:rPr lang="en-GB" sz="800" b="1" noProof="1">
                <a:solidFill>
                  <a:schemeClr val="tx1"/>
                </a:solidFill>
                <a:latin typeface="+mj-lt"/>
                <a:cs typeface="Arial" panose="020B0604020202020204" pitchFamily="34" charset="0"/>
              </a:rPr>
              <a:t>Tip: </a:t>
            </a:r>
            <a:r>
              <a:rPr lang="en-GB" sz="800" b="0" noProof="1">
                <a:solidFill>
                  <a:schemeClr val="tx1"/>
                </a:solidFill>
                <a:latin typeface="+mj-lt"/>
                <a:cs typeface="Arial" panose="020B0604020202020204" pitchFamily="34" charset="0"/>
              </a:rPr>
              <a:t>Hvis du sletter billedet og indsætter et nyt, kan billedet lægge sig foran tekst og grafik. Hvis dette sker, skal du vælge billedet, højreklikke og vælge </a:t>
            </a:r>
            <a:r>
              <a:rPr lang="en-GB" sz="800" b="1" noProof="1">
                <a:solidFill>
                  <a:schemeClr val="tx1"/>
                </a:solidFill>
                <a:latin typeface="+mj-lt"/>
                <a:cs typeface="Arial" panose="020B0604020202020204" pitchFamily="34" charset="0"/>
              </a:rPr>
              <a:t>Placer bagerst</a:t>
            </a:r>
          </a:p>
        </p:txBody>
      </p:sp>
      <p:sp>
        <p:nvSpPr>
          <p:cNvPr id="60" name="Text Box 48"/>
          <p:cNvSpPr txBox="1">
            <a:spLocks noChangeArrowheads="1"/>
          </p:cNvSpPr>
          <p:nvPr userDrawn="1"/>
        </p:nvSpPr>
        <p:spPr bwMode="auto">
          <a:xfrm>
            <a:off x="6691561" y="4765322"/>
            <a:ext cx="1634624" cy="88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Skabelonens farver</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Du kan vælge mellem en række farver til baggrunde og grafer.</a:t>
            </a:r>
          </a:p>
          <a:p>
            <a:pPr eaLnBrk="1" hangingPunct="1">
              <a:lnSpc>
                <a:spcPct val="90000"/>
              </a:lnSpc>
              <a:spcAft>
                <a:spcPts val="600"/>
              </a:spcAft>
              <a:defRPr/>
            </a:pPr>
            <a:r>
              <a:rPr lang="en-GB" sz="800" b="0" noProof="1">
                <a:solidFill>
                  <a:schemeClr val="tx1"/>
                </a:solidFill>
                <a:latin typeface="+mj-lt"/>
                <a:cs typeface="Arial" panose="020B0604020202020204" pitchFamily="34" charset="0"/>
              </a:rPr>
              <a:t>Højreklik på den flade, du vil skifte farve på, og derefter malerbøtte-ikonet (Fyldfarve til figur)</a:t>
            </a:r>
          </a:p>
        </p:txBody>
      </p:sp>
      <p:sp>
        <p:nvSpPr>
          <p:cNvPr id="61" name="Text Box 48"/>
          <p:cNvSpPr txBox="1">
            <a:spLocks noChangeArrowheads="1"/>
          </p:cNvSpPr>
          <p:nvPr userDrawn="1"/>
        </p:nvSpPr>
        <p:spPr bwMode="auto">
          <a:xfrm>
            <a:off x="6691561" y="5815137"/>
            <a:ext cx="163462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en-GB" sz="1000" b="1" noProof="1">
                <a:solidFill>
                  <a:schemeClr val="tx1"/>
                </a:solidFill>
                <a:latin typeface="+mj-lt"/>
                <a:cs typeface="Arial" panose="020B0604020202020204" pitchFamily="34" charset="0"/>
              </a:rPr>
              <a:t>Mere information</a:t>
            </a:r>
            <a:br>
              <a:rPr lang="en-GB" sz="1000" b="1" noProof="1">
                <a:solidFill>
                  <a:schemeClr val="tx1"/>
                </a:solidFill>
                <a:latin typeface="+mj-lt"/>
                <a:cs typeface="Arial" panose="020B0604020202020204" pitchFamily="34" charset="0"/>
              </a:rPr>
            </a:br>
            <a:r>
              <a:rPr lang="en-GB" sz="800" b="0" noProof="1">
                <a:solidFill>
                  <a:schemeClr val="tx1"/>
                </a:solidFill>
                <a:latin typeface="+mj-lt"/>
                <a:cs typeface="Arial" panose="020B0604020202020204" pitchFamily="34" charset="0"/>
              </a:rPr>
              <a:t>Se</a:t>
            </a:r>
            <a:r>
              <a:rPr lang="en-GB" sz="800" b="0" baseline="0" noProof="1">
                <a:solidFill>
                  <a:schemeClr val="tx1"/>
                </a:solidFill>
                <a:latin typeface="+mj-lt"/>
                <a:cs typeface="Arial" panose="020B0604020202020204" pitchFamily="34" charset="0"/>
              </a:rPr>
              <a:t> designguiden</a:t>
            </a:r>
            <a:r>
              <a:rPr lang="en-GB" sz="800" b="0" noProof="1">
                <a:solidFill>
                  <a:schemeClr val="tx1"/>
                </a:solidFill>
                <a:latin typeface="+mj-lt"/>
                <a:cs typeface="Arial" panose="020B0604020202020204" pitchFamily="34" charset="0"/>
              </a:rPr>
              <a:t> på</a:t>
            </a:r>
            <a:br>
              <a:rPr lang="en-GB" sz="800" b="0" baseline="0" noProof="1">
                <a:solidFill>
                  <a:schemeClr val="tx1"/>
                </a:solidFill>
                <a:latin typeface="+mj-lt"/>
                <a:cs typeface="Arial" panose="020B0604020202020204" pitchFamily="34" charset="0"/>
              </a:rPr>
            </a:br>
            <a:r>
              <a:rPr lang="en-GB" sz="800" b="0" noProof="1">
                <a:solidFill>
                  <a:schemeClr val="accent4"/>
                </a:solidFill>
                <a:latin typeface="+mj-lt"/>
                <a:cs typeface="Arial" panose="020B0604020202020204" pitchFamily="34" charset="0"/>
                <a:hlinkClick r:id="rId5"/>
              </a:rPr>
              <a:t>www.designguide.ku.dk/ku/</a:t>
            </a:r>
            <a:br>
              <a:rPr lang="en-GB" sz="800" b="0" noProof="1">
                <a:solidFill>
                  <a:schemeClr val="accent4"/>
                </a:solidFill>
                <a:latin typeface="+mj-lt"/>
                <a:cs typeface="Arial" panose="020B0604020202020204" pitchFamily="34" charset="0"/>
                <a:hlinkClick r:id="rId5"/>
              </a:rPr>
            </a:br>
            <a:r>
              <a:rPr lang="en-GB" sz="800" b="0" noProof="1">
                <a:solidFill>
                  <a:schemeClr val="accent4"/>
                </a:solidFill>
                <a:latin typeface="+mj-lt"/>
                <a:cs typeface="Arial" panose="020B0604020202020204" pitchFamily="34" charset="0"/>
                <a:hlinkClick r:id="rId5"/>
              </a:rPr>
              <a:t>skabeloner/powerpoint/</a:t>
            </a:r>
            <a:br>
              <a:rPr lang="en-GB" sz="800" b="0" noProof="1">
                <a:solidFill>
                  <a:schemeClr val="accent4"/>
                </a:solidFill>
                <a:latin typeface="+mj-lt"/>
                <a:cs typeface="Arial" panose="020B0604020202020204" pitchFamily="34" charset="0"/>
                <a:hlinkClick r:id="rId5"/>
              </a:rPr>
            </a:br>
            <a:r>
              <a:rPr lang="en-GB" sz="800" b="0" noProof="1">
                <a:solidFill>
                  <a:schemeClr val="accent4"/>
                </a:solidFill>
                <a:latin typeface="+mj-lt"/>
                <a:cs typeface="Arial" panose="020B0604020202020204" pitchFamily="34" charset="0"/>
                <a:hlinkClick r:id="rId5"/>
              </a:rPr>
              <a:t>praesentationer/</a:t>
            </a:r>
            <a:endParaRPr lang="en-GB" sz="800" b="0" noProof="1">
              <a:solidFill>
                <a:schemeClr val="accent4"/>
              </a:solidFill>
              <a:latin typeface="+mj-lt"/>
              <a:cs typeface="Arial" panose="020B0604020202020204" pitchFamily="34" charset="0"/>
            </a:endParaRPr>
          </a:p>
        </p:txBody>
      </p:sp>
      <p:pic>
        <p:nvPicPr>
          <p:cNvPr id="62" name="Billede 25"/>
          <p:cNvPicPr>
            <a:picLocks noChangeAspect="1"/>
          </p:cNvPicPr>
          <p:nvPr userDrawn="1"/>
        </p:nvPicPr>
        <p:blipFill>
          <a:blip r:embed="rId6"/>
          <a:stretch>
            <a:fillRect/>
          </a:stretch>
        </p:blipFill>
        <p:spPr>
          <a:xfrm>
            <a:off x="6268044" y="4201412"/>
            <a:ext cx="257327" cy="275280"/>
          </a:xfrm>
          <a:prstGeom prst="rect">
            <a:avLst/>
          </a:prstGeom>
        </p:spPr>
      </p:pic>
      <p:pic>
        <p:nvPicPr>
          <p:cNvPr id="63" name="Billede 36"/>
          <p:cNvPicPr>
            <a:picLocks noChangeAspect="1"/>
          </p:cNvPicPr>
          <p:nvPr userDrawn="1"/>
        </p:nvPicPr>
        <p:blipFill>
          <a:blip r:embed="rId7"/>
          <a:stretch>
            <a:fillRect/>
          </a:stretch>
        </p:blipFill>
        <p:spPr>
          <a:xfrm>
            <a:off x="8223538" y="2795378"/>
            <a:ext cx="288708" cy="275280"/>
          </a:xfrm>
          <a:prstGeom prst="rect">
            <a:avLst/>
          </a:prstGeom>
        </p:spPr>
      </p:pic>
      <p:pic>
        <p:nvPicPr>
          <p:cNvPr id="64" name="Billede 37"/>
          <p:cNvPicPr>
            <a:picLocks noChangeAspect="1"/>
          </p:cNvPicPr>
          <p:nvPr userDrawn="1"/>
        </p:nvPicPr>
        <p:blipFill>
          <a:blip r:embed="rId8"/>
          <a:stretch>
            <a:fillRect/>
          </a:stretch>
        </p:blipFill>
        <p:spPr>
          <a:xfrm>
            <a:off x="8241826" y="3187789"/>
            <a:ext cx="223122" cy="228843"/>
          </a:xfrm>
          <a:prstGeom prst="rect">
            <a:avLst/>
          </a:prstGeom>
        </p:spPr>
      </p:pic>
      <p:sp>
        <p:nvSpPr>
          <p:cNvPr id="65" name="Text Box 48"/>
          <p:cNvSpPr txBox="1">
            <a:spLocks noChangeArrowheads="1"/>
          </p:cNvSpPr>
          <p:nvPr userDrawn="1"/>
        </p:nvSpPr>
        <p:spPr bwMode="auto">
          <a:xfrm>
            <a:off x="2564067" y="1666128"/>
            <a:ext cx="176813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600"/>
              </a:spcAft>
              <a:defRPr/>
            </a:pPr>
            <a:r>
              <a:rPr lang="en-GB" altLang="da-DK" sz="800" b="1" noProof="1">
                <a:solidFill>
                  <a:schemeClr val="tx1"/>
                </a:solidFill>
                <a:latin typeface="+mn-lt"/>
                <a:cs typeface="Arial" panose="020B0604020202020204" pitchFamily="34" charset="0"/>
              </a:rPr>
              <a:t>2.</a:t>
            </a:r>
            <a:r>
              <a:rPr lang="en-GB" altLang="da-DK" sz="800" b="1" baseline="0" noProof="1">
                <a:solidFill>
                  <a:schemeClr val="tx1"/>
                </a:solidFill>
                <a:latin typeface="+mn-lt"/>
                <a:cs typeface="Arial" panose="020B0604020202020204" pitchFamily="34" charset="0"/>
              </a:rPr>
              <a:t> </a:t>
            </a:r>
            <a:r>
              <a:rPr lang="en-GB" altLang="da-DK" sz="800" baseline="0" noProof="1">
                <a:solidFill>
                  <a:schemeClr val="tx1"/>
                </a:solidFill>
                <a:latin typeface="+mn-lt"/>
                <a:cs typeface="Arial" panose="020B0604020202020204" pitchFamily="34" charset="0"/>
              </a:rPr>
              <a:t>Under knappen </a:t>
            </a:r>
            <a:r>
              <a:rPr lang="en-GB" altLang="da-DK" sz="800" b="1" baseline="0" noProof="1">
                <a:solidFill>
                  <a:schemeClr val="tx1"/>
                </a:solidFill>
                <a:latin typeface="+mn-lt"/>
                <a:cs typeface="Arial" panose="020B0604020202020204" pitchFamily="34" charset="0"/>
              </a:rPr>
              <a:t>Nyt dias/Nyt slide</a:t>
            </a:r>
            <a:r>
              <a:rPr lang="en-GB" altLang="da-DK" sz="800" baseline="0" noProof="1">
                <a:solidFill>
                  <a:schemeClr val="tx1"/>
                </a:solidFill>
                <a:latin typeface="+mn-lt"/>
                <a:cs typeface="Arial" panose="020B0604020202020204" pitchFamily="34" charset="0"/>
              </a:rPr>
              <a:t>. Klik på øverste del af knappen for at oprette i et dias/slide magen til det markerede. Klik på nederste del for at se et udvalg af mulige layoutvalg</a:t>
            </a:r>
            <a:endParaRPr lang="en-GB" altLang="da-DK" sz="800" noProof="1">
              <a:solidFill>
                <a:schemeClr val="tx1"/>
              </a:solidFill>
              <a:latin typeface="+mn-lt"/>
              <a:cs typeface="Arial" panose="020B0604020202020204" pitchFamily="34" charset="0"/>
            </a:endParaRPr>
          </a:p>
        </p:txBody>
      </p:sp>
      <p:pic>
        <p:nvPicPr>
          <p:cNvPr id="66" name="Billede 39"/>
          <p:cNvPicPr>
            <a:picLocks noChangeAspect="1"/>
          </p:cNvPicPr>
          <p:nvPr userDrawn="1"/>
        </p:nvPicPr>
        <p:blipFill rotWithShape="1">
          <a:blip r:embed="rId3"/>
          <a:srcRect l="2931" r="60888"/>
          <a:stretch/>
        </p:blipFill>
        <p:spPr>
          <a:xfrm>
            <a:off x="4231619" y="1844048"/>
            <a:ext cx="235367" cy="418987"/>
          </a:xfrm>
          <a:prstGeom prst="rect">
            <a:avLst/>
          </a:prstGeom>
        </p:spPr>
      </p:pic>
      <p:sp>
        <p:nvSpPr>
          <p:cNvPr id="67" name="Freeform 10"/>
          <p:cNvSpPr>
            <a:spLocks noChangeAspect="1"/>
          </p:cNvSpPr>
          <p:nvPr userDrawn="1"/>
        </p:nvSpPr>
        <p:spPr>
          <a:xfrm rot="19800000">
            <a:off x="4404080" y="1900198"/>
            <a:ext cx="69672" cy="124351"/>
          </a:xfrm>
          <a:custGeom>
            <a:avLst/>
            <a:gdLst>
              <a:gd name="connsiteX0" fmla="*/ 381342 w 762684"/>
              <a:gd name="connsiteY0" fmla="*/ 0 h 1361254"/>
              <a:gd name="connsiteX1" fmla="*/ 762684 w 762684"/>
              <a:gd name="connsiteY1" fmla="*/ 823784 h 1361254"/>
              <a:gd name="connsiteX2" fmla="*/ 459602 w 762684"/>
              <a:gd name="connsiteY2" fmla="*/ 823784 h 1361254"/>
              <a:gd name="connsiteX3" fmla="*/ 459601 w 762684"/>
              <a:gd name="connsiteY3" fmla="*/ 1282994 h 1361254"/>
              <a:gd name="connsiteX4" fmla="*/ 381341 w 762684"/>
              <a:gd name="connsiteY4" fmla="*/ 1361254 h 1361254"/>
              <a:gd name="connsiteX5" fmla="*/ 381342 w 762684"/>
              <a:gd name="connsiteY5" fmla="*/ 1361253 h 1361254"/>
              <a:gd name="connsiteX6" fmla="*/ 303082 w 762684"/>
              <a:gd name="connsiteY6" fmla="*/ 1282993 h 1361254"/>
              <a:gd name="connsiteX7" fmla="*/ 303082 w 762684"/>
              <a:gd name="connsiteY7" fmla="*/ 823784 h 1361254"/>
              <a:gd name="connsiteX8" fmla="*/ 0 w 762684"/>
              <a:gd name="connsiteY8" fmla="*/ 823784 h 1361254"/>
              <a:gd name="connsiteX0" fmla="*/ 381342 w 762684"/>
              <a:gd name="connsiteY0" fmla="*/ 0 h 1361254"/>
              <a:gd name="connsiteX1" fmla="*/ 425041 w 762684"/>
              <a:gd name="connsiteY1" fmla="*/ 100982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81342 w 762684"/>
              <a:gd name="connsiteY10" fmla="*/ 0 h 1361254"/>
              <a:gd name="connsiteX0" fmla="*/ 381342 w 762684"/>
              <a:gd name="connsiteY0" fmla="*/ 0 h 1361254"/>
              <a:gd name="connsiteX1" fmla="*/ 425041 w 762684"/>
              <a:gd name="connsiteY1" fmla="*/ 100982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16886 w 762684"/>
              <a:gd name="connsiteY10" fmla="*/ 123104 h 1361254"/>
              <a:gd name="connsiteX11" fmla="*/ 381342 w 762684"/>
              <a:gd name="connsiteY11" fmla="*/ 0 h 1361254"/>
              <a:gd name="connsiteX0" fmla="*/ 381342 w 762684"/>
              <a:gd name="connsiteY0" fmla="*/ 0 h 1361254"/>
              <a:gd name="connsiteX1" fmla="*/ 425041 w 762684"/>
              <a:gd name="connsiteY1" fmla="*/ 100982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6550 w 762684"/>
              <a:gd name="connsiteY10" fmla="*/ 91149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6550 w 762684"/>
              <a:gd name="connsiteY10" fmla="*/ 91149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19866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48840 w 762684"/>
              <a:gd name="connsiteY10" fmla="*/ 27241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27241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27241 h 1361254"/>
              <a:gd name="connsiteX11" fmla="*/ 381342 w 762684"/>
              <a:gd name="connsiteY11" fmla="*/ 0 h 1361254"/>
              <a:gd name="connsiteX0" fmla="*/ 381342 w 762684"/>
              <a:gd name="connsiteY0" fmla="*/ 34 h 1361288"/>
              <a:gd name="connsiteX1" fmla="*/ 425041 w 762684"/>
              <a:gd name="connsiteY1" fmla="*/ 27274 h 1361288"/>
              <a:gd name="connsiteX2" fmla="*/ 762684 w 762684"/>
              <a:gd name="connsiteY2" fmla="*/ 823818 h 1361288"/>
              <a:gd name="connsiteX3" fmla="*/ 459602 w 762684"/>
              <a:gd name="connsiteY3" fmla="*/ 823818 h 1361288"/>
              <a:gd name="connsiteX4" fmla="*/ 459601 w 762684"/>
              <a:gd name="connsiteY4" fmla="*/ 1283028 h 1361288"/>
              <a:gd name="connsiteX5" fmla="*/ 381341 w 762684"/>
              <a:gd name="connsiteY5" fmla="*/ 1361288 h 1361288"/>
              <a:gd name="connsiteX6" fmla="*/ 381342 w 762684"/>
              <a:gd name="connsiteY6" fmla="*/ 1361287 h 1361288"/>
              <a:gd name="connsiteX7" fmla="*/ 303082 w 762684"/>
              <a:gd name="connsiteY7" fmla="*/ 1283027 h 1361288"/>
              <a:gd name="connsiteX8" fmla="*/ 303082 w 762684"/>
              <a:gd name="connsiteY8" fmla="*/ 823818 h 1361288"/>
              <a:gd name="connsiteX9" fmla="*/ 0 w 762684"/>
              <a:gd name="connsiteY9" fmla="*/ 823818 h 1361288"/>
              <a:gd name="connsiteX10" fmla="*/ 334092 w 762684"/>
              <a:gd name="connsiteY10" fmla="*/ 27275 h 1361288"/>
              <a:gd name="connsiteX11" fmla="*/ 381342 w 762684"/>
              <a:gd name="connsiteY11" fmla="*/ 34 h 1361288"/>
              <a:gd name="connsiteX0" fmla="*/ 381342 w 762684"/>
              <a:gd name="connsiteY0" fmla="*/ 269 h 1361523"/>
              <a:gd name="connsiteX1" fmla="*/ 425041 w 762684"/>
              <a:gd name="connsiteY1" fmla="*/ 27509 h 1361523"/>
              <a:gd name="connsiteX2" fmla="*/ 762684 w 762684"/>
              <a:gd name="connsiteY2" fmla="*/ 824053 h 1361523"/>
              <a:gd name="connsiteX3" fmla="*/ 459602 w 762684"/>
              <a:gd name="connsiteY3" fmla="*/ 824053 h 1361523"/>
              <a:gd name="connsiteX4" fmla="*/ 459601 w 762684"/>
              <a:gd name="connsiteY4" fmla="*/ 1283263 h 1361523"/>
              <a:gd name="connsiteX5" fmla="*/ 381341 w 762684"/>
              <a:gd name="connsiteY5" fmla="*/ 1361523 h 1361523"/>
              <a:gd name="connsiteX6" fmla="*/ 381342 w 762684"/>
              <a:gd name="connsiteY6" fmla="*/ 1361522 h 1361523"/>
              <a:gd name="connsiteX7" fmla="*/ 303082 w 762684"/>
              <a:gd name="connsiteY7" fmla="*/ 1283262 h 1361523"/>
              <a:gd name="connsiteX8" fmla="*/ 303082 w 762684"/>
              <a:gd name="connsiteY8" fmla="*/ 824053 h 1361523"/>
              <a:gd name="connsiteX9" fmla="*/ 0 w 762684"/>
              <a:gd name="connsiteY9" fmla="*/ 824053 h 1361523"/>
              <a:gd name="connsiteX10" fmla="*/ 334092 w 762684"/>
              <a:gd name="connsiteY10" fmla="*/ 27510 h 1361523"/>
              <a:gd name="connsiteX11" fmla="*/ 381342 w 762684"/>
              <a:gd name="connsiteY11" fmla="*/ 269 h 1361523"/>
              <a:gd name="connsiteX0" fmla="*/ 381342 w 762684"/>
              <a:gd name="connsiteY0" fmla="*/ 414 h 1361668"/>
              <a:gd name="connsiteX1" fmla="*/ 425041 w 762684"/>
              <a:gd name="connsiteY1" fmla="*/ 27654 h 1361668"/>
              <a:gd name="connsiteX2" fmla="*/ 762684 w 762684"/>
              <a:gd name="connsiteY2" fmla="*/ 824198 h 1361668"/>
              <a:gd name="connsiteX3" fmla="*/ 459602 w 762684"/>
              <a:gd name="connsiteY3" fmla="*/ 824198 h 1361668"/>
              <a:gd name="connsiteX4" fmla="*/ 459601 w 762684"/>
              <a:gd name="connsiteY4" fmla="*/ 1283408 h 1361668"/>
              <a:gd name="connsiteX5" fmla="*/ 381341 w 762684"/>
              <a:gd name="connsiteY5" fmla="*/ 1361668 h 1361668"/>
              <a:gd name="connsiteX6" fmla="*/ 381342 w 762684"/>
              <a:gd name="connsiteY6" fmla="*/ 1361667 h 1361668"/>
              <a:gd name="connsiteX7" fmla="*/ 303082 w 762684"/>
              <a:gd name="connsiteY7" fmla="*/ 1283407 h 1361668"/>
              <a:gd name="connsiteX8" fmla="*/ 303082 w 762684"/>
              <a:gd name="connsiteY8" fmla="*/ 824198 h 1361668"/>
              <a:gd name="connsiteX9" fmla="*/ 0 w 762684"/>
              <a:gd name="connsiteY9" fmla="*/ 824198 h 1361668"/>
              <a:gd name="connsiteX10" fmla="*/ 334092 w 762684"/>
              <a:gd name="connsiteY10" fmla="*/ 27655 h 1361668"/>
              <a:gd name="connsiteX11" fmla="*/ 381342 w 762684"/>
              <a:gd name="connsiteY11" fmla="*/ 414 h 1361668"/>
              <a:gd name="connsiteX0" fmla="*/ 381342 w 762684"/>
              <a:gd name="connsiteY0" fmla="*/ 414 h 1361668"/>
              <a:gd name="connsiteX1" fmla="*/ 425041 w 762684"/>
              <a:gd name="connsiteY1" fmla="*/ 27654 h 1361668"/>
              <a:gd name="connsiteX2" fmla="*/ 762684 w 762684"/>
              <a:gd name="connsiteY2" fmla="*/ 824198 h 1361668"/>
              <a:gd name="connsiteX3" fmla="*/ 459602 w 762684"/>
              <a:gd name="connsiteY3" fmla="*/ 824198 h 1361668"/>
              <a:gd name="connsiteX4" fmla="*/ 459601 w 762684"/>
              <a:gd name="connsiteY4" fmla="*/ 1283408 h 1361668"/>
              <a:gd name="connsiteX5" fmla="*/ 381341 w 762684"/>
              <a:gd name="connsiteY5" fmla="*/ 1361668 h 1361668"/>
              <a:gd name="connsiteX6" fmla="*/ 381342 w 762684"/>
              <a:gd name="connsiteY6" fmla="*/ 1361667 h 1361668"/>
              <a:gd name="connsiteX7" fmla="*/ 303082 w 762684"/>
              <a:gd name="connsiteY7" fmla="*/ 1283407 h 1361668"/>
              <a:gd name="connsiteX8" fmla="*/ 303082 w 762684"/>
              <a:gd name="connsiteY8" fmla="*/ 824198 h 1361668"/>
              <a:gd name="connsiteX9" fmla="*/ 0 w 762684"/>
              <a:gd name="connsiteY9" fmla="*/ 824198 h 1361668"/>
              <a:gd name="connsiteX10" fmla="*/ 334092 w 762684"/>
              <a:gd name="connsiteY10" fmla="*/ 27655 h 1361668"/>
              <a:gd name="connsiteX11" fmla="*/ 381342 w 762684"/>
              <a:gd name="connsiteY11" fmla="*/ 414 h 1361668"/>
              <a:gd name="connsiteX0" fmla="*/ 381342 w 762684"/>
              <a:gd name="connsiteY0" fmla="*/ 18 h 1361272"/>
              <a:gd name="connsiteX1" fmla="*/ 425041 w 762684"/>
              <a:gd name="connsiteY1" fmla="*/ 27258 h 1361272"/>
              <a:gd name="connsiteX2" fmla="*/ 762684 w 762684"/>
              <a:gd name="connsiteY2" fmla="*/ 823802 h 1361272"/>
              <a:gd name="connsiteX3" fmla="*/ 459602 w 762684"/>
              <a:gd name="connsiteY3" fmla="*/ 823802 h 1361272"/>
              <a:gd name="connsiteX4" fmla="*/ 459601 w 762684"/>
              <a:gd name="connsiteY4" fmla="*/ 1283012 h 1361272"/>
              <a:gd name="connsiteX5" fmla="*/ 381341 w 762684"/>
              <a:gd name="connsiteY5" fmla="*/ 1361272 h 1361272"/>
              <a:gd name="connsiteX6" fmla="*/ 381342 w 762684"/>
              <a:gd name="connsiteY6" fmla="*/ 1361271 h 1361272"/>
              <a:gd name="connsiteX7" fmla="*/ 303082 w 762684"/>
              <a:gd name="connsiteY7" fmla="*/ 1283011 h 1361272"/>
              <a:gd name="connsiteX8" fmla="*/ 303082 w 762684"/>
              <a:gd name="connsiteY8" fmla="*/ 823802 h 1361272"/>
              <a:gd name="connsiteX9" fmla="*/ 0 w 762684"/>
              <a:gd name="connsiteY9" fmla="*/ 823802 h 1361272"/>
              <a:gd name="connsiteX10" fmla="*/ 334092 w 762684"/>
              <a:gd name="connsiteY10" fmla="*/ 27259 h 1361272"/>
              <a:gd name="connsiteX11" fmla="*/ 381342 w 762684"/>
              <a:gd name="connsiteY11" fmla="*/ 18 h 1361272"/>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27241 h 1361254"/>
              <a:gd name="connsiteX11" fmla="*/ 381342 w 762684"/>
              <a:gd name="connsiteY11" fmla="*/ 0 h 1361254"/>
              <a:gd name="connsiteX0" fmla="*/ 381342 w 762684"/>
              <a:gd name="connsiteY0" fmla="*/ 0 h 1361254"/>
              <a:gd name="connsiteX1" fmla="*/ 426750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27241 h 1361254"/>
              <a:gd name="connsiteX11" fmla="*/ 381342 w 762684"/>
              <a:gd name="connsiteY11" fmla="*/ 0 h 13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684" h="1361254">
                <a:moveTo>
                  <a:pt x="381342" y="0"/>
                </a:moveTo>
                <a:cubicBezTo>
                  <a:pt x="395908" y="1387"/>
                  <a:pt x="412184" y="3630"/>
                  <a:pt x="426750" y="27240"/>
                </a:cubicBezTo>
                <a:lnTo>
                  <a:pt x="762684" y="823784"/>
                </a:lnTo>
                <a:lnTo>
                  <a:pt x="459602" y="823784"/>
                </a:lnTo>
                <a:cubicBezTo>
                  <a:pt x="459602" y="976854"/>
                  <a:pt x="459601" y="1129924"/>
                  <a:pt x="459601" y="1282994"/>
                </a:cubicBezTo>
                <a:cubicBezTo>
                  <a:pt x="459601" y="1326216"/>
                  <a:pt x="424563" y="1361254"/>
                  <a:pt x="381341" y="1361254"/>
                </a:cubicBezTo>
                <a:lnTo>
                  <a:pt x="381342" y="1361253"/>
                </a:lnTo>
                <a:cubicBezTo>
                  <a:pt x="338120" y="1361253"/>
                  <a:pt x="303082" y="1326215"/>
                  <a:pt x="303082" y="1282993"/>
                </a:cubicBezTo>
                <a:lnTo>
                  <a:pt x="303082" y="823784"/>
                </a:lnTo>
                <a:lnTo>
                  <a:pt x="0" y="823784"/>
                </a:lnTo>
                <a:lnTo>
                  <a:pt x="334092" y="27241"/>
                </a:lnTo>
                <a:cubicBezTo>
                  <a:pt x="343005" y="9615"/>
                  <a:pt x="366447" y="533"/>
                  <a:pt x="381342" y="0"/>
                </a:cubicBezTo>
                <a:close/>
              </a:path>
            </a:pathLst>
          </a:custGeom>
          <a:solidFill>
            <a:schemeClr val="bg1"/>
          </a:solidFill>
          <a:ln w="9525">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68" name="Freeform 10"/>
          <p:cNvSpPr>
            <a:spLocks noChangeAspect="1"/>
          </p:cNvSpPr>
          <p:nvPr userDrawn="1"/>
        </p:nvSpPr>
        <p:spPr>
          <a:xfrm rot="19800000">
            <a:off x="4416414" y="2138150"/>
            <a:ext cx="69672" cy="124351"/>
          </a:xfrm>
          <a:custGeom>
            <a:avLst/>
            <a:gdLst>
              <a:gd name="connsiteX0" fmla="*/ 381342 w 762684"/>
              <a:gd name="connsiteY0" fmla="*/ 0 h 1361254"/>
              <a:gd name="connsiteX1" fmla="*/ 762684 w 762684"/>
              <a:gd name="connsiteY1" fmla="*/ 823784 h 1361254"/>
              <a:gd name="connsiteX2" fmla="*/ 459602 w 762684"/>
              <a:gd name="connsiteY2" fmla="*/ 823784 h 1361254"/>
              <a:gd name="connsiteX3" fmla="*/ 459601 w 762684"/>
              <a:gd name="connsiteY3" fmla="*/ 1282994 h 1361254"/>
              <a:gd name="connsiteX4" fmla="*/ 381341 w 762684"/>
              <a:gd name="connsiteY4" fmla="*/ 1361254 h 1361254"/>
              <a:gd name="connsiteX5" fmla="*/ 381342 w 762684"/>
              <a:gd name="connsiteY5" fmla="*/ 1361253 h 1361254"/>
              <a:gd name="connsiteX6" fmla="*/ 303082 w 762684"/>
              <a:gd name="connsiteY6" fmla="*/ 1282993 h 1361254"/>
              <a:gd name="connsiteX7" fmla="*/ 303082 w 762684"/>
              <a:gd name="connsiteY7" fmla="*/ 823784 h 1361254"/>
              <a:gd name="connsiteX8" fmla="*/ 0 w 762684"/>
              <a:gd name="connsiteY8" fmla="*/ 823784 h 1361254"/>
              <a:gd name="connsiteX0" fmla="*/ 381342 w 762684"/>
              <a:gd name="connsiteY0" fmla="*/ 0 h 1361254"/>
              <a:gd name="connsiteX1" fmla="*/ 425041 w 762684"/>
              <a:gd name="connsiteY1" fmla="*/ 100982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81342 w 762684"/>
              <a:gd name="connsiteY10" fmla="*/ 0 h 1361254"/>
              <a:gd name="connsiteX0" fmla="*/ 381342 w 762684"/>
              <a:gd name="connsiteY0" fmla="*/ 0 h 1361254"/>
              <a:gd name="connsiteX1" fmla="*/ 425041 w 762684"/>
              <a:gd name="connsiteY1" fmla="*/ 100982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16886 w 762684"/>
              <a:gd name="connsiteY10" fmla="*/ 123104 h 1361254"/>
              <a:gd name="connsiteX11" fmla="*/ 381342 w 762684"/>
              <a:gd name="connsiteY11" fmla="*/ 0 h 1361254"/>
              <a:gd name="connsiteX0" fmla="*/ 381342 w 762684"/>
              <a:gd name="connsiteY0" fmla="*/ 0 h 1361254"/>
              <a:gd name="connsiteX1" fmla="*/ 425041 w 762684"/>
              <a:gd name="connsiteY1" fmla="*/ 100982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6550 w 762684"/>
              <a:gd name="connsiteY10" fmla="*/ 91149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6550 w 762684"/>
              <a:gd name="connsiteY10" fmla="*/ 91149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19866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48840 w 762684"/>
              <a:gd name="connsiteY10" fmla="*/ 27241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27241 h 1361254"/>
              <a:gd name="connsiteX11" fmla="*/ 381342 w 762684"/>
              <a:gd name="connsiteY11" fmla="*/ 0 h 1361254"/>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27241 h 1361254"/>
              <a:gd name="connsiteX11" fmla="*/ 381342 w 762684"/>
              <a:gd name="connsiteY11" fmla="*/ 0 h 1361254"/>
              <a:gd name="connsiteX0" fmla="*/ 381342 w 762684"/>
              <a:gd name="connsiteY0" fmla="*/ 34 h 1361288"/>
              <a:gd name="connsiteX1" fmla="*/ 425041 w 762684"/>
              <a:gd name="connsiteY1" fmla="*/ 27274 h 1361288"/>
              <a:gd name="connsiteX2" fmla="*/ 762684 w 762684"/>
              <a:gd name="connsiteY2" fmla="*/ 823818 h 1361288"/>
              <a:gd name="connsiteX3" fmla="*/ 459602 w 762684"/>
              <a:gd name="connsiteY3" fmla="*/ 823818 h 1361288"/>
              <a:gd name="connsiteX4" fmla="*/ 459601 w 762684"/>
              <a:gd name="connsiteY4" fmla="*/ 1283028 h 1361288"/>
              <a:gd name="connsiteX5" fmla="*/ 381341 w 762684"/>
              <a:gd name="connsiteY5" fmla="*/ 1361288 h 1361288"/>
              <a:gd name="connsiteX6" fmla="*/ 381342 w 762684"/>
              <a:gd name="connsiteY6" fmla="*/ 1361287 h 1361288"/>
              <a:gd name="connsiteX7" fmla="*/ 303082 w 762684"/>
              <a:gd name="connsiteY7" fmla="*/ 1283027 h 1361288"/>
              <a:gd name="connsiteX8" fmla="*/ 303082 w 762684"/>
              <a:gd name="connsiteY8" fmla="*/ 823818 h 1361288"/>
              <a:gd name="connsiteX9" fmla="*/ 0 w 762684"/>
              <a:gd name="connsiteY9" fmla="*/ 823818 h 1361288"/>
              <a:gd name="connsiteX10" fmla="*/ 334092 w 762684"/>
              <a:gd name="connsiteY10" fmla="*/ 27275 h 1361288"/>
              <a:gd name="connsiteX11" fmla="*/ 381342 w 762684"/>
              <a:gd name="connsiteY11" fmla="*/ 34 h 1361288"/>
              <a:gd name="connsiteX0" fmla="*/ 381342 w 762684"/>
              <a:gd name="connsiteY0" fmla="*/ 269 h 1361523"/>
              <a:gd name="connsiteX1" fmla="*/ 425041 w 762684"/>
              <a:gd name="connsiteY1" fmla="*/ 27509 h 1361523"/>
              <a:gd name="connsiteX2" fmla="*/ 762684 w 762684"/>
              <a:gd name="connsiteY2" fmla="*/ 824053 h 1361523"/>
              <a:gd name="connsiteX3" fmla="*/ 459602 w 762684"/>
              <a:gd name="connsiteY3" fmla="*/ 824053 h 1361523"/>
              <a:gd name="connsiteX4" fmla="*/ 459601 w 762684"/>
              <a:gd name="connsiteY4" fmla="*/ 1283263 h 1361523"/>
              <a:gd name="connsiteX5" fmla="*/ 381341 w 762684"/>
              <a:gd name="connsiteY5" fmla="*/ 1361523 h 1361523"/>
              <a:gd name="connsiteX6" fmla="*/ 381342 w 762684"/>
              <a:gd name="connsiteY6" fmla="*/ 1361522 h 1361523"/>
              <a:gd name="connsiteX7" fmla="*/ 303082 w 762684"/>
              <a:gd name="connsiteY7" fmla="*/ 1283262 h 1361523"/>
              <a:gd name="connsiteX8" fmla="*/ 303082 w 762684"/>
              <a:gd name="connsiteY8" fmla="*/ 824053 h 1361523"/>
              <a:gd name="connsiteX9" fmla="*/ 0 w 762684"/>
              <a:gd name="connsiteY9" fmla="*/ 824053 h 1361523"/>
              <a:gd name="connsiteX10" fmla="*/ 334092 w 762684"/>
              <a:gd name="connsiteY10" fmla="*/ 27510 h 1361523"/>
              <a:gd name="connsiteX11" fmla="*/ 381342 w 762684"/>
              <a:gd name="connsiteY11" fmla="*/ 269 h 1361523"/>
              <a:gd name="connsiteX0" fmla="*/ 381342 w 762684"/>
              <a:gd name="connsiteY0" fmla="*/ 414 h 1361668"/>
              <a:gd name="connsiteX1" fmla="*/ 425041 w 762684"/>
              <a:gd name="connsiteY1" fmla="*/ 27654 h 1361668"/>
              <a:gd name="connsiteX2" fmla="*/ 762684 w 762684"/>
              <a:gd name="connsiteY2" fmla="*/ 824198 h 1361668"/>
              <a:gd name="connsiteX3" fmla="*/ 459602 w 762684"/>
              <a:gd name="connsiteY3" fmla="*/ 824198 h 1361668"/>
              <a:gd name="connsiteX4" fmla="*/ 459601 w 762684"/>
              <a:gd name="connsiteY4" fmla="*/ 1283408 h 1361668"/>
              <a:gd name="connsiteX5" fmla="*/ 381341 w 762684"/>
              <a:gd name="connsiteY5" fmla="*/ 1361668 h 1361668"/>
              <a:gd name="connsiteX6" fmla="*/ 381342 w 762684"/>
              <a:gd name="connsiteY6" fmla="*/ 1361667 h 1361668"/>
              <a:gd name="connsiteX7" fmla="*/ 303082 w 762684"/>
              <a:gd name="connsiteY7" fmla="*/ 1283407 h 1361668"/>
              <a:gd name="connsiteX8" fmla="*/ 303082 w 762684"/>
              <a:gd name="connsiteY8" fmla="*/ 824198 h 1361668"/>
              <a:gd name="connsiteX9" fmla="*/ 0 w 762684"/>
              <a:gd name="connsiteY9" fmla="*/ 824198 h 1361668"/>
              <a:gd name="connsiteX10" fmla="*/ 334092 w 762684"/>
              <a:gd name="connsiteY10" fmla="*/ 27655 h 1361668"/>
              <a:gd name="connsiteX11" fmla="*/ 381342 w 762684"/>
              <a:gd name="connsiteY11" fmla="*/ 414 h 1361668"/>
              <a:gd name="connsiteX0" fmla="*/ 381342 w 762684"/>
              <a:gd name="connsiteY0" fmla="*/ 414 h 1361668"/>
              <a:gd name="connsiteX1" fmla="*/ 425041 w 762684"/>
              <a:gd name="connsiteY1" fmla="*/ 27654 h 1361668"/>
              <a:gd name="connsiteX2" fmla="*/ 762684 w 762684"/>
              <a:gd name="connsiteY2" fmla="*/ 824198 h 1361668"/>
              <a:gd name="connsiteX3" fmla="*/ 459602 w 762684"/>
              <a:gd name="connsiteY3" fmla="*/ 824198 h 1361668"/>
              <a:gd name="connsiteX4" fmla="*/ 459601 w 762684"/>
              <a:gd name="connsiteY4" fmla="*/ 1283408 h 1361668"/>
              <a:gd name="connsiteX5" fmla="*/ 381341 w 762684"/>
              <a:gd name="connsiteY5" fmla="*/ 1361668 h 1361668"/>
              <a:gd name="connsiteX6" fmla="*/ 381342 w 762684"/>
              <a:gd name="connsiteY6" fmla="*/ 1361667 h 1361668"/>
              <a:gd name="connsiteX7" fmla="*/ 303082 w 762684"/>
              <a:gd name="connsiteY7" fmla="*/ 1283407 h 1361668"/>
              <a:gd name="connsiteX8" fmla="*/ 303082 w 762684"/>
              <a:gd name="connsiteY8" fmla="*/ 824198 h 1361668"/>
              <a:gd name="connsiteX9" fmla="*/ 0 w 762684"/>
              <a:gd name="connsiteY9" fmla="*/ 824198 h 1361668"/>
              <a:gd name="connsiteX10" fmla="*/ 334092 w 762684"/>
              <a:gd name="connsiteY10" fmla="*/ 27655 h 1361668"/>
              <a:gd name="connsiteX11" fmla="*/ 381342 w 762684"/>
              <a:gd name="connsiteY11" fmla="*/ 414 h 1361668"/>
              <a:gd name="connsiteX0" fmla="*/ 381342 w 762684"/>
              <a:gd name="connsiteY0" fmla="*/ 18 h 1361272"/>
              <a:gd name="connsiteX1" fmla="*/ 425041 w 762684"/>
              <a:gd name="connsiteY1" fmla="*/ 27258 h 1361272"/>
              <a:gd name="connsiteX2" fmla="*/ 762684 w 762684"/>
              <a:gd name="connsiteY2" fmla="*/ 823802 h 1361272"/>
              <a:gd name="connsiteX3" fmla="*/ 459602 w 762684"/>
              <a:gd name="connsiteY3" fmla="*/ 823802 h 1361272"/>
              <a:gd name="connsiteX4" fmla="*/ 459601 w 762684"/>
              <a:gd name="connsiteY4" fmla="*/ 1283012 h 1361272"/>
              <a:gd name="connsiteX5" fmla="*/ 381341 w 762684"/>
              <a:gd name="connsiteY5" fmla="*/ 1361272 h 1361272"/>
              <a:gd name="connsiteX6" fmla="*/ 381342 w 762684"/>
              <a:gd name="connsiteY6" fmla="*/ 1361271 h 1361272"/>
              <a:gd name="connsiteX7" fmla="*/ 303082 w 762684"/>
              <a:gd name="connsiteY7" fmla="*/ 1283011 h 1361272"/>
              <a:gd name="connsiteX8" fmla="*/ 303082 w 762684"/>
              <a:gd name="connsiteY8" fmla="*/ 823802 h 1361272"/>
              <a:gd name="connsiteX9" fmla="*/ 0 w 762684"/>
              <a:gd name="connsiteY9" fmla="*/ 823802 h 1361272"/>
              <a:gd name="connsiteX10" fmla="*/ 334092 w 762684"/>
              <a:gd name="connsiteY10" fmla="*/ 27259 h 1361272"/>
              <a:gd name="connsiteX11" fmla="*/ 381342 w 762684"/>
              <a:gd name="connsiteY11" fmla="*/ 18 h 1361272"/>
              <a:gd name="connsiteX0" fmla="*/ 381342 w 762684"/>
              <a:gd name="connsiteY0" fmla="*/ 0 h 1361254"/>
              <a:gd name="connsiteX1" fmla="*/ 425041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27241 h 1361254"/>
              <a:gd name="connsiteX11" fmla="*/ 381342 w 762684"/>
              <a:gd name="connsiteY11" fmla="*/ 0 h 1361254"/>
              <a:gd name="connsiteX0" fmla="*/ 381342 w 762684"/>
              <a:gd name="connsiteY0" fmla="*/ 0 h 1361254"/>
              <a:gd name="connsiteX1" fmla="*/ 426750 w 762684"/>
              <a:gd name="connsiteY1" fmla="*/ 27240 h 1361254"/>
              <a:gd name="connsiteX2" fmla="*/ 762684 w 762684"/>
              <a:gd name="connsiteY2" fmla="*/ 823784 h 1361254"/>
              <a:gd name="connsiteX3" fmla="*/ 459602 w 762684"/>
              <a:gd name="connsiteY3" fmla="*/ 823784 h 1361254"/>
              <a:gd name="connsiteX4" fmla="*/ 459601 w 762684"/>
              <a:gd name="connsiteY4" fmla="*/ 1282994 h 1361254"/>
              <a:gd name="connsiteX5" fmla="*/ 381341 w 762684"/>
              <a:gd name="connsiteY5" fmla="*/ 1361254 h 1361254"/>
              <a:gd name="connsiteX6" fmla="*/ 381342 w 762684"/>
              <a:gd name="connsiteY6" fmla="*/ 1361253 h 1361254"/>
              <a:gd name="connsiteX7" fmla="*/ 303082 w 762684"/>
              <a:gd name="connsiteY7" fmla="*/ 1282993 h 1361254"/>
              <a:gd name="connsiteX8" fmla="*/ 303082 w 762684"/>
              <a:gd name="connsiteY8" fmla="*/ 823784 h 1361254"/>
              <a:gd name="connsiteX9" fmla="*/ 0 w 762684"/>
              <a:gd name="connsiteY9" fmla="*/ 823784 h 1361254"/>
              <a:gd name="connsiteX10" fmla="*/ 334092 w 762684"/>
              <a:gd name="connsiteY10" fmla="*/ 27241 h 1361254"/>
              <a:gd name="connsiteX11" fmla="*/ 381342 w 762684"/>
              <a:gd name="connsiteY11" fmla="*/ 0 h 136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62684" h="1361254">
                <a:moveTo>
                  <a:pt x="381342" y="0"/>
                </a:moveTo>
                <a:cubicBezTo>
                  <a:pt x="395908" y="1387"/>
                  <a:pt x="412184" y="3630"/>
                  <a:pt x="426750" y="27240"/>
                </a:cubicBezTo>
                <a:lnTo>
                  <a:pt x="762684" y="823784"/>
                </a:lnTo>
                <a:lnTo>
                  <a:pt x="459602" y="823784"/>
                </a:lnTo>
                <a:cubicBezTo>
                  <a:pt x="459602" y="976854"/>
                  <a:pt x="459601" y="1129924"/>
                  <a:pt x="459601" y="1282994"/>
                </a:cubicBezTo>
                <a:cubicBezTo>
                  <a:pt x="459601" y="1326216"/>
                  <a:pt x="424563" y="1361254"/>
                  <a:pt x="381341" y="1361254"/>
                </a:cubicBezTo>
                <a:lnTo>
                  <a:pt x="381342" y="1361253"/>
                </a:lnTo>
                <a:cubicBezTo>
                  <a:pt x="338120" y="1361253"/>
                  <a:pt x="303082" y="1326215"/>
                  <a:pt x="303082" y="1282993"/>
                </a:cubicBezTo>
                <a:lnTo>
                  <a:pt x="303082" y="823784"/>
                </a:lnTo>
                <a:lnTo>
                  <a:pt x="0" y="823784"/>
                </a:lnTo>
                <a:lnTo>
                  <a:pt x="334092" y="27241"/>
                </a:lnTo>
                <a:cubicBezTo>
                  <a:pt x="343005" y="9615"/>
                  <a:pt x="366447" y="533"/>
                  <a:pt x="381342" y="0"/>
                </a:cubicBezTo>
                <a:close/>
              </a:path>
            </a:pathLst>
          </a:custGeom>
          <a:solidFill>
            <a:schemeClr val="bg1"/>
          </a:solidFill>
          <a:ln w="9525">
            <a:solidFill>
              <a:schemeClr val="accent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Tree>
    <p:extLst>
      <p:ext uri="{BB962C8B-B14F-4D97-AF65-F5344CB8AC3E}">
        <p14:creationId xmlns:p14="http://schemas.microsoft.com/office/powerpoint/2010/main" val="27402793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587375" y="619125"/>
            <a:ext cx="7967664" cy="865188"/>
          </a:xfrm>
        </p:spPr>
        <p:txBody>
          <a:bodyPr/>
          <a:lstStyle>
            <a:lvl1pPr>
              <a:defRPr baseline="0"/>
            </a:lvl1pPr>
          </a:lstStyle>
          <a:p>
            <a:r>
              <a:rPr lang="en-GB" dirty="0"/>
              <a:t>Click to add title</a:t>
            </a:r>
          </a:p>
        </p:txBody>
      </p:sp>
      <p:sp>
        <p:nvSpPr>
          <p:cNvPr id="3" name="Pladsholder til indhold 2"/>
          <p:cNvSpPr>
            <a:spLocks noGrp="1"/>
          </p:cNvSpPr>
          <p:nvPr>
            <p:ph idx="1" hasCustomPrompt="1"/>
          </p:nvPr>
        </p:nvSpPr>
        <p:spPr>
          <a:xfrm>
            <a:off x="587375" y="1635125"/>
            <a:ext cx="7967663" cy="4668178"/>
          </a:xfrm>
        </p:spPr>
        <p:txBody>
          <a:bodyPr vert="horz" lIns="0" tIns="0" rIns="0" bIns="0" rtlCol="0">
            <a:noAutofit/>
          </a:bodyPr>
          <a:lstStyle>
            <a:lvl1pPr>
              <a:defRPr lang="da-DK" baseline="0" dirty="0" smtClean="0"/>
            </a:lvl1pPr>
            <a:lvl2pPr>
              <a:defRPr lang="da-DK" dirty="0" smtClean="0"/>
            </a:lvl2pPr>
            <a:lvl3pPr>
              <a:defRPr lang="da-DK" dirty="0" smtClean="0"/>
            </a:lvl3pPr>
            <a:lvl4pPr>
              <a:defRPr lang="da-DK" dirty="0" smtClean="0"/>
            </a:lvl4pPr>
            <a:lvl5pPr>
              <a:defRPr lang="da-DK" dirty="0"/>
            </a:lvl5pPr>
          </a:lstStyle>
          <a:p>
            <a:pPr lvl="0"/>
            <a:r>
              <a:rPr lang="en-GB" dirty="0"/>
              <a:t>Click to add text</a:t>
            </a:r>
          </a:p>
          <a:p>
            <a:pPr lvl="1"/>
            <a:r>
              <a:rPr lang="en-GB" dirty="0"/>
              <a:t>2</a:t>
            </a:r>
          </a:p>
          <a:p>
            <a:pPr lvl="2"/>
            <a:r>
              <a:rPr lang="en-GB" dirty="0"/>
              <a:t>3</a:t>
            </a:r>
          </a:p>
        </p:txBody>
      </p:sp>
      <p:sp>
        <p:nvSpPr>
          <p:cNvPr id="4" name="Pladsholder til dato 3"/>
          <p:cNvSpPr>
            <a:spLocks noGrp="1"/>
          </p:cNvSpPr>
          <p:nvPr>
            <p:ph type="dt" sz="half" idx="10"/>
          </p:nvPr>
        </p:nvSpPr>
        <p:spPr/>
        <p:txBody>
          <a:bodyPr/>
          <a:lstStyle/>
          <a:p>
            <a:fld id="{76863CBA-FE51-40BA-9B41-89C7FDAF5BF4}" type="datetime1">
              <a:rPr lang="en-GB" smtClean="0"/>
              <a:t>30/06/2025</a:t>
            </a:fld>
            <a:endParaRPr lang="en-GB" dirty="0"/>
          </a:p>
        </p:txBody>
      </p:sp>
      <p:sp>
        <p:nvSpPr>
          <p:cNvPr id="5" name="Pladsholder til sidefod 4"/>
          <p:cNvSpPr>
            <a:spLocks noGrp="1"/>
          </p:cNvSpPr>
          <p:nvPr>
            <p:ph type="ftr" sz="quarter" idx="11"/>
          </p:nvPr>
        </p:nvSpPr>
        <p:spPr/>
        <p:txBody>
          <a:bodyPr/>
          <a:lstStyle/>
          <a:p>
            <a:endParaRPr lang="en-GB" dirty="0"/>
          </a:p>
        </p:txBody>
      </p:sp>
      <p:sp>
        <p:nvSpPr>
          <p:cNvPr id="6" name="Pladsholder til slidenummer 5"/>
          <p:cNvSpPr>
            <a:spLocks noGrp="1"/>
          </p:cNvSpPr>
          <p:nvPr>
            <p:ph type="sldNum" sz="quarter" idx="12"/>
          </p:nvPr>
        </p:nvSpPr>
        <p:spPr/>
        <p:txBody>
          <a:bodyPr/>
          <a:lstStyle/>
          <a:p>
            <a:fld id="{091A926C-488A-4E3E-9C21-57CAA120E114}" type="slidenum">
              <a:rPr lang="en-GB" smtClean="0"/>
              <a:t>‹#›</a:t>
            </a:fld>
            <a:endParaRPr lang="en-GB" dirty="0"/>
          </a:p>
        </p:txBody>
      </p:sp>
    </p:spTree>
    <p:extLst>
      <p:ext uri="{BB962C8B-B14F-4D97-AF65-F5344CB8AC3E}">
        <p14:creationId xmlns:p14="http://schemas.microsoft.com/office/powerpoint/2010/main" val="18654287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Title seal large">
    <p:spTree>
      <p:nvGrpSpPr>
        <p:cNvPr id="1" name=""/>
        <p:cNvGrpSpPr/>
        <p:nvPr/>
      </p:nvGrpSpPr>
      <p:grpSpPr>
        <a:xfrm>
          <a:off x="0" y="0"/>
          <a:ext cx="0" cy="0"/>
          <a:chOff x="0" y="0"/>
          <a:chExt cx="0" cy="0"/>
        </a:xfrm>
      </p:grpSpPr>
      <p:sp>
        <p:nvSpPr>
          <p:cNvPr id="8" name="Rectangle 7"/>
          <p:cNvSpPr/>
          <p:nvPr userDrawn="1"/>
        </p:nvSpPr>
        <p:spPr>
          <a:xfrm>
            <a:off x="1" y="0"/>
            <a:ext cx="9144000" cy="68580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pic>
        <p:nvPicPr>
          <p:cNvPr id="10"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534" r="15398" b="7654"/>
          <a:stretch/>
        </p:blipFill>
        <p:spPr>
          <a:xfrm>
            <a:off x="-763323" y="0"/>
            <a:ext cx="9907323" cy="6858000"/>
          </a:xfrm>
          <a:prstGeom prst="rect">
            <a:avLst/>
          </a:prstGeom>
        </p:spPr>
      </p:pic>
      <p:sp>
        <p:nvSpPr>
          <p:cNvPr id="4" name="Pladsholder til dato 3"/>
          <p:cNvSpPr>
            <a:spLocks noGrp="1"/>
          </p:cNvSpPr>
          <p:nvPr>
            <p:ph type="dt" sz="half" idx="10"/>
          </p:nvPr>
        </p:nvSpPr>
        <p:spPr>
          <a:xfrm>
            <a:off x="7746833" y="-385200"/>
            <a:ext cx="611232" cy="176797"/>
          </a:xfrm>
        </p:spPr>
        <p:txBody>
          <a:bodyPr/>
          <a:lstStyle>
            <a:lvl1pPr>
              <a:defRPr sz="100">
                <a:solidFill>
                  <a:schemeClr val="bg1"/>
                </a:solidFill>
              </a:defRPr>
            </a:lvl1pPr>
          </a:lstStyle>
          <a:p>
            <a:fld id="{FA633E42-BD66-4E16-AB4B-D4F73B67BBBB}" type="datetime1">
              <a:rPr lang="en-GB" smtClean="0"/>
              <a:t>30/06/2025</a:t>
            </a:fld>
            <a:endParaRPr lang="en-GB" dirty="0"/>
          </a:p>
        </p:txBody>
      </p:sp>
      <p:sp>
        <p:nvSpPr>
          <p:cNvPr id="5" name="Pladsholder til sidefod 4"/>
          <p:cNvSpPr>
            <a:spLocks noGrp="1"/>
          </p:cNvSpPr>
          <p:nvPr>
            <p:ph type="ftr" sz="quarter" idx="11"/>
          </p:nvPr>
        </p:nvSpPr>
        <p:spPr>
          <a:xfrm>
            <a:off x="2427371" y="-385200"/>
            <a:ext cx="5235872" cy="176797"/>
          </a:xfrm>
        </p:spPr>
        <p:txBody>
          <a:bodyPr/>
          <a:lstStyle>
            <a:lvl1pPr>
              <a:defRPr sz="100">
                <a:solidFill>
                  <a:schemeClr val="bg1"/>
                </a:solidFill>
              </a:defRPr>
            </a:lvl1pPr>
          </a:lstStyle>
          <a:p>
            <a:endParaRPr lang="en-GB" dirty="0"/>
          </a:p>
        </p:txBody>
      </p:sp>
      <p:sp>
        <p:nvSpPr>
          <p:cNvPr id="6" name="Pladsholder til slidenummer 5"/>
          <p:cNvSpPr>
            <a:spLocks noGrp="1"/>
          </p:cNvSpPr>
          <p:nvPr>
            <p:ph type="sldNum" sz="quarter" idx="12"/>
          </p:nvPr>
        </p:nvSpPr>
        <p:spPr>
          <a:xfrm>
            <a:off x="8441657" y="-385200"/>
            <a:ext cx="286319" cy="176797"/>
          </a:xfrm>
        </p:spPr>
        <p:txBody>
          <a:bodyPr/>
          <a:lstStyle>
            <a:lvl1pPr>
              <a:defRPr sz="100">
                <a:solidFill>
                  <a:schemeClr val="bg1"/>
                </a:solidFill>
              </a:defRPr>
            </a:lvl1pPr>
          </a:lstStyle>
          <a:p>
            <a:fld id="{091A926C-488A-4E3E-9C21-57CAA120E114}" type="slidenum">
              <a:rPr lang="en-GB" smtClean="0"/>
              <a:pPr/>
              <a:t>‹#›</a:t>
            </a:fld>
            <a:endParaRPr lang="en-GB" dirty="0"/>
          </a:p>
        </p:txBody>
      </p:sp>
      <p:sp>
        <p:nvSpPr>
          <p:cNvPr id="22" name="Titel 2"/>
          <p:cNvSpPr>
            <a:spLocks noGrp="1"/>
          </p:cNvSpPr>
          <p:nvPr>
            <p:ph type="ctrTitle"/>
          </p:nvPr>
        </p:nvSpPr>
        <p:spPr>
          <a:xfrm>
            <a:off x="0" y="691816"/>
            <a:ext cx="4469607" cy="5474035"/>
          </a:xfrm>
          <a:blipFill>
            <a:blip r:embed="rId3"/>
            <a:stretch>
              <a:fillRect/>
            </a:stretch>
          </a:blipFill>
        </p:spPr>
        <p:txBody>
          <a:bodyPr lIns="540000" tIns="468000" rIns="360000" bIns="3384000" anchor="b" anchorCtr="0">
            <a:noAutofit/>
          </a:bodyPr>
          <a:lstStyle>
            <a:lvl1pPr algn="l">
              <a:lnSpc>
                <a:spcPts val="4000"/>
              </a:lnSpc>
              <a:defRPr sz="3600">
                <a:solidFill>
                  <a:schemeClr val="bg1"/>
                </a:solidFill>
              </a:defRPr>
            </a:lvl1pPr>
          </a:lstStyle>
          <a:p>
            <a:r>
              <a:rPr lang="en-US"/>
              <a:t>Click to edit Master title style</a:t>
            </a:r>
            <a:endParaRPr lang="en-GB" dirty="0"/>
          </a:p>
        </p:txBody>
      </p:sp>
      <p:sp>
        <p:nvSpPr>
          <p:cNvPr id="37" name="Undertitel 2"/>
          <p:cNvSpPr>
            <a:spLocks noGrp="1"/>
          </p:cNvSpPr>
          <p:nvPr>
            <p:ph type="subTitle" idx="1" hasCustomPrompt="1"/>
          </p:nvPr>
        </p:nvSpPr>
        <p:spPr>
          <a:xfrm>
            <a:off x="587375" y="3007286"/>
            <a:ext cx="3564334" cy="726435"/>
          </a:xfrm>
        </p:spPr>
        <p:txBody>
          <a:bodyPr rIns="0">
            <a:noAutofit/>
          </a:bodyPr>
          <a:lstStyle>
            <a:lvl1pPr marL="0" indent="0" algn="l">
              <a:lnSpc>
                <a:spcPct val="100000"/>
              </a:lnSpc>
              <a:buNone/>
              <a:defRPr sz="24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add subtitle</a:t>
            </a:r>
          </a:p>
        </p:txBody>
      </p:sp>
      <p:sp>
        <p:nvSpPr>
          <p:cNvPr id="38" name="Pladsholder til tekst 14"/>
          <p:cNvSpPr>
            <a:spLocks noGrp="1"/>
          </p:cNvSpPr>
          <p:nvPr>
            <p:ph type="body" sz="quarter" idx="13" hasCustomPrompt="1"/>
          </p:nvPr>
        </p:nvSpPr>
        <p:spPr>
          <a:xfrm>
            <a:off x="587375" y="4053600"/>
            <a:ext cx="3564334" cy="899766"/>
          </a:xfrm>
        </p:spPr>
        <p:txBody>
          <a:bodyPr rIns="0">
            <a:noAutofit/>
          </a:bodyPr>
          <a:lstStyle>
            <a:lvl1pPr marL="0" indent="0">
              <a:lnSpc>
                <a:spcPct val="100000"/>
              </a:lnSpc>
              <a:spcBef>
                <a:spcPts val="0"/>
              </a:spcBef>
              <a:buNone/>
              <a:defRPr sz="1800" baseline="0"/>
            </a:lvl1pPr>
          </a:lstStyle>
          <a:p>
            <a:pPr lvl="0"/>
            <a:r>
              <a:rPr lang="en-GB" dirty="0"/>
              <a:t>Name of speaker, UCPH unit, place and date</a:t>
            </a:r>
          </a:p>
        </p:txBody>
      </p:sp>
      <p:sp>
        <p:nvSpPr>
          <p:cNvPr id="12" name="Titel 1"/>
          <p:cNvSpPr>
            <a:spLocks noGrp="1"/>
          </p:cNvSpPr>
          <p:nvPr>
            <p:ph type="body" sz="quarter" idx="14" hasCustomPrompt="1"/>
          </p:nvPr>
        </p:nvSpPr>
        <p:spPr>
          <a:xfrm>
            <a:off x="587375" y="1020200"/>
            <a:ext cx="3564334" cy="1763813"/>
          </a:xfrm>
        </p:spPr>
        <p:txBody>
          <a:bodyPr rIns="0">
            <a:noAutofit/>
          </a:bodyPr>
          <a:lstStyle>
            <a:lvl1pPr marL="0" indent="0">
              <a:lnSpc>
                <a:spcPct val="100000"/>
              </a:lnSpc>
              <a:spcBef>
                <a:spcPts val="0"/>
              </a:spcBef>
              <a:buNone/>
              <a:defRPr sz="3600" baseline="0">
                <a:solidFill>
                  <a:schemeClr val="accent1"/>
                </a:solidFill>
              </a:defRPr>
            </a:lvl1pPr>
          </a:lstStyle>
          <a:p>
            <a:pPr lvl="0"/>
            <a:r>
              <a:rPr lang="en-GB" dirty="0"/>
              <a:t>Click to add title</a:t>
            </a:r>
          </a:p>
        </p:txBody>
      </p:sp>
    </p:spTree>
    <p:extLst>
      <p:ext uri="{BB962C8B-B14F-4D97-AF65-F5344CB8AC3E}">
        <p14:creationId xmlns:p14="http://schemas.microsoft.com/office/powerpoint/2010/main" val="1751223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emf"/><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587375" y="619125"/>
            <a:ext cx="7967663" cy="865188"/>
          </a:xfrm>
          <a:prstGeom prst="rect">
            <a:avLst/>
          </a:prstGeom>
        </p:spPr>
        <p:txBody>
          <a:bodyPr vert="horz" lIns="0" tIns="0" rIns="0" bIns="0" rtlCol="0" anchor="t" anchorCtr="0">
            <a:noAutofit/>
          </a:bodyPr>
          <a:lstStyle/>
          <a:p>
            <a:r>
              <a:rPr lang="en-GB" dirty="0" err="1"/>
              <a:t>Klik</a:t>
            </a:r>
            <a:r>
              <a:rPr lang="en-GB" dirty="0"/>
              <a:t> for at </a:t>
            </a:r>
            <a:r>
              <a:rPr lang="en-GB" dirty="0" err="1"/>
              <a:t>redigere</a:t>
            </a:r>
            <a:r>
              <a:rPr lang="en-GB" dirty="0"/>
              <a:t> </a:t>
            </a:r>
            <a:r>
              <a:rPr lang="en-GB" dirty="0" err="1"/>
              <a:t>i</a:t>
            </a:r>
            <a:r>
              <a:rPr lang="en-GB" dirty="0"/>
              <a:t> master</a:t>
            </a:r>
          </a:p>
        </p:txBody>
      </p:sp>
      <p:sp>
        <p:nvSpPr>
          <p:cNvPr id="3" name="Pladsholder til tekst 2"/>
          <p:cNvSpPr>
            <a:spLocks noGrp="1"/>
          </p:cNvSpPr>
          <p:nvPr>
            <p:ph type="body" idx="1"/>
          </p:nvPr>
        </p:nvSpPr>
        <p:spPr>
          <a:xfrm>
            <a:off x="587375" y="1635125"/>
            <a:ext cx="7967663" cy="4668178"/>
          </a:xfrm>
          <a:prstGeom prst="rect">
            <a:avLst/>
          </a:prstGeom>
        </p:spPr>
        <p:txBody>
          <a:bodyPr vert="horz" lIns="0" tIns="0" rIns="0" bIns="0" rtlCol="0">
            <a:noAutofit/>
          </a:bodyPr>
          <a:lstStyle/>
          <a:p>
            <a:pPr lvl="0"/>
            <a:r>
              <a:rPr lang="en-GB" dirty="0" err="1"/>
              <a:t>Klik</a:t>
            </a:r>
            <a:r>
              <a:rPr lang="en-GB" dirty="0"/>
              <a:t> for at </a:t>
            </a:r>
            <a:r>
              <a:rPr lang="en-GB" dirty="0" err="1"/>
              <a:t>redigere</a:t>
            </a:r>
            <a:r>
              <a:rPr lang="en-GB" dirty="0"/>
              <a:t> </a:t>
            </a:r>
            <a:r>
              <a:rPr lang="en-GB" dirty="0" err="1"/>
              <a:t>i</a:t>
            </a:r>
            <a:r>
              <a:rPr lang="en-GB" dirty="0"/>
              <a:t> master</a:t>
            </a:r>
          </a:p>
          <a:p>
            <a:pPr lvl="1"/>
            <a:r>
              <a:rPr lang="en-GB" dirty="0" err="1"/>
              <a:t>Andet</a:t>
            </a:r>
            <a:r>
              <a:rPr lang="en-GB" dirty="0"/>
              <a:t> </a:t>
            </a:r>
            <a:r>
              <a:rPr lang="en-GB" dirty="0" err="1"/>
              <a:t>niveau</a:t>
            </a:r>
            <a:endParaRPr lang="en-GB" dirty="0"/>
          </a:p>
          <a:p>
            <a:pPr lvl="2"/>
            <a:r>
              <a:rPr lang="en-GB" dirty="0" err="1"/>
              <a:t>Tredje</a:t>
            </a:r>
            <a:r>
              <a:rPr lang="en-GB" dirty="0"/>
              <a:t> </a:t>
            </a:r>
            <a:r>
              <a:rPr lang="en-GB" dirty="0" err="1"/>
              <a:t>niveau</a:t>
            </a:r>
            <a:endParaRPr lang="en-GB" dirty="0"/>
          </a:p>
          <a:p>
            <a:pPr lvl="3"/>
            <a:r>
              <a:rPr lang="en-GB" dirty="0"/>
              <a:t>4</a:t>
            </a:r>
          </a:p>
          <a:p>
            <a:pPr lvl="4"/>
            <a:r>
              <a:rPr lang="en-GB" dirty="0"/>
              <a:t>5</a:t>
            </a:r>
          </a:p>
          <a:p>
            <a:pPr lvl="5"/>
            <a:r>
              <a:rPr lang="en-GB" dirty="0"/>
              <a:t>6</a:t>
            </a:r>
          </a:p>
          <a:p>
            <a:pPr lvl="6"/>
            <a:r>
              <a:rPr lang="en-GB" dirty="0"/>
              <a:t>7</a:t>
            </a:r>
          </a:p>
          <a:p>
            <a:pPr lvl="7"/>
            <a:r>
              <a:rPr lang="en-GB" dirty="0"/>
              <a:t>8</a:t>
            </a:r>
          </a:p>
          <a:p>
            <a:pPr lvl="8"/>
            <a:r>
              <a:rPr lang="en-GB" dirty="0"/>
              <a:t>9</a:t>
            </a:r>
          </a:p>
          <a:p>
            <a:pPr lvl="4"/>
            <a:endParaRPr lang="en-GB" dirty="0"/>
          </a:p>
          <a:p>
            <a:pPr marL="402431" marR="0" lvl="1" indent="-198835" algn="l" defTabSz="685800" rtl="0" eaLnBrk="1" fontAlgn="auto" latinLnBrk="0" hangingPunct="1">
              <a:lnSpc>
                <a:spcPct val="90000"/>
              </a:lnSpc>
              <a:spcBef>
                <a:spcPts val="375"/>
              </a:spcBef>
              <a:spcAft>
                <a:spcPts val="0"/>
              </a:spcAft>
              <a:buClrTx/>
              <a:buSzTx/>
              <a:buFont typeface="Arial" panose="020B0604020202020204" pitchFamily="34" charset="0"/>
              <a:buChar char="•"/>
              <a:tabLst/>
            </a:pPr>
            <a:endParaRPr lang="en-GB" dirty="0"/>
          </a:p>
        </p:txBody>
      </p:sp>
      <p:sp>
        <p:nvSpPr>
          <p:cNvPr id="7" name="Rectangle 19"/>
          <p:cNvSpPr/>
          <p:nvPr userDrawn="1"/>
        </p:nvSpPr>
        <p:spPr>
          <a:xfrm>
            <a:off x="0" y="3"/>
            <a:ext cx="9144000" cy="332655"/>
          </a:xfrm>
          <a:prstGeom prst="rect">
            <a:avLst/>
          </a:prstGeom>
          <a:gradFill flip="none" rotWithShape="1">
            <a:gsLst>
              <a:gs pos="0">
                <a:schemeClr val="bg1"/>
              </a:gs>
              <a:gs pos="100000">
                <a:srgbClr val="EEEFEE">
                  <a:alpha val="93000"/>
                </a:srgbClr>
              </a:gs>
            </a:gsLst>
            <a:lin ang="5400000" scaled="0"/>
            <a:tileRect/>
          </a:gradFill>
          <a:ln w="381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dirty="0"/>
          </a:p>
        </p:txBody>
      </p:sp>
      <p:sp>
        <p:nvSpPr>
          <p:cNvPr id="5" name="Pladsholder til sidefod 4"/>
          <p:cNvSpPr>
            <a:spLocks noGrp="1"/>
          </p:cNvSpPr>
          <p:nvPr>
            <p:ph type="ftr" sz="quarter" idx="3"/>
          </p:nvPr>
        </p:nvSpPr>
        <p:spPr>
          <a:xfrm>
            <a:off x="2743199" y="85746"/>
            <a:ext cx="4409529" cy="176797"/>
          </a:xfrm>
          <a:prstGeom prst="rect">
            <a:avLst/>
          </a:prstGeom>
        </p:spPr>
        <p:txBody>
          <a:bodyPr vert="horz" lIns="0" tIns="0" rIns="0" bIns="0" rtlCol="0" anchor="b" anchorCtr="0"/>
          <a:lstStyle>
            <a:lvl1pPr algn="r">
              <a:defRPr sz="1000">
                <a:solidFill>
                  <a:srgbClr val="333333"/>
                </a:solidFill>
              </a:defRPr>
            </a:lvl1pPr>
          </a:lstStyle>
          <a:p>
            <a:endParaRPr lang="en-GB" dirty="0"/>
          </a:p>
        </p:txBody>
      </p:sp>
      <p:sp>
        <p:nvSpPr>
          <p:cNvPr id="6" name="Pladsholder til slidenummer 5"/>
          <p:cNvSpPr>
            <a:spLocks noGrp="1"/>
          </p:cNvSpPr>
          <p:nvPr>
            <p:ph type="sldNum" sz="quarter" idx="4"/>
          </p:nvPr>
        </p:nvSpPr>
        <p:spPr>
          <a:xfrm>
            <a:off x="8177914" y="85746"/>
            <a:ext cx="377124" cy="176797"/>
          </a:xfrm>
          <a:prstGeom prst="rect">
            <a:avLst/>
          </a:prstGeom>
        </p:spPr>
        <p:txBody>
          <a:bodyPr vert="horz" lIns="0" tIns="0" rIns="0" bIns="0" rtlCol="0" anchor="b" anchorCtr="0"/>
          <a:lstStyle>
            <a:lvl1pPr algn="r">
              <a:defRPr sz="1000">
                <a:solidFill>
                  <a:srgbClr val="333333"/>
                </a:solidFill>
              </a:defRPr>
            </a:lvl1pPr>
          </a:lstStyle>
          <a:p>
            <a:fld id="{091A926C-488A-4E3E-9C21-57CAA120E114}" type="slidenum">
              <a:rPr lang="en-GB" smtClean="0"/>
              <a:pPr/>
              <a:t>‹#›</a:t>
            </a:fld>
            <a:endParaRPr lang="en-GB" dirty="0"/>
          </a:p>
        </p:txBody>
      </p:sp>
      <p:sp>
        <p:nvSpPr>
          <p:cNvPr id="4" name="Pladsholder til dato 3"/>
          <p:cNvSpPr>
            <a:spLocks noGrp="1"/>
          </p:cNvSpPr>
          <p:nvPr>
            <p:ph type="dt" sz="half" idx="2"/>
          </p:nvPr>
        </p:nvSpPr>
        <p:spPr>
          <a:xfrm>
            <a:off x="7272722" y="85746"/>
            <a:ext cx="814976" cy="176797"/>
          </a:xfrm>
          <a:prstGeom prst="rect">
            <a:avLst/>
          </a:prstGeom>
        </p:spPr>
        <p:txBody>
          <a:bodyPr vert="horz" lIns="0" tIns="0" rIns="0" bIns="0" rtlCol="0" anchor="b" anchorCtr="0"/>
          <a:lstStyle>
            <a:lvl1pPr algn="r">
              <a:defRPr sz="1000">
                <a:solidFill>
                  <a:srgbClr val="333333"/>
                </a:solidFill>
              </a:defRPr>
            </a:lvl1pPr>
          </a:lstStyle>
          <a:p>
            <a:fld id="{BEBD739C-1E5B-4D31-9891-7F0D8E3FE10D}" type="datetime1">
              <a:rPr lang="en-GB" smtClean="0"/>
              <a:t>30/06/2025</a:t>
            </a:fld>
            <a:endParaRPr lang="en-GB" dirty="0"/>
          </a:p>
        </p:txBody>
      </p:sp>
      <p:pic>
        <p:nvPicPr>
          <p:cNvPr id="12" name="Picture 7"/>
          <p:cNvPicPr>
            <a:picLocks noChangeAspect="1"/>
          </p:cNvPicPr>
          <p:nvPr userDrawn="1"/>
        </p:nvPicPr>
        <p:blipFill rotWithShape="1">
          <a:blip r:embed="rId26"/>
          <a:srcRect l="12043" t="11448" r="17199" b="13844"/>
          <a:stretch/>
        </p:blipFill>
        <p:spPr>
          <a:xfrm>
            <a:off x="335534" y="63578"/>
            <a:ext cx="166516" cy="211296"/>
          </a:xfrm>
          <a:prstGeom prst="rect">
            <a:avLst/>
          </a:prstGeom>
        </p:spPr>
      </p:pic>
      <p:pic>
        <p:nvPicPr>
          <p:cNvPr id="13" name="Picture 27"/>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554698" y="96467"/>
            <a:ext cx="2346641" cy="159521"/>
          </a:xfrm>
          <a:prstGeom prst="rect">
            <a:avLst/>
          </a:prstGeom>
        </p:spPr>
      </p:pic>
    </p:spTree>
    <p:extLst>
      <p:ext uri="{BB962C8B-B14F-4D97-AF65-F5344CB8AC3E}">
        <p14:creationId xmlns:p14="http://schemas.microsoft.com/office/powerpoint/2010/main" val="1203620196"/>
      </p:ext>
    </p:extLst>
  </p:cSld>
  <p:clrMap bg1="lt1" tx1="dk1" bg2="lt2" tx2="dk2" accent1="accent1" accent2="accent2" accent3="accent3" accent4="accent4" accent5="accent5" accent6="accent6" hlink="hlink" folHlink="folHlink"/>
  <p:sldLayoutIdLst>
    <p:sldLayoutId id="2147483670" r:id="rId1"/>
    <p:sldLayoutId id="2147483674" r:id="rId2"/>
    <p:sldLayoutId id="2147483673" r:id="rId3"/>
    <p:sldLayoutId id="2147483671" r:id="rId4"/>
    <p:sldLayoutId id="2147483659" r:id="rId5"/>
    <p:sldLayoutId id="2147483672" r:id="rId6"/>
    <p:sldLayoutId id="2147483660" r:id="rId7"/>
    <p:sldLayoutId id="2147483662" r:id="rId8"/>
    <p:sldLayoutId id="2147483684" r:id="rId9"/>
    <p:sldLayoutId id="2147483685" r:id="rId10"/>
    <p:sldLayoutId id="2147483677" r:id="rId11"/>
    <p:sldLayoutId id="2147483675" r:id="rId12"/>
    <p:sldLayoutId id="2147483676" r:id="rId13"/>
    <p:sldLayoutId id="2147483678" r:id="rId14"/>
    <p:sldLayoutId id="2147483681" r:id="rId15"/>
    <p:sldLayoutId id="2147483682" r:id="rId16"/>
    <p:sldLayoutId id="2147483683" r:id="rId17"/>
    <p:sldLayoutId id="2147483687" r:id="rId18"/>
    <p:sldLayoutId id="2147483664" r:id="rId19"/>
    <p:sldLayoutId id="2147483665" r:id="rId20"/>
    <p:sldLayoutId id="2147483689" r:id="rId21"/>
    <p:sldLayoutId id="2147483688" r:id="rId22"/>
    <p:sldLayoutId id="2147483691" r:id="rId23"/>
    <p:sldLayoutId id="2147483692" r:id="rId24"/>
  </p:sldLayoutIdLst>
  <p:hf hdr="0" ftr="0"/>
  <p:txStyles>
    <p:titleStyle>
      <a:lvl1pPr algn="l" defTabSz="685800" rtl="0" eaLnBrk="1" latinLnBrk="0" hangingPunct="1">
        <a:lnSpc>
          <a:spcPct val="100000"/>
        </a:lnSpc>
        <a:spcBef>
          <a:spcPct val="0"/>
        </a:spcBef>
        <a:buNone/>
        <a:defRPr sz="3000" kern="1200" spc="45" baseline="0">
          <a:solidFill>
            <a:schemeClr val="accent1"/>
          </a:solidFill>
          <a:latin typeface="+mj-lt"/>
          <a:ea typeface="+mj-ea"/>
          <a:cs typeface="+mj-cs"/>
        </a:defRPr>
      </a:lvl1pPr>
    </p:titleStyle>
    <p:bodyStyle>
      <a:lvl1pPr marL="271463" indent="-271463" algn="l" defTabSz="685800" rtl="0" eaLnBrk="1" latinLnBrk="0" hangingPunct="1">
        <a:lnSpc>
          <a:spcPct val="100000"/>
        </a:lnSpc>
        <a:spcBef>
          <a:spcPts val="750"/>
        </a:spcBef>
        <a:buFont typeface="Arial" panose="020B0604020202020204" pitchFamily="34" charset="0"/>
        <a:buChar char="•"/>
        <a:defRPr sz="2400" kern="1200" spc="45" baseline="0">
          <a:solidFill>
            <a:schemeClr val="tx1"/>
          </a:solidFill>
          <a:latin typeface="+mn-lt"/>
          <a:ea typeface="+mn-ea"/>
          <a:cs typeface="+mn-cs"/>
        </a:defRPr>
      </a:lvl1pPr>
      <a:lvl2pPr marL="535781" marR="0" indent="-264319" algn="l" defTabSz="685800" rtl="0" eaLnBrk="1" fontAlgn="auto" latinLnBrk="0" hangingPunct="1">
        <a:lnSpc>
          <a:spcPct val="100000"/>
        </a:lnSpc>
        <a:spcBef>
          <a:spcPts val="375"/>
        </a:spcBef>
        <a:spcAft>
          <a:spcPts val="0"/>
        </a:spcAft>
        <a:buClrTx/>
        <a:buSzTx/>
        <a:buFont typeface="Arial" panose="020B0604020202020204" pitchFamily="34" charset="0"/>
        <a:buChar char="•"/>
        <a:tabLst/>
        <a:defRPr lang="da-DK" sz="2000" kern="1200" spc="45" baseline="0" dirty="0" smtClean="0">
          <a:solidFill>
            <a:schemeClr val="tx1"/>
          </a:solidFill>
          <a:latin typeface="+mn-lt"/>
          <a:ea typeface="+mn-ea"/>
          <a:cs typeface="+mn-cs"/>
        </a:defRPr>
      </a:lvl2pPr>
      <a:lvl3pPr marL="808038" indent="-271463"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3pPr>
      <a:lvl4pPr marL="808038" indent="-271463"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4pPr>
      <a:lvl5pPr marL="808038" indent="-271463" algn="l" defTabSz="685800" rtl="0" eaLnBrk="1" latinLnBrk="0" hangingPunct="1">
        <a:lnSpc>
          <a:spcPct val="100000"/>
        </a:lnSpc>
        <a:spcBef>
          <a:spcPts val="375"/>
        </a:spcBef>
        <a:buFont typeface="Arial" panose="020B0604020202020204" pitchFamily="34" charset="0"/>
        <a:buChar char="•"/>
        <a:defRPr sz="1600" kern="1200" spc="45" baseline="0">
          <a:solidFill>
            <a:schemeClr val="tx1"/>
          </a:solidFill>
          <a:latin typeface="+mn-lt"/>
          <a:ea typeface="+mn-ea"/>
          <a:cs typeface="+mn-cs"/>
        </a:defRPr>
      </a:lvl5pPr>
      <a:lvl6pPr marL="808038" indent="-271463"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6pPr>
      <a:lvl7pPr marL="808038" indent="-271463"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7pPr>
      <a:lvl8pPr marL="808038" indent="-271463"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8pPr>
      <a:lvl9pPr marL="808038" indent="-271463" algn="l" defTabSz="685800" rtl="0" eaLnBrk="1" latinLnBrk="0" hangingPunct="1">
        <a:lnSpc>
          <a:spcPct val="90000"/>
        </a:lnSpc>
        <a:spcBef>
          <a:spcPts val="375"/>
        </a:spcBef>
        <a:buFont typeface="Arial" panose="020B0604020202020204" pitchFamily="34" charset="0"/>
        <a:buChar char="•"/>
        <a:defRPr sz="1600" kern="1200">
          <a:solidFill>
            <a:schemeClr val="tx1"/>
          </a:solidFill>
          <a:latin typeface="+mn-lt"/>
          <a:ea typeface="+mn-ea"/>
          <a:cs typeface="+mn-cs"/>
        </a:defRPr>
      </a:lvl9pPr>
    </p:bodyStyle>
    <p:otherStyle>
      <a:defPPr>
        <a:defRPr lang="da-DK"/>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70" userDrawn="1">
          <p15:clr>
            <a:srgbClr val="F26B43"/>
          </p15:clr>
        </p15:guide>
        <p15:guide id="2" pos="5389" userDrawn="1">
          <p15:clr>
            <a:srgbClr val="F26B43"/>
          </p15:clr>
        </p15:guide>
        <p15:guide id="3" orient="horz" pos="1029" userDrawn="1">
          <p15:clr>
            <a:srgbClr val="F26B43"/>
          </p15:clr>
        </p15:guide>
        <p15:guide id="4" orient="horz" pos="3970" userDrawn="1">
          <p15:clr>
            <a:srgbClr val="F26B43"/>
          </p15:clr>
        </p15:guide>
        <p15:guide id="5" pos="5397" userDrawn="1">
          <p15:clr>
            <a:srgbClr val="F26B43"/>
          </p15:clr>
        </p15:guide>
        <p15:guide id="6" orient="horz" pos="392" userDrawn="1">
          <p15:clr>
            <a:srgbClr val="F26B43"/>
          </p15:clr>
        </p15:guide>
        <p15:guide id="7" orient="horz" pos="92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2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3.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png"/><Relationship Id="rId9" Type="http://schemas.openxmlformats.org/officeDocument/2006/relationships/image" Target="../media/image30.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pn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png"/><Relationship Id="rId9" Type="http://schemas.openxmlformats.org/officeDocument/2006/relationships/image" Target="../media/image30.pn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23.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png"/><Relationship Id="rId9"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3.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27.png"/><Relationship Id="rId11" Type="http://schemas.openxmlformats.org/officeDocument/2006/relationships/image" Target="../media/image43.png"/><Relationship Id="rId5" Type="http://schemas.openxmlformats.org/officeDocument/2006/relationships/image" Target="../media/image26.jpeg"/><Relationship Id="rId10" Type="http://schemas.openxmlformats.org/officeDocument/2006/relationships/image" Target="../media/image42.png"/><Relationship Id="rId4" Type="http://schemas.openxmlformats.org/officeDocument/2006/relationships/image" Target="../media/image25.png"/><Relationship Id="rId9"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3" Type="http://schemas.openxmlformats.org/officeDocument/2006/relationships/image" Target="../media/image44.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58.png"/><Relationship Id="rId2" Type="http://schemas.openxmlformats.org/officeDocument/2006/relationships/notesSlide" Target="../notesSlides/notesSlide14.xml"/><Relationship Id="rId16" Type="http://schemas.openxmlformats.org/officeDocument/2006/relationships/image" Target="../media/image57.png"/><Relationship Id="rId1" Type="http://schemas.openxmlformats.org/officeDocument/2006/relationships/slideLayout" Target="../slideLayouts/slideLayout23.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61.png"/><Relationship Id="rId3" Type="http://schemas.openxmlformats.org/officeDocument/2006/relationships/image" Target="../media/image44.png"/><Relationship Id="rId21" Type="http://schemas.openxmlformats.org/officeDocument/2006/relationships/image" Target="../media/image59.png"/><Relationship Id="rId7" Type="http://schemas.openxmlformats.org/officeDocument/2006/relationships/image" Target="../media/image48.png"/><Relationship Id="rId12" Type="http://schemas.openxmlformats.org/officeDocument/2006/relationships/image" Target="../media/image53.png"/><Relationship Id="rId17" Type="http://schemas.openxmlformats.org/officeDocument/2006/relationships/image" Target="../media/image60.png"/><Relationship Id="rId2" Type="http://schemas.openxmlformats.org/officeDocument/2006/relationships/notesSlide" Target="../notesSlides/notesSlide15.xml"/><Relationship Id="rId16" Type="http://schemas.openxmlformats.org/officeDocument/2006/relationships/image" Target="../media/image57.png"/><Relationship Id="rId20" Type="http://schemas.openxmlformats.org/officeDocument/2006/relationships/image" Target="../media/image58.png"/><Relationship Id="rId1" Type="http://schemas.openxmlformats.org/officeDocument/2006/relationships/slideLayout" Target="../slideLayouts/slideLayout23.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19" Type="http://schemas.openxmlformats.org/officeDocument/2006/relationships/image" Target="../media/image62.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24.png"/><Relationship Id="rId7"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3.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6.jpeg"/><Relationship Id="rId9" Type="http://schemas.openxmlformats.org/officeDocument/2006/relationships/image" Target="../media/image27.png"/></Relationships>
</file>

<file path=ppt/slides/_rels/slide24.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24.png"/><Relationship Id="rId7"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3.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42.png"/><Relationship Id="rId4" Type="http://schemas.openxmlformats.org/officeDocument/2006/relationships/image" Target="../media/image26.jpeg"/><Relationship Id="rId9"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5.xml"/><Relationship Id="rId1" Type="http://schemas.openxmlformats.org/officeDocument/2006/relationships/slideLayout" Target="../slideLayouts/slideLayout23.xml"/></Relationships>
</file>

<file path=ppt/slides/_rels/slide2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7.xml"/><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8.xml"/><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9.xml"/><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23.xml"/><Relationship Id="rId4" Type="http://schemas.openxmlformats.org/officeDocument/2006/relationships/image" Target="../media/image70.png"/></Relationships>
</file>

<file path=ppt/slides/_rels/slide3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1.xml"/><Relationship Id="rId1" Type="http://schemas.openxmlformats.org/officeDocument/2006/relationships/slideLayout" Target="../slideLayouts/slideLayout23.xml"/></Relationships>
</file>

<file path=ppt/slides/_rels/slide3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2.xml"/><Relationship Id="rId1" Type="http://schemas.openxmlformats.org/officeDocument/2006/relationships/slideLayout" Target="../slideLayouts/slideLayout23.xml"/></Relationships>
</file>

<file path=ppt/slides/_rels/slide3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3.xml"/><Relationship Id="rId1" Type="http://schemas.openxmlformats.org/officeDocument/2006/relationships/slideLayout" Target="../slideLayouts/slideLayout23.xml"/></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4.xml"/><Relationship Id="rId1" Type="http://schemas.openxmlformats.org/officeDocument/2006/relationships/slideLayout" Target="../slideLayouts/slideLayout23.xml"/></Relationships>
</file>

<file path=ppt/slides/_rels/slide3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5.xml"/><Relationship Id="rId1" Type="http://schemas.openxmlformats.org/officeDocument/2006/relationships/slideLayout" Target="../slideLayouts/slideLayout23.xml"/></Relationships>
</file>

<file path=ppt/slides/_rels/slide3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6.xml"/><Relationship Id="rId1" Type="http://schemas.openxmlformats.org/officeDocument/2006/relationships/slideLayout" Target="../slideLayouts/slideLayout2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3" Type="http://schemas.microsoft.com/office/2018/10/relationships/comments" Target="../comments/modernComment_2F7_A17D03D9.xml"/><Relationship Id="rId2" Type="http://schemas.openxmlformats.org/officeDocument/2006/relationships/notesSlide" Target="../notesSlides/notesSlide40.xml"/><Relationship Id="rId1" Type="http://schemas.openxmlformats.org/officeDocument/2006/relationships/slideLayout" Target="../slideLayouts/slideLayout23.xml"/><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1.xml"/><Relationship Id="rId1" Type="http://schemas.openxmlformats.org/officeDocument/2006/relationships/slideLayout" Target="../slideLayouts/slideLayout23.xml"/></Relationships>
</file>

<file path=ppt/slides/_rels/slide4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3.xml"/><Relationship Id="rId1" Type="http://schemas.openxmlformats.org/officeDocument/2006/relationships/slideLayout" Target="../slideLayouts/slideLayout23.xml"/><Relationship Id="rId4" Type="http://schemas.openxmlformats.org/officeDocument/2006/relationships/hyperlink" Target="https://www.eea.europa.eu/en/circularity/sectoral-modules/plastics/average-yearly-price-of-plastic-scrap-eur-tonne?activeTab=265e2bee-7de3-46e8-b6ee-76005f3f434f"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4.xml"/><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5.xml"/><Relationship Id="rId1" Type="http://schemas.openxmlformats.org/officeDocument/2006/relationships/slideLayout" Target="../slideLayouts/slideLayout2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3.xml"/></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7.xml"/><Relationship Id="rId1" Type="http://schemas.openxmlformats.org/officeDocument/2006/relationships/slideLayout" Target="../slideLayouts/slideLayout23.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48.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23.xml"/><Relationship Id="rId6" Type="http://schemas.openxmlformats.org/officeDocument/2006/relationships/image" Target="../media/image86.png"/><Relationship Id="rId5" Type="http://schemas.openxmlformats.org/officeDocument/2006/relationships/image" Target="../media/image85.png"/><Relationship Id="rId10" Type="http://schemas.openxmlformats.org/officeDocument/2006/relationships/image" Target="../media/image870.png"/><Relationship Id="rId4" Type="http://schemas.openxmlformats.org/officeDocument/2006/relationships/image" Target="../media/image84.png"/><Relationship Id="rId9" Type="http://schemas.openxmlformats.org/officeDocument/2006/relationships/image" Target="../media/image88.png"/></Relationships>
</file>

<file path=ppt/slides/_rels/slide49.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42.png"/><Relationship Id="rId2" Type="http://schemas.openxmlformats.org/officeDocument/2006/relationships/notesSlide" Target="../notesSlides/notesSlide49.xml"/><Relationship Id="rId1" Type="http://schemas.openxmlformats.org/officeDocument/2006/relationships/slideLayout" Target="../slideLayouts/slideLayout23.xml"/><Relationship Id="rId6" Type="http://schemas.openxmlformats.org/officeDocument/2006/relationships/image" Target="../media/image86.png"/><Relationship Id="rId11" Type="http://schemas.openxmlformats.org/officeDocument/2006/relationships/image" Target="../media/image90.png"/><Relationship Id="rId5" Type="http://schemas.openxmlformats.org/officeDocument/2006/relationships/image" Target="../media/image85.png"/><Relationship Id="rId10" Type="http://schemas.openxmlformats.org/officeDocument/2006/relationships/image" Target="../media/image89.png"/><Relationship Id="rId4" Type="http://schemas.openxmlformats.org/officeDocument/2006/relationships/image" Target="../media/image84.png"/><Relationship Id="rId9" Type="http://schemas.openxmlformats.org/officeDocument/2006/relationships/image" Target="../media/image88.png"/></Relationships>
</file>

<file path=ppt/slides/_rels/slide50.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23.xml"/><Relationship Id="rId6" Type="http://schemas.openxmlformats.org/officeDocument/2006/relationships/image" Target="../media/image86.png"/><Relationship Id="rId11" Type="http://schemas.openxmlformats.org/officeDocument/2006/relationships/image" Target="../media/image90.png"/><Relationship Id="rId5" Type="http://schemas.openxmlformats.org/officeDocument/2006/relationships/image" Target="../media/image85.png"/><Relationship Id="rId10" Type="http://schemas.openxmlformats.org/officeDocument/2006/relationships/image" Target="../media/image89.png"/><Relationship Id="rId4" Type="http://schemas.openxmlformats.org/officeDocument/2006/relationships/image" Target="../media/image84.png"/><Relationship Id="rId9" Type="http://schemas.openxmlformats.org/officeDocument/2006/relationships/image" Target="../media/image88.png"/></Relationships>
</file>

<file path=ppt/slides/_rels/slide51.xml.rels><?xml version="1.0" encoding="UTF-8" standalone="yes"?>
<Relationships xmlns="http://schemas.openxmlformats.org/package/2006/relationships"><Relationship Id="rId3" Type="http://schemas.openxmlformats.org/officeDocument/2006/relationships/image" Target="../media/image900.png"/><Relationship Id="rId2" Type="http://schemas.openxmlformats.org/officeDocument/2006/relationships/notesSlide" Target="../notesSlides/notesSlide51.xml"/><Relationship Id="rId1" Type="http://schemas.openxmlformats.org/officeDocument/2006/relationships/slideLayout" Target="../slideLayouts/slideLayout23.xml"/><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2.xml"/><Relationship Id="rId1" Type="http://schemas.openxmlformats.org/officeDocument/2006/relationships/slideLayout" Target="../slideLayouts/slideLayout23.xml"/><Relationship Id="rId4" Type="http://schemas.openxmlformats.org/officeDocument/2006/relationships/image" Target="../media/image9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3.xml"/></Relationships>
</file>

<file path=ppt/slides/_rels/slide54.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notesSlide" Target="../notesSlides/notesSlide54.xml"/><Relationship Id="rId1" Type="http://schemas.openxmlformats.org/officeDocument/2006/relationships/slideLayout" Target="../slideLayouts/slideLayout23.xml"/></Relationships>
</file>

<file path=ppt/slides/_rels/slide55.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42.png"/><Relationship Id="rId2" Type="http://schemas.openxmlformats.org/officeDocument/2006/relationships/notesSlide" Target="../notesSlides/notesSlide55.xml"/><Relationship Id="rId1" Type="http://schemas.openxmlformats.org/officeDocument/2006/relationships/slideLayout" Target="../slideLayouts/slideLayout23.xml"/><Relationship Id="rId6" Type="http://schemas.openxmlformats.org/officeDocument/2006/relationships/image" Target="../media/image86.png"/><Relationship Id="rId11" Type="http://schemas.openxmlformats.org/officeDocument/2006/relationships/image" Target="../media/image90.png"/><Relationship Id="rId5" Type="http://schemas.openxmlformats.org/officeDocument/2006/relationships/image" Target="../media/image85.png"/><Relationship Id="rId10" Type="http://schemas.openxmlformats.org/officeDocument/2006/relationships/image" Target="../media/image89.png"/><Relationship Id="rId4" Type="http://schemas.openxmlformats.org/officeDocument/2006/relationships/image" Target="../media/image84.png"/><Relationship Id="rId9" Type="http://schemas.openxmlformats.org/officeDocument/2006/relationships/image" Target="../media/image88.png"/></Relationships>
</file>

<file path=ppt/slides/_rels/slide56.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56.xml"/><Relationship Id="rId1" Type="http://schemas.openxmlformats.org/officeDocument/2006/relationships/slideLayout" Target="../slideLayouts/slideLayout23.xml"/></Relationships>
</file>

<file path=ppt/slides/_rels/slide5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7.xml"/><Relationship Id="rId1" Type="http://schemas.openxmlformats.org/officeDocument/2006/relationships/slideLayout" Target="../slideLayouts/slideLayout23.xml"/></Relationships>
</file>

<file path=ppt/slides/_rels/slide5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8.xml"/><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3.xml"/></Relationships>
</file>

<file path=ppt/slides/_rels/slide6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1.xml"/><Relationship Id="rId1" Type="http://schemas.openxmlformats.org/officeDocument/2006/relationships/slideLayout" Target="../slideLayouts/slideLayout23.xml"/><Relationship Id="rId4" Type="http://schemas.openxmlformats.org/officeDocument/2006/relationships/image" Target="../media/image98.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openxmlformats.org/officeDocument/2006/relationships/image" Target="../media/image42.png"/><Relationship Id="rId2" Type="http://schemas.openxmlformats.org/officeDocument/2006/relationships/notesSlide" Target="../notesSlides/notesSlide63.xml"/><Relationship Id="rId1" Type="http://schemas.openxmlformats.org/officeDocument/2006/relationships/slideLayout" Target="../slideLayouts/slideLayout23.xml"/><Relationship Id="rId6" Type="http://schemas.openxmlformats.org/officeDocument/2006/relationships/image" Target="../media/image86.png"/><Relationship Id="rId11" Type="http://schemas.openxmlformats.org/officeDocument/2006/relationships/image" Target="../media/image90.png"/><Relationship Id="rId5" Type="http://schemas.openxmlformats.org/officeDocument/2006/relationships/image" Target="../media/image85.png"/><Relationship Id="rId10" Type="http://schemas.openxmlformats.org/officeDocument/2006/relationships/image" Target="../media/image89.png"/><Relationship Id="rId4" Type="http://schemas.openxmlformats.org/officeDocument/2006/relationships/image" Target="../media/image84.png"/><Relationship Id="rId9" Type="http://schemas.openxmlformats.org/officeDocument/2006/relationships/image" Target="../media/image88.png"/></Relationships>
</file>

<file path=ppt/slides/_rels/slide64.xml.rels><?xml version="1.0" encoding="UTF-8" standalone="yes"?>
<Relationships xmlns="http://schemas.openxmlformats.org/package/2006/relationships"><Relationship Id="rId3" Type="http://schemas.openxmlformats.org/officeDocument/2006/relationships/image" Target="../media/image981.png"/><Relationship Id="rId2" Type="http://schemas.openxmlformats.org/officeDocument/2006/relationships/notesSlide" Target="../notesSlides/notesSlide64.xml"/><Relationship Id="rId1" Type="http://schemas.openxmlformats.org/officeDocument/2006/relationships/slideLayout" Target="../slideLayouts/slideLayout23.xml"/></Relationships>
</file>

<file path=ppt/slides/_rels/slide65.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65.xml"/><Relationship Id="rId1" Type="http://schemas.openxmlformats.org/officeDocument/2006/relationships/slideLayout" Target="../slideLayouts/slideLayout23.xml"/><Relationship Id="rId4" Type="http://schemas.openxmlformats.org/officeDocument/2006/relationships/image" Target="../media/image100.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3.xml"/></Relationships>
</file>

<file path=ppt/slides/_rels/slide67.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7.xml"/><Relationship Id="rId1" Type="http://schemas.openxmlformats.org/officeDocument/2006/relationships/slideLayout" Target="../slideLayouts/slideLayout23.xml"/></Relationships>
</file>

<file path=ppt/slides/_rels/slide6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8.xml"/><Relationship Id="rId1" Type="http://schemas.openxmlformats.org/officeDocument/2006/relationships/slideLayout" Target="../slideLayouts/slideLayout2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3.xml"/></Relationships>
</file>

<file path=ppt/slides/_rels/slide70.xml.rels><?xml version="1.0" encoding="UTF-8" standalone="yes"?>
<Relationships xmlns="http://schemas.openxmlformats.org/package/2006/relationships"><Relationship Id="rId3" Type="http://schemas.openxmlformats.org/officeDocument/2006/relationships/hyperlink" Target="https://doi.org/10.1016/j.jeem.2024.103064" TargetMode="External"/><Relationship Id="rId2" Type="http://schemas.openxmlformats.org/officeDocument/2006/relationships/notesSlide" Target="../notesSlides/notesSlide70.xml"/><Relationship Id="rId1" Type="http://schemas.openxmlformats.org/officeDocument/2006/relationships/slideLayout" Target="../slideLayouts/slideLayout23.xml"/></Relationships>
</file>

<file path=ppt/slides/_rels/slide7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1.xml"/><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3.xml"/><Relationship Id="rId1" Type="http://schemas.openxmlformats.org/officeDocument/2006/relationships/slideLayout" Target="../slideLayouts/slideLayout23.xml"/><Relationship Id="rId4" Type="http://schemas.openxmlformats.org/officeDocument/2006/relationships/hyperlink" Target="https://www.eea.europa.eu/en/circularity/sectoral-modules/plastics/average-yearly-price-of-plastic-scrap-eur-tonne?activeTab=265e2bee-7de3-46e8-b6ee-76005f3f434f"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74.xml"/><Relationship Id="rId1" Type="http://schemas.openxmlformats.org/officeDocument/2006/relationships/slideLayout" Target="../slideLayouts/slideLayout23.xml"/></Relationships>
</file>

<file path=ppt/slides/_rels/slide7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75.xml"/><Relationship Id="rId1" Type="http://schemas.openxmlformats.org/officeDocument/2006/relationships/slideLayout" Target="../slideLayouts/slideLayout23.xml"/><Relationship Id="rId5" Type="http://schemas.openxmlformats.org/officeDocument/2006/relationships/chart" Target="../charts/chart2.xml"/><Relationship Id="rId4" Type="http://schemas.openxmlformats.org/officeDocument/2006/relationships/hyperlink" Target="https://eur-lex.europa.eu/resource.html?uri=cellar:9903b325-6388-11ea-b735-01aa75ed71a1.0017.02/DOC_1&amp;format=PDF"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941.png"/><Relationship Id="rId2" Type="http://schemas.openxmlformats.org/officeDocument/2006/relationships/notesSlide" Target="../notesSlides/notesSlide76.xml"/><Relationship Id="rId1" Type="http://schemas.openxmlformats.org/officeDocument/2006/relationships/slideLayout" Target="../slideLayouts/slideLayout23.xml"/></Relationships>
</file>

<file path=ppt/slides/_rels/slide77.xml.rels><?xml version="1.0" encoding="UTF-8" standalone="yes"?>
<Relationships xmlns="http://schemas.openxmlformats.org/package/2006/relationships"><Relationship Id="rId3" Type="http://schemas.microsoft.com/office/2018/10/relationships/comments" Target="../comments/modernComment_2FB_58401A0D.xml"/><Relationship Id="rId2" Type="http://schemas.openxmlformats.org/officeDocument/2006/relationships/notesSlide" Target="../notesSlides/notesSlide77.xml"/><Relationship Id="rId1" Type="http://schemas.openxmlformats.org/officeDocument/2006/relationships/slideLayout" Target="../slideLayouts/slideLayout23.xml"/><Relationship Id="rId4" Type="http://schemas.openxmlformats.org/officeDocument/2006/relationships/image" Target="../media/image950.png"/></Relationships>
</file>

<file path=ppt/slides/_rels/slide78.xml.rels><?xml version="1.0" encoding="UTF-8" standalone="yes"?>
<Relationships xmlns="http://schemas.openxmlformats.org/package/2006/relationships"><Relationship Id="rId3" Type="http://schemas.microsoft.com/office/2018/10/relationships/comments" Target="../comments/modernComment_2FC_ACA58493.xml"/><Relationship Id="rId2" Type="http://schemas.openxmlformats.org/officeDocument/2006/relationships/notesSlide" Target="../notesSlides/notesSlide78.xml"/><Relationship Id="rId1" Type="http://schemas.openxmlformats.org/officeDocument/2006/relationships/slideLayout" Target="../slideLayouts/slideLayout23.xml"/></Relationships>
</file>

<file path=ppt/slides/_rels/slide79.xml.rels><?xml version="1.0" encoding="UTF-8" standalone="yes"?>
<Relationships xmlns="http://schemas.openxmlformats.org/package/2006/relationships"><Relationship Id="rId3" Type="http://schemas.microsoft.com/office/2018/10/relationships/comments" Target="../comments/modernComment_2F1_844ECA4.xml"/><Relationship Id="rId2" Type="http://schemas.openxmlformats.org/officeDocument/2006/relationships/notesSlide" Target="../notesSlides/notesSlide79.xml"/><Relationship Id="rId1" Type="http://schemas.openxmlformats.org/officeDocument/2006/relationships/slideLayout" Target="../slideLayouts/slideLayout23.xml"/><Relationship Id="rId4" Type="http://schemas.openxmlformats.org/officeDocument/2006/relationships/image" Target="../media/image960.png"/></Relationships>
</file>

<file path=ppt/slides/_rels/slide80.xml.rels><?xml version="1.0" encoding="UTF-8" standalone="yes"?>
<Relationships xmlns="http://schemas.openxmlformats.org/package/2006/relationships"><Relationship Id="rId3" Type="http://schemas.microsoft.com/office/2018/10/relationships/comments" Target="../comments/modernComment_2FD_EEBE2867.xml"/><Relationship Id="rId2" Type="http://schemas.openxmlformats.org/officeDocument/2006/relationships/notesSlide" Target="../notesSlides/notesSlide80.xml"/><Relationship Id="rId1" Type="http://schemas.openxmlformats.org/officeDocument/2006/relationships/slideLayout" Target="../slideLayouts/slideLayout23.xml"/><Relationship Id="rId4" Type="http://schemas.openxmlformats.org/officeDocument/2006/relationships/image" Target="../media/image970.png"/></Relationships>
</file>

<file path=ppt/slides/_rels/slide81.xml.rels><?xml version="1.0" encoding="UTF-8" standalone="yes"?>
<Relationships xmlns="http://schemas.openxmlformats.org/package/2006/relationships"><Relationship Id="rId3" Type="http://schemas.openxmlformats.org/officeDocument/2006/relationships/image" Target="../media/image980.png"/><Relationship Id="rId2" Type="http://schemas.openxmlformats.org/officeDocument/2006/relationships/notesSlide" Target="../notesSlides/notesSlide81.xml"/><Relationship Id="rId1" Type="http://schemas.openxmlformats.org/officeDocument/2006/relationships/slideLayout" Target="../slideLayouts/slideLayout23.xml"/></Relationships>
</file>

<file path=ppt/slides/_rels/slide82.xml.rels><?xml version="1.0" encoding="UTF-8" standalone="yes"?>
<Relationships xmlns="http://schemas.openxmlformats.org/package/2006/relationships"><Relationship Id="rId3" Type="http://schemas.openxmlformats.org/officeDocument/2006/relationships/image" Target="../media/image980.png"/><Relationship Id="rId2" Type="http://schemas.openxmlformats.org/officeDocument/2006/relationships/notesSlide" Target="../notesSlides/notesSlide82.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5" name="Pladsholder til dato 4"/>
          <p:cNvSpPr>
            <a:spLocks noGrp="1"/>
          </p:cNvSpPr>
          <p:nvPr>
            <p:ph type="dt" sz="half" idx="10"/>
          </p:nvPr>
        </p:nvSpPr>
        <p:spPr/>
        <p:txBody>
          <a:bodyPr/>
          <a:lstStyle/>
          <a:p>
            <a:fld id="{7016287D-C1BA-47FB-9104-667BFDE3E3EE}" type="datetime1">
              <a:rPr lang="en-US" smtClean="0"/>
              <a:t>6/30/2025</a:t>
            </a:fld>
            <a:endParaRPr lang="en-US" dirty="0"/>
          </a:p>
        </p:txBody>
      </p:sp>
      <p:sp>
        <p:nvSpPr>
          <p:cNvPr id="6" name="Pladsholder til slidenummer 5"/>
          <p:cNvSpPr>
            <a:spLocks noGrp="1"/>
          </p:cNvSpPr>
          <p:nvPr>
            <p:ph type="sldNum" sz="quarter" idx="12"/>
          </p:nvPr>
        </p:nvSpPr>
        <p:spPr/>
        <p:txBody>
          <a:bodyPr/>
          <a:lstStyle/>
          <a:p>
            <a:fld id="{091A926C-488A-4E3E-9C21-57CAA120E114}" type="slidenum">
              <a:rPr lang="en-US" smtClean="0"/>
              <a:pPr/>
              <a:t>1</a:t>
            </a:fld>
            <a:endParaRPr lang="en-US" dirty="0"/>
          </a:p>
        </p:txBody>
      </p:sp>
      <p:sp>
        <p:nvSpPr>
          <p:cNvPr id="14" name="Subtitle 2">
            <a:extLst>
              <a:ext uri="{FF2B5EF4-FFF2-40B4-BE49-F238E27FC236}">
                <a16:creationId xmlns:a16="http://schemas.microsoft.com/office/drawing/2014/main" id="{CB851B68-8C6B-63ED-31E9-037BC6153459}"/>
              </a:ext>
            </a:extLst>
          </p:cNvPr>
          <p:cNvSpPr>
            <a:spLocks noGrp="1"/>
          </p:cNvSpPr>
          <p:nvPr>
            <p:ph type="subTitle" idx="1"/>
          </p:nvPr>
        </p:nvSpPr>
        <p:spPr>
          <a:xfrm>
            <a:off x="587375" y="3076334"/>
            <a:ext cx="3564334" cy="307415"/>
          </a:xfrm>
        </p:spPr>
        <p:txBody>
          <a:bodyPr/>
          <a:lstStyle/>
          <a:p>
            <a:r>
              <a:rPr lang="en-US" sz="2000" b="1" noProof="0" dirty="0"/>
              <a:t>UCPH, 30 June 2025</a:t>
            </a:r>
          </a:p>
        </p:txBody>
      </p:sp>
      <p:sp>
        <p:nvSpPr>
          <p:cNvPr id="15" name="Text Placeholder 3">
            <a:extLst>
              <a:ext uri="{FF2B5EF4-FFF2-40B4-BE49-F238E27FC236}">
                <a16:creationId xmlns:a16="http://schemas.microsoft.com/office/drawing/2014/main" id="{CA3C8C42-AF43-02FC-8B02-1A6651C8F0B8}"/>
              </a:ext>
            </a:extLst>
          </p:cNvPr>
          <p:cNvSpPr>
            <a:spLocks noGrp="1"/>
          </p:cNvSpPr>
          <p:nvPr>
            <p:ph type="body" sz="quarter" idx="13"/>
          </p:nvPr>
        </p:nvSpPr>
        <p:spPr>
          <a:xfrm>
            <a:off x="587375" y="3759928"/>
            <a:ext cx="3564334" cy="899766"/>
          </a:xfrm>
        </p:spPr>
        <p:txBody>
          <a:bodyPr/>
          <a:lstStyle/>
          <a:p>
            <a:r>
              <a:rPr lang="en-US" noProof="0" dirty="0"/>
              <a:t>Rasmus K. S. Berg, </a:t>
            </a:r>
          </a:p>
          <a:p>
            <a:r>
              <a:rPr lang="en-US" u="sng" noProof="0" dirty="0"/>
              <a:t>Peter K. Kruse-Andersen</a:t>
            </a:r>
            <a:r>
              <a:rPr lang="en-US" noProof="0" dirty="0"/>
              <a:t>, and Thor D. Noe</a:t>
            </a:r>
          </a:p>
        </p:txBody>
      </p:sp>
      <p:sp>
        <p:nvSpPr>
          <p:cNvPr id="16" name="Text Placeholder 7">
            <a:extLst>
              <a:ext uri="{FF2B5EF4-FFF2-40B4-BE49-F238E27FC236}">
                <a16:creationId xmlns:a16="http://schemas.microsoft.com/office/drawing/2014/main" id="{590BC75F-A1B1-9AAF-B4C9-DD83EC874C32}"/>
              </a:ext>
            </a:extLst>
          </p:cNvPr>
          <p:cNvSpPr>
            <a:spLocks noGrp="1"/>
          </p:cNvSpPr>
          <p:nvPr>
            <p:ph type="body" sz="quarter" idx="14"/>
          </p:nvPr>
        </p:nvSpPr>
        <p:spPr>
          <a:xfrm>
            <a:off x="587375" y="1020200"/>
            <a:ext cx="3564334" cy="1763813"/>
          </a:xfrm>
        </p:spPr>
        <p:txBody>
          <a:bodyPr/>
          <a:lstStyle/>
          <a:p>
            <a:r>
              <a:rPr lang="en-US" sz="2800" noProof="0" dirty="0"/>
              <a:t>Is Recycling </a:t>
            </a:r>
            <a:r>
              <a:rPr lang="en-US" sz="2800" dirty="0"/>
              <a:t>W</a:t>
            </a:r>
            <a:r>
              <a:rPr lang="en-US" sz="2800" noProof="0" dirty="0" err="1"/>
              <a:t>asted</a:t>
            </a:r>
            <a:r>
              <a:rPr lang="en-US" sz="2800" noProof="0" dirty="0"/>
              <a:t>? The Circular Economy and the Material Rebound Effect</a:t>
            </a:r>
          </a:p>
        </p:txBody>
      </p:sp>
    </p:spTree>
    <p:extLst>
      <p:ext uri="{BB962C8B-B14F-4D97-AF65-F5344CB8AC3E}">
        <p14:creationId xmlns:p14="http://schemas.microsoft.com/office/powerpoint/2010/main" val="3101207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Introduction</a:t>
            </a:r>
          </a:p>
        </p:txBody>
      </p:sp>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2</a:t>
            </a:fld>
            <a:endParaRPr lang="en-US" dirty="0"/>
          </a:p>
        </p:txBody>
      </p:sp>
      <p:sp>
        <p:nvSpPr>
          <p:cNvPr id="7" name="Rounded Rectangle 6"/>
          <p:cNvSpPr/>
          <p:nvPr/>
        </p:nvSpPr>
        <p:spPr>
          <a:xfrm>
            <a:off x="3632672" y="2140927"/>
            <a:ext cx="1853682" cy="6589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Natural resources</a:t>
            </a:r>
          </a:p>
        </p:txBody>
      </p:sp>
      <p:cxnSp>
        <p:nvCxnSpPr>
          <p:cNvPr id="12" name="Straight Arrow Connector 11"/>
          <p:cNvCxnSpPr>
            <a:stCxn id="7" idx="2"/>
          </p:cNvCxnSpPr>
          <p:nvPr/>
        </p:nvCxnSpPr>
        <p:spPr>
          <a:xfrm>
            <a:off x="4559513" y="2799871"/>
            <a:ext cx="0" cy="5346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3632672" y="3334482"/>
            <a:ext cx="1853682" cy="48519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Production</a:t>
            </a:r>
          </a:p>
        </p:txBody>
      </p:sp>
      <p:cxnSp>
        <p:nvCxnSpPr>
          <p:cNvPr id="14" name="Straight Arrow Connector 13"/>
          <p:cNvCxnSpPr/>
          <p:nvPr/>
        </p:nvCxnSpPr>
        <p:spPr>
          <a:xfrm>
            <a:off x="4559513" y="3819674"/>
            <a:ext cx="0" cy="5346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3632672" y="4357395"/>
            <a:ext cx="1853682" cy="48519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Consumption</a:t>
            </a:r>
          </a:p>
        </p:txBody>
      </p:sp>
      <p:cxnSp>
        <p:nvCxnSpPr>
          <p:cNvPr id="16" name="Straight Arrow Connector 15"/>
          <p:cNvCxnSpPr/>
          <p:nvPr/>
        </p:nvCxnSpPr>
        <p:spPr>
          <a:xfrm>
            <a:off x="4550182" y="4842587"/>
            <a:ext cx="0" cy="5346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3632672" y="5377198"/>
            <a:ext cx="1853682" cy="485192"/>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Waste</a:t>
            </a:r>
          </a:p>
        </p:txBody>
      </p:sp>
      <p:sp>
        <p:nvSpPr>
          <p:cNvPr id="20" name="TextBox 19">
            <a:extLst>
              <a:ext uri="{FF2B5EF4-FFF2-40B4-BE49-F238E27FC236}">
                <a16:creationId xmlns:a16="http://schemas.microsoft.com/office/drawing/2014/main" id="{3E59794B-D940-90CB-E680-44A1A68B77A9}"/>
              </a:ext>
            </a:extLst>
          </p:cNvPr>
          <p:cNvSpPr txBox="1"/>
          <p:nvPr/>
        </p:nvSpPr>
        <p:spPr>
          <a:xfrm>
            <a:off x="508409" y="1051323"/>
            <a:ext cx="2100255" cy="400110"/>
          </a:xfrm>
          <a:prstGeom prst="rect">
            <a:avLst/>
          </a:prstGeom>
          <a:noFill/>
        </p:spPr>
        <p:txBody>
          <a:bodyPr wrap="none" rtlCol="0">
            <a:spAutoFit/>
          </a:bodyPr>
          <a:lstStyle/>
          <a:p>
            <a:r>
              <a:rPr lang="en-US" sz="2000" b="1" dirty="0"/>
              <a:t>Linear economy</a:t>
            </a:r>
          </a:p>
        </p:txBody>
      </p:sp>
    </p:spTree>
    <p:extLst>
      <p:ext uri="{BB962C8B-B14F-4D97-AF65-F5344CB8AC3E}">
        <p14:creationId xmlns:p14="http://schemas.microsoft.com/office/powerpoint/2010/main" val="200613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E26EF-D6C5-4BA0-54A7-A185F7B1C4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6E0478-1D81-5D31-0E1B-57CC556E139C}"/>
              </a:ext>
            </a:extLst>
          </p:cNvPr>
          <p:cNvSpPr>
            <a:spLocks noGrp="1"/>
          </p:cNvSpPr>
          <p:nvPr>
            <p:ph type="title"/>
          </p:nvPr>
        </p:nvSpPr>
        <p:spPr/>
        <p:txBody>
          <a:bodyPr/>
          <a:lstStyle/>
          <a:p>
            <a:r>
              <a:rPr lang="en-US" dirty="0"/>
              <a:t>Introduction</a:t>
            </a:r>
          </a:p>
        </p:txBody>
      </p:sp>
      <p:sp>
        <p:nvSpPr>
          <p:cNvPr id="2" name="Date Placeholder 1">
            <a:extLst>
              <a:ext uri="{FF2B5EF4-FFF2-40B4-BE49-F238E27FC236}">
                <a16:creationId xmlns:a16="http://schemas.microsoft.com/office/drawing/2014/main" id="{3969C216-0C02-BB98-22BC-1BF674EFE8F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7BB15F0B-576F-A92D-7850-EC48A3CF6B78}"/>
              </a:ext>
            </a:extLst>
          </p:cNvPr>
          <p:cNvSpPr>
            <a:spLocks noGrp="1"/>
          </p:cNvSpPr>
          <p:nvPr>
            <p:ph type="sldNum" sz="quarter" idx="12"/>
          </p:nvPr>
        </p:nvSpPr>
        <p:spPr/>
        <p:txBody>
          <a:bodyPr/>
          <a:lstStyle/>
          <a:p>
            <a:fld id="{091A926C-488A-4E3E-9C21-57CAA120E114}" type="slidenum">
              <a:rPr lang="en-US" smtClean="0"/>
              <a:t>3</a:t>
            </a:fld>
            <a:endParaRPr lang="en-US" dirty="0"/>
          </a:p>
        </p:txBody>
      </p:sp>
      <p:sp>
        <p:nvSpPr>
          <p:cNvPr id="7" name="Rounded Rectangle 6">
            <a:extLst>
              <a:ext uri="{FF2B5EF4-FFF2-40B4-BE49-F238E27FC236}">
                <a16:creationId xmlns:a16="http://schemas.microsoft.com/office/drawing/2014/main" id="{56D52A9F-B83F-7D13-780D-B105879B6CD1}"/>
              </a:ext>
            </a:extLst>
          </p:cNvPr>
          <p:cNvSpPr/>
          <p:nvPr/>
        </p:nvSpPr>
        <p:spPr>
          <a:xfrm>
            <a:off x="3632672" y="2140927"/>
            <a:ext cx="1853682" cy="6589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Natural resources</a:t>
            </a:r>
          </a:p>
        </p:txBody>
      </p:sp>
      <p:cxnSp>
        <p:nvCxnSpPr>
          <p:cNvPr id="12" name="Straight Arrow Connector 11">
            <a:extLst>
              <a:ext uri="{FF2B5EF4-FFF2-40B4-BE49-F238E27FC236}">
                <a16:creationId xmlns:a16="http://schemas.microsoft.com/office/drawing/2014/main" id="{A6670645-7C13-F275-C5A3-6A8D1527C688}"/>
              </a:ext>
            </a:extLst>
          </p:cNvPr>
          <p:cNvCxnSpPr>
            <a:stCxn id="7" idx="2"/>
          </p:cNvCxnSpPr>
          <p:nvPr/>
        </p:nvCxnSpPr>
        <p:spPr>
          <a:xfrm>
            <a:off x="4559513" y="2799871"/>
            <a:ext cx="0" cy="5346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C8C61213-15D1-7515-1972-64A0C8531859}"/>
              </a:ext>
            </a:extLst>
          </p:cNvPr>
          <p:cNvSpPr/>
          <p:nvPr/>
        </p:nvSpPr>
        <p:spPr>
          <a:xfrm>
            <a:off x="3632672" y="3334482"/>
            <a:ext cx="1853682" cy="48519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Production</a:t>
            </a:r>
          </a:p>
        </p:txBody>
      </p:sp>
      <p:cxnSp>
        <p:nvCxnSpPr>
          <p:cNvPr id="14" name="Straight Arrow Connector 13">
            <a:extLst>
              <a:ext uri="{FF2B5EF4-FFF2-40B4-BE49-F238E27FC236}">
                <a16:creationId xmlns:a16="http://schemas.microsoft.com/office/drawing/2014/main" id="{03248817-069B-F99A-B124-1E71132406F8}"/>
              </a:ext>
            </a:extLst>
          </p:cNvPr>
          <p:cNvCxnSpPr/>
          <p:nvPr/>
        </p:nvCxnSpPr>
        <p:spPr>
          <a:xfrm>
            <a:off x="4559513" y="3819674"/>
            <a:ext cx="0" cy="5346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BA4D9B6D-67BF-1F3B-507D-FE000AB65064}"/>
              </a:ext>
            </a:extLst>
          </p:cNvPr>
          <p:cNvSpPr/>
          <p:nvPr/>
        </p:nvSpPr>
        <p:spPr>
          <a:xfrm>
            <a:off x="3632672" y="4357395"/>
            <a:ext cx="1853682" cy="48519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Consumption</a:t>
            </a:r>
          </a:p>
        </p:txBody>
      </p:sp>
      <p:cxnSp>
        <p:nvCxnSpPr>
          <p:cNvPr id="16" name="Straight Arrow Connector 15">
            <a:extLst>
              <a:ext uri="{FF2B5EF4-FFF2-40B4-BE49-F238E27FC236}">
                <a16:creationId xmlns:a16="http://schemas.microsoft.com/office/drawing/2014/main" id="{6595F61D-ADD0-7BA3-E887-937FF1596B37}"/>
              </a:ext>
            </a:extLst>
          </p:cNvPr>
          <p:cNvCxnSpPr/>
          <p:nvPr/>
        </p:nvCxnSpPr>
        <p:spPr>
          <a:xfrm>
            <a:off x="4550182" y="4842587"/>
            <a:ext cx="0" cy="53461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1A69EB17-DC79-3218-2546-B3C1F2CCCBB7}"/>
              </a:ext>
            </a:extLst>
          </p:cNvPr>
          <p:cNvSpPr/>
          <p:nvPr/>
        </p:nvSpPr>
        <p:spPr>
          <a:xfrm>
            <a:off x="3632672" y="5377198"/>
            <a:ext cx="1853682" cy="485192"/>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Waste</a:t>
            </a:r>
          </a:p>
        </p:txBody>
      </p:sp>
      <p:pic>
        <p:nvPicPr>
          <p:cNvPr id="1026" name="Picture 2" descr="Free trash can trash can illustration">
            <a:extLst>
              <a:ext uri="{FF2B5EF4-FFF2-40B4-BE49-F238E27FC236}">
                <a16:creationId xmlns:a16="http://schemas.microsoft.com/office/drawing/2014/main" id="{6CB015AE-5610-CC4F-6643-E5C7F8D01A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3864" y="5005911"/>
            <a:ext cx="1153872" cy="122776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ree ai generated ore truck illustration">
            <a:extLst>
              <a:ext uri="{FF2B5EF4-FFF2-40B4-BE49-F238E27FC236}">
                <a16:creationId xmlns:a16="http://schemas.microsoft.com/office/drawing/2014/main" id="{20C897D3-3AC2-92BF-97B8-B4917677F2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6310" y="1495909"/>
            <a:ext cx="1948980" cy="19489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529AAB9-3411-3F0C-404E-6D4569B01683}"/>
              </a:ext>
            </a:extLst>
          </p:cNvPr>
          <p:cNvSpPr txBox="1"/>
          <p:nvPr/>
        </p:nvSpPr>
        <p:spPr>
          <a:xfrm>
            <a:off x="1284051" y="2285733"/>
            <a:ext cx="1518364" cy="369332"/>
          </a:xfrm>
          <a:prstGeom prst="rect">
            <a:avLst/>
          </a:prstGeom>
          <a:noFill/>
        </p:spPr>
        <p:txBody>
          <a:bodyPr wrap="none" rtlCol="0">
            <a:spAutoFit/>
          </a:bodyPr>
          <a:lstStyle/>
          <a:p>
            <a:r>
              <a:rPr lang="en-US" b="1" dirty="0">
                <a:solidFill>
                  <a:srgbClr val="FF0000"/>
                </a:solidFill>
              </a:rPr>
              <a:t>Externalities</a:t>
            </a:r>
          </a:p>
        </p:txBody>
      </p:sp>
      <p:sp>
        <p:nvSpPr>
          <p:cNvPr id="6" name="TextBox 5">
            <a:extLst>
              <a:ext uri="{FF2B5EF4-FFF2-40B4-BE49-F238E27FC236}">
                <a16:creationId xmlns:a16="http://schemas.microsoft.com/office/drawing/2014/main" id="{9E039694-E23D-2889-C749-E49A144DBD4F}"/>
              </a:ext>
            </a:extLst>
          </p:cNvPr>
          <p:cNvSpPr txBox="1"/>
          <p:nvPr/>
        </p:nvSpPr>
        <p:spPr>
          <a:xfrm>
            <a:off x="1284051" y="5435127"/>
            <a:ext cx="1518364" cy="369332"/>
          </a:xfrm>
          <a:prstGeom prst="rect">
            <a:avLst/>
          </a:prstGeom>
          <a:noFill/>
        </p:spPr>
        <p:txBody>
          <a:bodyPr wrap="none" rtlCol="0">
            <a:spAutoFit/>
          </a:bodyPr>
          <a:lstStyle/>
          <a:p>
            <a:r>
              <a:rPr lang="en-US" b="1" dirty="0">
                <a:solidFill>
                  <a:srgbClr val="FF0000"/>
                </a:solidFill>
              </a:rPr>
              <a:t>Externalities</a:t>
            </a:r>
          </a:p>
        </p:txBody>
      </p:sp>
      <p:cxnSp>
        <p:nvCxnSpPr>
          <p:cNvPr id="9" name="Straight Arrow Connector 8">
            <a:extLst>
              <a:ext uri="{FF2B5EF4-FFF2-40B4-BE49-F238E27FC236}">
                <a16:creationId xmlns:a16="http://schemas.microsoft.com/office/drawing/2014/main" id="{0718D5D7-BE5A-5247-4AB3-4693AB6C990E}"/>
              </a:ext>
            </a:extLst>
          </p:cNvPr>
          <p:cNvCxnSpPr>
            <a:stCxn id="5" idx="3"/>
            <a:endCxn id="7" idx="1"/>
          </p:cNvCxnSpPr>
          <p:nvPr/>
        </p:nvCxnSpPr>
        <p:spPr>
          <a:xfrm>
            <a:off x="2802415" y="2470399"/>
            <a:ext cx="7708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524CC0E-75CC-2478-E708-DD9D23813FD7}"/>
              </a:ext>
            </a:extLst>
          </p:cNvPr>
          <p:cNvCxnSpPr/>
          <p:nvPr/>
        </p:nvCxnSpPr>
        <p:spPr>
          <a:xfrm>
            <a:off x="2802414" y="5619793"/>
            <a:ext cx="770879"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4322227-068C-09FE-AB88-A4D78B7067BD}"/>
              </a:ext>
            </a:extLst>
          </p:cNvPr>
          <p:cNvSpPr txBox="1"/>
          <p:nvPr/>
        </p:nvSpPr>
        <p:spPr>
          <a:xfrm>
            <a:off x="508409" y="1046902"/>
            <a:ext cx="2100255" cy="400110"/>
          </a:xfrm>
          <a:prstGeom prst="rect">
            <a:avLst/>
          </a:prstGeom>
          <a:noFill/>
        </p:spPr>
        <p:txBody>
          <a:bodyPr wrap="none" rtlCol="0">
            <a:spAutoFit/>
          </a:bodyPr>
          <a:lstStyle/>
          <a:p>
            <a:r>
              <a:rPr lang="en-US" sz="2000" b="1" dirty="0"/>
              <a:t>Linear economy</a:t>
            </a:r>
          </a:p>
        </p:txBody>
      </p:sp>
    </p:spTree>
    <p:extLst>
      <p:ext uri="{BB962C8B-B14F-4D97-AF65-F5344CB8AC3E}">
        <p14:creationId xmlns:p14="http://schemas.microsoft.com/office/powerpoint/2010/main" val="3896808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Arc 25"/>
          <p:cNvSpPr/>
          <p:nvPr/>
        </p:nvSpPr>
        <p:spPr>
          <a:xfrm rot="5400000">
            <a:off x="4317807" y="2170575"/>
            <a:ext cx="2853411" cy="3204000"/>
          </a:xfrm>
          <a:prstGeom prst="arc">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2"/>
          <p:cNvSpPr>
            <a:spLocks noGrp="1"/>
          </p:cNvSpPr>
          <p:nvPr>
            <p:ph type="title"/>
          </p:nvPr>
        </p:nvSpPr>
        <p:spPr/>
        <p:txBody>
          <a:bodyPr/>
          <a:lstStyle/>
          <a:p>
            <a:r>
              <a:rPr lang="en-US" dirty="0"/>
              <a:t>Introduction</a:t>
            </a:r>
          </a:p>
        </p:txBody>
      </p:sp>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4</a:t>
            </a:fld>
            <a:endParaRPr lang="en-US" dirty="0"/>
          </a:p>
        </p:txBody>
      </p:sp>
      <p:sp>
        <p:nvSpPr>
          <p:cNvPr id="7" name="Rounded Rectangle 6"/>
          <p:cNvSpPr/>
          <p:nvPr/>
        </p:nvSpPr>
        <p:spPr>
          <a:xfrm>
            <a:off x="709081" y="2257155"/>
            <a:ext cx="1853682" cy="749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Natural resources</a:t>
            </a:r>
          </a:p>
        </p:txBody>
      </p:sp>
      <p:sp>
        <p:nvSpPr>
          <p:cNvPr id="13" name="Rounded Rectangle 12"/>
          <p:cNvSpPr/>
          <p:nvPr/>
        </p:nvSpPr>
        <p:spPr>
          <a:xfrm>
            <a:off x="3890831" y="2391027"/>
            <a:ext cx="1853682" cy="48519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Production</a:t>
            </a:r>
          </a:p>
        </p:txBody>
      </p:sp>
      <p:sp>
        <p:nvSpPr>
          <p:cNvPr id="15" name="Rounded Rectangle 14"/>
          <p:cNvSpPr/>
          <p:nvPr/>
        </p:nvSpPr>
        <p:spPr>
          <a:xfrm>
            <a:off x="6279468" y="3675279"/>
            <a:ext cx="1853682" cy="48519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Consumption</a:t>
            </a:r>
          </a:p>
        </p:txBody>
      </p:sp>
      <p:sp>
        <p:nvSpPr>
          <p:cNvPr id="17" name="Rounded Rectangle 16"/>
          <p:cNvSpPr/>
          <p:nvPr/>
        </p:nvSpPr>
        <p:spPr>
          <a:xfrm>
            <a:off x="6419672" y="5612643"/>
            <a:ext cx="1853682" cy="485192"/>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Waste</a:t>
            </a:r>
          </a:p>
        </p:txBody>
      </p:sp>
      <p:sp>
        <p:nvSpPr>
          <p:cNvPr id="10" name="Arc 9"/>
          <p:cNvSpPr/>
          <p:nvPr/>
        </p:nvSpPr>
        <p:spPr>
          <a:xfrm>
            <a:off x="4142513" y="2631919"/>
            <a:ext cx="3204000" cy="2070709"/>
          </a:xfrm>
          <a:prstGeom prst="arc">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7" name="Freeform 26"/>
          <p:cNvSpPr/>
          <p:nvPr/>
        </p:nvSpPr>
        <p:spPr>
          <a:xfrm>
            <a:off x="2979436" y="2855167"/>
            <a:ext cx="958082" cy="2363755"/>
          </a:xfrm>
          <a:custGeom>
            <a:avLst/>
            <a:gdLst>
              <a:gd name="connsiteX0" fmla="*/ 958082 w 958082"/>
              <a:gd name="connsiteY0" fmla="*/ 2363755 h 2363755"/>
              <a:gd name="connsiteX1" fmla="*/ 140 w 958082"/>
              <a:gd name="connsiteY1" fmla="*/ 1069911 h 2363755"/>
              <a:gd name="connsiteX2" fmla="*/ 902099 w 958082"/>
              <a:gd name="connsiteY2" fmla="*/ 0 h 2363755"/>
            </a:gdLst>
            <a:ahLst/>
            <a:cxnLst>
              <a:cxn ang="0">
                <a:pos x="connsiteX0" y="connsiteY0"/>
              </a:cxn>
              <a:cxn ang="0">
                <a:pos x="connsiteX1" y="connsiteY1"/>
              </a:cxn>
              <a:cxn ang="0">
                <a:pos x="connsiteX2" y="connsiteY2"/>
              </a:cxn>
            </a:cxnLst>
            <a:rect l="l" t="t" r="r" b="b"/>
            <a:pathLst>
              <a:path w="958082" h="2363755">
                <a:moveTo>
                  <a:pt x="958082" y="2363755"/>
                </a:moveTo>
                <a:cubicBezTo>
                  <a:pt x="483776" y="1913812"/>
                  <a:pt x="9470" y="1463870"/>
                  <a:pt x="140" y="1069911"/>
                </a:cubicBezTo>
                <a:cubicBezTo>
                  <a:pt x="-9190" y="675952"/>
                  <a:pt x="446454" y="337976"/>
                  <a:pt x="902099" y="0"/>
                </a:cubicBezTo>
              </a:path>
            </a:pathLst>
          </a:custGeom>
          <a:noFill/>
          <a:ln w="2857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ounded Rectangle 23"/>
          <p:cNvSpPr/>
          <p:nvPr/>
        </p:nvSpPr>
        <p:spPr>
          <a:xfrm>
            <a:off x="3890831" y="4956683"/>
            <a:ext cx="1853682" cy="48519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Recycling</a:t>
            </a:r>
          </a:p>
        </p:txBody>
      </p:sp>
      <p:cxnSp>
        <p:nvCxnSpPr>
          <p:cNvPr id="30" name="Straight Arrow Connector 29"/>
          <p:cNvCxnSpPr/>
          <p:nvPr/>
        </p:nvCxnSpPr>
        <p:spPr>
          <a:xfrm>
            <a:off x="2562763" y="2631920"/>
            <a:ext cx="1328068"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7353855" y="4160471"/>
            <a:ext cx="0" cy="1440713"/>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1DC14E-8824-4A9E-2AB1-1CD703794E82}"/>
              </a:ext>
            </a:extLst>
          </p:cNvPr>
          <p:cNvSpPr txBox="1"/>
          <p:nvPr/>
        </p:nvSpPr>
        <p:spPr>
          <a:xfrm>
            <a:off x="508409" y="1051323"/>
            <a:ext cx="2287806" cy="400110"/>
          </a:xfrm>
          <a:prstGeom prst="rect">
            <a:avLst/>
          </a:prstGeom>
          <a:noFill/>
        </p:spPr>
        <p:txBody>
          <a:bodyPr wrap="none" rtlCol="0">
            <a:spAutoFit/>
          </a:bodyPr>
          <a:lstStyle/>
          <a:p>
            <a:r>
              <a:rPr lang="en-US" sz="2000" b="1" dirty="0"/>
              <a:t>Circular economy</a:t>
            </a:r>
          </a:p>
        </p:txBody>
      </p:sp>
    </p:spTree>
    <p:extLst>
      <p:ext uri="{BB962C8B-B14F-4D97-AF65-F5344CB8AC3E}">
        <p14:creationId xmlns:p14="http://schemas.microsoft.com/office/powerpoint/2010/main" val="228431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Arc 25"/>
          <p:cNvSpPr/>
          <p:nvPr/>
        </p:nvSpPr>
        <p:spPr>
          <a:xfrm rot="5400000">
            <a:off x="4317807" y="2170575"/>
            <a:ext cx="2853411" cy="3204000"/>
          </a:xfrm>
          <a:prstGeom prst="arc">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2"/>
          <p:cNvSpPr>
            <a:spLocks noGrp="1"/>
          </p:cNvSpPr>
          <p:nvPr>
            <p:ph type="title"/>
          </p:nvPr>
        </p:nvSpPr>
        <p:spPr/>
        <p:txBody>
          <a:bodyPr/>
          <a:lstStyle/>
          <a:p>
            <a:r>
              <a:rPr lang="en-US" dirty="0"/>
              <a:t>Introduction</a:t>
            </a:r>
          </a:p>
        </p:txBody>
      </p:sp>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5</a:t>
            </a:fld>
            <a:endParaRPr lang="en-US" dirty="0"/>
          </a:p>
        </p:txBody>
      </p:sp>
      <p:sp>
        <p:nvSpPr>
          <p:cNvPr id="7" name="Rounded Rectangle 6"/>
          <p:cNvSpPr/>
          <p:nvPr/>
        </p:nvSpPr>
        <p:spPr>
          <a:xfrm>
            <a:off x="709081" y="2257155"/>
            <a:ext cx="1853682" cy="749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Natural resources</a:t>
            </a:r>
          </a:p>
        </p:txBody>
      </p:sp>
      <p:sp>
        <p:nvSpPr>
          <p:cNvPr id="13" name="Rounded Rectangle 12"/>
          <p:cNvSpPr/>
          <p:nvPr/>
        </p:nvSpPr>
        <p:spPr>
          <a:xfrm>
            <a:off x="3890831" y="2391027"/>
            <a:ext cx="1853682" cy="48519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Production</a:t>
            </a:r>
          </a:p>
        </p:txBody>
      </p:sp>
      <p:sp>
        <p:nvSpPr>
          <p:cNvPr id="15" name="Rounded Rectangle 14"/>
          <p:cNvSpPr/>
          <p:nvPr/>
        </p:nvSpPr>
        <p:spPr>
          <a:xfrm>
            <a:off x="6279468" y="3675279"/>
            <a:ext cx="1853682" cy="485192"/>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Consumption</a:t>
            </a:r>
          </a:p>
        </p:txBody>
      </p:sp>
      <p:sp>
        <p:nvSpPr>
          <p:cNvPr id="17" name="Rounded Rectangle 16"/>
          <p:cNvSpPr/>
          <p:nvPr/>
        </p:nvSpPr>
        <p:spPr>
          <a:xfrm>
            <a:off x="6419672" y="5612643"/>
            <a:ext cx="1853682" cy="485192"/>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Waste</a:t>
            </a:r>
          </a:p>
        </p:txBody>
      </p:sp>
      <p:sp>
        <p:nvSpPr>
          <p:cNvPr id="10" name="Arc 9"/>
          <p:cNvSpPr/>
          <p:nvPr/>
        </p:nvSpPr>
        <p:spPr>
          <a:xfrm>
            <a:off x="4142513" y="2631919"/>
            <a:ext cx="3204000" cy="2070709"/>
          </a:xfrm>
          <a:prstGeom prst="arc">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7" name="Freeform 26"/>
          <p:cNvSpPr/>
          <p:nvPr/>
        </p:nvSpPr>
        <p:spPr>
          <a:xfrm>
            <a:off x="2979436" y="2855167"/>
            <a:ext cx="958082" cy="2363755"/>
          </a:xfrm>
          <a:custGeom>
            <a:avLst/>
            <a:gdLst>
              <a:gd name="connsiteX0" fmla="*/ 958082 w 958082"/>
              <a:gd name="connsiteY0" fmla="*/ 2363755 h 2363755"/>
              <a:gd name="connsiteX1" fmla="*/ 140 w 958082"/>
              <a:gd name="connsiteY1" fmla="*/ 1069911 h 2363755"/>
              <a:gd name="connsiteX2" fmla="*/ 902099 w 958082"/>
              <a:gd name="connsiteY2" fmla="*/ 0 h 2363755"/>
            </a:gdLst>
            <a:ahLst/>
            <a:cxnLst>
              <a:cxn ang="0">
                <a:pos x="connsiteX0" y="connsiteY0"/>
              </a:cxn>
              <a:cxn ang="0">
                <a:pos x="connsiteX1" y="connsiteY1"/>
              </a:cxn>
              <a:cxn ang="0">
                <a:pos x="connsiteX2" y="connsiteY2"/>
              </a:cxn>
            </a:cxnLst>
            <a:rect l="l" t="t" r="r" b="b"/>
            <a:pathLst>
              <a:path w="958082" h="2363755">
                <a:moveTo>
                  <a:pt x="958082" y="2363755"/>
                </a:moveTo>
                <a:cubicBezTo>
                  <a:pt x="483776" y="1913812"/>
                  <a:pt x="9470" y="1463870"/>
                  <a:pt x="140" y="1069911"/>
                </a:cubicBezTo>
                <a:cubicBezTo>
                  <a:pt x="-9190" y="675952"/>
                  <a:pt x="446454" y="337976"/>
                  <a:pt x="902099" y="0"/>
                </a:cubicBezTo>
              </a:path>
            </a:pathLst>
          </a:custGeom>
          <a:noFill/>
          <a:ln w="28575">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ounded Rectangle 23"/>
          <p:cNvSpPr/>
          <p:nvPr/>
        </p:nvSpPr>
        <p:spPr>
          <a:xfrm>
            <a:off x="3890831" y="4956683"/>
            <a:ext cx="1853682" cy="48519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Recycling</a:t>
            </a:r>
          </a:p>
        </p:txBody>
      </p:sp>
      <p:cxnSp>
        <p:nvCxnSpPr>
          <p:cNvPr id="30" name="Straight Arrow Connector 29"/>
          <p:cNvCxnSpPr/>
          <p:nvPr/>
        </p:nvCxnSpPr>
        <p:spPr>
          <a:xfrm>
            <a:off x="2562763" y="2631920"/>
            <a:ext cx="1328068" cy="0"/>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7353855" y="4160471"/>
            <a:ext cx="0" cy="1440713"/>
          </a:xfrm>
          <a:prstGeom prst="straightConnector1">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Freeform 15"/>
          <p:cNvSpPr/>
          <p:nvPr/>
        </p:nvSpPr>
        <p:spPr>
          <a:xfrm>
            <a:off x="5231363" y="2637453"/>
            <a:ext cx="938720" cy="2289110"/>
          </a:xfrm>
          <a:custGeom>
            <a:avLst/>
            <a:gdLst>
              <a:gd name="connsiteX0" fmla="*/ 522515 w 938720"/>
              <a:gd name="connsiteY0" fmla="*/ 0 h 2289110"/>
              <a:gd name="connsiteX1" fmla="*/ 920621 w 938720"/>
              <a:gd name="connsiteY1" fmla="*/ 497633 h 2289110"/>
              <a:gd name="connsiteX2" fmla="*/ 0 w 938720"/>
              <a:gd name="connsiteY2" fmla="*/ 2289110 h 2289110"/>
            </a:gdLst>
            <a:ahLst/>
            <a:cxnLst>
              <a:cxn ang="0">
                <a:pos x="connsiteX0" y="connsiteY0"/>
              </a:cxn>
              <a:cxn ang="0">
                <a:pos x="connsiteX1" y="connsiteY1"/>
              </a:cxn>
              <a:cxn ang="0">
                <a:pos x="connsiteX2" y="connsiteY2"/>
              </a:cxn>
            </a:cxnLst>
            <a:rect l="l" t="t" r="r" b="b"/>
            <a:pathLst>
              <a:path w="938720" h="2289110">
                <a:moveTo>
                  <a:pt x="522515" y="0"/>
                </a:moveTo>
                <a:cubicBezTo>
                  <a:pt x="765111" y="58057"/>
                  <a:pt x="1007707" y="116115"/>
                  <a:pt x="920621" y="497633"/>
                </a:cubicBezTo>
                <a:cubicBezTo>
                  <a:pt x="833535" y="879151"/>
                  <a:pt x="416767" y="1584130"/>
                  <a:pt x="0" y="2289110"/>
                </a:cubicBezTo>
              </a:path>
            </a:pathLst>
          </a:custGeom>
          <a:noFill/>
          <a:ln>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p:cNvSpPr txBox="1"/>
          <p:nvPr/>
        </p:nvSpPr>
        <p:spPr>
          <a:xfrm>
            <a:off x="4717236" y="3297397"/>
            <a:ext cx="1313180" cy="246221"/>
          </a:xfrm>
          <a:prstGeom prst="rect">
            <a:avLst/>
          </a:prstGeom>
          <a:noFill/>
        </p:spPr>
        <p:txBody>
          <a:bodyPr wrap="none" rtlCol="0">
            <a:spAutoFit/>
          </a:bodyPr>
          <a:lstStyle/>
          <a:p>
            <a:r>
              <a:rPr lang="en-US" sz="1000" dirty="0"/>
              <a:t>Waste as a resource</a:t>
            </a:r>
          </a:p>
        </p:txBody>
      </p:sp>
      <p:sp>
        <p:nvSpPr>
          <p:cNvPr id="19" name="Freeform 18"/>
          <p:cNvSpPr/>
          <p:nvPr/>
        </p:nvSpPr>
        <p:spPr>
          <a:xfrm>
            <a:off x="5517502" y="1769932"/>
            <a:ext cx="952433" cy="842639"/>
          </a:xfrm>
          <a:custGeom>
            <a:avLst/>
            <a:gdLst>
              <a:gd name="connsiteX0" fmla="*/ 211494 w 952433"/>
              <a:gd name="connsiteY0" fmla="*/ 842639 h 842639"/>
              <a:gd name="connsiteX1" fmla="*/ 522514 w 952433"/>
              <a:gd name="connsiteY1" fmla="*/ 792876 h 842639"/>
              <a:gd name="connsiteX2" fmla="*/ 889518 w 952433"/>
              <a:gd name="connsiteY2" fmla="*/ 575162 h 842639"/>
              <a:gd name="connsiteX3" fmla="*/ 939282 w 952433"/>
              <a:gd name="connsiteY3" fmla="*/ 245480 h 842639"/>
              <a:gd name="connsiteX4" fmla="*/ 746449 w 952433"/>
              <a:gd name="connsiteY4" fmla="*/ 58868 h 842639"/>
              <a:gd name="connsiteX5" fmla="*/ 410547 w 952433"/>
              <a:gd name="connsiteY5" fmla="*/ 15325 h 842639"/>
              <a:gd name="connsiteX6" fmla="*/ 87086 w 952433"/>
              <a:gd name="connsiteY6" fmla="*/ 295244 h 842639"/>
              <a:gd name="connsiteX7" fmla="*/ 0 w 952433"/>
              <a:gd name="connsiteY7" fmla="*/ 612484 h 842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52433" h="842639">
                <a:moveTo>
                  <a:pt x="211494" y="842639"/>
                </a:moveTo>
                <a:cubicBezTo>
                  <a:pt x="310502" y="840047"/>
                  <a:pt x="409510" y="837455"/>
                  <a:pt x="522514" y="792876"/>
                </a:cubicBezTo>
                <a:cubicBezTo>
                  <a:pt x="635518" y="748297"/>
                  <a:pt x="820057" y="666395"/>
                  <a:pt x="889518" y="575162"/>
                </a:cubicBezTo>
                <a:cubicBezTo>
                  <a:pt x="958979" y="483929"/>
                  <a:pt x="963127" y="331529"/>
                  <a:pt x="939282" y="245480"/>
                </a:cubicBezTo>
                <a:cubicBezTo>
                  <a:pt x="915437" y="159431"/>
                  <a:pt x="834571" y="97227"/>
                  <a:pt x="746449" y="58868"/>
                </a:cubicBezTo>
                <a:cubicBezTo>
                  <a:pt x="658327" y="20509"/>
                  <a:pt x="520441" y="-24071"/>
                  <a:pt x="410547" y="15325"/>
                </a:cubicBezTo>
                <a:cubicBezTo>
                  <a:pt x="300653" y="54721"/>
                  <a:pt x="155510" y="195718"/>
                  <a:pt x="87086" y="295244"/>
                </a:cubicBezTo>
                <a:cubicBezTo>
                  <a:pt x="18662" y="394770"/>
                  <a:pt x="9331" y="503627"/>
                  <a:pt x="0" y="612484"/>
                </a:cubicBezTo>
              </a:path>
            </a:pathLst>
          </a:custGeom>
          <a:noFill/>
          <a:ln>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p:cNvSpPr txBox="1"/>
          <p:nvPr/>
        </p:nvSpPr>
        <p:spPr>
          <a:xfrm>
            <a:off x="5862741" y="1542102"/>
            <a:ext cx="1152880" cy="246221"/>
          </a:xfrm>
          <a:prstGeom prst="rect">
            <a:avLst/>
          </a:prstGeom>
          <a:noFill/>
        </p:spPr>
        <p:txBody>
          <a:bodyPr wrap="none" rtlCol="0">
            <a:spAutoFit/>
          </a:bodyPr>
          <a:lstStyle/>
          <a:p>
            <a:r>
              <a:rPr lang="en-US" sz="1000" dirty="0"/>
              <a:t>Remanufacturing</a:t>
            </a:r>
          </a:p>
        </p:txBody>
      </p:sp>
      <p:sp>
        <p:nvSpPr>
          <p:cNvPr id="22" name="Freeform 21"/>
          <p:cNvSpPr/>
          <p:nvPr/>
        </p:nvSpPr>
        <p:spPr>
          <a:xfrm>
            <a:off x="6148072" y="4149012"/>
            <a:ext cx="1136026" cy="335809"/>
          </a:xfrm>
          <a:custGeom>
            <a:avLst/>
            <a:gdLst>
              <a:gd name="connsiteX0" fmla="*/ 1136026 w 1136026"/>
              <a:gd name="connsiteY0" fmla="*/ 0 h 495202"/>
              <a:gd name="connsiteX1" fmla="*/ 501544 w 1136026"/>
              <a:gd name="connsiteY1" fmla="*/ 472751 h 495202"/>
              <a:gd name="connsiteX2" fmla="*/ 22573 w 1136026"/>
              <a:gd name="connsiteY2" fmla="*/ 379445 h 495202"/>
              <a:gd name="connsiteX3" fmla="*/ 122099 w 1136026"/>
              <a:gd name="connsiteY3" fmla="*/ 31102 h 495202"/>
            </a:gdLst>
            <a:ahLst/>
            <a:cxnLst>
              <a:cxn ang="0">
                <a:pos x="connsiteX0" y="connsiteY0"/>
              </a:cxn>
              <a:cxn ang="0">
                <a:pos x="connsiteX1" y="connsiteY1"/>
              </a:cxn>
              <a:cxn ang="0">
                <a:pos x="connsiteX2" y="connsiteY2"/>
              </a:cxn>
              <a:cxn ang="0">
                <a:pos x="connsiteX3" y="connsiteY3"/>
              </a:cxn>
            </a:cxnLst>
            <a:rect l="l" t="t" r="r" b="b"/>
            <a:pathLst>
              <a:path w="1136026" h="495202">
                <a:moveTo>
                  <a:pt x="1136026" y="0"/>
                </a:moveTo>
                <a:cubicBezTo>
                  <a:pt x="911573" y="204755"/>
                  <a:pt x="687120" y="409510"/>
                  <a:pt x="501544" y="472751"/>
                </a:cubicBezTo>
                <a:cubicBezTo>
                  <a:pt x="315968" y="535992"/>
                  <a:pt x="85814" y="453053"/>
                  <a:pt x="22573" y="379445"/>
                </a:cubicBezTo>
                <a:cubicBezTo>
                  <a:pt x="-40668" y="305837"/>
                  <a:pt x="40715" y="168469"/>
                  <a:pt x="122099" y="31102"/>
                </a:cubicBezTo>
              </a:path>
            </a:pathLst>
          </a:custGeom>
          <a:noFill/>
          <a:ln>
            <a:solidFill>
              <a:schemeClr val="tx1"/>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p:cNvSpPr txBox="1"/>
          <p:nvPr/>
        </p:nvSpPr>
        <p:spPr>
          <a:xfrm>
            <a:off x="5485193" y="4450722"/>
            <a:ext cx="1072730" cy="246221"/>
          </a:xfrm>
          <a:prstGeom prst="rect">
            <a:avLst/>
          </a:prstGeom>
          <a:noFill/>
        </p:spPr>
        <p:txBody>
          <a:bodyPr wrap="none" rtlCol="0">
            <a:spAutoFit/>
          </a:bodyPr>
          <a:lstStyle/>
          <a:p>
            <a:r>
              <a:rPr lang="en-US" sz="1000" dirty="0"/>
              <a:t>Repair og reuse</a:t>
            </a:r>
          </a:p>
        </p:txBody>
      </p:sp>
      <p:sp>
        <p:nvSpPr>
          <p:cNvPr id="5" name="TextBox 4">
            <a:extLst>
              <a:ext uri="{FF2B5EF4-FFF2-40B4-BE49-F238E27FC236}">
                <a16:creationId xmlns:a16="http://schemas.microsoft.com/office/drawing/2014/main" id="{CB123C7A-A2D2-32B2-3F89-9BF365378453}"/>
              </a:ext>
            </a:extLst>
          </p:cNvPr>
          <p:cNvSpPr txBox="1"/>
          <p:nvPr/>
        </p:nvSpPr>
        <p:spPr>
          <a:xfrm>
            <a:off x="508409" y="1051323"/>
            <a:ext cx="2287806" cy="400110"/>
          </a:xfrm>
          <a:prstGeom prst="rect">
            <a:avLst/>
          </a:prstGeom>
          <a:noFill/>
        </p:spPr>
        <p:txBody>
          <a:bodyPr wrap="none" rtlCol="0">
            <a:spAutoFit/>
          </a:bodyPr>
          <a:lstStyle/>
          <a:p>
            <a:r>
              <a:rPr lang="en-US" sz="2000" b="1" dirty="0"/>
              <a:t>Circular economy</a:t>
            </a:r>
          </a:p>
        </p:txBody>
      </p:sp>
    </p:spTree>
    <p:extLst>
      <p:ext uri="{BB962C8B-B14F-4D97-AF65-F5344CB8AC3E}">
        <p14:creationId xmlns:p14="http://schemas.microsoft.com/office/powerpoint/2010/main" val="300302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1D688-BD2E-9786-7A0A-6B96C8454C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AA2A8C0-8938-206A-0792-E266128A2085}"/>
              </a:ext>
            </a:extLst>
          </p:cNvPr>
          <p:cNvSpPr>
            <a:spLocks noGrp="1"/>
          </p:cNvSpPr>
          <p:nvPr>
            <p:ph type="title"/>
          </p:nvPr>
        </p:nvSpPr>
        <p:spPr/>
        <p:txBody>
          <a:bodyPr/>
          <a:lstStyle/>
          <a:p>
            <a:r>
              <a:rPr lang="en-US" dirty="0"/>
              <a:t>Introduction</a:t>
            </a:r>
          </a:p>
        </p:txBody>
      </p:sp>
      <p:sp>
        <p:nvSpPr>
          <p:cNvPr id="2" name="Date Placeholder 1">
            <a:extLst>
              <a:ext uri="{FF2B5EF4-FFF2-40B4-BE49-F238E27FC236}">
                <a16:creationId xmlns:a16="http://schemas.microsoft.com/office/drawing/2014/main" id="{DEF618EC-BFF0-1CDA-BC47-2C1831641176}"/>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36B224B5-4D9A-C45C-37F0-8ED2B46CAFC5}"/>
              </a:ext>
            </a:extLst>
          </p:cNvPr>
          <p:cNvSpPr>
            <a:spLocks noGrp="1"/>
          </p:cNvSpPr>
          <p:nvPr>
            <p:ph type="sldNum" sz="quarter" idx="12"/>
          </p:nvPr>
        </p:nvSpPr>
        <p:spPr/>
        <p:txBody>
          <a:bodyPr/>
          <a:lstStyle/>
          <a:p>
            <a:fld id="{091A926C-488A-4E3E-9C21-57CAA120E114}" type="slidenum">
              <a:rPr lang="en-US" smtClean="0"/>
              <a:t>6</a:t>
            </a:fld>
            <a:endParaRPr lang="en-US" dirty="0"/>
          </a:p>
        </p:txBody>
      </p:sp>
      <p:sp>
        <p:nvSpPr>
          <p:cNvPr id="6" name="TextBox 5">
            <a:extLst>
              <a:ext uri="{FF2B5EF4-FFF2-40B4-BE49-F238E27FC236}">
                <a16:creationId xmlns:a16="http://schemas.microsoft.com/office/drawing/2014/main" id="{F7C501D8-9707-5C53-2ABD-D24C7B499A68}"/>
              </a:ext>
            </a:extLst>
          </p:cNvPr>
          <p:cNvSpPr txBox="1"/>
          <p:nvPr/>
        </p:nvSpPr>
        <p:spPr>
          <a:xfrm>
            <a:off x="508409" y="1051323"/>
            <a:ext cx="8046629" cy="5940088"/>
          </a:xfrm>
          <a:prstGeom prst="rect">
            <a:avLst/>
          </a:prstGeom>
          <a:noFill/>
        </p:spPr>
        <p:txBody>
          <a:bodyPr wrap="square" rtlCol="0">
            <a:spAutoFit/>
          </a:bodyPr>
          <a:lstStyle/>
          <a:p>
            <a:endParaRPr lang="en-US" sz="2000" dirty="0"/>
          </a:p>
          <a:p>
            <a:pPr marL="342900" indent="-342900">
              <a:buFont typeface="Arial" panose="020B0604020202020204" pitchFamily="34" charset="0"/>
              <a:buChar char="•"/>
            </a:pPr>
            <a:r>
              <a:rPr lang="en-US" sz="2000" u="sng" dirty="0"/>
              <a:t>Keen political focus </a:t>
            </a:r>
            <a:r>
              <a:rPr lang="en-US" sz="2000" dirty="0"/>
              <a:t>on the supply of raw materials:</a:t>
            </a:r>
          </a:p>
          <a:p>
            <a:pPr marL="800100" lvl="1" indent="-342900">
              <a:buFont typeface="Arial" panose="020B0604020202020204" pitchFamily="34" charset="0"/>
              <a:buChar char="•"/>
            </a:pPr>
            <a:r>
              <a:rPr lang="en-US" sz="2000" dirty="0"/>
              <a:t>Sustainability agenda.</a:t>
            </a:r>
          </a:p>
          <a:p>
            <a:pPr marL="800100" lvl="1" indent="-342900">
              <a:buFont typeface="Arial" panose="020B0604020202020204" pitchFamily="34" charset="0"/>
              <a:buChar char="•"/>
            </a:pPr>
            <a:r>
              <a:rPr lang="en-US" sz="2000" dirty="0"/>
              <a:t>National security agenda.</a:t>
            </a:r>
          </a:p>
          <a:p>
            <a:pPr marL="342900" indent="-342900">
              <a:buFont typeface="Arial" panose="020B0604020202020204" pitchFamily="34" charset="0"/>
              <a:buChar char="•"/>
            </a:pPr>
            <a:endParaRPr lang="en-US" sz="2000" noProof="0" dirty="0"/>
          </a:p>
          <a:p>
            <a:pPr marL="342900" indent="-342900">
              <a:buFont typeface="Arial" panose="020B0604020202020204" pitchFamily="34" charset="0"/>
              <a:buChar char="•"/>
            </a:pPr>
            <a:r>
              <a:rPr lang="en-US" sz="2000" b="1" dirty="0"/>
              <a:t>Key question:</a:t>
            </a:r>
            <a:r>
              <a:rPr lang="en-US" sz="2000" dirty="0"/>
              <a:t> How effective do circular economy policies reduce the dependence of primary raw materials?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We develop a </a:t>
            </a:r>
            <a:r>
              <a:rPr lang="en-US" sz="2000" u="sng" dirty="0"/>
              <a:t>new macroeconomic model</a:t>
            </a:r>
            <a:r>
              <a:rPr lang="en-US" sz="2000" dirty="0"/>
              <a:t> designed to answer this question.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We find that circular economy policies may </a:t>
            </a:r>
            <a:r>
              <a:rPr lang="en-US" sz="2000" u="sng" dirty="0"/>
              <a:t>backfire,</a:t>
            </a:r>
            <a:r>
              <a:rPr lang="en-US" sz="2000" dirty="0"/>
              <a:t> i.e. they may increase primary material use.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Our focus is the </a:t>
            </a:r>
            <a:r>
              <a:rPr lang="en-US" sz="2000" u="sng" dirty="0"/>
              <a:t>Material Rebound Effect</a:t>
            </a:r>
            <a:r>
              <a:rPr lang="en-US" sz="2000" dirty="0"/>
              <a:t> which measures the degree to which the “expected” saving of primary materials are offset by behavioral responses. </a:t>
            </a:r>
          </a:p>
          <a:p>
            <a:pPr marL="342900" indent="-342900">
              <a:buFont typeface="Arial" panose="020B0604020202020204" pitchFamily="34" charset="0"/>
              <a:buChar char="•"/>
            </a:pPr>
            <a:endParaRPr lang="en-US" sz="2000" noProof="0" dirty="0"/>
          </a:p>
          <a:p>
            <a:pPr algn="ctr"/>
            <a:endParaRPr lang="en-US" sz="2000" noProof="0" dirty="0"/>
          </a:p>
        </p:txBody>
      </p:sp>
    </p:spTree>
    <p:extLst>
      <p:ext uri="{BB962C8B-B14F-4D97-AF65-F5344CB8AC3E}">
        <p14:creationId xmlns:p14="http://schemas.microsoft.com/office/powerpoint/2010/main" val="2894736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7</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p:cNvSpPr>
            <a:spLocks noGrp="1"/>
          </p:cNvSpPr>
          <p:nvPr>
            <p:ph type="title"/>
          </p:nvPr>
        </p:nvSpPr>
        <p:spPr>
          <a:xfrm>
            <a:off x="587375" y="619125"/>
            <a:ext cx="7967664" cy="865188"/>
          </a:xfrm>
        </p:spPr>
        <p:txBody>
          <a:bodyPr/>
          <a:lstStyle/>
          <a:p>
            <a:r>
              <a:rPr lang="en-US" dirty="0"/>
              <a:t>Introduction</a:t>
            </a:r>
          </a:p>
        </p:txBody>
      </p:sp>
      <p:pic>
        <p:nvPicPr>
          <p:cNvPr id="38" name="Picture 37"/>
          <p:cNvPicPr>
            <a:picLocks noChangeAspect="1"/>
          </p:cNvPicPr>
          <p:nvPr/>
        </p:nvPicPr>
        <p:blipFill>
          <a:blip r:embed="rId3"/>
          <a:stretch>
            <a:fillRect/>
          </a:stretch>
        </p:blipFill>
        <p:spPr>
          <a:xfrm>
            <a:off x="460374" y="2865215"/>
            <a:ext cx="2836201" cy="783788"/>
          </a:xfrm>
          <a:prstGeom prst="rect">
            <a:avLst/>
          </a:prstGeom>
        </p:spPr>
      </p:pic>
      <p:pic>
        <p:nvPicPr>
          <p:cNvPr id="40" name="Picture 39"/>
          <p:cNvPicPr>
            <a:picLocks noChangeAspect="1"/>
          </p:cNvPicPr>
          <p:nvPr/>
        </p:nvPicPr>
        <p:blipFill>
          <a:blip r:embed="rId4"/>
          <a:stretch>
            <a:fillRect/>
          </a:stretch>
        </p:blipFill>
        <p:spPr>
          <a:xfrm>
            <a:off x="512729" y="3617701"/>
            <a:ext cx="2455915" cy="1719141"/>
          </a:xfrm>
          <a:prstGeom prst="rect">
            <a:avLst/>
          </a:prstGeom>
        </p:spPr>
      </p:pic>
      <p:pic>
        <p:nvPicPr>
          <p:cNvPr id="41" name="Picture 20" descr="Commercial consumers isometric peop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9658" y="3165081"/>
            <a:ext cx="1972621" cy="147473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p:cNvPicPr>
            <a:picLocks noChangeAspect="1"/>
          </p:cNvPicPr>
          <p:nvPr/>
        </p:nvPicPr>
        <p:blipFill>
          <a:blip r:embed="rId6"/>
          <a:stretch>
            <a:fillRect/>
          </a:stretch>
        </p:blipFill>
        <p:spPr>
          <a:xfrm>
            <a:off x="3779189" y="5247959"/>
            <a:ext cx="2463658" cy="810595"/>
          </a:xfrm>
          <a:prstGeom prst="rect">
            <a:avLst/>
          </a:prstGeom>
        </p:spPr>
      </p:pic>
      <p:pic>
        <p:nvPicPr>
          <p:cNvPr id="43" name="Picture 42"/>
          <p:cNvPicPr>
            <a:picLocks noChangeAspect="1"/>
          </p:cNvPicPr>
          <p:nvPr/>
        </p:nvPicPr>
        <p:blipFill>
          <a:blip r:embed="rId7"/>
          <a:stretch>
            <a:fillRect/>
          </a:stretch>
        </p:blipFill>
        <p:spPr>
          <a:xfrm>
            <a:off x="4111018" y="2021313"/>
            <a:ext cx="900000" cy="706885"/>
          </a:xfrm>
          <a:prstGeom prst="rect">
            <a:avLst/>
          </a:prstGeom>
        </p:spPr>
      </p:pic>
      <p:pic>
        <p:nvPicPr>
          <p:cNvPr id="44" name="Picture 43"/>
          <p:cNvPicPr>
            <a:picLocks noChangeAspect="1"/>
          </p:cNvPicPr>
          <p:nvPr/>
        </p:nvPicPr>
        <p:blipFill>
          <a:blip r:embed="rId8"/>
          <a:stretch>
            <a:fillRect/>
          </a:stretch>
        </p:blipFill>
        <p:spPr>
          <a:xfrm>
            <a:off x="4111018" y="3082929"/>
            <a:ext cx="900000" cy="707410"/>
          </a:xfrm>
          <a:prstGeom prst="rect">
            <a:avLst/>
          </a:prstGeom>
        </p:spPr>
      </p:pic>
      <p:pic>
        <p:nvPicPr>
          <p:cNvPr id="46" name="Picture 45"/>
          <p:cNvPicPr>
            <a:picLocks noChangeAspect="1"/>
          </p:cNvPicPr>
          <p:nvPr/>
        </p:nvPicPr>
        <p:blipFill>
          <a:blip r:embed="rId9"/>
          <a:stretch>
            <a:fillRect/>
          </a:stretch>
        </p:blipFill>
        <p:spPr>
          <a:xfrm>
            <a:off x="4111018" y="4121084"/>
            <a:ext cx="900000" cy="779463"/>
          </a:xfrm>
          <a:prstGeom prst="rect">
            <a:avLst/>
          </a:prstGeom>
        </p:spPr>
      </p:pic>
      <p:sp>
        <p:nvSpPr>
          <p:cNvPr id="63" name="Rounded Rectangle 62"/>
          <p:cNvSpPr/>
          <p:nvPr/>
        </p:nvSpPr>
        <p:spPr>
          <a:xfrm>
            <a:off x="303817" y="2728199"/>
            <a:ext cx="2992757" cy="2608644"/>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89" name="TextBox 88"/>
          <p:cNvSpPr txBox="1"/>
          <p:nvPr/>
        </p:nvSpPr>
        <p:spPr>
          <a:xfrm>
            <a:off x="812387" y="2386109"/>
            <a:ext cx="2021707" cy="276999"/>
          </a:xfrm>
          <a:prstGeom prst="rect">
            <a:avLst/>
          </a:prstGeom>
          <a:noFill/>
        </p:spPr>
        <p:txBody>
          <a:bodyPr wrap="none" rtlCol="0">
            <a:spAutoFit/>
          </a:bodyPr>
          <a:lstStyle/>
          <a:p>
            <a:r>
              <a:rPr lang="en-US" sz="1200" b="1" u="sng" dirty="0" err="1"/>
              <a:t>Labour</a:t>
            </a:r>
            <a:r>
              <a:rPr lang="en-US" sz="1200" b="1" u="sng" dirty="0"/>
              <a:t> and capital inputs</a:t>
            </a:r>
          </a:p>
        </p:txBody>
      </p:sp>
      <p:sp>
        <p:nvSpPr>
          <p:cNvPr id="90" name="Rounded Rectangle 89"/>
          <p:cNvSpPr/>
          <p:nvPr/>
        </p:nvSpPr>
        <p:spPr>
          <a:xfrm>
            <a:off x="3483992" y="1952786"/>
            <a:ext cx="2992757" cy="4298723"/>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1" name="TextBox 90"/>
          <p:cNvSpPr txBox="1"/>
          <p:nvPr/>
        </p:nvSpPr>
        <p:spPr>
          <a:xfrm>
            <a:off x="4149052" y="1633994"/>
            <a:ext cx="1534394" cy="276999"/>
          </a:xfrm>
          <a:prstGeom prst="rect">
            <a:avLst/>
          </a:prstGeom>
          <a:noFill/>
        </p:spPr>
        <p:txBody>
          <a:bodyPr wrap="none" rtlCol="0">
            <a:spAutoFit/>
          </a:bodyPr>
          <a:lstStyle/>
          <a:p>
            <a:r>
              <a:rPr lang="en-US" sz="1200" b="1" u="sng" dirty="0"/>
              <a:t>Production sectors</a:t>
            </a:r>
          </a:p>
        </p:txBody>
      </p:sp>
      <p:sp>
        <p:nvSpPr>
          <p:cNvPr id="92" name="Rounded Rectangle 91"/>
          <p:cNvSpPr/>
          <p:nvPr/>
        </p:nvSpPr>
        <p:spPr>
          <a:xfrm>
            <a:off x="6825915" y="3044612"/>
            <a:ext cx="2162575" cy="1776204"/>
          </a:xfrm>
          <a:prstGeom prst="round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93" name="TextBox 92"/>
          <p:cNvSpPr txBox="1"/>
          <p:nvPr/>
        </p:nvSpPr>
        <p:spPr>
          <a:xfrm>
            <a:off x="7389678" y="2670102"/>
            <a:ext cx="981359" cy="276999"/>
          </a:xfrm>
          <a:prstGeom prst="rect">
            <a:avLst/>
          </a:prstGeom>
          <a:noFill/>
        </p:spPr>
        <p:txBody>
          <a:bodyPr wrap="none" rtlCol="0">
            <a:spAutoFit/>
          </a:bodyPr>
          <a:lstStyle/>
          <a:p>
            <a:r>
              <a:rPr lang="en-US" sz="1200" b="1" u="sng" dirty="0"/>
              <a:t>Consumers</a:t>
            </a:r>
          </a:p>
        </p:txBody>
      </p:sp>
      <p:sp>
        <p:nvSpPr>
          <p:cNvPr id="3" name="TextBox 2">
            <a:extLst>
              <a:ext uri="{FF2B5EF4-FFF2-40B4-BE49-F238E27FC236}">
                <a16:creationId xmlns:a16="http://schemas.microsoft.com/office/drawing/2014/main" id="{765B2255-D465-0162-EB81-A4D836628E45}"/>
              </a:ext>
            </a:extLst>
          </p:cNvPr>
          <p:cNvSpPr txBox="1"/>
          <p:nvPr/>
        </p:nvSpPr>
        <p:spPr>
          <a:xfrm>
            <a:off x="508409" y="1051323"/>
            <a:ext cx="4062331" cy="400110"/>
          </a:xfrm>
          <a:prstGeom prst="rect">
            <a:avLst/>
          </a:prstGeom>
          <a:noFill/>
        </p:spPr>
        <p:txBody>
          <a:bodyPr wrap="none" rtlCol="0">
            <a:spAutoFit/>
          </a:bodyPr>
          <a:lstStyle/>
          <a:p>
            <a:r>
              <a:rPr lang="en-US" sz="2000" b="1" dirty="0"/>
              <a:t>A typical macroeconomic model</a:t>
            </a:r>
          </a:p>
        </p:txBody>
      </p:sp>
    </p:spTree>
    <p:extLst>
      <p:ext uri="{BB962C8B-B14F-4D97-AF65-F5344CB8AC3E}">
        <p14:creationId xmlns:p14="http://schemas.microsoft.com/office/powerpoint/2010/main" val="63611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8</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p:cNvSpPr>
            <a:spLocks noGrp="1"/>
          </p:cNvSpPr>
          <p:nvPr>
            <p:ph type="title"/>
          </p:nvPr>
        </p:nvSpPr>
        <p:spPr>
          <a:xfrm>
            <a:off x="587375" y="619125"/>
            <a:ext cx="7967664" cy="865188"/>
          </a:xfrm>
        </p:spPr>
        <p:txBody>
          <a:bodyPr/>
          <a:lstStyle/>
          <a:p>
            <a:r>
              <a:rPr lang="en-US" dirty="0"/>
              <a:t>Introduction</a:t>
            </a:r>
          </a:p>
        </p:txBody>
      </p:sp>
      <p:pic>
        <p:nvPicPr>
          <p:cNvPr id="38" name="Picture 37"/>
          <p:cNvPicPr>
            <a:picLocks noChangeAspect="1"/>
          </p:cNvPicPr>
          <p:nvPr/>
        </p:nvPicPr>
        <p:blipFill>
          <a:blip r:embed="rId3"/>
          <a:stretch>
            <a:fillRect/>
          </a:stretch>
        </p:blipFill>
        <p:spPr>
          <a:xfrm>
            <a:off x="460374" y="2865215"/>
            <a:ext cx="2836201" cy="783788"/>
          </a:xfrm>
          <a:prstGeom prst="rect">
            <a:avLst/>
          </a:prstGeom>
        </p:spPr>
      </p:pic>
      <p:pic>
        <p:nvPicPr>
          <p:cNvPr id="40" name="Picture 39"/>
          <p:cNvPicPr>
            <a:picLocks noChangeAspect="1"/>
          </p:cNvPicPr>
          <p:nvPr/>
        </p:nvPicPr>
        <p:blipFill>
          <a:blip r:embed="rId4"/>
          <a:stretch>
            <a:fillRect/>
          </a:stretch>
        </p:blipFill>
        <p:spPr>
          <a:xfrm>
            <a:off x="512729" y="3617701"/>
            <a:ext cx="2455915" cy="1719141"/>
          </a:xfrm>
          <a:prstGeom prst="rect">
            <a:avLst/>
          </a:prstGeom>
        </p:spPr>
      </p:pic>
      <p:pic>
        <p:nvPicPr>
          <p:cNvPr id="41" name="Picture 20" descr="Commercial consumers isometric peop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9658" y="3165081"/>
            <a:ext cx="1972621" cy="147473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p:cNvPicPr>
            <a:picLocks noChangeAspect="1"/>
          </p:cNvPicPr>
          <p:nvPr/>
        </p:nvPicPr>
        <p:blipFill>
          <a:blip r:embed="rId6"/>
          <a:stretch>
            <a:fillRect/>
          </a:stretch>
        </p:blipFill>
        <p:spPr>
          <a:xfrm>
            <a:off x="3779189" y="5247959"/>
            <a:ext cx="2463658" cy="810595"/>
          </a:xfrm>
          <a:prstGeom prst="rect">
            <a:avLst/>
          </a:prstGeom>
        </p:spPr>
      </p:pic>
      <p:pic>
        <p:nvPicPr>
          <p:cNvPr id="43" name="Picture 42"/>
          <p:cNvPicPr>
            <a:picLocks noChangeAspect="1"/>
          </p:cNvPicPr>
          <p:nvPr/>
        </p:nvPicPr>
        <p:blipFill>
          <a:blip r:embed="rId7"/>
          <a:stretch>
            <a:fillRect/>
          </a:stretch>
        </p:blipFill>
        <p:spPr>
          <a:xfrm>
            <a:off x="4111018" y="2021313"/>
            <a:ext cx="900000" cy="706885"/>
          </a:xfrm>
          <a:prstGeom prst="rect">
            <a:avLst/>
          </a:prstGeom>
        </p:spPr>
      </p:pic>
      <p:pic>
        <p:nvPicPr>
          <p:cNvPr id="44" name="Picture 43"/>
          <p:cNvPicPr>
            <a:picLocks noChangeAspect="1"/>
          </p:cNvPicPr>
          <p:nvPr/>
        </p:nvPicPr>
        <p:blipFill>
          <a:blip r:embed="rId8"/>
          <a:stretch>
            <a:fillRect/>
          </a:stretch>
        </p:blipFill>
        <p:spPr>
          <a:xfrm>
            <a:off x="4111018" y="3082929"/>
            <a:ext cx="900000" cy="707410"/>
          </a:xfrm>
          <a:prstGeom prst="rect">
            <a:avLst/>
          </a:prstGeom>
        </p:spPr>
      </p:pic>
      <p:pic>
        <p:nvPicPr>
          <p:cNvPr id="46" name="Picture 45"/>
          <p:cNvPicPr>
            <a:picLocks noChangeAspect="1"/>
          </p:cNvPicPr>
          <p:nvPr/>
        </p:nvPicPr>
        <p:blipFill>
          <a:blip r:embed="rId9"/>
          <a:stretch>
            <a:fillRect/>
          </a:stretch>
        </p:blipFill>
        <p:spPr>
          <a:xfrm>
            <a:off x="4111018" y="4121084"/>
            <a:ext cx="900000" cy="779463"/>
          </a:xfrm>
          <a:prstGeom prst="rect">
            <a:avLst/>
          </a:prstGeom>
        </p:spPr>
      </p:pic>
      <p:sp>
        <p:nvSpPr>
          <p:cNvPr id="89" name="TextBox 88"/>
          <p:cNvSpPr txBox="1"/>
          <p:nvPr/>
        </p:nvSpPr>
        <p:spPr>
          <a:xfrm>
            <a:off x="812387" y="2386109"/>
            <a:ext cx="2021707" cy="276999"/>
          </a:xfrm>
          <a:prstGeom prst="rect">
            <a:avLst/>
          </a:prstGeom>
          <a:noFill/>
        </p:spPr>
        <p:txBody>
          <a:bodyPr wrap="none" rtlCol="0">
            <a:spAutoFit/>
          </a:bodyPr>
          <a:lstStyle/>
          <a:p>
            <a:r>
              <a:rPr lang="en-US" sz="1200" b="1" u="sng" dirty="0" err="1"/>
              <a:t>Labour</a:t>
            </a:r>
            <a:r>
              <a:rPr lang="en-US" sz="1200" b="1" u="sng" dirty="0"/>
              <a:t> and capital inputs</a:t>
            </a:r>
          </a:p>
        </p:txBody>
      </p:sp>
      <p:sp>
        <p:nvSpPr>
          <p:cNvPr id="91" name="TextBox 90"/>
          <p:cNvSpPr txBox="1"/>
          <p:nvPr/>
        </p:nvSpPr>
        <p:spPr>
          <a:xfrm>
            <a:off x="4149052" y="1633994"/>
            <a:ext cx="1534394" cy="276999"/>
          </a:xfrm>
          <a:prstGeom prst="rect">
            <a:avLst/>
          </a:prstGeom>
          <a:noFill/>
        </p:spPr>
        <p:txBody>
          <a:bodyPr wrap="none" rtlCol="0">
            <a:spAutoFit/>
          </a:bodyPr>
          <a:lstStyle/>
          <a:p>
            <a:r>
              <a:rPr lang="en-US" sz="1200" b="1" u="sng" dirty="0"/>
              <a:t>Production sectors</a:t>
            </a:r>
          </a:p>
        </p:txBody>
      </p:sp>
      <p:sp>
        <p:nvSpPr>
          <p:cNvPr id="93" name="TextBox 92"/>
          <p:cNvSpPr txBox="1"/>
          <p:nvPr/>
        </p:nvSpPr>
        <p:spPr>
          <a:xfrm>
            <a:off x="7389678" y="2670102"/>
            <a:ext cx="981359" cy="276999"/>
          </a:xfrm>
          <a:prstGeom prst="rect">
            <a:avLst/>
          </a:prstGeom>
          <a:noFill/>
        </p:spPr>
        <p:txBody>
          <a:bodyPr wrap="none" rtlCol="0">
            <a:spAutoFit/>
          </a:bodyPr>
          <a:lstStyle/>
          <a:p>
            <a:r>
              <a:rPr lang="en-US" sz="1200" b="1" u="sng" dirty="0"/>
              <a:t>Consumers</a:t>
            </a:r>
          </a:p>
        </p:txBody>
      </p:sp>
      <p:sp>
        <p:nvSpPr>
          <p:cNvPr id="19" name="Oval 18"/>
          <p:cNvSpPr/>
          <p:nvPr/>
        </p:nvSpPr>
        <p:spPr>
          <a:xfrm>
            <a:off x="3988760" y="1934803"/>
            <a:ext cx="1144515" cy="954222"/>
          </a:xfrm>
          <a:prstGeom prst="ellipse">
            <a:avLst/>
          </a:prstGeom>
          <a:noFill/>
          <a:ln w="28575">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3" name="TextBox 2">
            <a:extLst>
              <a:ext uri="{FF2B5EF4-FFF2-40B4-BE49-F238E27FC236}">
                <a16:creationId xmlns:a16="http://schemas.microsoft.com/office/drawing/2014/main" id="{3DCE4B64-4D11-285D-F87D-D0AC1E86D32E}"/>
              </a:ext>
            </a:extLst>
          </p:cNvPr>
          <p:cNvSpPr txBox="1"/>
          <p:nvPr/>
        </p:nvSpPr>
        <p:spPr>
          <a:xfrm>
            <a:off x="508409" y="1051323"/>
            <a:ext cx="4062331" cy="400110"/>
          </a:xfrm>
          <a:prstGeom prst="rect">
            <a:avLst/>
          </a:prstGeom>
          <a:noFill/>
        </p:spPr>
        <p:txBody>
          <a:bodyPr wrap="none" rtlCol="0">
            <a:spAutoFit/>
          </a:bodyPr>
          <a:lstStyle/>
          <a:p>
            <a:r>
              <a:rPr lang="en-US" sz="2000" b="1" dirty="0"/>
              <a:t>A typical macroeconomic model</a:t>
            </a:r>
          </a:p>
        </p:txBody>
      </p:sp>
    </p:spTree>
    <p:extLst>
      <p:ext uri="{BB962C8B-B14F-4D97-AF65-F5344CB8AC3E}">
        <p14:creationId xmlns:p14="http://schemas.microsoft.com/office/powerpoint/2010/main" val="147764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9</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p:cNvSpPr>
            <a:spLocks noGrp="1"/>
          </p:cNvSpPr>
          <p:nvPr>
            <p:ph type="title"/>
          </p:nvPr>
        </p:nvSpPr>
        <p:spPr>
          <a:xfrm>
            <a:off x="587375" y="619125"/>
            <a:ext cx="7967664" cy="865188"/>
          </a:xfrm>
        </p:spPr>
        <p:txBody>
          <a:bodyPr/>
          <a:lstStyle/>
          <a:p>
            <a:r>
              <a:rPr lang="en-US" dirty="0"/>
              <a:t>Introduction</a:t>
            </a:r>
          </a:p>
        </p:txBody>
      </p:sp>
      <p:pic>
        <p:nvPicPr>
          <p:cNvPr id="38" name="Picture 37"/>
          <p:cNvPicPr>
            <a:picLocks noChangeAspect="1"/>
          </p:cNvPicPr>
          <p:nvPr/>
        </p:nvPicPr>
        <p:blipFill>
          <a:blip r:embed="rId3"/>
          <a:stretch>
            <a:fillRect/>
          </a:stretch>
        </p:blipFill>
        <p:spPr>
          <a:xfrm>
            <a:off x="460374" y="2865215"/>
            <a:ext cx="2836201" cy="783788"/>
          </a:xfrm>
          <a:prstGeom prst="rect">
            <a:avLst/>
          </a:prstGeom>
        </p:spPr>
      </p:pic>
      <p:pic>
        <p:nvPicPr>
          <p:cNvPr id="40" name="Picture 39"/>
          <p:cNvPicPr>
            <a:picLocks noChangeAspect="1"/>
          </p:cNvPicPr>
          <p:nvPr/>
        </p:nvPicPr>
        <p:blipFill>
          <a:blip r:embed="rId4"/>
          <a:stretch>
            <a:fillRect/>
          </a:stretch>
        </p:blipFill>
        <p:spPr>
          <a:xfrm>
            <a:off x="512729" y="3617701"/>
            <a:ext cx="2455915" cy="1719141"/>
          </a:xfrm>
          <a:prstGeom prst="rect">
            <a:avLst/>
          </a:prstGeom>
        </p:spPr>
      </p:pic>
      <p:pic>
        <p:nvPicPr>
          <p:cNvPr id="41" name="Picture 20" descr="Commercial consumers isometric peop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9658" y="3165081"/>
            <a:ext cx="1972621" cy="147473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p:cNvPicPr>
            <a:picLocks noChangeAspect="1"/>
          </p:cNvPicPr>
          <p:nvPr/>
        </p:nvPicPr>
        <p:blipFill>
          <a:blip r:embed="rId6"/>
          <a:stretch>
            <a:fillRect/>
          </a:stretch>
        </p:blipFill>
        <p:spPr>
          <a:xfrm>
            <a:off x="3779189" y="5247959"/>
            <a:ext cx="2463658" cy="810595"/>
          </a:xfrm>
          <a:prstGeom prst="rect">
            <a:avLst/>
          </a:prstGeom>
        </p:spPr>
      </p:pic>
      <p:pic>
        <p:nvPicPr>
          <p:cNvPr id="43" name="Picture 42"/>
          <p:cNvPicPr>
            <a:picLocks noChangeAspect="1"/>
          </p:cNvPicPr>
          <p:nvPr/>
        </p:nvPicPr>
        <p:blipFill>
          <a:blip r:embed="rId7"/>
          <a:stretch>
            <a:fillRect/>
          </a:stretch>
        </p:blipFill>
        <p:spPr>
          <a:xfrm>
            <a:off x="4111018" y="2021313"/>
            <a:ext cx="900000" cy="706885"/>
          </a:xfrm>
          <a:prstGeom prst="rect">
            <a:avLst/>
          </a:prstGeom>
        </p:spPr>
      </p:pic>
      <p:pic>
        <p:nvPicPr>
          <p:cNvPr id="44" name="Picture 43"/>
          <p:cNvPicPr>
            <a:picLocks noChangeAspect="1"/>
          </p:cNvPicPr>
          <p:nvPr/>
        </p:nvPicPr>
        <p:blipFill>
          <a:blip r:embed="rId8"/>
          <a:stretch>
            <a:fillRect/>
          </a:stretch>
        </p:blipFill>
        <p:spPr>
          <a:xfrm>
            <a:off x="4111018" y="3082929"/>
            <a:ext cx="900000" cy="707410"/>
          </a:xfrm>
          <a:prstGeom prst="rect">
            <a:avLst/>
          </a:prstGeom>
        </p:spPr>
      </p:pic>
      <p:pic>
        <p:nvPicPr>
          <p:cNvPr id="46" name="Picture 45"/>
          <p:cNvPicPr>
            <a:picLocks noChangeAspect="1"/>
          </p:cNvPicPr>
          <p:nvPr/>
        </p:nvPicPr>
        <p:blipFill>
          <a:blip r:embed="rId9"/>
          <a:stretch>
            <a:fillRect/>
          </a:stretch>
        </p:blipFill>
        <p:spPr>
          <a:xfrm>
            <a:off x="4111018" y="4121084"/>
            <a:ext cx="900000" cy="779463"/>
          </a:xfrm>
          <a:prstGeom prst="rect">
            <a:avLst/>
          </a:prstGeom>
        </p:spPr>
      </p:pic>
      <p:sp>
        <p:nvSpPr>
          <p:cNvPr id="89" name="TextBox 88"/>
          <p:cNvSpPr txBox="1"/>
          <p:nvPr/>
        </p:nvSpPr>
        <p:spPr>
          <a:xfrm>
            <a:off x="812387" y="2386109"/>
            <a:ext cx="2021707" cy="276999"/>
          </a:xfrm>
          <a:prstGeom prst="rect">
            <a:avLst/>
          </a:prstGeom>
          <a:noFill/>
        </p:spPr>
        <p:txBody>
          <a:bodyPr wrap="none" rtlCol="0">
            <a:spAutoFit/>
          </a:bodyPr>
          <a:lstStyle/>
          <a:p>
            <a:r>
              <a:rPr lang="en-US" sz="1200" b="1" u="sng" dirty="0" err="1"/>
              <a:t>Labour</a:t>
            </a:r>
            <a:r>
              <a:rPr lang="en-US" sz="1200" b="1" u="sng" dirty="0"/>
              <a:t> and capital inputs</a:t>
            </a:r>
          </a:p>
        </p:txBody>
      </p:sp>
      <p:sp>
        <p:nvSpPr>
          <p:cNvPr id="91" name="TextBox 90"/>
          <p:cNvSpPr txBox="1"/>
          <p:nvPr/>
        </p:nvSpPr>
        <p:spPr>
          <a:xfrm>
            <a:off x="4149052" y="1633994"/>
            <a:ext cx="1534394" cy="276999"/>
          </a:xfrm>
          <a:prstGeom prst="rect">
            <a:avLst/>
          </a:prstGeom>
          <a:noFill/>
        </p:spPr>
        <p:txBody>
          <a:bodyPr wrap="none" rtlCol="0">
            <a:spAutoFit/>
          </a:bodyPr>
          <a:lstStyle/>
          <a:p>
            <a:r>
              <a:rPr lang="en-US" sz="1200" b="1" u="sng" dirty="0"/>
              <a:t>Production sectors</a:t>
            </a:r>
          </a:p>
        </p:txBody>
      </p:sp>
      <p:sp>
        <p:nvSpPr>
          <p:cNvPr id="93" name="TextBox 92"/>
          <p:cNvSpPr txBox="1"/>
          <p:nvPr/>
        </p:nvSpPr>
        <p:spPr>
          <a:xfrm>
            <a:off x="7389678" y="2670102"/>
            <a:ext cx="981359" cy="276999"/>
          </a:xfrm>
          <a:prstGeom prst="rect">
            <a:avLst/>
          </a:prstGeom>
          <a:noFill/>
        </p:spPr>
        <p:txBody>
          <a:bodyPr wrap="none" rtlCol="0">
            <a:spAutoFit/>
          </a:bodyPr>
          <a:lstStyle/>
          <a:p>
            <a:r>
              <a:rPr lang="en-US" sz="1200" b="1" u="sng" dirty="0"/>
              <a:t>Consumers</a:t>
            </a:r>
          </a:p>
        </p:txBody>
      </p:sp>
      <p:cxnSp>
        <p:nvCxnSpPr>
          <p:cNvPr id="17" name="Straight Arrow Connector 16"/>
          <p:cNvCxnSpPr/>
          <p:nvPr/>
        </p:nvCxnSpPr>
        <p:spPr>
          <a:xfrm flipV="1">
            <a:off x="3296575" y="2631544"/>
            <a:ext cx="775525" cy="625565"/>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8" name="Freeform 17"/>
          <p:cNvSpPr/>
          <p:nvPr/>
        </p:nvSpPr>
        <p:spPr>
          <a:xfrm>
            <a:off x="3664748" y="3192949"/>
            <a:ext cx="445115" cy="1530221"/>
          </a:xfrm>
          <a:custGeom>
            <a:avLst/>
            <a:gdLst>
              <a:gd name="connsiteX0" fmla="*/ 445115 w 445115"/>
              <a:gd name="connsiteY0" fmla="*/ 0 h 1530221"/>
              <a:gd name="connsiteX1" fmla="*/ 308266 w 445115"/>
              <a:gd name="connsiteY1" fmla="*/ 255037 h 1530221"/>
              <a:gd name="connsiteX2" fmla="*/ 65670 w 445115"/>
              <a:gd name="connsiteY2" fmla="*/ 709127 h 1530221"/>
              <a:gd name="connsiteX3" fmla="*/ 28348 w 445115"/>
              <a:gd name="connsiteY3" fmla="*/ 1101013 h 1530221"/>
              <a:gd name="connsiteX4" fmla="*/ 438895 w 445115"/>
              <a:gd name="connsiteY4" fmla="*/ 1530221 h 1530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15" h="1530221">
                <a:moveTo>
                  <a:pt x="445115" y="0"/>
                </a:moveTo>
                <a:lnTo>
                  <a:pt x="308266" y="255037"/>
                </a:lnTo>
                <a:cubicBezTo>
                  <a:pt x="245025" y="373225"/>
                  <a:pt x="112323" y="568131"/>
                  <a:pt x="65670" y="709127"/>
                </a:cubicBezTo>
                <a:cubicBezTo>
                  <a:pt x="19017" y="850123"/>
                  <a:pt x="-33856" y="964164"/>
                  <a:pt x="28348" y="1101013"/>
                </a:cubicBezTo>
                <a:cubicBezTo>
                  <a:pt x="90552" y="1237862"/>
                  <a:pt x="264723" y="1384041"/>
                  <a:pt x="438895" y="1530221"/>
                </a:cubicBezTo>
              </a:path>
            </a:pathLst>
          </a:custGeom>
          <a:noFill/>
          <a:ln w="12700">
            <a:solidFill>
              <a:schemeClr val="accent4"/>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19"/>
          <p:cNvSpPr/>
          <p:nvPr/>
        </p:nvSpPr>
        <p:spPr>
          <a:xfrm>
            <a:off x="3627895" y="3671921"/>
            <a:ext cx="314017" cy="1847461"/>
          </a:xfrm>
          <a:custGeom>
            <a:avLst/>
            <a:gdLst>
              <a:gd name="connsiteX0" fmla="*/ 214491 w 314017"/>
              <a:gd name="connsiteY0" fmla="*/ 0 h 1847461"/>
              <a:gd name="connsiteX1" fmla="*/ 77642 w 314017"/>
              <a:gd name="connsiteY1" fmla="*/ 286139 h 1847461"/>
              <a:gd name="connsiteX2" fmla="*/ 27879 w 314017"/>
              <a:gd name="connsiteY2" fmla="*/ 516294 h 1847461"/>
              <a:gd name="connsiteX3" fmla="*/ 21658 w 314017"/>
              <a:gd name="connsiteY3" fmla="*/ 1306286 h 1847461"/>
              <a:gd name="connsiteX4" fmla="*/ 314017 w 314017"/>
              <a:gd name="connsiteY4" fmla="*/ 1847461 h 1847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17" h="1847461">
                <a:moveTo>
                  <a:pt x="214491" y="0"/>
                </a:moveTo>
                <a:cubicBezTo>
                  <a:pt x="161617" y="100045"/>
                  <a:pt x="108744" y="200090"/>
                  <a:pt x="77642" y="286139"/>
                </a:cubicBezTo>
                <a:cubicBezTo>
                  <a:pt x="46540" y="372188"/>
                  <a:pt x="37210" y="346269"/>
                  <a:pt x="27879" y="516294"/>
                </a:cubicBezTo>
                <a:cubicBezTo>
                  <a:pt x="18548" y="686319"/>
                  <a:pt x="-26032" y="1084425"/>
                  <a:pt x="21658" y="1306286"/>
                </a:cubicBezTo>
                <a:cubicBezTo>
                  <a:pt x="69348" y="1528147"/>
                  <a:pt x="191682" y="1687804"/>
                  <a:pt x="314017" y="1847461"/>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p:cNvCxnSpPr/>
          <p:nvPr/>
        </p:nvCxnSpPr>
        <p:spPr>
          <a:xfrm flipV="1">
            <a:off x="2776658" y="2783945"/>
            <a:ext cx="1370177" cy="1375442"/>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137469" y="2518131"/>
            <a:ext cx="659155" cy="338554"/>
          </a:xfrm>
          <a:prstGeom prst="rect">
            <a:avLst/>
          </a:prstGeom>
          <a:noFill/>
        </p:spPr>
        <p:txBody>
          <a:bodyPr wrap="none" rtlCol="0">
            <a:spAutoFit/>
          </a:bodyPr>
          <a:lstStyle/>
          <a:p>
            <a:r>
              <a:rPr lang="en-US" sz="1600" dirty="0">
                <a:solidFill>
                  <a:schemeClr val="accent4"/>
                </a:solidFill>
              </a:rPr>
              <a:t>Input</a:t>
            </a:r>
          </a:p>
        </p:txBody>
      </p:sp>
      <p:sp>
        <p:nvSpPr>
          <p:cNvPr id="3" name="TextBox 2">
            <a:extLst>
              <a:ext uri="{FF2B5EF4-FFF2-40B4-BE49-F238E27FC236}">
                <a16:creationId xmlns:a16="http://schemas.microsoft.com/office/drawing/2014/main" id="{6FBC7B46-705D-FD1B-1D40-56F2C58F5D1A}"/>
              </a:ext>
            </a:extLst>
          </p:cNvPr>
          <p:cNvSpPr txBox="1"/>
          <p:nvPr/>
        </p:nvSpPr>
        <p:spPr>
          <a:xfrm>
            <a:off x="508409" y="1051323"/>
            <a:ext cx="4062331" cy="400110"/>
          </a:xfrm>
          <a:prstGeom prst="rect">
            <a:avLst/>
          </a:prstGeom>
          <a:noFill/>
        </p:spPr>
        <p:txBody>
          <a:bodyPr wrap="none" rtlCol="0">
            <a:spAutoFit/>
          </a:bodyPr>
          <a:lstStyle/>
          <a:p>
            <a:r>
              <a:rPr lang="en-US" sz="2000" b="1" dirty="0"/>
              <a:t>A typical macroeconomic model</a:t>
            </a:r>
          </a:p>
        </p:txBody>
      </p:sp>
    </p:spTree>
    <p:extLst>
      <p:ext uri="{BB962C8B-B14F-4D97-AF65-F5344CB8AC3E}">
        <p14:creationId xmlns:p14="http://schemas.microsoft.com/office/powerpoint/2010/main" val="3750204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10</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p:cNvSpPr>
            <a:spLocks noGrp="1"/>
          </p:cNvSpPr>
          <p:nvPr>
            <p:ph type="title"/>
          </p:nvPr>
        </p:nvSpPr>
        <p:spPr>
          <a:xfrm>
            <a:off x="587375" y="619125"/>
            <a:ext cx="7967664" cy="865188"/>
          </a:xfrm>
        </p:spPr>
        <p:txBody>
          <a:bodyPr/>
          <a:lstStyle/>
          <a:p>
            <a:r>
              <a:rPr lang="en-US" dirty="0"/>
              <a:t>Introduction</a:t>
            </a:r>
          </a:p>
        </p:txBody>
      </p:sp>
      <p:pic>
        <p:nvPicPr>
          <p:cNvPr id="38" name="Picture 37"/>
          <p:cNvPicPr>
            <a:picLocks noChangeAspect="1"/>
          </p:cNvPicPr>
          <p:nvPr/>
        </p:nvPicPr>
        <p:blipFill>
          <a:blip r:embed="rId3"/>
          <a:stretch>
            <a:fillRect/>
          </a:stretch>
        </p:blipFill>
        <p:spPr>
          <a:xfrm>
            <a:off x="460374" y="2865215"/>
            <a:ext cx="2836201" cy="783788"/>
          </a:xfrm>
          <a:prstGeom prst="rect">
            <a:avLst/>
          </a:prstGeom>
        </p:spPr>
      </p:pic>
      <p:pic>
        <p:nvPicPr>
          <p:cNvPr id="40" name="Picture 39"/>
          <p:cNvPicPr>
            <a:picLocks noChangeAspect="1"/>
          </p:cNvPicPr>
          <p:nvPr/>
        </p:nvPicPr>
        <p:blipFill>
          <a:blip r:embed="rId4"/>
          <a:stretch>
            <a:fillRect/>
          </a:stretch>
        </p:blipFill>
        <p:spPr>
          <a:xfrm>
            <a:off x="512729" y="3617701"/>
            <a:ext cx="2455915" cy="1719141"/>
          </a:xfrm>
          <a:prstGeom prst="rect">
            <a:avLst/>
          </a:prstGeom>
        </p:spPr>
      </p:pic>
      <p:pic>
        <p:nvPicPr>
          <p:cNvPr id="41" name="Picture 20" descr="Commercial consumers isometric peop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9658" y="3165081"/>
            <a:ext cx="1972621" cy="147473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p:cNvPicPr>
            <a:picLocks noChangeAspect="1"/>
          </p:cNvPicPr>
          <p:nvPr/>
        </p:nvPicPr>
        <p:blipFill>
          <a:blip r:embed="rId6"/>
          <a:stretch>
            <a:fillRect/>
          </a:stretch>
        </p:blipFill>
        <p:spPr>
          <a:xfrm>
            <a:off x="3779189" y="5247959"/>
            <a:ext cx="2463658" cy="810595"/>
          </a:xfrm>
          <a:prstGeom prst="rect">
            <a:avLst/>
          </a:prstGeom>
        </p:spPr>
      </p:pic>
      <p:pic>
        <p:nvPicPr>
          <p:cNvPr id="43" name="Picture 42"/>
          <p:cNvPicPr>
            <a:picLocks noChangeAspect="1"/>
          </p:cNvPicPr>
          <p:nvPr/>
        </p:nvPicPr>
        <p:blipFill>
          <a:blip r:embed="rId7"/>
          <a:stretch>
            <a:fillRect/>
          </a:stretch>
        </p:blipFill>
        <p:spPr>
          <a:xfrm>
            <a:off x="4111018" y="2021313"/>
            <a:ext cx="900000" cy="706885"/>
          </a:xfrm>
          <a:prstGeom prst="rect">
            <a:avLst/>
          </a:prstGeom>
        </p:spPr>
      </p:pic>
      <p:pic>
        <p:nvPicPr>
          <p:cNvPr id="44" name="Picture 43"/>
          <p:cNvPicPr>
            <a:picLocks noChangeAspect="1"/>
          </p:cNvPicPr>
          <p:nvPr/>
        </p:nvPicPr>
        <p:blipFill>
          <a:blip r:embed="rId8"/>
          <a:stretch>
            <a:fillRect/>
          </a:stretch>
        </p:blipFill>
        <p:spPr>
          <a:xfrm>
            <a:off x="4111018" y="3082929"/>
            <a:ext cx="900000" cy="707410"/>
          </a:xfrm>
          <a:prstGeom prst="rect">
            <a:avLst/>
          </a:prstGeom>
        </p:spPr>
      </p:pic>
      <p:pic>
        <p:nvPicPr>
          <p:cNvPr id="46" name="Picture 45"/>
          <p:cNvPicPr>
            <a:picLocks noChangeAspect="1"/>
          </p:cNvPicPr>
          <p:nvPr/>
        </p:nvPicPr>
        <p:blipFill>
          <a:blip r:embed="rId9"/>
          <a:stretch>
            <a:fillRect/>
          </a:stretch>
        </p:blipFill>
        <p:spPr>
          <a:xfrm>
            <a:off x="4111018" y="4121084"/>
            <a:ext cx="900000" cy="779463"/>
          </a:xfrm>
          <a:prstGeom prst="rect">
            <a:avLst/>
          </a:prstGeom>
        </p:spPr>
      </p:pic>
      <p:sp>
        <p:nvSpPr>
          <p:cNvPr id="89" name="TextBox 88"/>
          <p:cNvSpPr txBox="1"/>
          <p:nvPr/>
        </p:nvSpPr>
        <p:spPr>
          <a:xfrm>
            <a:off x="812387" y="2386109"/>
            <a:ext cx="2021707" cy="276999"/>
          </a:xfrm>
          <a:prstGeom prst="rect">
            <a:avLst/>
          </a:prstGeom>
          <a:noFill/>
        </p:spPr>
        <p:txBody>
          <a:bodyPr wrap="none" rtlCol="0">
            <a:spAutoFit/>
          </a:bodyPr>
          <a:lstStyle/>
          <a:p>
            <a:r>
              <a:rPr lang="en-US" sz="1200" b="1" u="sng" dirty="0" err="1"/>
              <a:t>Labour</a:t>
            </a:r>
            <a:r>
              <a:rPr lang="en-US" sz="1200" b="1" u="sng" dirty="0"/>
              <a:t> and capital inputs</a:t>
            </a:r>
          </a:p>
        </p:txBody>
      </p:sp>
      <p:sp>
        <p:nvSpPr>
          <p:cNvPr id="91" name="TextBox 90"/>
          <p:cNvSpPr txBox="1"/>
          <p:nvPr/>
        </p:nvSpPr>
        <p:spPr>
          <a:xfrm>
            <a:off x="4149052" y="1633994"/>
            <a:ext cx="1534394" cy="276999"/>
          </a:xfrm>
          <a:prstGeom prst="rect">
            <a:avLst/>
          </a:prstGeom>
          <a:noFill/>
        </p:spPr>
        <p:txBody>
          <a:bodyPr wrap="none" rtlCol="0">
            <a:spAutoFit/>
          </a:bodyPr>
          <a:lstStyle/>
          <a:p>
            <a:r>
              <a:rPr lang="en-US" sz="1200" b="1" u="sng" dirty="0"/>
              <a:t>Production sectors</a:t>
            </a:r>
          </a:p>
        </p:txBody>
      </p:sp>
      <p:sp>
        <p:nvSpPr>
          <p:cNvPr id="93" name="TextBox 92"/>
          <p:cNvSpPr txBox="1"/>
          <p:nvPr/>
        </p:nvSpPr>
        <p:spPr>
          <a:xfrm>
            <a:off x="7389678" y="2670102"/>
            <a:ext cx="981359" cy="276999"/>
          </a:xfrm>
          <a:prstGeom prst="rect">
            <a:avLst/>
          </a:prstGeom>
          <a:noFill/>
        </p:spPr>
        <p:txBody>
          <a:bodyPr wrap="none" rtlCol="0">
            <a:spAutoFit/>
          </a:bodyPr>
          <a:lstStyle/>
          <a:p>
            <a:r>
              <a:rPr lang="en-US" sz="1200" b="1" u="sng" dirty="0"/>
              <a:t>Consumers</a:t>
            </a:r>
          </a:p>
        </p:txBody>
      </p:sp>
      <p:cxnSp>
        <p:nvCxnSpPr>
          <p:cNvPr id="17" name="Straight Arrow Connector 16"/>
          <p:cNvCxnSpPr/>
          <p:nvPr/>
        </p:nvCxnSpPr>
        <p:spPr>
          <a:xfrm flipV="1">
            <a:off x="3296575" y="2631544"/>
            <a:ext cx="775525" cy="625565"/>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776658" y="2783945"/>
            <a:ext cx="1370177" cy="1375442"/>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137469" y="2518131"/>
            <a:ext cx="659155" cy="338554"/>
          </a:xfrm>
          <a:prstGeom prst="rect">
            <a:avLst/>
          </a:prstGeom>
          <a:noFill/>
        </p:spPr>
        <p:txBody>
          <a:bodyPr wrap="none" rtlCol="0">
            <a:spAutoFit/>
          </a:bodyPr>
          <a:lstStyle/>
          <a:p>
            <a:r>
              <a:rPr lang="en-US" sz="1600" dirty="0">
                <a:solidFill>
                  <a:schemeClr val="accent4"/>
                </a:solidFill>
              </a:rPr>
              <a:t>Input</a:t>
            </a:r>
          </a:p>
        </p:txBody>
      </p:sp>
      <p:sp>
        <p:nvSpPr>
          <p:cNvPr id="23" name="Freeform 22"/>
          <p:cNvSpPr/>
          <p:nvPr/>
        </p:nvSpPr>
        <p:spPr>
          <a:xfrm>
            <a:off x="5018043" y="2496264"/>
            <a:ext cx="623087" cy="1076130"/>
          </a:xfrm>
          <a:custGeom>
            <a:avLst/>
            <a:gdLst>
              <a:gd name="connsiteX0" fmla="*/ 0 w 623087"/>
              <a:gd name="connsiteY0" fmla="*/ 0 h 1076130"/>
              <a:gd name="connsiteX1" fmla="*/ 622041 w 623087"/>
              <a:gd name="connsiteY1" fmla="*/ 503853 h 1076130"/>
              <a:gd name="connsiteX2" fmla="*/ 118188 w 623087"/>
              <a:gd name="connsiteY2" fmla="*/ 1076130 h 1076130"/>
            </a:gdLst>
            <a:ahLst/>
            <a:cxnLst>
              <a:cxn ang="0">
                <a:pos x="connsiteX0" y="connsiteY0"/>
              </a:cxn>
              <a:cxn ang="0">
                <a:pos x="connsiteX1" y="connsiteY1"/>
              </a:cxn>
              <a:cxn ang="0">
                <a:pos x="connsiteX2" y="connsiteY2"/>
              </a:cxn>
            </a:cxnLst>
            <a:rect l="l" t="t" r="r" b="b"/>
            <a:pathLst>
              <a:path w="623087" h="1076130">
                <a:moveTo>
                  <a:pt x="0" y="0"/>
                </a:moveTo>
                <a:cubicBezTo>
                  <a:pt x="301171" y="162249"/>
                  <a:pt x="602343" y="324498"/>
                  <a:pt x="622041" y="503853"/>
                </a:cubicBezTo>
                <a:cubicBezTo>
                  <a:pt x="641739" y="683208"/>
                  <a:pt x="379963" y="879669"/>
                  <a:pt x="118188" y="1076130"/>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Arrow Connector 23"/>
          <p:cNvCxnSpPr/>
          <p:nvPr/>
        </p:nvCxnSpPr>
        <p:spPr>
          <a:xfrm>
            <a:off x="5015413" y="2488608"/>
            <a:ext cx="1619936" cy="7903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Freeform 24"/>
          <p:cNvSpPr/>
          <p:nvPr/>
        </p:nvSpPr>
        <p:spPr>
          <a:xfrm>
            <a:off x="5024264" y="2981455"/>
            <a:ext cx="639749" cy="1480458"/>
          </a:xfrm>
          <a:custGeom>
            <a:avLst/>
            <a:gdLst>
              <a:gd name="connsiteX0" fmla="*/ 615820 w 639749"/>
              <a:gd name="connsiteY0" fmla="*/ 0 h 1480458"/>
              <a:gd name="connsiteX1" fmla="*/ 566057 w 639749"/>
              <a:gd name="connsiteY1" fmla="*/ 895739 h 1480458"/>
              <a:gd name="connsiteX2" fmla="*/ 0 w 639749"/>
              <a:gd name="connsiteY2" fmla="*/ 1480458 h 1480458"/>
            </a:gdLst>
            <a:ahLst/>
            <a:cxnLst>
              <a:cxn ang="0">
                <a:pos x="connsiteX0" y="connsiteY0"/>
              </a:cxn>
              <a:cxn ang="0">
                <a:pos x="connsiteX1" y="connsiteY1"/>
              </a:cxn>
              <a:cxn ang="0">
                <a:pos x="connsiteX2" y="connsiteY2"/>
              </a:cxn>
            </a:cxnLst>
            <a:rect l="l" t="t" r="r" b="b"/>
            <a:pathLst>
              <a:path w="639749" h="1480458">
                <a:moveTo>
                  <a:pt x="615820" y="0"/>
                </a:moveTo>
                <a:cubicBezTo>
                  <a:pt x="642257" y="324498"/>
                  <a:pt x="668694" y="648996"/>
                  <a:pt x="566057" y="895739"/>
                </a:cubicBezTo>
                <a:cubicBezTo>
                  <a:pt x="463420" y="1142482"/>
                  <a:pt x="231710" y="1311470"/>
                  <a:pt x="0" y="1480458"/>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25"/>
          <p:cNvSpPr/>
          <p:nvPr/>
        </p:nvSpPr>
        <p:spPr>
          <a:xfrm>
            <a:off x="5024264" y="2979067"/>
            <a:ext cx="639749" cy="2285278"/>
          </a:xfrm>
          <a:custGeom>
            <a:avLst/>
            <a:gdLst>
              <a:gd name="connsiteX0" fmla="*/ 615820 w 639749"/>
              <a:gd name="connsiteY0" fmla="*/ 0 h 1480458"/>
              <a:gd name="connsiteX1" fmla="*/ 566057 w 639749"/>
              <a:gd name="connsiteY1" fmla="*/ 895739 h 1480458"/>
              <a:gd name="connsiteX2" fmla="*/ 0 w 639749"/>
              <a:gd name="connsiteY2" fmla="*/ 1480458 h 1480458"/>
            </a:gdLst>
            <a:ahLst/>
            <a:cxnLst>
              <a:cxn ang="0">
                <a:pos x="connsiteX0" y="connsiteY0"/>
              </a:cxn>
              <a:cxn ang="0">
                <a:pos x="connsiteX1" y="connsiteY1"/>
              </a:cxn>
              <a:cxn ang="0">
                <a:pos x="connsiteX2" y="connsiteY2"/>
              </a:cxn>
            </a:cxnLst>
            <a:rect l="l" t="t" r="r" b="b"/>
            <a:pathLst>
              <a:path w="639749" h="1480458">
                <a:moveTo>
                  <a:pt x="615820" y="0"/>
                </a:moveTo>
                <a:cubicBezTo>
                  <a:pt x="642257" y="324498"/>
                  <a:pt x="668694" y="648996"/>
                  <a:pt x="566057" y="895739"/>
                </a:cubicBezTo>
                <a:cubicBezTo>
                  <a:pt x="463420" y="1142482"/>
                  <a:pt x="231710" y="1311470"/>
                  <a:pt x="0" y="1480458"/>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p:cNvSpPr txBox="1"/>
          <p:nvPr/>
        </p:nvSpPr>
        <p:spPr>
          <a:xfrm>
            <a:off x="5625595" y="2472440"/>
            <a:ext cx="829073" cy="338554"/>
          </a:xfrm>
          <a:prstGeom prst="rect">
            <a:avLst/>
          </a:prstGeom>
          <a:noFill/>
        </p:spPr>
        <p:txBody>
          <a:bodyPr wrap="none" rtlCol="0">
            <a:spAutoFit/>
          </a:bodyPr>
          <a:lstStyle/>
          <a:p>
            <a:r>
              <a:rPr lang="en-US" sz="1600" dirty="0"/>
              <a:t>Output</a:t>
            </a:r>
          </a:p>
        </p:txBody>
      </p:sp>
      <p:sp>
        <p:nvSpPr>
          <p:cNvPr id="28" name="Freeform 27"/>
          <p:cNvSpPr/>
          <p:nvPr/>
        </p:nvSpPr>
        <p:spPr>
          <a:xfrm>
            <a:off x="3664748" y="3192949"/>
            <a:ext cx="445115" cy="1530221"/>
          </a:xfrm>
          <a:custGeom>
            <a:avLst/>
            <a:gdLst>
              <a:gd name="connsiteX0" fmla="*/ 445115 w 445115"/>
              <a:gd name="connsiteY0" fmla="*/ 0 h 1530221"/>
              <a:gd name="connsiteX1" fmla="*/ 308266 w 445115"/>
              <a:gd name="connsiteY1" fmla="*/ 255037 h 1530221"/>
              <a:gd name="connsiteX2" fmla="*/ 65670 w 445115"/>
              <a:gd name="connsiteY2" fmla="*/ 709127 h 1530221"/>
              <a:gd name="connsiteX3" fmla="*/ 28348 w 445115"/>
              <a:gd name="connsiteY3" fmla="*/ 1101013 h 1530221"/>
              <a:gd name="connsiteX4" fmla="*/ 438895 w 445115"/>
              <a:gd name="connsiteY4" fmla="*/ 1530221 h 1530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15" h="1530221">
                <a:moveTo>
                  <a:pt x="445115" y="0"/>
                </a:moveTo>
                <a:lnTo>
                  <a:pt x="308266" y="255037"/>
                </a:lnTo>
                <a:cubicBezTo>
                  <a:pt x="245025" y="373225"/>
                  <a:pt x="112323" y="568131"/>
                  <a:pt x="65670" y="709127"/>
                </a:cubicBezTo>
                <a:cubicBezTo>
                  <a:pt x="19017" y="850123"/>
                  <a:pt x="-33856" y="964164"/>
                  <a:pt x="28348" y="1101013"/>
                </a:cubicBezTo>
                <a:cubicBezTo>
                  <a:pt x="90552" y="1237862"/>
                  <a:pt x="264723" y="1384041"/>
                  <a:pt x="438895" y="1530221"/>
                </a:cubicBezTo>
              </a:path>
            </a:pathLst>
          </a:custGeom>
          <a:noFill/>
          <a:ln w="12700">
            <a:solidFill>
              <a:schemeClr val="accent4"/>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Freeform 28"/>
          <p:cNvSpPr/>
          <p:nvPr/>
        </p:nvSpPr>
        <p:spPr>
          <a:xfrm>
            <a:off x="3627895" y="3671921"/>
            <a:ext cx="314017" cy="1847461"/>
          </a:xfrm>
          <a:custGeom>
            <a:avLst/>
            <a:gdLst>
              <a:gd name="connsiteX0" fmla="*/ 214491 w 314017"/>
              <a:gd name="connsiteY0" fmla="*/ 0 h 1847461"/>
              <a:gd name="connsiteX1" fmla="*/ 77642 w 314017"/>
              <a:gd name="connsiteY1" fmla="*/ 286139 h 1847461"/>
              <a:gd name="connsiteX2" fmla="*/ 27879 w 314017"/>
              <a:gd name="connsiteY2" fmla="*/ 516294 h 1847461"/>
              <a:gd name="connsiteX3" fmla="*/ 21658 w 314017"/>
              <a:gd name="connsiteY3" fmla="*/ 1306286 h 1847461"/>
              <a:gd name="connsiteX4" fmla="*/ 314017 w 314017"/>
              <a:gd name="connsiteY4" fmla="*/ 1847461 h 1847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17" h="1847461">
                <a:moveTo>
                  <a:pt x="214491" y="0"/>
                </a:moveTo>
                <a:cubicBezTo>
                  <a:pt x="161617" y="100045"/>
                  <a:pt x="108744" y="200090"/>
                  <a:pt x="77642" y="286139"/>
                </a:cubicBezTo>
                <a:cubicBezTo>
                  <a:pt x="46540" y="372188"/>
                  <a:pt x="37210" y="346269"/>
                  <a:pt x="27879" y="516294"/>
                </a:cubicBezTo>
                <a:cubicBezTo>
                  <a:pt x="18548" y="686319"/>
                  <a:pt x="-26032" y="1084425"/>
                  <a:pt x="21658" y="1306286"/>
                </a:cubicBezTo>
                <a:cubicBezTo>
                  <a:pt x="69348" y="1528147"/>
                  <a:pt x="191682" y="1687804"/>
                  <a:pt x="314017" y="1847461"/>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A91920CE-9243-C065-DBE0-3AD7C34E0E14}"/>
              </a:ext>
            </a:extLst>
          </p:cNvPr>
          <p:cNvSpPr txBox="1"/>
          <p:nvPr/>
        </p:nvSpPr>
        <p:spPr>
          <a:xfrm>
            <a:off x="508409" y="1051323"/>
            <a:ext cx="4062331" cy="400110"/>
          </a:xfrm>
          <a:prstGeom prst="rect">
            <a:avLst/>
          </a:prstGeom>
          <a:noFill/>
        </p:spPr>
        <p:txBody>
          <a:bodyPr wrap="none" rtlCol="0">
            <a:spAutoFit/>
          </a:bodyPr>
          <a:lstStyle/>
          <a:p>
            <a:r>
              <a:rPr lang="en-US" sz="2000" b="1" dirty="0"/>
              <a:t>A typical macroeconomic model</a:t>
            </a:r>
          </a:p>
        </p:txBody>
      </p:sp>
    </p:spTree>
    <p:extLst>
      <p:ext uri="{BB962C8B-B14F-4D97-AF65-F5344CB8AC3E}">
        <p14:creationId xmlns:p14="http://schemas.microsoft.com/office/powerpoint/2010/main" val="1852617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11</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p:cNvSpPr>
            <a:spLocks noGrp="1"/>
          </p:cNvSpPr>
          <p:nvPr>
            <p:ph type="title"/>
          </p:nvPr>
        </p:nvSpPr>
        <p:spPr>
          <a:xfrm>
            <a:off x="587375" y="619125"/>
            <a:ext cx="7967664" cy="865188"/>
          </a:xfrm>
        </p:spPr>
        <p:txBody>
          <a:bodyPr/>
          <a:lstStyle/>
          <a:p>
            <a:r>
              <a:rPr lang="en-US" dirty="0"/>
              <a:t>Introduction</a:t>
            </a:r>
          </a:p>
        </p:txBody>
      </p:sp>
      <p:pic>
        <p:nvPicPr>
          <p:cNvPr id="38" name="Picture 37"/>
          <p:cNvPicPr>
            <a:picLocks noChangeAspect="1"/>
          </p:cNvPicPr>
          <p:nvPr/>
        </p:nvPicPr>
        <p:blipFill>
          <a:blip r:embed="rId3"/>
          <a:stretch>
            <a:fillRect/>
          </a:stretch>
        </p:blipFill>
        <p:spPr>
          <a:xfrm>
            <a:off x="460374" y="2865215"/>
            <a:ext cx="2836201" cy="783788"/>
          </a:xfrm>
          <a:prstGeom prst="rect">
            <a:avLst/>
          </a:prstGeom>
        </p:spPr>
      </p:pic>
      <p:pic>
        <p:nvPicPr>
          <p:cNvPr id="40" name="Picture 39"/>
          <p:cNvPicPr>
            <a:picLocks noChangeAspect="1"/>
          </p:cNvPicPr>
          <p:nvPr/>
        </p:nvPicPr>
        <p:blipFill>
          <a:blip r:embed="rId4"/>
          <a:stretch>
            <a:fillRect/>
          </a:stretch>
        </p:blipFill>
        <p:spPr>
          <a:xfrm>
            <a:off x="512729" y="3617701"/>
            <a:ext cx="2455915" cy="1719141"/>
          </a:xfrm>
          <a:prstGeom prst="rect">
            <a:avLst/>
          </a:prstGeom>
        </p:spPr>
      </p:pic>
      <p:pic>
        <p:nvPicPr>
          <p:cNvPr id="41" name="Picture 20" descr="Commercial consumers isometric peop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9658" y="3165081"/>
            <a:ext cx="1972621" cy="147473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p:cNvPicPr>
            <a:picLocks noChangeAspect="1"/>
          </p:cNvPicPr>
          <p:nvPr/>
        </p:nvPicPr>
        <p:blipFill>
          <a:blip r:embed="rId6"/>
          <a:stretch>
            <a:fillRect/>
          </a:stretch>
        </p:blipFill>
        <p:spPr>
          <a:xfrm>
            <a:off x="3779189" y="5247959"/>
            <a:ext cx="2463658" cy="810595"/>
          </a:xfrm>
          <a:prstGeom prst="rect">
            <a:avLst/>
          </a:prstGeom>
        </p:spPr>
      </p:pic>
      <p:pic>
        <p:nvPicPr>
          <p:cNvPr id="43" name="Picture 42"/>
          <p:cNvPicPr>
            <a:picLocks noChangeAspect="1"/>
          </p:cNvPicPr>
          <p:nvPr/>
        </p:nvPicPr>
        <p:blipFill>
          <a:blip r:embed="rId7"/>
          <a:stretch>
            <a:fillRect/>
          </a:stretch>
        </p:blipFill>
        <p:spPr>
          <a:xfrm>
            <a:off x="4111018" y="2021313"/>
            <a:ext cx="900000" cy="706885"/>
          </a:xfrm>
          <a:prstGeom prst="rect">
            <a:avLst/>
          </a:prstGeom>
        </p:spPr>
      </p:pic>
      <p:pic>
        <p:nvPicPr>
          <p:cNvPr id="44" name="Picture 43"/>
          <p:cNvPicPr>
            <a:picLocks noChangeAspect="1"/>
          </p:cNvPicPr>
          <p:nvPr/>
        </p:nvPicPr>
        <p:blipFill>
          <a:blip r:embed="rId8"/>
          <a:stretch>
            <a:fillRect/>
          </a:stretch>
        </p:blipFill>
        <p:spPr>
          <a:xfrm>
            <a:off x="4111018" y="3082929"/>
            <a:ext cx="900000" cy="707410"/>
          </a:xfrm>
          <a:prstGeom prst="rect">
            <a:avLst/>
          </a:prstGeom>
        </p:spPr>
      </p:pic>
      <p:pic>
        <p:nvPicPr>
          <p:cNvPr id="46" name="Picture 45"/>
          <p:cNvPicPr>
            <a:picLocks noChangeAspect="1"/>
          </p:cNvPicPr>
          <p:nvPr/>
        </p:nvPicPr>
        <p:blipFill>
          <a:blip r:embed="rId9"/>
          <a:stretch>
            <a:fillRect/>
          </a:stretch>
        </p:blipFill>
        <p:spPr>
          <a:xfrm>
            <a:off x="4111018" y="4121084"/>
            <a:ext cx="900000" cy="779463"/>
          </a:xfrm>
          <a:prstGeom prst="rect">
            <a:avLst/>
          </a:prstGeom>
        </p:spPr>
      </p:pic>
      <p:sp>
        <p:nvSpPr>
          <p:cNvPr id="89" name="TextBox 88"/>
          <p:cNvSpPr txBox="1"/>
          <p:nvPr/>
        </p:nvSpPr>
        <p:spPr>
          <a:xfrm>
            <a:off x="812387" y="2386109"/>
            <a:ext cx="2021707" cy="276999"/>
          </a:xfrm>
          <a:prstGeom prst="rect">
            <a:avLst/>
          </a:prstGeom>
          <a:noFill/>
        </p:spPr>
        <p:txBody>
          <a:bodyPr wrap="none" rtlCol="0">
            <a:spAutoFit/>
          </a:bodyPr>
          <a:lstStyle/>
          <a:p>
            <a:r>
              <a:rPr lang="en-US" sz="1200" b="1" u="sng" dirty="0" err="1"/>
              <a:t>Labour</a:t>
            </a:r>
            <a:r>
              <a:rPr lang="en-US" sz="1200" b="1" u="sng" dirty="0"/>
              <a:t> and capital inputs</a:t>
            </a:r>
          </a:p>
        </p:txBody>
      </p:sp>
      <p:sp>
        <p:nvSpPr>
          <p:cNvPr id="91" name="TextBox 90"/>
          <p:cNvSpPr txBox="1"/>
          <p:nvPr/>
        </p:nvSpPr>
        <p:spPr>
          <a:xfrm>
            <a:off x="4149052" y="1633994"/>
            <a:ext cx="1534394" cy="276999"/>
          </a:xfrm>
          <a:prstGeom prst="rect">
            <a:avLst/>
          </a:prstGeom>
          <a:noFill/>
        </p:spPr>
        <p:txBody>
          <a:bodyPr wrap="none" rtlCol="0">
            <a:spAutoFit/>
          </a:bodyPr>
          <a:lstStyle/>
          <a:p>
            <a:r>
              <a:rPr lang="en-US" sz="1200" b="1" u="sng" dirty="0"/>
              <a:t>Production sectors</a:t>
            </a:r>
          </a:p>
        </p:txBody>
      </p:sp>
      <p:sp>
        <p:nvSpPr>
          <p:cNvPr id="93" name="TextBox 92"/>
          <p:cNvSpPr txBox="1"/>
          <p:nvPr/>
        </p:nvSpPr>
        <p:spPr>
          <a:xfrm>
            <a:off x="7389678" y="2670102"/>
            <a:ext cx="981359" cy="276999"/>
          </a:xfrm>
          <a:prstGeom prst="rect">
            <a:avLst/>
          </a:prstGeom>
          <a:noFill/>
        </p:spPr>
        <p:txBody>
          <a:bodyPr wrap="none" rtlCol="0">
            <a:spAutoFit/>
          </a:bodyPr>
          <a:lstStyle/>
          <a:p>
            <a:r>
              <a:rPr lang="en-US" sz="1200" b="1" u="sng" dirty="0"/>
              <a:t>Consumers</a:t>
            </a:r>
          </a:p>
        </p:txBody>
      </p:sp>
      <p:cxnSp>
        <p:nvCxnSpPr>
          <p:cNvPr id="17" name="Straight Arrow Connector 16"/>
          <p:cNvCxnSpPr/>
          <p:nvPr/>
        </p:nvCxnSpPr>
        <p:spPr>
          <a:xfrm flipV="1">
            <a:off x="3296575" y="2631544"/>
            <a:ext cx="775525" cy="625565"/>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776658" y="2783945"/>
            <a:ext cx="1370177" cy="1375442"/>
          </a:xfrm>
          <a:prstGeom prst="straightConnector1">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137469" y="2518131"/>
            <a:ext cx="659155" cy="338554"/>
          </a:xfrm>
          <a:prstGeom prst="rect">
            <a:avLst/>
          </a:prstGeom>
          <a:noFill/>
        </p:spPr>
        <p:txBody>
          <a:bodyPr wrap="none" rtlCol="0">
            <a:spAutoFit/>
          </a:bodyPr>
          <a:lstStyle/>
          <a:p>
            <a:r>
              <a:rPr lang="en-US" sz="1600" dirty="0">
                <a:solidFill>
                  <a:schemeClr val="accent4"/>
                </a:solidFill>
              </a:rPr>
              <a:t>Input</a:t>
            </a:r>
          </a:p>
        </p:txBody>
      </p:sp>
      <p:sp>
        <p:nvSpPr>
          <p:cNvPr id="23" name="Freeform 22"/>
          <p:cNvSpPr/>
          <p:nvPr/>
        </p:nvSpPr>
        <p:spPr>
          <a:xfrm>
            <a:off x="5018043" y="2496264"/>
            <a:ext cx="623087" cy="1076130"/>
          </a:xfrm>
          <a:custGeom>
            <a:avLst/>
            <a:gdLst>
              <a:gd name="connsiteX0" fmla="*/ 0 w 623087"/>
              <a:gd name="connsiteY0" fmla="*/ 0 h 1076130"/>
              <a:gd name="connsiteX1" fmla="*/ 622041 w 623087"/>
              <a:gd name="connsiteY1" fmla="*/ 503853 h 1076130"/>
              <a:gd name="connsiteX2" fmla="*/ 118188 w 623087"/>
              <a:gd name="connsiteY2" fmla="*/ 1076130 h 1076130"/>
            </a:gdLst>
            <a:ahLst/>
            <a:cxnLst>
              <a:cxn ang="0">
                <a:pos x="connsiteX0" y="connsiteY0"/>
              </a:cxn>
              <a:cxn ang="0">
                <a:pos x="connsiteX1" y="connsiteY1"/>
              </a:cxn>
              <a:cxn ang="0">
                <a:pos x="connsiteX2" y="connsiteY2"/>
              </a:cxn>
            </a:cxnLst>
            <a:rect l="l" t="t" r="r" b="b"/>
            <a:pathLst>
              <a:path w="623087" h="1076130">
                <a:moveTo>
                  <a:pt x="0" y="0"/>
                </a:moveTo>
                <a:cubicBezTo>
                  <a:pt x="301171" y="162249"/>
                  <a:pt x="602343" y="324498"/>
                  <a:pt x="622041" y="503853"/>
                </a:cubicBezTo>
                <a:cubicBezTo>
                  <a:pt x="641739" y="683208"/>
                  <a:pt x="379963" y="879669"/>
                  <a:pt x="118188" y="1076130"/>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Arrow Connector 23"/>
          <p:cNvCxnSpPr/>
          <p:nvPr/>
        </p:nvCxnSpPr>
        <p:spPr>
          <a:xfrm>
            <a:off x="5015413" y="2488608"/>
            <a:ext cx="1619936" cy="7903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Freeform 24"/>
          <p:cNvSpPr/>
          <p:nvPr/>
        </p:nvSpPr>
        <p:spPr>
          <a:xfrm>
            <a:off x="5024264" y="2981455"/>
            <a:ext cx="639749" cy="1480458"/>
          </a:xfrm>
          <a:custGeom>
            <a:avLst/>
            <a:gdLst>
              <a:gd name="connsiteX0" fmla="*/ 615820 w 639749"/>
              <a:gd name="connsiteY0" fmla="*/ 0 h 1480458"/>
              <a:gd name="connsiteX1" fmla="*/ 566057 w 639749"/>
              <a:gd name="connsiteY1" fmla="*/ 895739 h 1480458"/>
              <a:gd name="connsiteX2" fmla="*/ 0 w 639749"/>
              <a:gd name="connsiteY2" fmla="*/ 1480458 h 1480458"/>
            </a:gdLst>
            <a:ahLst/>
            <a:cxnLst>
              <a:cxn ang="0">
                <a:pos x="connsiteX0" y="connsiteY0"/>
              </a:cxn>
              <a:cxn ang="0">
                <a:pos x="connsiteX1" y="connsiteY1"/>
              </a:cxn>
              <a:cxn ang="0">
                <a:pos x="connsiteX2" y="connsiteY2"/>
              </a:cxn>
            </a:cxnLst>
            <a:rect l="l" t="t" r="r" b="b"/>
            <a:pathLst>
              <a:path w="639749" h="1480458">
                <a:moveTo>
                  <a:pt x="615820" y="0"/>
                </a:moveTo>
                <a:cubicBezTo>
                  <a:pt x="642257" y="324498"/>
                  <a:pt x="668694" y="648996"/>
                  <a:pt x="566057" y="895739"/>
                </a:cubicBezTo>
                <a:cubicBezTo>
                  <a:pt x="463420" y="1142482"/>
                  <a:pt x="231710" y="1311470"/>
                  <a:pt x="0" y="1480458"/>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25"/>
          <p:cNvSpPr/>
          <p:nvPr/>
        </p:nvSpPr>
        <p:spPr>
          <a:xfrm>
            <a:off x="5024264" y="2979067"/>
            <a:ext cx="639749" cy="2285278"/>
          </a:xfrm>
          <a:custGeom>
            <a:avLst/>
            <a:gdLst>
              <a:gd name="connsiteX0" fmla="*/ 615820 w 639749"/>
              <a:gd name="connsiteY0" fmla="*/ 0 h 1480458"/>
              <a:gd name="connsiteX1" fmla="*/ 566057 w 639749"/>
              <a:gd name="connsiteY1" fmla="*/ 895739 h 1480458"/>
              <a:gd name="connsiteX2" fmla="*/ 0 w 639749"/>
              <a:gd name="connsiteY2" fmla="*/ 1480458 h 1480458"/>
            </a:gdLst>
            <a:ahLst/>
            <a:cxnLst>
              <a:cxn ang="0">
                <a:pos x="connsiteX0" y="connsiteY0"/>
              </a:cxn>
              <a:cxn ang="0">
                <a:pos x="connsiteX1" y="connsiteY1"/>
              </a:cxn>
              <a:cxn ang="0">
                <a:pos x="connsiteX2" y="connsiteY2"/>
              </a:cxn>
            </a:cxnLst>
            <a:rect l="l" t="t" r="r" b="b"/>
            <a:pathLst>
              <a:path w="639749" h="1480458">
                <a:moveTo>
                  <a:pt x="615820" y="0"/>
                </a:moveTo>
                <a:cubicBezTo>
                  <a:pt x="642257" y="324498"/>
                  <a:pt x="668694" y="648996"/>
                  <a:pt x="566057" y="895739"/>
                </a:cubicBezTo>
                <a:cubicBezTo>
                  <a:pt x="463420" y="1142482"/>
                  <a:pt x="231710" y="1311470"/>
                  <a:pt x="0" y="1480458"/>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p:cNvSpPr txBox="1"/>
          <p:nvPr/>
        </p:nvSpPr>
        <p:spPr>
          <a:xfrm>
            <a:off x="5625595" y="2472440"/>
            <a:ext cx="829073" cy="338554"/>
          </a:xfrm>
          <a:prstGeom prst="rect">
            <a:avLst/>
          </a:prstGeom>
          <a:noFill/>
        </p:spPr>
        <p:txBody>
          <a:bodyPr wrap="none" rtlCol="0">
            <a:spAutoFit/>
          </a:bodyPr>
          <a:lstStyle/>
          <a:p>
            <a:r>
              <a:rPr lang="en-US" sz="1600" dirty="0"/>
              <a:t>Output</a:t>
            </a:r>
          </a:p>
        </p:txBody>
      </p:sp>
      <p:sp>
        <p:nvSpPr>
          <p:cNvPr id="28" name="TextBox 27"/>
          <p:cNvSpPr txBox="1"/>
          <p:nvPr/>
        </p:nvSpPr>
        <p:spPr>
          <a:xfrm>
            <a:off x="7082129" y="4939003"/>
            <a:ext cx="1196161" cy="369332"/>
          </a:xfrm>
          <a:prstGeom prst="rect">
            <a:avLst/>
          </a:prstGeom>
          <a:noFill/>
        </p:spPr>
        <p:txBody>
          <a:bodyPr wrap="none" rtlCol="0">
            <a:spAutoFit/>
          </a:bodyPr>
          <a:lstStyle/>
          <a:p>
            <a:r>
              <a:rPr lang="en-US" b="1" dirty="0">
                <a:solidFill>
                  <a:srgbClr val="FF0000"/>
                </a:solidFill>
              </a:rPr>
              <a:t>No waste</a:t>
            </a:r>
          </a:p>
        </p:txBody>
      </p:sp>
      <p:sp>
        <p:nvSpPr>
          <p:cNvPr id="30" name="TextBox 29"/>
          <p:cNvSpPr txBox="1"/>
          <p:nvPr/>
        </p:nvSpPr>
        <p:spPr>
          <a:xfrm>
            <a:off x="2776658" y="6147960"/>
            <a:ext cx="4847905" cy="646331"/>
          </a:xfrm>
          <a:prstGeom prst="rect">
            <a:avLst/>
          </a:prstGeom>
          <a:noFill/>
        </p:spPr>
        <p:txBody>
          <a:bodyPr wrap="square" rtlCol="0">
            <a:spAutoFit/>
          </a:bodyPr>
          <a:lstStyle/>
          <a:p>
            <a:pPr algn="ctr"/>
            <a:r>
              <a:rPr lang="en-US" b="1" dirty="0">
                <a:solidFill>
                  <a:srgbClr val="FF0000"/>
                </a:solidFill>
              </a:rPr>
              <a:t>Virgin natural resources cannot be substituted by recycled materials</a:t>
            </a:r>
          </a:p>
        </p:txBody>
      </p:sp>
      <p:sp>
        <p:nvSpPr>
          <p:cNvPr id="31" name="Freeform 30"/>
          <p:cNvSpPr/>
          <p:nvPr/>
        </p:nvSpPr>
        <p:spPr>
          <a:xfrm>
            <a:off x="3664748" y="3192949"/>
            <a:ext cx="445115" cy="1530221"/>
          </a:xfrm>
          <a:custGeom>
            <a:avLst/>
            <a:gdLst>
              <a:gd name="connsiteX0" fmla="*/ 445115 w 445115"/>
              <a:gd name="connsiteY0" fmla="*/ 0 h 1530221"/>
              <a:gd name="connsiteX1" fmla="*/ 308266 w 445115"/>
              <a:gd name="connsiteY1" fmla="*/ 255037 h 1530221"/>
              <a:gd name="connsiteX2" fmla="*/ 65670 w 445115"/>
              <a:gd name="connsiteY2" fmla="*/ 709127 h 1530221"/>
              <a:gd name="connsiteX3" fmla="*/ 28348 w 445115"/>
              <a:gd name="connsiteY3" fmla="*/ 1101013 h 1530221"/>
              <a:gd name="connsiteX4" fmla="*/ 438895 w 445115"/>
              <a:gd name="connsiteY4" fmla="*/ 1530221 h 1530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5115" h="1530221">
                <a:moveTo>
                  <a:pt x="445115" y="0"/>
                </a:moveTo>
                <a:lnTo>
                  <a:pt x="308266" y="255037"/>
                </a:lnTo>
                <a:cubicBezTo>
                  <a:pt x="245025" y="373225"/>
                  <a:pt x="112323" y="568131"/>
                  <a:pt x="65670" y="709127"/>
                </a:cubicBezTo>
                <a:cubicBezTo>
                  <a:pt x="19017" y="850123"/>
                  <a:pt x="-33856" y="964164"/>
                  <a:pt x="28348" y="1101013"/>
                </a:cubicBezTo>
                <a:cubicBezTo>
                  <a:pt x="90552" y="1237862"/>
                  <a:pt x="264723" y="1384041"/>
                  <a:pt x="438895" y="1530221"/>
                </a:cubicBezTo>
              </a:path>
            </a:pathLst>
          </a:custGeom>
          <a:noFill/>
          <a:ln w="12700">
            <a:solidFill>
              <a:schemeClr val="accent4"/>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31"/>
          <p:cNvSpPr/>
          <p:nvPr/>
        </p:nvSpPr>
        <p:spPr>
          <a:xfrm>
            <a:off x="3627895" y="3671921"/>
            <a:ext cx="314017" cy="1847461"/>
          </a:xfrm>
          <a:custGeom>
            <a:avLst/>
            <a:gdLst>
              <a:gd name="connsiteX0" fmla="*/ 214491 w 314017"/>
              <a:gd name="connsiteY0" fmla="*/ 0 h 1847461"/>
              <a:gd name="connsiteX1" fmla="*/ 77642 w 314017"/>
              <a:gd name="connsiteY1" fmla="*/ 286139 h 1847461"/>
              <a:gd name="connsiteX2" fmla="*/ 27879 w 314017"/>
              <a:gd name="connsiteY2" fmla="*/ 516294 h 1847461"/>
              <a:gd name="connsiteX3" fmla="*/ 21658 w 314017"/>
              <a:gd name="connsiteY3" fmla="*/ 1306286 h 1847461"/>
              <a:gd name="connsiteX4" fmla="*/ 314017 w 314017"/>
              <a:gd name="connsiteY4" fmla="*/ 1847461 h 18474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17" h="1847461">
                <a:moveTo>
                  <a:pt x="214491" y="0"/>
                </a:moveTo>
                <a:cubicBezTo>
                  <a:pt x="161617" y="100045"/>
                  <a:pt x="108744" y="200090"/>
                  <a:pt x="77642" y="286139"/>
                </a:cubicBezTo>
                <a:cubicBezTo>
                  <a:pt x="46540" y="372188"/>
                  <a:pt x="37210" y="346269"/>
                  <a:pt x="27879" y="516294"/>
                </a:cubicBezTo>
                <a:cubicBezTo>
                  <a:pt x="18548" y="686319"/>
                  <a:pt x="-26032" y="1084425"/>
                  <a:pt x="21658" y="1306286"/>
                </a:cubicBezTo>
                <a:cubicBezTo>
                  <a:pt x="69348" y="1528147"/>
                  <a:pt x="191682" y="1687804"/>
                  <a:pt x="314017" y="1847461"/>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8F275CA0-D164-69F8-5845-B86D00F138E4}"/>
              </a:ext>
            </a:extLst>
          </p:cNvPr>
          <p:cNvSpPr txBox="1"/>
          <p:nvPr/>
        </p:nvSpPr>
        <p:spPr>
          <a:xfrm>
            <a:off x="508409" y="1051323"/>
            <a:ext cx="4062331" cy="400110"/>
          </a:xfrm>
          <a:prstGeom prst="rect">
            <a:avLst/>
          </a:prstGeom>
          <a:noFill/>
        </p:spPr>
        <p:txBody>
          <a:bodyPr wrap="none" rtlCol="0">
            <a:spAutoFit/>
          </a:bodyPr>
          <a:lstStyle/>
          <a:p>
            <a:r>
              <a:rPr lang="en-US" sz="2000" b="1" dirty="0"/>
              <a:t>A typical macroeconomic model</a:t>
            </a:r>
          </a:p>
        </p:txBody>
      </p:sp>
    </p:spTree>
    <p:extLst>
      <p:ext uri="{BB962C8B-B14F-4D97-AF65-F5344CB8AC3E}">
        <p14:creationId xmlns:p14="http://schemas.microsoft.com/office/powerpoint/2010/main" val="3003287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99AE2-373E-1833-4790-BDF5BC42D97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786F4DCA-F16E-89F8-F9A1-B47039C255B3}"/>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237B7E9C-C34B-1AFA-949B-1B258FA0F043}"/>
              </a:ext>
            </a:extLst>
          </p:cNvPr>
          <p:cNvSpPr>
            <a:spLocks noGrp="1"/>
          </p:cNvSpPr>
          <p:nvPr>
            <p:ph type="sldNum" sz="quarter" idx="12"/>
          </p:nvPr>
        </p:nvSpPr>
        <p:spPr/>
        <p:txBody>
          <a:bodyPr/>
          <a:lstStyle/>
          <a:p>
            <a:fld id="{091A926C-488A-4E3E-9C21-57CAA120E114}" type="slidenum">
              <a:rPr lang="en-US" smtClean="0"/>
              <a:t>12</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a:extLst>
              <a:ext uri="{FF2B5EF4-FFF2-40B4-BE49-F238E27FC236}">
                <a16:creationId xmlns:a16="http://schemas.microsoft.com/office/drawing/2014/main" id="{B3BDF073-EC92-D0ED-316B-3F3CFB82B1A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a:extLst>
              <a:ext uri="{FF2B5EF4-FFF2-40B4-BE49-F238E27FC236}">
                <a16:creationId xmlns:a16="http://schemas.microsoft.com/office/drawing/2014/main" id="{8D304271-F374-8D09-BE02-EDDC03FEBAF0}"/>
              </a:ext>
            </a:extLst>
          </p:cNvPr>
          <p:cNvSpPr>
            <a:spLocks noGrp="1"/>
          </p:cNvSpPr>
          <p:nvPr>
            <p:ph type="title"/>
          </p:nvPr>
        </p:nvSpPr>
        <p:spPr>
          <a:xfrm>
            <a:off x="587375" y="619125"/>
            <a:ext cx="7967664" cy="865188"/>
          </a:xfrm>
        </p:spPr>
        <p:txBody>
          <a:bodyPr/>
          <a:lstStyle/>
          <a:p>
            <a:r>
              <a:rPr lang="en-US" dirty="0"/>
              <a:t>Introduction</a:t>
            </a:r>
          </a:p>
        </p:txBody>
      </p:sp>
      <p:sp>
        <p:nvSpPr>
          <p:cNvPr id="3" name="TextBox 2">
            <a:extLst>
              <a:ext uri="{FF2B5EF4-FFF2-40B4-BE49-F238E27FC236}">
                <a16:creationId xmlns:a16="http://schemas.microsoft.com/office/drawing/2014/main" id="{1556A371-CA27-66BE-7CC1-A51793BD3935}"/>
              </a:ext>
            </a:extLst>
          </p:cNvPr>
          <p:cNvSpPr txBox="1"/>
          <p:nvPr/>
        </p:nvSpPr>
        <p:spPr>
          <a:xfrm>
            <a:off x="508409" y="1051323"/>
            <a:ext cx="4062331" cy="400110"/>
          </a:xfrm>
          <a:prstGeom prst="rect">
            <a:avLst/>
          </a:prstGeom>
          <a:noFill/>
        </p:spPr>
        <p:txBody>
          <a:bodyPr wrap="none" rtlCol="0">
            <a:spAutoFit/>
          </a:bodyPr>
          <a:lstStyle/>
          <a:p>
            <a:r>
              <a:rPr lang="en-US" sz="2000" b="1" dirty="0"/>
              <a:t>A typical macroeconomic model</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C00DF6E-FA25-AE11-5240-5A24964B42A7}"/>
                  </a:ext>
                </a:extLst>
              </p:cNvPr>
              <p:cNvSpPr txBox="1"/>
              <p:nvPr/>
            </p:nvSpPr>
            <p:spPr>
              <a:xfrm>
                <a:off x="5599897" y="3440876"/>
                <a:ext cx="3890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oMath>
                  </m:oMathPara>
                </a14:m>
                <a:endParaRPr lang="en-US" dirty="0"/>
              </a:p>
            </p:txBody>
          </p:sp>
        </mc:Choice>
        <mc:Fallback xmlns="">
          <p:sp>
            <p:nvSpPr>
              <p:cNvPr id="5" name="TextBox 4">
                <a:extLst>
                  <a:ext uri="{FF2B5EF4-FFF2-40B4-BE49-F238E27FC236}">
                    <a16:creationId xmlns:a16="http://schemas.microsoft.com/office/drawing/2014/main" id="{2C00DF6E-FA25-AE11-5240-5A24964B42A7}"/>
                  </a:ext>
                </a:extLst>
              </p:cNvPr>
              <p:cNvSpPr txBox="1">
                <a:spLocks noRot="1" noChangeAspect="1" noMove="1" noResize="1" noEditPoints="1" noAdjustHandles="1" noChangeArrowheads="1" noChangeShapeType="1" noTextEdit="1"/>
              </p:cNvSpPr>
              <p:nvPr/>
            </p:nvSpPr>
            <p:spPr>
              <a:xfrm>
                <a:off x="5599897" y="3440876"/>
                <a:ext cx="389081" cy="369332"/>
              </a:xfrm>
              <a:prstGeom prst="rect">
                <a:avLst/>
              </a:prstGeom>
              <a:blipFill>
                <a:blip r:embed="rId3"/>
                <a:stretch>
                  <a:fillRect/>
                </a:stretch>
              </a:blipFill>
            </p:spPr>
            <p:txBody>
              <a:bodyPr/>
              <a:lstStyle/>
              <a:p>
                <a:r>
                  <a:rPr lang="en-GB">
                    <a:noFill/>
                  </a:rPr>
                  <a:t> </a:t>
                </a:r>
              </a:p>
            </p:txBody>
          </p:sp>
        </mc:Fallback>
      </mc:AlternateContent>
      <p:cxnSp>
        <p:nvCxnSpPr>
          <p:cNvPr id="8" name="Straight Connector 7">
            <a:extLst>
              <a:ext uri="{FF2B5EF4-FFF2-40B4-BE49-F238E27FC236}">
                <a16:creationId xmlns:a16="http://schemas.microsoft.com/office/drawing/2014/main" id="{E33E302C-FF1E-DA04-704D-E03E0B91A817}"/>
              </a:ext>
            </a:extLst>
          </p:cNvPr>
          <p:cNvCxnSpPr/>
          <p:nvPr/>
        </p:nvCxnSpPr>
        <p:spPr>
          <a:xfrm flipV="1">
            <a:off x="4688734" y="3732174"/>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0DE05A4-BDBC-5536-DE66-C5D436E661C7}"/>
              </a:ext>
            </a:extLst>
          </p:cNvPr>
          <p:cNvCxnSpPr>
            <a:cxnSpLocks/>
          </p:cNvCxnSpPr>
          <p:nvPr/>
        </p:nvCxnSpPr>
        <p:spPr>
          <a:xfrm flipV="1">
            <a:off x="5781475" y="3748387"/>
            <a:ext cx="0" cy="86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37093A2-55F5-CDFD-585F-27950B41002F}"/>
              </a:ext>
            </a:extLst>
          </p:cNvPr>
          <p:cNvCxnSpPr>
            <a:cxnSpLocks/>
          </p:cNvCxnSpPr>
          <p:nvPr/>
        </p:nvCxnSpPr>
        <p:spPr>
          <a:xfrm rot="16200000" flipV="1">
            <a:off x="6021423" y="3735575"/>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52E8C28-77FF-BDFA-4F26-08316F1F6836}"/>
                  </a:ext>
                </a:extLst>
              </p:cNvPr>
              <p:cNvSpPr txBox="1"/>
              <p:nvPr/>
            </p:nvSpPr>
            <p:spPr>
              <a:xfrm>
                <a:off x="5038193" y="4543565"/>
                <a:ext cx="4203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752E8C28-77FF-BDFA-4F26-08316F1F6836}"/>
                  </a:ext>
                </a:extLst>
              </p:cNvPr>
              <p:cNvSpPr txBox="1">
                <a:spLocks noRot="1" noChangeAspect="1" noMove="1" noResize="1" noEditPoints="1" noAdjustHandles="1" noChangeArrowheads="1" noChangeShapeType="1" noTextEdit="1"/>
              </p:cNvSpPr>
              <p:nvPr/>
            </p:nvSpPr>
            <p:spPr>
              <a:xfrm>
                <a:off x="5038193" y="4543565"/>
                <a:ext cx="420308"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D9CFD71-8BBC-8E50-193E-8611AED192F2}"/>
                  </a:ext>
                </a:extLst>
              </p:cNvPr>
              <p:cNvSpPr txBox="1"/>
              <p:nvPr/>
            </p:nvSpPr>
            <p:spPr>
              <a:xfrm>
                <a:off x="6167943" y="4543565"/>
                <a:ext cx="4203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DD9CFD71-8BBC-8E50-193E-8611AED192F2}"/>
                  </a:ext>
                </a:extLst>
              </p:cNvPr>
              <p:cNvSpPr txBox="1">
                <a:spLocks noRot="1" noChangeAspect="1" noMove="1" noResize="1" noEditPoints="1" noAdjustHandles="1" noChangeArrowheads="1" noChangeShapeType="1" noTextEdit="1"/>
              </p:cNvSpPr>
              <p:nvPr/>
            </p:nvSpPr>
            <p:spPr>
              <a:xfrm>
                <a:off x="6167943" y="4543565"/>
                <a:ext cx="420308"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752355C-9753-70A2-2A27-76E513147103}"/>
                  </a:ext>
                </a:extLst>
              </p:cNvPr>
              <p:cNvSpPr txBox="1"/>
              <p:nvPr/>
            </p:nvSpPr>
            <p:spPr>
              <a:xfrm>
                <a:off x="4422122" y="4630361"/>
                <a:ext cx="488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oMath>
                  </m:oMathPara>
                </a14:m>
                <a:endParaRPr lang="en-US" dirty="0"/>
              </a:p>
            </p:txBody>
          </p:sp>
        </mc:Choice>
        <mc:Fallback xmlns="">
          <p:sp>
            <p:nvSpPr>
              <p:cNvPr id="19" name="TextBox 18">
                <a:extLst>
                  <a:ext uri="{FF2B5EF4-FFF2-40B4-BE49-F238E27FC236}">
                    <a16:creationId xmlns:a16="http://schemas.microsoft.com/office/drawing/2014/main" id="{7752355C-9753-70A2-2A27-76E513147103}"/>
                  </a:ext>
                </a:extLst>
              </p:cNvPr>
              <p:cNvSpPr txBox="1">
                <a:spLocks noRot="1" noChangeAspect="1" noMove="1" noResize="1" noEditPoints="1" noAdjustHandles="1" noChangeArrowheads="1" noChangeShapeType="1" noTextEdit="1"/>
              </p:cNvSpPr>
              <p:nvPr/>
            </p:nvSpPr>
            <p:spPr>
              <a:xfrm>
                <a:off x="4422122" y="4630361"/>
                <a:ext cx="488147"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DC8EB18-F688-2507-0CDD-1D017B39B841}"/>
                  </a:ext>
                </a:extLst>
              </p:cNvPr>
              <p:cNvSpPr txBox="1"/>
              <p:nvPr/>
            </p:nvSpPr>
            <p:spPr>
              <a:xfrm>
                <a:off x="5537426" y="4630361"/>
                <a:ext cx="4607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m:oMathPara>
                </a14:m>
                <a:endParaRPr lang="en-US" dirty="0"/>
              </a:p>
            </p:txBody>
          </p:sp>
        </mc:Choice>
        <mc:Fallback xmlns="">
          <p:sp>
            <p:nvSpPr>
              <p:cNvPr id="20" name="TextBox 19">
                <a:extLst>
                  <a:ext uri="{FF2B5EF4-FFF2-40B4-BE49-F238E27FC236}">
                    <a16:creationId xmlns:a16="http://schemas.microsoft.com/office/drawing/2014/main" id="{6DC8EB18-F688-2507-0CDD-1D017B39B841}"/>
                  </a:ext>
                </a:extLst>
              </p:cNvPr>
              <p:cNvSpPr txBox="1">
                <a:spLocks noRot="1" noChangeAspect="1" noMove="1" noResize="1" noEditPoints="1" noAdjustHandles="1" noChangeArrowheads="1" noChangeShapeType="1" noTextEdit="1"/>
              </p:cNvSpPr>
              <p:nvPr/>
            </p:nvSpPr>
            <p:spPr>
              <a:xfrm>
                <a:off x="5537426" y="4630361"/>
                <a:ext cx="460767"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B30C88D2-1300-BB04-F288-43CAB98FA8B6}"/>
                  </a:ext>
                </a:extLst>
              </p:cNvPr>
              <p:cNvSpPr txBox="1"/>
              <p:nvPr/>
            </p:nvSpPr>
            <p:spPr>
              <a:xfrm>
                <a:off x="6733948" y="4601230"/>
                <a:ext cx="46673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𝐼</m:t>
                          </m:r>
                        </m:sub>
                      </m:sSub>
                    </m:oMath>
                  </m:oMathPara>
                </a14:m>
                <a:endParaRPr lang="en-US" dirty="0"/>
              </a:p>
            </p:txBody>
          </p:sp>
        </mc:Choice>
        <mc:Fallback xmlns="">
          <p:sp>
            <p:nvSpPr>
              <p:cNvPr id="33" name="TextBox 32">
                <a:extLst>
                  <a:ext uri="{FF2B5EF4-FFF2-40B4-BE49-F238E27FC236}">
                    <a16:creationId xmlns:a16="http://schemas.microsoft.com/office/drawing/2014/main" id="{B30C88D2-1300-BB04-F288-43CAB98FA8B6}"/>
                  </a:ext>
                </a:extLst>
              </p:cNvPr>
              <p:cNvSpPr txBox="1">
                <a:spLocks noRot="1" noChangeAspect="1" noMove="1" noResize="1" noEditPoints="1" noAdjustHandles="1" noChangeArrowheads="1" noChangeShapeType="1" noTextEdit="1"/>
              </p:cNvSpPr>
              <p:nvPr/>
            </p:nvSpPr>
            <p:spPr>
              <a:xfrm>
                <a:off x="6733948" y="4601230"/>
                <a:ext cx="466731"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AF2BE856-720F-D8E8-058E-B3664478669C}"/>
                  </a:ext>
                </a:extLst>
              </p:cNvPr>
              <p:cNvSpPr txBox="1"/>
              <p:nvPr/>
            </p:nvSpPr>
            <p:spPr>
              <a:xfrm>
                <a:off x="3964371" y="2440584"/>
                <a:ext cx="3922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36" name="TextBox 35">
                <a:extLst>
                  <a:ext uri="{FF2B5EF4-FFF2-40B4-BE49-F238E27FC236}">
                    <a16:creationId xmlns:a16="http://schemas.microsoft.com/office/drawing/2014/main" id="{AF2BE856-720F-D8E8-058E-B3664478669C}"/>
                  </a:ext>
                </a:extLst>
              </p:cNvPr>
              <p:cNvSpPr txBox="1">
                <a:spLocks noRot="1" noChangeAspect="1" noMove="1" noResize="1" noEditPoints="1" noAdjustHandles="1" noChangeArrowheads="1" noChangeShapeType="1" noTextEdit="1"/>
              </p:cNvSpPr>
              <p:nvPr/>
            </p:nvSpPr>
            <p:spPr>
              <a:xfrm>
                <a:off x="3964371" y="2440584"/>
                <a:ext cx="392287"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7423CB66-C082-E6A1-387A-224DC4950FDB}"/>
                  </a:ext>
                </a:extLst>
              </p:cNvPr>
              <p:cNvSpPr txBox="1"/>
              <p:nvPr/>
            </p:nvSpPr>
            <p:spPr>
              <a:xfrm>
                <a:off x="2128077" y="3394735"/>
                <a:ext cx="5372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𝐾𝐿</m:t>
                      </m:r>
                    </m:oMath>
                  </m:oMathPara>
                </a14:m>
                <a:endParaRPr lang="en-US" dirty="0"/>
              </a:p>
            </p:txBody>
          </p:sp>
        </mc:Choice>
        <mc:Fallback xmlns="">
          <p:sp>
            <p:nvSpPr>
              <p:cNvPr id="45" name="TextBox 44">
                <a:extLst>
                  <a:ext uri="{FF2B5EF4-FFF2-40B4-BE49-F238E27FC236}">
                    <a16:creationId xmlns:a16="http://schemas.microsoft.com/office/drawing/2014/main" id="{7423CB66-C082-E6A1-387A-224DC4950FDB}"/>
                  </a:ext>
                </a:extLst>
              </p:cNvPr>
              <p:cNvSpPr txBox="1">
                <a:spLocks noRot="1" noChangeAspect="1" noMove="1" noResize="1" noEditPoints="1" noAdjustHandles="1" noChangeArrowheads="1" noChangeShapeType="1" noTextEdit="1"/>
              </p:cNvSpPr>
              <p:nvPr/>
            </p:nvSpPr>
            <p:spPr>
              <a:xfrm>
                <a:off x="2128077" y="3394735"/>
                <a:ext cx="537263" cy="369332"/>
              </a:xfrm>
              <a:prstGeom prst="rect">
                <a:avLst/>
              </a:prstGeom>
              <a:blipFill>
                <a:blip r:embed="rId10"/>
                <a:stretch>
                  <a:fillRect/>
                </a:stretch>
              </a:blipFill>
            </p:spPr>
            <p:txBody>
              <a:bodyPr/>
              <a:lstStyle/>
              <a:p>
                <a:r>
                  <a:rPr lang="en-GB">
                    <a:noFill/>
                  </a:rPr>
                  <a:t> </a:t>
                </a:r>
              </a:p>
            </p:txBody>
          </p:sp>
        </mc:Fallback>
      </mc:AlternateContent>
      <p:cxnSp>
        <p:nvCxnSpPr>
          <p:cNvPr id="47" name="Straight Connector 46">
            <a:extLst>
              <a:ext uri="{FF2B5EF4-FFF2-40B4-BE49-F238E27FC236}">
                <a16:creationId xmlns:a16="http://schemas.microsoft.com/office/drawing/2014/main" id="{140E6653-B0BD-23E8-B108-9C1347FA5118}"/>
              </a:ext>
            </a:extLst>
          </p:cNvPr>
          <p:cNvCxnSpPr/>
          <p:nvPr/>
        </p:nvCxnSpPr>
        <p:spPr>
          <a:xfrm flipV="1">
            <a:off x="1303968" y="3703043"/>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87BEBC7-51F2-97DF-39B4-57C6F724AC46}"/>
              </a:ext>
            </a:extLst>
          </p:cNvPr>
          <p:cNvCxnSpPr>
            <a:cxnSpLocks/>
          </p:cNvCxnSpPr>
          <p:nvPr/>
        </p:nvCxnSpPr>
        <p:spPr>
          <a:xfrm rot="16200000" flipV="1">
            <a:off x="2636657" y="3706444"/>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3A5A5380-F8EF-8B3D-64CC-7301F1798BE2}"/>
                  </a:ext>
                </a:extLst>
              </p:cNvPr>
              <p:cNvSpPr txBox="1"/>
              <p:nvPr/>
            </p:nvSpPr>
            <p:spPr>
              <a:xfrm>
                <a:off x="1037356" y="4601230"/>
                <a:ext cx="3753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oMath>
                  </m:oMathPara>
                </a14:m>
                <a:endParaRPr lang="en-US" dirty="0"/>
              </a:p>
            </p:txBody>
          </p:sp>
        </mc:Choice>
        <mc:Fallback xmlns="">
          <p:sp>
            <p:nvSpPr>
              <p:cNvPr id="52" name="TextBox 51">
                <a:extLst>
                  <a:ext uri="{FF2B5EF4-FFF2-40B4-BE49-F238E27FC236}">
                    <a16:creationId xmlns:a16="http://schemas.microsoft.com/office/drawing/2014/main" id="{3A5A5380-F8EF-8B3D-64CC-7301F1798BE2}"/>
                  </a:ext>
                </a:extLst>
              </p:cNvPr>
              <p:cNvSpPr txBox="1">
                <a:spLocks noRot="1" noChangeAspect="1" noMove="1" noResize="1" noEditPoints="1" noAdjustHandles="1" noChangeArrowheads="1" noChangeShapeType="1" noTextEdit="1"/>
              </p:cNvSpPr>
              <p:nvPr/>
            </p:nvSpPr>
            <p:spPr>
              <a:xfrm>
                <a:off x="1037356" y="4601230"/>
                <a:ext cx="375359" cy="369332"/>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DF5AA43C-0F64-2952-961E-2724CE0C47FD}"/>
                  </a:ext>
                </a:extLst>
              </p:cNvPr>
              <p:cNvSpPr txBox="1"/>
              <p:nvPr/>
            </p:nvSpPr>
            <p:spPr>
              <a:xfrm>
                <a:off x="3349182" y="4572099"/>
                <a:ext cx="4160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oMath>
                  </m:oMathPara>
                </a14:m>
                <a:endParaRPr lang="en-US" dirty="0"/>
              </a:p>
            </p:txBody>
          </p:sp>
        </mc:Choice>
        <mc:Fallback xmlns="">
          <p:sp>
            <p:nvSpPr>
              <p:cNvPr id="54" name="TextBox 53">
                <a:extLst>
                  <a:ext uri="{FF2B5EF4-FFF2-40B4-BE49-F238E27FC236}">
                    <a16:creationId xmlns:a16="http://schemas.microsoft.com/office/drawing/2014/main" id="{DF5AA43C-0F64-2952-961E-2724CE0C47FD}"/>
                  </a:ext>
                </a:extLst>
              </p:cNvPr>
              <p:cNvSpPr txBox="1">
                <a:spLocks noRot="1" noChangeAspect="1" noMove="1" noResize="1" noEditPoints="1" noAdjustHandles="1" noChangeArrowheads="1" noChangeShapeType="1" noTextEdit="1"/>
              </p:cNvSpPr>
              <p:nvPr/>
            </p:nvSpPr>
            <p:spPr>
              <a:xfrm>
                <a:off x="3349182" y="4572099"/>
                <a:ext cx="416075" cy="369332"/>
              </a:xfrm>
              <a:prstGeom prst="rect">
                <a:avLst/>
              </a:prstGeom>
              <a:blipFill>
                <a:blip r:embed="rId12"/>
                <a:stretch>
                  <a:fillRect/>
                </a:stretch>
              </a:blipFill>
            </p:spPr>
            <p:txBody>
              <a:bodyPr/>
              <a:lstStyle/>
              <a:p>
                <a:r>
                  <a:rPr lang="en-GB">
                    <a:noFill/>
                  </a:rPr>
                  <a:t> </a:t>
                </a:r>
              </a:p>
            </p:txBody>
          </p:sp>
        </mc:Fallback>
      </mc:AlternateContent>
      <p:cxnSp>
        <p:nvCxnSpPr>
          <p:cNvPr id="55" name="Straight Connector 54">
            <a:extLst>
              <a:ext uri="{FF2B5EF4-FFF2-40B4-BE49-F238E27FC236}">
                <a16:creationId xmlns:a16="http://schemas.microsoft.com/office/drawing/2014/main" id="{5CEB7375-A265-F2ED-7EC5-CADD32D48EE1}"/>
              </a:ext>
            </a:extLst>
          </p:cNvPr>
          <p:cNvCxnSpPr>
            <a:cxnSpLocks/>
          </p:cNvCxnSpPr>
          <p:nvPr/>
        </p:nvCxnSpPr>
        <p:spPr>
          <a:xfrm flipV="1">
            <a:off x="2538232" y="2809916"/>
            <a:ext cx="1359317" cy="6185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B01501D-D3A0-6E58-621F-8FC082EE7A27}"/>
              </a:ext>
            </a:extLst>
          </p:cNvPr>
          <p:cNvCxnSpPr>
            <a:cxnSpLocks/>
          </p:cNvCxnSpPr>
          <p:nvPr/>
        </p:nvCxnSpPr>
        <p:spPr>
          <a:xfrm>
            <a:off x="4356658" y="2809916"/>
            <a:ext cx="1359317" cy="6185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8978E35A-D2FA-266F-26C4-29A3C922D38E}"/>
              </a:ext>
            </a:extLst>
          </p:cNvPr>
          <p:cNvSpPr/>
          <p:nvPr/>
        </p:nvSpPr>
        <p:spPr>
          <a:xfrm>
            <a:off x="4783858" y="2921904"/>
            <a:ext cx="2005957" cy="1562911"/>
          </a:xfrm>
          <a:prstGeom prst="ellipse">
            <a:avLst/>
          </a:prstGeom>
          <a:no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p>
        </p:txBody>
      </p:sp>
      <p:sp>
        <p:nvSpPr>
          <p:cNvPr id="61" name="TextBox 60">
            <a:extLst>
              <a:ext uri="{FF2B5EF4-FFF2-40B4-BE49-F238E27FC236}">
                <a16:creationId xmlns:a16="http://schemas.microsoft.com/office/drawing/2014/main" id="{DA44FDFE-7E17-D34C-E83F-3F4B2CCABB69}"/>
              </a:ext>
            </a:extLst>
          </p:cNvPr>
          <p:cNvSpPr txBox="1"/>
          <p:nvPr/>
        </p:nvSpPr>
        <p:spPr>
          <a:xfrm>
            <a:off x="6378097" y="2784312"/>
            <a:ext cx="2244525" cy="369332"/>
          </a:xfrm>
          <a:prstGeom prst="rect">
            <a:avLst/>
          </a:prstGeom>
          <a:noFill/>
        </p:spPr>
        <p:txBody>
          <a:bodyPr wrap="none" rtlCol="0">
            <a:spAutoFit/>
          </a:bodyPr>
          <a:lstStyle/>
          <a:p>
            <a:r>
              <a:rPr lang="en-US" dirty="0">
                <a:solidFill>
                  <a:srgbClr val="7030A0"/>
                </a:solidFill>
              </a:rPr>
              <a:t>Leontief assumption</a:t>
            </a:r>
          </a:p>
        </p:txBody>
      </p:sp>
      <p:sp>
        <p:nvSpPr>
          <p:cNvPr id="62" name="Oval 61">
            <a:extLst>
              <a:ext uri="{FF2B5EF4-FFF2-40B4-BE49-F238E27FC236}">
                <a16:creationId xmlns:a16="http://schemas.microsoft.com/office/drawing/2014/main" id="{12C39D63-F273-DDD3-63F0-14BF69B1A04C}"/>
              </a:ext>
            </a:extLst>
          </p:cNvPr>
          <p:cNvSpPr/>
          <p:nvPr/>
        </p:nvSpPr>
        <p:spPr>
          <a:xfrm>
            <a:off x="1447013" y="2921904"/>
            <a:ext cx="2005957" cy="1562911"/>
          </a:xfrm>
          <a:prstGeom prst="ellipse">
            <a:avLst/>
          </a:prstGeom>
          <a:no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63" name="TextBox 62">
            <a:extLst>
              <a:ext uri="{FF2B5EF4-FFF2-40B4-BE49-F238E27FC236}">
                <a16:creationId xmlns:a16="http://schemas.microsoft.com/office/drawing/2014/main" id="{11A3E559-7AAD-868E-1F20-F5119000E6CB}"/>
              </a:ext>
            </a:extLst>
          </p:cNvPr>
          <p:cNvSpPr txBox="1"/>
          <p:nvPr/>
        </p:nvSpPr>
        <p:spPr>
          <a:xfrm>
            <a:off x="270679" y="2704358"/>
            <a:ext cx="1672253" cy="369332"/>
          </a:xfrm>
          <a:prstGeom prst="rect">
            <a:avLst/>
          </a:prstGeom>
          <a:noFill/>
        </p:spPr>
        <p:txBody>
          <a:bodyPr wrap="none" rtlCol="0">
            <a:spAutoFit/>
          </a:bodyPr>
          <a:lstStyle/>
          <a:p>
            <a:r>
              <a:rPr lang="en-US" dirty="0">
                <a:solidFill>
                  <a:schemeClr val="accent6">
                    <a:lumMod val="75000"/>
                  </a:schemeClr>
                </a:solidFill>
              </a:rPr>
              <a:t>CES aggregate</a:t>
            </a:r>
          </a:p>
        </p:txBody>
      </p:sp>
      <p:sp>
        <p:nvSpPr>
          <p:cNvPr id="64" name="Oval 63">
            <a:extLst>
              <a:ext uri="{FF2B5EF4-FFF2-40B4-BE49-F238E27FC236}">
                <a16:creationId xmlns:a16="http://schemas.microsoft.com/office/drawing/2014/main" id="{AAA9E9FD-651B-2FA8-2CDE-BC4584873BFB}"/>
              </a:ext>
            </a:extLst>
          </p:cNvPr>
          <p:cNvSpPr/>
          <p:nvPr/>
        </p:nvSpPr>
        <p:spPr>
          <a:xfrm>
            <a:off x="5464131" y="4543565"/>
            <a:ext cx="581227" cy="571188"/>
          </a:xfrm>
          <a:prstGeom prst="ellipse">
            <a:avLst/>
          </a:prstGeom>
          <a:noFill/>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66" name="TextBox 65">
            <a:extLst>
              <a:ext uri="{FF2B5EF4-FFF2-40B4-BE49-F238E27FC236}">
                <a16:creationId xmlns:a16="http://schemas.microsoft.com/office/drawing/2014/main" id="{5E6F8C05-97AC-4480-DB29-C08DE5B9890F}"/>
              </a:ext>
            </a:extLst>
          </p:cNvPr>
          <p:cNvSpPr txBox="1"/>
          <p:nvPr/>
        </p:nvSpPr>
        <p:spPr>
          <a:xfrm>
            <a:off x="5177743" y="5199799"/>
            <a:ext cx="2636230" cy="738664"/>
          </a:xfrm>
          <a:prstGeom prst="rect">
            <a:avLst/>
          </a:prstGeom>
          <a:noFill/>
        </p:spPr>
        <p:txBody>
          <a:bodyPr wrap="square" rtlCol="0">
            <a:spAutoFit/>
          </a:bodyPr>
          <a:lstStyle/>
          <a:p>
            <a:pPr algn="ctr"/>
            <a:r>
              <a:rPr lang="en-US" sz="1400" dirty="0">
                <a:solidFill>
                  <a:schemeClr val="accent3">
                    <a:lumMod val="50000"/>
                  </a:schemeClr>
                </a:solidFill>
              </a:rPr>
              <a:t>No substitution possibilities between recycled materials and virgin materials</a:t>
            </a:r>
          </a:p>
        </p:txBody>
      </p:sp>
      <p:sp>
        <p:nvSpPr>
          <p:cNvPr id="7" name="Oval 6">
            <a:extLst>
              <a:ext uri="{FF2B5EF4-FFF2-40B4-BE49-F238E27FC236}">
                <a16:creationId xmlns:a16="http://schemas.microsoft.com/office/drawing/2014/main" id="{FCC323F7-3AC6-F000-F7A0-F506BC1A54F0}"/>
              </a:ext>
            </a:extLst>
          </p:cNvPr>
          <p:cNvSpPr/>
          <p:nvPr/>
        </p:nvSpPr>
        <p:spPr>
          <a:xfrm>
            <a:off x="6676699" y="4529433"/>
            <a:ext cx="581227" cy="571188"/>
          </a:xfrm>
          <a:prstGeom prst="ellipse">
            <a:avLst/>
          </a:prstGeom>
          <a:noFill/>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Tree>
    <p:extLst>
      <p:ext uri="{BB962C8B-B14F-4D97-AF65-F5344CB8AC3E}">
        <p14:creationId xmlns:p14="http://schemas.microsoft.com/office/powerpoint/2010/main" val="2535720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p:cNvSpPr>
            <a:spLocks noGrp="1"/>
          </p:cNvSpPr>
          <p:nvPr>
            <p:ph type="sldNum" sz="quarter" idx="12"/>
          </p:nvPr>
        </p:nvSpPr>
        <p:spPr/>
        <p:txBody>
          <a:bodyPr/>
          <a:lstStyle/>
          <a:p>
            <a:fld id="{091A926C-488A-4E3E-9C21-57CAA120E114}" type="slidenum">
              <a:rPr lang="en-US" smtClean="0"/>
              <a:t>13</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p:cNvSpPr>
            <a:spLocks noGrp="1"/>
          </p:cNvSpPr>
          <p:nvPr>
            <p:ph type="title"/>
          </p:nvPr>
        </p:nvSpPr>
        <p:spPr>
          <a:xfrm>
            <a:off x="587375" y="619125"/>
            <a:ext cx="6191494" cy="865188"/>
          </a:xfrm>
        </p:spPr>
        <p:txBody>
          <a:bodyPr/>
          <a:lstStyle/>
          <a:p>
            <a:r>
              <a:rPr lang="en-US" dirty="0"/>
              <a:t>Introduction</a:t>
            </a:r>
          </a:p>
        </p:txBody>
      </p:sp>
      <p:pic>
        <p:nvPicPr>
          <p:cNvPr id="38" name="Picture 37"/>
          <p:cNvPicPr>
            <a:picLocks noChangeAspect="1"/>
          </p:cNvPicPr>
          <p:nvPr/>
        </p:nvPicPr>
        <p:blipFill>
          <a:blip r:embed="rId3"/>
          <a:stretch>
            <a:fillRect/>
          </a:stretch>
        </p:blipFill>
        <p:spPr>
          <a:xfrm>
            <a:off x="460374" y="2865215"/>
            <a:ext cx="2836201" cy="783788"/>
          </a:xfrm>
          <a:prstGeom prst="rect">
            <a:avLst/>
          </a:prstGeom>
        </p:spPr>
      </p:pic>
      <p:pic>
        <p:nvPicPr>
          <p:cNvPr id="40" name="Picture 39"/>
          <p:cNvPicPr>
            <a:picLocks noChangeAspect="1"/>
          </p:cNvPicPr>
          <p:nvPr/>
        </p:nvPicPr>
        <p:blipFill>
          <a:blip r:embed="rId4"/>
          <a:stretch>
            <a:fillRect/>
          </a:stretch>
        </p:blipFill>
        <p:spPr>
          <a:xfrm>
            <a:off x="512729" y="3617701"/>
            <a:ext cx="2455915" cy="1719141"/>
          </a:xfrm>
          <a:prstGeom prst="rect">
            <a:avLst/>
          </a:prstGeom>
        </p:spPr>
      </p:pic>
      <p:pic>
        <p:nvPicPr>
          <p:cNvPr id="41" name="Picture 20" descr="Commercial consumers isometric peopl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99658" y="3165081"/>
            <a:ext cx="1972621" cy="1474739"/>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41"/>
          <p:cNvPicPr>
            <a:picLocks noChangeAspect="1"/>
          </p:cNvPicPr>
          <p:nvPr/>
        </p:nvPicPr>
        <p:blipFill>
          <a:blip r:embed="rId6"/>
          <a:stretch>
            <a:fillRect/>
          </a:stretch>
        </p:blipFill>
        <p:spPr>
          <a:xfrm>
            <a:off x="3793348" y="4233485"/>
            <a:ext cx="2463658" cy="810595"/>
          </a:xfrm>
          <a:prstGeom prst="rect">
            <a:avLst/>
          </a:prstGeom>
        </p:spPr>
      </p:pic>
      <p:pic>
        <p:nvPicPr>
          <p:cNvPr id="43" name="Picture 42"/>
          <p:cNvPicPr>
            <a:picLocks noChangeAspect="1"/>
          </p:cNvPicPr>
          <p:nvPr/>
        </p:nvPicPr>
        <p:blipFill>
          <a:blip r:embed="rId7"/>
          <a:stretch>
            <a:fillRect/>
          </a:stretch>
        </p:blipFill>
        <p:spPr>
          <a:xfrm>
            <a:off x="4111018" y="2021313"/>
            <a:ext cx="900000" cy="706885"/>
          </a:xfrm>
          <a:prstGeom prst="rect">
            <a:avLst/>
          </a:prstGeom>
        </p:spPr>
      </p:pic>
      <p:pic>
        <p:nvPicPr>
          <p:cNvPr id="44" name="Picture 43"/>
          <p:cNvPicPr>
            <a:picLocks noChangeAspect="1"/>
          </p:cNvPicPr>
          <p:nvPr/>
        </p:nvPicPr>
        <p:blipFill>
          <a:blip r:embed="rId8"/>
          <a:stretch>
            <a:fillRect/>
          </a:stretch>
        </p:blipFill>
        <p:spPr>
          <a:xfrm>
            <a:off x="4111018" y="3082929"/>
            <a:ext cx="900000" cy="707410"/>
          </a:xfrm>
          <a:prstGeom prst="rect">
            <a:avLst/>
          </a:prstGeom>
        </p:spPr>
      </p:pic>
      <p:sp>
        <p:nvSpPr>
          <p:cNvPr id="89" name="TextBox 88"/>
          <p:cNvSpPr txBox="1"/>
          <p:nvPr/>
        </p:nvSpPr>
        <p:spPr>
          <a:xfrm>
            <a:off x="812387" y="2386109"/>
            <a:ext cx="2021707" cy="276999"/>
          </a:xfrm>
          <a:prstGeom prst="rect">
            <a:avLst/>
          </a:prstGeom>
          <a:noFill/>
        </p:spPr>
        <p:txBody>
          <a:bodyPr wrap="none" rtlCol="0">
            <a:spAutoFit/>
          </a:bodyPr>
          <a:lstStyle/>
          <a:p>
            <a:r>
              <a:rPr lang="en-US" sz="1200" b="1" u="sng" dirty="0" err="1"/>
              <a:t>Labour</a:t>
            </a:r>
            <a:r>
              <a:rPr lang="en-US" sz="1200" b="1" u="sng" dirty="0"/>
              <a:t> and capital inputs</a:t>
            </a:r>
          </a:p>
        </p:txBody>
      </p:sp>
      <p:sp>
        <p:nvSpPr>
          <p:cNvPr id="91" name="TextBox 90"/>
          <p:cNvSpPr txBox="1"/>
          <p:nvPr/>
        </p:nvSpPr>
        <p:spPr>
          <a:xfrm>
            <a:off x="4149052" y="1633994"/>
            <a:ext cx="1534394" cy="276999"/>
          </a:xfrm>
          <a:prstGeom prst="rect">
            <a:avLst/>
          </a:prstGeom>
          <a:noFill/>
        </p:spPr>
        <p:txBody>
          <a:bodyPr wrap="none" rtlCol="0">
            <a:spAutoFit/>
          </a:bodyPr>
          <a:lstStyle/>
          <a:p>
            <a:r>
              <a:rPr lang="en-US" sz="1200" b="1" u="sng" dirty="0"/>
              <a:t>Production sectors</a:t>
            </a:r>
          </a:p>
        </p:txBody>
      </p:sp>
      <p:sp>
        <p:nvSpPr>
          <p:cNvPr id="93" name="TextBox 92"/>
          <p:cNvSpPr txBox="1"/>
          <p:nvPr/>
        </p:nvSpPr>
        <p:spPr>
          <a:xfrm>
            <a:off x="7389678" y="2670102"/>
            <a:ext cx="981359" cy="276999"/>
          </a:xfrm>
          <a:prstGeom prst="rect">
            <a:avLst/>
          </a:prstGeom>
          <a:noFill/>
        </p:spPr>
        <p:txBody>
          <a:bodyPr wrap="none" rtlCol="0">
            <a:spAutoFit/>
          </a:bodyPr>
          <a:lstStyle/>
          <a:p>
            <a:r>
              <a:rPr lang="en-US" sz="1200" b="1" u="sng" dirty="0"/>
              <a:t>Consumers</a:t>
            </a:r>
          </a:p>
        </p:txBody>
      </p:sp>
      <p:cxnSp>
        <p:nvCxnSpPr>
          <p:cNvPr id="31" name="Straight Arrow Connector 30"/>
          <p:cNvCxnSpPr/>
          <p:nvPr/>
        </p:nvCxnSpPr>
        <p:spPr>
          <a:xfrm flipV="1">
            <a:off x="5018043" y="1599089"/>
            <a:ext cx="1532047" cy="897175"/>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32" name="Picture 31"/>
          <p:cNvPicPr>
            <a:picLocks noChangeAspect="1"/>
          </p:cNvPicPr>
          <p:nvPr/>
        </p:nvPicPr>
        <p:blipFill>
          <a:blip r:embed="rId9"/>
          <a:stretch>
            <a:fillRect/>
          </a:stretch>
        </p:blipFill>
        <p:spPr>
          <a:xfrm>
            <a:off x="6060624" y="5448111"/>
            <a:ext cx="2027073" cy="1090565"/>
          </a:xfrm>
          <a:prstGeom prst="rect">
            <a:avLst/>
          </a:prstGeom>
        </p:spPr>
      </p:pic>
      <p:cxnSp>
        <p:nvCxnSpPr>
          <p:cNvPr id="33" name="Straight Arrow Connector 32"/>
          <p:cNvCxnSpPr/>
          <p:nvPr/>
        </p:nvCxnSpPr>
        <p:spPr>
          <a:xfrm>
            <a:off x="7600452" y="4768821"/>
            <a:ext cx="0" cy="56802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4" name="Freeform 33"/>
          <p:cNvSpPr/>
          <p:nvPr/>
        </p:nvSpPr>
        <p:spPr>
          <a:xfrm>
            <a:off x="5025177" y="2488608"/>
            <a:ext cx="1652802" cy="2876733"/>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28575">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5" name="Picture 34"/>
          <p:cNvPicPr>
            <a:picLocks noChangeAspect="1"/>
          </p:cNvPicPr>
          <p:nvPr/>
        </p:nvPicPr>
        <p:blipFill>
          <a:blip r:embed="rId10"/>
          <a:stretch>
            <a:fillRect/>
          </a:stretch>
        </p:blipFill>
        <p:spPr>
          <a:xfrm>
            <a:off x="3969206" y="5336842"/>
            <a:ext cx="1101498" cy="1147734"/>
          </a:xfrm>
          <a:prstGeom prst="rect">
            <a:avLst/>
          </a:prstGeom>
        </p:spPr>
      </p:pic>
      <p:cxnSp>
        <p:nvCxnSpPr>
          <p:cNvPr id="36" name="Straight Arrow Connector 35"/>
          <p:cNvCxnSpPr/>
          <p:nvPr/>
        </p:nvCxnSpPr>
        <p:spPr>
          <a:xfrm flipH="1" flipV="1">
            <a:off x="5144178" y="5987542"/>
            <a:ext cx="837873"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5239144" y="5533414"/>
            <a:ext cx="659155" cy="338554"/>
          </a:xfrm>
          <a:prstGeom prst="rect">
            <a:avLst/>
          </a:prstGeom>
          <a:noFill/>
        </p:spPr>
        <p:txBody>
          <a:bodyPr wrap="none" rtlCol="0">
            <a:spAutoFit/>
          </a:bodyPr>
          <a:lstStyle/>
          <a:p>
            <a:r>
              <a:rPr lang="en-US" sz="1600" dirty="0">
                <a:solidFill>
                  <a:srgbClr val="FF0000"/>
                </a:solidFill>
              </a:rPr>
              <a:t>Input</a:t>
            </a:r>
          </a:p>
        </p:txBody>
      </p:sp>
      <p:sp>
        <p:nvSpPr>
          <p:cNvPr id="39" name="Freeform 38"/>
          <p:cNvSpPr/>
          <p:nvPr/>
        </p:nvSpPr>
        <p:spPr>
          <a:xfrm rot="8707561">
            <a:off x="2839636" y="3139472"/>
            <a:ext cx="2189593" cy="2391036"/>
          </a:xfrm>
          <a:custGeom>
            <a:avLst/>
            <a:gdLst>
              <a:gd name="connsiteX0" fmla="*/ 615820 w 639749"/>
              <a:gd name="connsiteY0" fmla="*/ 0 h 1480458"/>
              <a:gd name="connsiteX1" fmla="*/ 566057 w 639749"/>
              <a:gd name="connsiteY1" fmla="*/ 895739 h 1480458"/>
              <a:gd name="connsiteX2" fmla="*/ 0 w 639749"/>
              <a:gd name="connsiteY2" fmla="*/ 1480458 h 1480458"/>
            </a:gdLst>
            <a:ahLst/>
            <a:cxnLst>
              <a:cxn ang="0">
                <a:pos x="connsiteX0" y="connsiteY0"/>
              </a:cxn>
              <a:cxn ang="0">
                <a:pos x="connsiteX1" y="connsiteY1"/>
              </a:cxn>
              <a:cxn ang="0">
                <a:pos x="connsiteX2" y="connsiteY2"/>
              </a:cxn>
            </a:cxnLst>
            <a:rect l="l" t="t" r="r" b="b"/>
            <a:pathLst>
              <a:path w="639749" h="1480458">
                <a:moveTo>
                  <a:pt x="615820" y="0"/>
                </a:moveTo>
                <a:cubicBezTo>
                  <a:pt x="642257" y="324498"/>
                  <a:pt x="668694" y="648996"/>
                  <a:pt x="566057" y="895739"/>
                </a:cubicBezTo>
                <a:cubicBezTo>
                  <a:pt x="463420" y="1142482"/>
                  <a:pt x="231710" y="1311470"/>
                  <a:pt x="0" y="1480458"/>
                </a:cubicBezTo>
              </a:path>
            </a:pathLst>
          </a:custGeom>
          <a:noFill/>
          <a:ln>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p:cNvSpPr txBox="1"/>
          <p:nvPr/>
        </p:nvSpPr>
        <p:spPr>
          <a:xfrm>
            <a:off x="2746408" y="5648988"/>
            <a:ext cx="829073" cy="338554"/>
          </a:xfrm>
          <a:prstGeom prst="rect">
            <a:avLst/>
          </a:prstGeom>
          <a:noFill/>
        </p:spPr>
        <p:txBody>
          <a:bodyPr wrap="none" rtlCol="0">
            <a:spAutoFit/>
          </a:bodyPr>
          <a:lstStyle/>
          <a:p>
            <a:r>
              <a:rPr lang="en-US" sz="1600" dirty="0">
                <a:solidFill>
                  <a:srgbClr val="00B050"/>
                </a:solidFill>
              </a:rPr>
              <a:t>Output</a:t>
            </a:r>
          </a:p>
        </p:txBody>
      </p:sp>
      <p:sp>
        <p:nvSpPr>
          <p:cNvPr id="47" name="Freeform 46"/>
          <p:cNvSpPr/>
          <p:nvPr/>
        </p:nvSpPr>
        <p:spPr>
          <a:xfrm rot="8707561">
            <a:off x="3110489" y="3936115"/>
            <a:ext cx="1641089" cy="1678831"/>
          </a:xfrm>
          <a:custGeom>
            <a:avLst/>
            <a:gdLst>
              <a:gd name="connsiteX0" fmla="*/ 615820 w 639749"/>
              <a:gd name="connsiteY0" fmla="*/ 0 h 1480458"/>
              <a:gd name="connsiteX1" fmla="*/ 566057 w 639749"/>
              <a:gd name="connsiteY1" fmla="*/ 895739 h 1480458"/>
              <a:gd name="connsiteX2" fmla="*/ 0 w 639749"/>
              <a:gd name="connsiteY2" fmla="*/ 1480458 h 1480458"/>
            </a:gdLst>
            <a:ahLst/>
            <a:cxnLst>
              <a:cxn ang="0">
                <a:pos x="connsiteX0" y="connsiteY0"/>
              </a:cxn>
              <a:cxn ang="0">
                <a:pos x="connsiteX1" y="connsiteY1"/>
              </a:cxn>
              <a:cxn ang="0">
                <a:pos x="connsiteX2" y="connsiteY2"/>
              </a:cxn>
            </a:cxnLst>
            <a:rect l="l" t="t" r="r" b="b"/>
            <a:pathLst>
              <a:path w="639749" h="1480458">
                <a:moveTo>
                  <a:pt x="615820" y="0"/>
                </a:moveTo>
                <a:cubicBezTo>
                  <a:pt x="642257" y="324498"/>
                  <a:pt x="668694" y="648996"/>
                  <a:pt x="566057" y="895739"/>
                </a:cubicBezTo>
                <a:cubicBezTo>
                  <a:pt x="463420" y="1142482"/>
                  <a:pt x="231710" y="1311470"/>
                  <a:pt x="0" y="1480458"/>
                </a:cubicBezTo>
              </a:path>
            </a:pathLst>
          </a:custGeom>
          <a:noFill/>
          <a:ln>
            <a:solidFill>
              <a:srgbClr val="00B05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8" name="Picture 47"/>
          <p:cNvPicPr>
            <a:picLocks noChangeAspect="1"/>
          </p:cNvPicPr>
          <p:nvPr/>
        </p:nvPicPr>
        <p:blipFill>
          <a:blip r:embed="rId11"/>
          <a:stretch>
            <a:fillRect/>
          </a:stretch>
        </p:blipFill>
        <p:spPr>
          <a:xfrm>
            <a:off x="6594470" y="670872"/>
            <a:ext cx="959379" cy="1722966"/>
          </a:xfrm>
          <a:prstGeom prst="rect">
            <a:avLst/>
          </a:prstGeom>
        </p:spPr>
      </p:pic>
      <p:sp>
        <p:nvSpPr>
          <p:cNvPr id="3" name="TextBox 2">
            <a:extLst>
              <a:ext uri="{FF2B5EF4-FFF2-40B4-BE49-F238E27FC236}">
                <a16:creationId xmlns:a16="http://schemas.microsoft.com/office/drawing/2014/main" id="{7B3E3BD8-2DF7-8028-9AE6-287705BD6EE8}"/>
              </a:ext>
            </a:extLst>
          </p:cNvPr>
          <p:cNvSpPr txBox="1"/>
          <p:nvPr/>
        </p:nvSpPr>
        <p:spPr>
          <a:xfrm>
            <a:off x="508409" y="1051323"/>
            <a:ext cx="2028119" cy="400110"/>
          </a:xfrm>
          <a:prstGeom prst="rect">
            <a:avLst/>
          </a:prstGeom>
          <a:noFill/>
        </p:spPr>
        <p:txBody>
          <a:bodyPr wrap="none" rtlCol="0">
            <a:spAutoFit/>
          </a:bodyPr>
          <a:lstStyle/>
          <a:p>
            <a:r>
              <a:rPr lang="en-US" sz="2000" b="1" dirty="0"/>
              <a:t>Our framework</a:t>
            </a:r>
          </a:p>
        </p:txBody>
      </p:sp>
    </p:spTree>
    <p:extLst>
      <p:ext uri="{BB962C8B-B14F-4D97-AF65-F5344CB8AC3E}">
        <p14:creationId xmlns:p14="http://schemas.microsoft.com/office/powerpoint/2010/main" val="3414923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2151A-0114-5B0C-75BD-0699BDD286D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E90679F6-E36E-5E3C-6B5C-EA8B8E721D95}"/>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8A592428-FE18-7807-80AA-87AAED0219F1}"/>
              </a:ext>
            </a:extLst>
          </p:cNvPr>
          <p:cNvSpPr>
            <a:spLocks noGrp="1"/>
          </p:cNvSpPr>
          <p:nvPr>
            <p:ph type="sldNum" sz="quarter" idx="12"/>
          </p:nvPr>
        </p:nvSpPr>
        <p:spPr/>
        <p:txBody>
          <a:bodyPr/>
          <a:lstStyle/>
          <a:p>
            <a:fld id="{091A926C-488A-4E3E-9C21-57CAA120E114}" type="slidenum">
              <a:rPr lang="en-US" smtClean="0"/>
              <a:t>14</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a:extLst>
              <a:ext uri="{FF2B5EF4-FFF2-40B4-BE49-F238E27FC236}">
                <a16:creationId xmlns:a16="http://schemas.microsoft.com/office/drawing/2014/main" id="{EA199448-3C6D-2599-269E-E2E24E47D29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a:extLst>
              <a:ext uri="{FF2B5EF4-FFF2-40B4-BE49-F238E27FC236}">
                <a16:creationId xmlns:a16="http://schemas.microsoft.com/office/drawing/2014/main" id="{68E3EB1F-352B-B9C6-D46C-B782344B8E34}"/>
              </a:ext>
            </a:extLst>
          </p:cNvPr>
          <p:cNvSpPr>
            <a:spLocks noGrp="1"/>
          </p:cNvSpPr>
          <p:nvPr>
            <p:ph type="title"/>
          </p:nvPr>
        </p:nvSpPr>
        <p:spPr>
          <a:xfrm>
            <a:off x="587375" y="619125"/>
            <a:ext cx="7967664" cy="865188"/>
          </a:xfrm>
        </p:spPr>
        <p:txBody>
          <a:bodyPr/>
          <a:lstStyle/>
          <a:p>
            <a:r>
              <a:rPr lang="en-US" dirty="0"/>
              <a:t>Introduction</a:t>
            </a:r>
          </a:p>
        </p:txBody>
      </p:sp>
      <p:sp>
        <p:nvSpPr>
          <p:cNvPr id="3" name="TextBox 2">
            <a:extLst>
              <a:ext uri="{FF2B5EF4-FFF2-40B4-BE49-F238E27FC236}">
                <a16:creationId xmlns:a16="http://schemas.microsoft.com/office/drawing/2014/main" id="{3FE19194-FDE7-26C8-E4CF-F762D341CD90}"/>
              </a:ext>
            </a:extLst>
          </p:cNvPr>
          <p:cNvSpPr txBox="1"/>
          <p:nvPr/>
        </p:nvSpPr>
        <p:spPr>
          <a:xfrm>
            <a:off x="508409" y="1051323"/>
            <a:ext cx="4661854" cy="400110"/>
          </a:xfrm>
          <a:prstGeom prst="rect">
            <a:avLst/>
          </a:prstGeom>
          <a:noFill/>
        </p:spPr>
        <p:txBody>
          <a:bodyPr wrap="none" rtlCol="0">
            <a:spAutoFit/>
          </a:bodyPr>
          <a:lstStyle/>
          <a:p>
            <a:r>
              <a:rPr lang="en-US" sz="2000" b="1" dirty="0"/>
              <a:t>Our framework – A simplified picture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6EC8933-48FF-A5F8-0453-A9FEE5EBE6BD}"/>
                  </a:ext>
                </a:extLst>
              </p:cNvPr>
              <p:cNvSpPr txBox="1"/>
              <p:nvPr/>
            </p:nvSpPr>
            <p:spPr>
              <a:xfrm>
                <a:off x="3515421" y="4520650"/>
                <a:ext cx="4019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5" name="TextBox 4">
                <a:extLst>
                  <a:ext uri="{FF2B5EF4-FFF2-40B4-BE49-F238E27FC236}">
                    <a16:creationId xmlns:a16="http://schemas.microsoft.com/office/drawing/2014/main" id="{F6EC8933-48FF-A5F8-0453-A9FEE5EBE6BD}"/>
                  </a:ext>
                </a:extLst>
              </p:cNvPr>
              <p:cNvSpPr txBox="1">
                <a:spLocks noRot="1" noChangeAspect="1" noMove="1" noResize="1" noEditPoints="1" noAdjustHandles="1" noChangeArrowheads="1" noChangeShapeType="1" noTextEdit="1"/>
              </p:cNvSpPr>
              <p:nvPr/>
            </p:nvSpPr>
            <p:spPr>
              <a:xfrm>
                <a:off x="3515421" y="4520650"/>
                <a:ext cx="401905" cy="369332"/>
              </a:xfrm>
              <a:prstGeom prst="rect">
                <a:avLst/>
              </a:prstGeom>
              <a:blipFill>
                <a:blip r:embed="rId3"/>
                <a:stretch>
                  <a:fillRect/>
                </a:stretch>
              </a:blipFill>
            </p:spPr>
            <p:txBody>
              <a:bodyPr/>
              <a:lstStyle/>
              <a:p>
                <a:r>
                  <a:rPr lang="en-GB">
                    <a:noFill/>
                  </a:rPr>
                  <a:t> </a:t>
                </a:r>
              </a:p>
            </p:txBody>
          </p:sp>
        </mc:Fallback>
      </mc:AlternateContent>
      <p:cxnSp>
        <p:nvCxnSpPr>
          <p:cNvPr id="8" name="Straight Connector 7">
            <a:extLst>
              <a:ext uri="{FF2B5EF4-FFF2-40B4-BE49-F238E27FC236}">
                <a16:creationId xmlns:a16="http://schemas.microsoft.com/office/drawing/2014/main" id="{7B1A72C0-1CEB-83D1-C525-13E89E895EB4}"/>
              </a:ext>
            </a:extLst>
          </p:cNvPr>
          <p:cNvCxnSpPr/>
          <p:nvPr/>
        </p:nvCxnSpPr>
        <p:spPr>
          <a:xfrm flipV="1">
            <a:off x="2604258" y="4811948"/>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E8BF89-608C-2195-8F7B-AAE632C4141D}"/>
              </a:ext>
            </a:extLst>
          </p:cNvPr>
          <p:cNvCxnSpPr>
            <a:cxnSpLocks/>
          </p:cNvCxnSpPr>
          <p:nvPr/>
        </p:nvCxnSpPr>
        <p:spPr>
          <a:xfrm flipV="1">
            <a:off x="3696999" y="4828161"/>
            <a:ext cx="0" cy="86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70FF9AF-7467-F3AC-FCF6-714113D26F53}"/>
              </a:ext>
            </a:extLst>
          </p:cNvPr>
          <p:cNvCxnSpPr>
            <a:cxnSpLocks/>
          </p:cNvCxnSpPr>
          <p:nvPr/>
        </p:nvCxnSpPr>
        <p:spPr>
          <a:xfrm rot="16200000" flipV="1">
            <a:off x="3936947" y="4815349"/>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217C047-7321-4EE1-AA66-68B1D5CC186C}"/>
                  </a:ext>
                </a:extLst>
              </p:cNvPr>
              <p:cNvSpPr txBox="1"/>
              <p:nvPr/>
            </p:nvSpPr>
            <p:spPr>
              <a:xfrm>
                <a:off x="2953717" y="5623339"/>
                <a:ext cx="4203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A217C047-7321-4EE1-AA66-68B1D5CC186C}"/>
                  </a:ext>
                </a:extLst>
              </p:cNvPr>
              <p:cNvSpPr txBox="1">
                <a:spLocks noRot="1" noChangeAspect="1" noMove="1" noResize="1" noEditPoints="1" noAdjustHandles="1" noChangeArrowheads="1" noChangeShapeType="1" noTextEdit="1"/>
              </p:cNvSpPr>
              <p:nvPr/>
            </p:nvSpPr>
            <p:spPr>
              <a:xfrm>
                <a:off x="2953717" y="5623339"/>
                <a:ext cx="420308"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AFAE1B4-CD1E-F88C-D1EA-A041A340C7B2}"/>
                  </a:ext>
                </a:extLst>
              </p:cNvPr>
              <p:cNvSpPr txBox="1"/>
              <p:nvPr/>
            </p:nvSpPr>
            <p:spPr>
              <a:xfrm>
                <a:off x="4083467" y="5623339"/>
                <a:ext cx="4203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6AFAE1B4-CD1E-F88C-D1EA-A041A340C7B2}"/>
                  </a:ext>
                </a:extLst>
              </p:cNvPr>
              <p:cNvSpPr txBox="1">
                <a:spLocks noRot="1" noChangeAspect="1" noMove="1" noResize="1" noEditPoints="1" noAdjustHandles="1" noChangeArrowheads="1" noChangeShapeType="1" noTextEdit="1"/>
              </p:cNvSpPr>
              <p:nvPr/>
            </p:nvSpPr>
            <p:spPr>
              <a:xfrm>
                <a:off x="4083467" y="5623339"/>
                <a:ext cx="420308"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2B3711F-F5D5-F74A-E255-B9F811B25284}"/>
                  </a:ext>
                </a:extLst>
              </p:cNvPr>
              <p:cNvSpPr txBox="1"/>
              <p:nvPr/>
            </p:nvSpPr>
            <p:spPr>
              <a:xfrm>
                <a:off x="2337646" y="5710135"/>
                <a:ext cx="488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oMath>
                  </m:oMathPara>
                </a14:m>
                <a:endParaRPr lang="en-US" dirty="0"/>
              </a:p>
            </p:txBody>
          </p:sp>
        </mc:Choice>
        <mc:Fallback xmlns="">
          <p:sp>
            <p:nvSpPr>
              <p:cNvPr id="19" name="TextBox 18">
                <a:extLst>
                  <a:ext uri="{FF2B5EF4-FFF2-40B4-BE49-F238E27FC236}">
                    <a16:creationId xmlns:a16="http://schemas.microsoft.com/office/drawing/2014/main" id="{42B3711F-F5D5-F74A-E255-B9F811B25284}"/>
                  </a:ext>
                </a:extLst>
              </p:cNvPr>
              <p:cNvSpPr txBox="1">
                <a:spLocks noRot="1" noChangeAspect="1" noMove="1" noResize="1" noEditPoints="1" noAdjustHandles="1" noChangeArrowheads="1" noChangeShapeType="1" noTextEdit="1"/>
              </p:cNvSpPr>
              <p:nvPr/>
            </p:nvSpPr>
            <p:spPr>
              <a:xfrm>
                <a:off x="2337646" y="5710135"/>
                <a:ext cx="488147"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41DC967-5526-49CD-1911-877DAABB2B99}"/>
                  </a:ext>
                </a:extLst>
              </p:cNvPr>
              <p:cNvSpPr txBox="1"/>
              <p:nvPr/>
            </p:nvSpPr>
            <p:spPr>
              <a:xfrm>
                <a:off x="3452950" y="5710135"/>
                <a:ext cx="4607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m:oMathPara>
                </a14:m>
                <a:endParaRPr lang="en-US" dirty="0"/>
              </a:p>
            </p:txBody>
          </p:sp>
        </mc:Choice>
        <mc:Fallback xmlns="">
          <p:sp>
            <p:nvSpPr>
              <p:cNvPr id="20" name="TextBox 19">
                <a:extLst>
                  <a:ext uri="{FF2B5EF4-FFF2-40B4-BE49-F238E27FC236}">
                    <a16:creationId xmlns:a16="http://schemas.microsoft.com/office/drawing/2014/main" id="{241DC967-5526-49CD-1911-877DAABB2B99}"/>
                  </a:ext>
                </a:extLst>
              </p:cNvPr>
              <p:cNvSpPr txBox="1">
                <a:spLocks noRot="1" noChangeAspect="1" noMove="1" noResize="1" noEditPoints="1" noAdjustHandles="1" noChangeArrowheads="1" noChangeShapeType="1" noTextEdit="1"/>
              </p:cNvSpPr>
              <p:nvPr/>
            </p:nvSpPr>
            <p:spPr>
              <a:xfrm>
                <a:off x="3452950" y="5710135"/>
                <a:ext cx="460767"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EE88800-99FD-E8E3-2332-4491B6084A1E}"/>
                  </a:ext>
                </a:extLst>
              </p:cNvPr>
              <p:cNvSpPr txBox="1"/>
              <p:nvPr/>
            </p:nvSpPr>
            <p:spPr>
              <a:xfrm>
                <a:off x="4649472" y="5681004"/>
                <a:ext cx="46673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𝐼</m:t>
                          </m:r>
                        </m:sub>
                      </m:sSub>
                    </m:oMath>
                  </m:oMathPara>
                </a14:m>
                <a:endParaRPr lang="en-US" dirty="0"/>
              </a:p>
            </p:txBody>
          </p:sp>
        </mc:Choice>
        <mc:Fallback xmlns="">
          <p:sp>
            <p:nvSpPr>
              <p:cNvPr id="33" name="TextBox 32">
                <a:extLst>
                  <a:ext uri="{FF2B5EF4-FFF2-40B4-BE49-F238E27FC236}">
                    <a16:creationId xmlns:a16="http://schemas.microsoft.com/office/drawing/2014/main" id="{2EE88800-99FD-E8E3-2332-4491B6084A1E}"/>
                  </a:ext>
                </a:extLst>
              </p:cNvPr>
              <p:cNvSpPr txBox="1">
                <a:spLocks noRot="1" noChangeAspect="1" noMove="1" noResize="1" noEditPoints="1" noAdjustHandles="1" noChangeArrowheads="1" noChangeShapeType="1" noTextEdit="1"/>
              </p:cNvSpPr>
              <p:nvPr/>
            </p:nvSpPr>
            <p:spPr>
              <a:xfrm>
                <a:off x="4649472" y="5681004"/>
                <a:ext cx="466731"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DC7CC782-6CC0-3791-8F9B-CCFDE14D0494}"/>
                  </a:ext>
                </a:extLst>
              </p:cNvPr>
              <p:cNvSpPr txBox="1"/>
              <p:nvPr/>
            </p:nvSpPr>
            <p:spPr>
              <a:xfrm>
                <a:off x="3123134" y="2382322"/>
                <a:ext cx="3922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36" name="TextBox 35">
                <a:extLst>
                  <a:ext uri="{FF2B5EF4-FFF2-40B4-BE49-F238E27FC236}">
                    <a16:creationId xmlns:a16="http://schemas.microsoft.com/office/drawing/2014/main" id="{DC7CC782-6CC0-3791-8F9B-CCFDE14D0494}"/>
                  </a:ext>
                </a:extLst>
              </p:cNvPr>
              <p:cNvSpPr txBox="1">
                <a:spLocks noRot="1" noChangeAspect="1" noMove="1" noResize="1" noEditPoints="1" noAdjustHandles="1" noChangeArrowheads="1" noChangeShapeType="1" noTextEdit="1"/>
              </p:cNvSpPr>
              <p:nvPr/>
            </p:nvSpPr>
            <p:spPr>
              <a:xfrm>
                <a:off x="3123134" y="2382322"/>
                <a:ext cx="392287"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53FE6C5-81BF-B22F-E70F-BBC078DF9021}"/>
                  </a:ext>
                </a:extLst>
              </p:cNvPr>
              <p:cNvSpPr txBox="1"/>
              <p:nvPr/>
            </p:nvSpPr>
            <p:spPr>
              <a:xfrm>
                <a:off x="1286840" y="3336473"/>
                <a:ext cx="5372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𝐾𝐿</m:t>
                      </m:r>
                    </m:oMath>
                  </m:oMathPara>
                </a14:m>
                <a:endParaRPr lang="en-US" dirty="0"/>
              </a:p>
            </p:txBody>
          </p:sp>
        </mc:Choice>
        <mc:Fallback xmlns="">
          <p:sp>
            <p:nvSpPr>
              <p:cNvPr id="45" name="TextBox 44">
                <a:extLst>
                  <a:ext uri="{FF2B5EF4-FFF2-40B4-BE49-F238E27FC236}">
                    <a16:creationId xmlns:a16="http://schemas.microsoft.com/office/drawing/2014/main" id="{E53FE6C5-81BF-B22F-E70F-BBC078DF9021}"/>
                  </a:ext>
                </a:extLst>
              </p:cNvPr>
              <p:cNvSpPr txBox="1">
                <a:spLocks noRot="1" noChangeAspect="1" noMove="1" noResize="1" noEditPoints="1" noAdjustHandles="1" noChangeArrowheads="1" noChangeShapeType="1" noTextEdit="1"/>
              </p:cNvSpPr>
              <p:nvPr/>
            </p:nvSpPr>
            <p:spPr>
              <a:xfrm>
                <a:off x="1286840" y="3336473"/>
                <a:ext cx="537263" cy="369332"/>
              </a:xfrm>
              <a:prstGeom prst="rect">
                <a:avLst/>
              </a:prstGeom>
              <a:blipFill>
                <a:blip r:embed="rId10"/>
                <a:stretch>
                  <a:fillRect/>
                </a:stretch>
              </a:blipFill>
            </p:spPr>
            <p:txBody>
              <a:bodyPr/>
              <a:lstStyle/>
              <a:p>
                <a:r>
                  <a:rPr lang="en-GB">
                    <a:noFill/>
                  </a:rPr>
                  <a:t> </a:t>
                </a:r>
              </a:p>
            </p:txBody>
          </p:sp>
        </mc:Fallback>
      </mc:AlternateContent>
      <p:cxnSp>
        <p:nvCxnSpPr>
          <p:cNvPr id="47" name="Straight Connector 46">
            <a:extLst>
              <a:ext uri="{FF2B5EF4-FFF2-40B4-BE49-F238E27FC236}">
                <a16:creationId xmlns:a16="http://schemas.microsoft.com/office/drawing/2014/main" id="{7BF11257-27BE-864C-323E-2E3CA3A364C7}"/>
              </a:ext>
            </a:extLst>
          </p:cNvPr>
          <p:cNvCxnSpPr/>
          <p:nvPr/>
        </p:nvCxnSpPr>
        <p:spPr>
          <a:xfrm flipV="1">
            <a:off x="462731" y="3644781"/>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F7B5789-DE47-8EDD-3003-EC3550556036}"/>
              </a:ext>
            </a:extLst>
          </p:cNvPr>
          <p:cNvCxnSpPr>
            <a:cxnSpLocks/>
          </p:cNvCxnSpPr>
          <p:nvPr/>
        </p:nvCxnSpPr>
        <p:spPr>
          <a:xfrm rot="16200000" flipV="1">
            <a:off x="1795420" y="3648182"/>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8E0C588A-3167-B2A8-75A9-75FEC787E7DB}"/>
                  </a:ext>
                </a:extLst>
              </p:cNvPr>
              <p:cNvSpPr txBox="1"/>
              <p:nvPr/>
            </p:nvSpPr>
            <p:spPr>
              <a:xfrm>
                <a:off x="196119" y="4542968"/>
                <a:ext cx="3753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oMath>
                  </m:oMathPara>
                </a14:m>
                <a:endParaRPr lang="en-US" dirty="0"/>
              </a:p>
            </p:txBody>
          </p:sp>
        </mc:Choice>
        <mc:Fallback xmlns="">
          <p:sp>
            <p:nvSpPr>
              <p:cNvPr id="52" name="TextBox 51">
                <a:extLst>
                  <a:ext uri="{FF2B5EF4-FFF2-40B4-BE49-F238E27FC236}">
                    <a16:creationId xmlns:a16="http://schemas.microsoft.com/office/drawing/2014/main" id="{8E0C588A-3167-B2A8-75A9-75FEC787E7DB}"/>
                  </a:ext>
                </a:extLst>
              </p:cNvPr>
              <p:cNvSpPr txBox="1">
                <a:spLocks noRot="1" noChangeAspect="1" noMove="1" noResize="1" noEditPoints="1" noAdjustHandles="1" noChangeArrowheads="1" noChangeShapeType="1" noTextEdit="1"/>
              </p:cNvSpPr>
              <p:nvPr/>
            </p:nvSpPr>
            <p:spPr>
              <a:xfrm>
                <a:off x="196119" y="4542968"/>
                <a:ext cx="375359" cy="369332"/>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7BE47B81-39CD-9E16-BE18-31C6BE31DAE1}"/>
                  </a:ext>
                </a:extLst>
              </p:cNvPr>
              <p:cNvSpPr txBox="1"/>
              <p:nvPr/>
            </p:nvSpPr>
            <p:spPr>
              <a:xfrm>
                <a:off x="2507945" y="4513837"/>
                <a:ext cx="4160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oMath>
                  </m:oMathPara>
                </a14:m>
                <a:endParaRPr lang="en-US" dirty="0"/>
              </a:p>
            </p:txBody>
          </p:sp>
        </mc:Choice>
        <mc:Fallback xmlns="">
          <p:sp>
            <p:nvSpPr>
              <p:cNvPr id="54" name="TextBox 53">
                <a:extLst>
                  <a:ext uri="{FF2B5EF4-FFF2-40B4-BE49-F238E27FC236}">
                    <a16:creationId xmlns:a16="http://schemas.microsoft.com/office/drawing/2014/main" id="{7BE47B81-39CD-9E16-BE18-31C6BE31DAE1}"/>
                  </a:ext>
                </a:extLst>
              </p:cNvPr>
              <p:cNvSpPr txBox="1">
                <a:spLocks noRot="1" noChangeAspect="1" noMove="1" noResize="1" noEditPoints="1" noAdjustHandles="1" noChangeArrowheads="1" noChangeShapeType="1" noTextEdit="1"/>
              </p:cNvSpPr>
              <p:nvPr/>
            </p:nvSpPr>
            <p:spPr>
              <a:xfrm>
                <a:off x="2507945" y="4513837"/>
                <a:ext cx="416075" cy="369332"/>
              </a:xfrm>
              <a:prstGeom prst="rect">
                <a:avLst/>
              </a:prstGeom>
              <a:blipFill>
                <a:blip r:embed="rId12"/>
                <a:stretch>
                  <a:fillRect/>
                </a:stretch>
              </a:blipFill>
            </p:spPr>
            <p:txBody>
              <a:bodyPr/>
              <a:lstStyle/>
              <a:p>
                <a:r>
                  <a:rPr lang="en-GB">
                    <a:noFill/>
                  </a:rPr>
                  <a:t> </a:t>
                </a:r>
              </a:p>
            </p:txBody>
          </p:sp>
        </mc:Fallback>
      </mc:AlternateContent>
      <p:cxnSp>
        <p:nvCxnSpPr>
          <p:cNvPr id="55" name="Straight Connector 54">
            <a:extLst>
              <a:ext uri="{FF2B5EF4-FFF2-40B4-BE49-F238E27FC236}">
                <a16:creationId xmlns:a16="http://schemas.microsoft.com/office/drawing/2014/main" id="{D60DC5CD-12A9-6C8A-793E-6BDD6347772D}"/>
              </a:ext>
            </a:extLst>
          </p:cNvPr>
          <p:cNvCxnSpPr>
            <a:cxnSpLocks/>
          </p:cNvCxnSpPr>
          <p:nvPr/>
        </p:nvCxnSpPr>
        <p:spPr>
          <a:xfrm flipV="1">
            <a:off x="1696995" y="2751654"/>
            <a:ext cx="1359317" cy="6185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B09A87BD-6136-0694-CF93-5D99A8BEFD72}"/>
              </a:ext>
            </a:extLst>
          </p:cNvPr>
          <p:cNvCxnSpPr>
            <a:cxnSpLocks/>
          </p:cNvCxnSpPr>
          <p:nvPr/>
        </p:nvCxnSpPr>
        <p:spPr>
          <a:xfrm>
            <a:off x="3515421" y="2751654"/>
            <a:ext cx="1359317" cy="6185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44C548BF-5C1D-964E-5778-1CF70236C6DA}"/>
              </a:ext>
            </a:extLst>
          </p:cNvPr>
          <p:cNvSpPr/>
          <p:nvPr/>
        </p:nvSpPr>
        <p:spPr>
          <a:xfrm>
            <a:off x="5304454" y="5580076"/>
            <a:ext cx="581227" cy="571188"/>
          </a:xfrm>
          <a:prstGeom prst="ellipse">
            <a:avLst/>
          </a:prstGeom>
          <a:noFill/>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65" name="Oval 64">
            <a:extLst>
              <a:ext uri="{FF2B5EF4-FFF2-40B4-BE49-F238E27FC236}">
                <a16:creationId xmlns:a16="http://schemas.microsoft.com/office/drawing/2014/main" id="{A99C3B49-6D30-8141-AAEB-89DD2CAEB3BF}"/>
              </a:ext>
            </a:extLst>
          </p:cNvPr>
          <p:cNvSpPr/>
          <p:nvPr/>
        </p:nvSpPr>
        <p:spPr>
          <a:xfrm>
            <a:off x="6540335" y="5580076"/>
            <a:ext cx="581227" cy="571188"/>
          </a:xfrm>
          <a:prstGeom prst="ellipse">
            <a:avLst/>
          </a:prstGeom>
          <a:noFill/>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66" name="TextBox 65">
            <a:extLst>
              <a:ext uri="{FF2B5EF4-FFF2-40B4-BE49-F238E27FC236}">
                <a16:creationId xmlns:a16="http://schemas.microsoft.com/office/drawing/2014/main" id="{76A48A78-9A98-FCE9-BBE4-5C2D6F6625F3}"/>
              </a:ext>
            </a:extLst>
          </p:cNvPr>
          <p:cNvSpPr txBox="1"/>
          <p:nvPr/>
        </p:nvSpPr>
        <p:spPr>
          <a:xfrm>
            <a:off x="5222746" y="6261868"/>
            <a:ext cx="2636230" cy="523220"/>
          </a:xfrm>
          <a:prstGeom prst="rect">
            <a:avLst/>
          </a:prstGeom>
          <a:noFill/>
        </p:spPr>
        <p:txBody>
          <a:bodyPr wrap="square" rtlCol="0">
            <a:spAutoFit/>
          </a:bodyPr>
          <a:lstStyle/>
          <a:p>
            <a:pPr algn="ctr"/>
            <a:r>
              <a:rPr lang="en-US" sz="1400" dirty="0">
                <a:solidFill>
                  <a:schemeClr val="accent3">
                    <a:lumMod val="50000"/>
                  </a:schemeClr>
                </a:solidFill>
              </a:rPr>
              <a:t>Virgin and recycled materials </a:t>
            </a:r>
          </a:p>
          <a:p>
            <a:pPr algn="ctr"/>
            <a:r>
              <a:rPr lang="en-US" sz="1400" dirty="0">
                <a:solidFill>
                  <a:schemeClr val="accent3">
                    <a:lumMod val="50000"/>
                  </a:schemeClr>
                </a:solidFill>
              </a:rPr>
              <a:t>(measured in mass units)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0031022-07B3-A01B-52D0-073F04D9D10E}"/>
                  </a:ext>
                </a:extLst>
              </p:cNvPr>
              <p:cNvSpPr txBox="1"/>
              <p:nvPr/>
            </p:nvSpPr>
            <p:spPr>
              <a:xfrm>
                <a:off x="5986671" y="4520801"/>
                <a:ext cx="5541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𝑀</m:t>
                          </m:r>
                        </m:sup>
                      </m:sSup>
                    </m:oMath>
                  </m:oMathPara>
                </a14:m>
                <a:endParaRPr lang="en-US" dirty="0"/>
              </a:p>
            </p:txBody>
          </p:sp>
        </mc:Choice>
        <mc:Fallback xmlns="">
          <p:sp>
            <p:nvSpPr>
              <p:cNvPr id="7" name="TextBox 6">
                <a:extLst>
                  <a:ext uri="{FF2B5EF4-FFF2-40B4-BE49-F238E27FC236}">
                    <a16:creationId xmlns:a16="http://schemas.microsoft.com/office/drawing/2014/main" id="{20031022-07B3-A01B-52D0-073F04D9D10E}"/>
                  </a:ext>
                </a:extLst>
              </p:cNvPr>
              <p:cNvSpPr txBox="1">
                <a:spLocks noRot="1" noChangeAspect="1" noMove="1" noResize="1" noEditPoints="1" noAdjustHandles="1" noChangeArrowheads="1" noChangeShapeType="1" noTextEdit="1"/>
              </p:cNvSpPr>
              <p:nvPr/>
            </p:nvSpPr>
            <p:spPr>
              <a:xfrm>
                <a:off x="5986671" y="4520801"/>
                <a:ext cx="554190" cy="369332"/>
              </a:xfrm>
              <a:prstGeom prst="rect">
                <a:avLst/>
              </a:prstGeom>
              <a:blipFill>
                <a:blip r:embed="rId13"/>
                <a:stretch>
                  <a:fillRect/>
                </a:stretch>
              </a:blipFill>
            </p:spPr>
            <p:txBody>
              <a:bodyPr/>
              <a:lstStyle/>
              <a:p>
                <a:r>
                  <a:rPr lang="en-GB">
                    <a:noFill/>
                  </a:rPr>
                  <a:t> </a:t>
                </a:r>
              </a:p>
            </p:txBody>
          </p:sp>
        </mc:Fallback>
      </mc:AlternateContent>
      <p:cxnSp>
        <p:nvCxnSpPr>
          <p:cNvPr id="10" name="Straight Connector 9">
            <a:extLst>
              <a:ext uri="{FF2B5EF4-FFF2-40B4-BE49-F238E27FC236}">
                <a16:creationId xmlns:a16="http://schemas.microsoft.com/office/drawing/2014/main" id="{04145F47-332F-82EE-49EA-1D7DC6A45406}"/>
              </a:ext>
            </a:extLst>
          </p:cNvPr>
          <p:cNvCxnSpPr>
            <a:cxnSpLocks/>
            <a:stCxn id="17" idx="0"/>
          </p:cNvCxnSpPr>
          <p:nvPr/>
        </p:nvCxnSpPr>
        <p:spPr>
          <a:xfrm flipV="1">
            <a:off x="5604818" y="4871685"/>
            <a:ext cx="526965" cy="8227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E8FB846-7DE6-4D4F-BAC7-3E5C72436933}"/>
              </a:ext>
            </a:extLst>
          </p:cNvPr>
          <p:cNvCxnSpPr>
            <a:cxnSpLocks/>
            <a:stCxn id="22" idx="0"/>
            <a:endCxn id="7" idx="2"/>
          </p:cNvCxnSpPr>
          <p:nvPr/>
        </p:nvCxnSpPr>
        <p:spPr>
          <a:xfrm flipH="1" flipV="1">
            <a:off x="6263766" y="4890133"/>
            <a:ext cx="553139" cy="8005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4E78FBA-F594-3621-D10C-C74797D6876A}"/>
                  </a:ext>
                </a:extLst>
              </p:cNvPr>
              <p:cNvSpPr txBox="1"/>
              <p:nvPr/>
            </p:nvSpPr>
            <p:spPr>
              <a:xfrm>
                <a:off x="5345677" y="5694392"/>
                <a:ext cx="5182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𝑉</m:t>
                          </m:r>
                        </m:sup>
                      </m:sSup>
                    </m:oMath>
                  </m:oMathPara>
                </a14:m>
                <a:endParaRPr lang="en-US" dirty="0"/>
              </a:p>
            </p:txBody>
          </p:sp>
        </mc:Choice>
        <mc:Fallback xmlns="">
          <p:sp>
            <p:nvSpPr>
              <p:cNvPr id="17" name="TextBox 16">
                <a:extLst>
                  <a:ext uri="{FF2B5EF4-FFF2-40B4-BE49-F238E27FC236}">
                    <a16:creationId xmlns:a16="http://schemas.microsoft.com/office/drawing/2014/main" id="{24E78FBA-F594-3621-D10C-C74797D6876A}"/>
                  </a:ext>
                </a:extLst>
              </p:cNvPr>
              <p:cNvSpPr txBox="1">
                <a:spLocks noRot="1" noChangeAspect="1" noMove="1" noResize="1" noEditPoints="1" noAdjustHandles="1" noChangeArrowheads="1" noChangeShapeType="1" noTextEdit="1"/>
              </p:cNvSpPr>
              <p:nvPr/>
            </p:nvSpPr>
            <p:spPr>
              <a:xfrm>
                <a:off x="5345677" y="5694392"/>
                <a:ext cx="518282" cy="369332"/>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724F123-310D-9973-BBC7-7346D9375139}"/>
                  </a:ext>
                </a:extLst>
              </p:cNvPr>
              <p:cNvSpPr txBox="1"/>
              <p:nvPr/>
            </p:nvSpPr>
            <p:spPr>
              <a:xfrm>
                <a:off x="6557764" y="5690680"/>
                <a:ext cx="5182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𝑅</m:t>
                          </m:r>
                        </m:sup>
                      </m:sSup>
                    </m:oMath>
                  </m:oMathPara>
                </a14:m>
                <a:endParaRPr lang="en-US" dirty="0"/>
              </a:p>
            </p:txBody>
          </p:sp>
        </mc:Choice>
        <mc:Fallback xmlns="">
          <p:sp>
            <p:nvSpPr>
              <p:cNvPr id="22" name="TextBox 21">
                <a:extLst>
                  <a:ext uri="{FF2B5EF4-FFF2-40B4-BE49-F238E27FC236}">
                    <a16:creationId xmlns:a16="http://schemas.microsoft.com/office/drawing/2014/main" id="{1724F123-310D-9973-BBC7-7346D9375139}"/>
                  </a:ext>
                </a:extLst>
              </p:cNvPr>
              <p:cNvSpPr txBox="1">
                <a:spLocks noRot="1" noChangeAspect="1" noMove="1" noResize="1" noEditPoints="1" noAdjustHandles="1" noChangeArrowheads="1" noChangeShapeType="1" noTextEdit="1"/>
              </p:cNvSpPr>
              <p:nvPr/>
            </p:nvSpPr>
            <p:spPr>
              <a:xfrm>
                <a:off x="6557764" y="5690680"/>
                <a:ext cx="518282" cy="369332"/>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4A73463-E4FC-A672-B92E-058E61CDD1A8}"/>
                  </a:ext>
                </a:extLst>
              </p:cNvPr>
              <p:cNvSpPr txBox="1"/>
              <p:nvPr/>
            </p:nvSpPr>
            <p:spPr>
              <a:xfrm>
                <a:off x="4831292" y="3336473"/>
                <a:ext cx="3890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oMath>
                  </m:oMathPara>
                </a14:m>
                <a:endParaRPr lang="en-US" dirty="0"/>
              </a:p>
            </p:txBody>
          </p:sp>
        </mc:Choice>
        <mc:Fallback xmlns="">
          <p:sp>
            <p:nvSpPr>
              <p:cNvPr id="23" name="TextBox 22">
                <a:extLst>
                  <a:ext uri="{FF2B5EF4-FFF2-40B4-BE49-F238E27FC236}">
                    <a16:creationId xmlns:a16="http://schemas.microsoft.com/office/drawing/2014/main" id="{E4A73463-E4FC-A672-B92E-058E61CDD1A8}"/>
                  </a:ext>
                </a:extLst>
              </p:cNvPr>
              <p:cNvSpPr txBox="1">
                <a:spLocks noRot="1" noChangeAspect="1" noMove="1" noResize="1" noEditPoints="1" noAdjustHandles="1" noChangeArrowheads="1" noChangeShapeType="1" noTextEdit="1"/>
              </p:cNvSpPr>
              <p:nvPr/>
            </p:nvSpPr>
            <p:spPr>
              <a:xfrm>
                <a:off x="4831292" y="3336473"/>
                <a:ext cx="389081" cy="369332"/>
              </a:xfrm>
              <a:prstGeom prst="rect">
                <a:avLst/>
              </a:prstGeom>
              <a:blipFill>
                <a:blip r:embed="rId16"/>
                <a:stretch>
                  <a:fillRect/>
                </a:stretch>
              </a:blipFill>
            </p:spPr>
            <p:txBody>
              <a:bodyPr/>
              <a:lstStyle/>
              <a:p>
                <a:r>
                  <a:rPr lang="en-GB">
                    <a:noFill/>
                  </a:rPr>
                  <a:t> </a:t>
                </a:r>
              </a:p>
            </p:txBody>
          </p:sp>
        </mc:Fallback>
      </mc:AlternateContent>
      <p:cxnSp>
        <p:nvCxnSpPr>
          <p:cNvPr id="24" name="Straight Connector 23">
            <a:extLst>
              <a:ext uri="{FF2B5EF4-FFF2-40B4-BE49-F238E27FC236}">
                <a16:creationId xmlns:a16="http://schemas.microsoft.com/office/drawing/2014/main" id="{65D8A364-F9A7-28BB-3051-AB3F3DF7A71A}"/>
              </a:ext>
            </a:extLst>
          </p:cNvPr>
          <p:cNvCxnSpPr/>
          <p:nvPr/>
        </p:nvCxnSpPr>
        <p:spPr>
          <a:xfrm flipV="1">
            <a:off x="3913717" y="3659546"/>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F7EE7C7-5D46-562C-C175-38C7741B3FD2}"/>
              </a:ext>
            </a:extLst>
          </p:cNvPr>
          <p:cNvCxnSpPr>
            <a:cxnSpLocks/>
          </p:cNvCxnSpPr>
          <p:nvPr/>
        </p:nvCxnSpPr>
        <p:spPr>
          <a:xfrm rot="16200000" flipV="1">
            <a:off x="5246406" y="3662947"/>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32AB9164-E119-77C6-3DA4-8152964D5FF3}"/>
              </a:ext>
            </a:extLst>
          </p:cNvPr>
          <p:cNvSpPr/>
          <p:nvPr/>
        </p:nvSpPr>
        <p:spPr>
          <a:xfrm>
            <a:off x="2131425" y="5557965"/>
            <a:ext cx="3038838" cy="659151"/>
          </a:xfrm>
          <a:prstGeom prst="ellipse">
            <a:avLst/>
          </a:prstGeom>
          <a:no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43" name="TextBox 42">
            <a:extLst>
              <a:ext uri="{FF2B5EF4-FFF2-40B4-BE49-F238E27FC236}">
                <a16:creationId xmlns:a16="http://schemas.microsoft.com/office/drawing/2014/main" id="{F3D4B588-428B-CB47-DFD4-2ACE22C94A8A}"/>
              </a:ext>
            </a:extLst>
          </p:cNvPr>
          <p:cNvSpPr txBox="1"/>
          <p:nvPr/>
        </p:nvSpPr>
        <p:spPr>
          <a:xfrm>
            <a:off x="2295980" y="6277141"/>
            <a:ext cx="2636230" cy="523220"/>
          </a:xfrm>
          <a:prstGeom prst="rect">
            <a:avLst/>
          </a:prstGeom>
          <a:noFill/>
        </p:spPr>
        <p:txBody>
          <a:bodyPr wrap="square" rtlCol="0">
            <a:spAutoFit/>
          </a:bodyPr>
          <a:lstStyle/>
          <a:p>
            <a:pPr algn="ctr"/>
            <a:r>
              <a:rPr lang="en-US" sz="1400" dirty="0">
                <a:solidFill>
                  <a:srgbClr val="7030A0"/>
                </a:solidFill>
              </a:rPr>
              <a:t>Other intermediate goods</a:t>
            </a:r>
          </a:p>
          <a:p>
            <a:pPr algn="ctr"/>
            <a:r>
              <a:rPr lang="en-US" sz="1400" dirty="0">
                <a:solidFill>
                  <a:srgbClr val="7030A0"/>
                </a:solidFill>
              </a:rPr>
              <a:t>(measured in value terms)</a:t>
            </a:r>
          </a:p>
        </p:txBody>
      </p:sp>
      <p:cxnSp>
        <p:nvCxnSpPr>
          <p:cNvPr id="83" name="Straight Connector 82">
            <a:extLst>
              <a:ext uri="{FF2B5EF4-FFF2-40B4-BE49-F238E27FC236}">
                <a16:creationId xmlns:a16="http://schemas.microsoft.com/office/drawing/2014/main" id="{A7C90E01-1C8D-114E-F814-0A499534FD74}"/>
              </a:ext>
            </a:extLst>
          </p:cNvPr>
          <p:cNvCxnSpPr>
            <a:cxnSpLocks/>
          </p:cNvCxnSpPr>
          <p:nvPr/>
        </p:nvCxnSpPr>
        <p:spPr>
          <a:xfrm>
            <a:off x="2451100" y="2076858"/>
            <a:ext cx="605212" cy="431861"/>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F2A080FE-4FD9-65AF-E611-6A71366A515E}"/>
                  </a:ext>
                </a:extLst>
              </p:cNvPr>
              <p:cNvSpPr txBox="1"/>
              <p:nvPr/>
            </p:nvSpPr>
            <p:spPr>
              <a:xfrm>
                <a:off x="2139950" y="1759165"/>
                <a:ext cx="1066767"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da-DK" b="0" i="1" smtClean="0">
                              <a:latin typeface="Cambria Math" panose="02040503050406030204" pitchFamily="18" charset="0"/>
                            </a:rPr>
                          </m:ctrlPr>
                        </m:sSupPr>
                        <m:e>
                          <m:r>
                            <a:rPr lang="en-US" b="0" i="1" smtClean="0">
                              <a:latin typeface="Cambria Math" panose="02040503050406030204" pitchFamily="18" charset="0"/>
                            </a:rPr>
                            <m:t>𝑌</m:t>
                          </m:r>
                        </m:e>
                        <m:sup>
                          <m:r>
                            <a:rPr lang="da-DK" b="0" i="1" smtClean="0">
                              <a:latin typeface="Cambria Math" panose="02040503050406030204" pitchFamily="18" charset="0"/>
                            </a:rPr>
                            <m:t>𝑟𝑒𝑔𝑢𝑙𝑎𝑟</m:t>
                          </m:r>
                        </m:sup>
                      </m:sSup>
                    </m:oMath>
                  </m:oMathPara>
                </a14:m>
                <a:endParaRPr lang="en-US" dirty="0"/>
              </a:p>
            </p:txBody>
          </p:sp>
        </mc:Choice>
        <mc:Fallback xmlns="">
          <p:sp>
            <p:nvSpPr>
              <p:cNvPr id="85" name="TextBox 84">
                <a:extLst>
                  <a:ext uri="{FF2B5EF4-FFF2-40B4-BE49-F238E27FC236}">
                    <a16:creationId xmlns:a16="http://schemas.microsoft.com/office/drawing/2014/main" id="{F2A080FE-4FD9-65AF-E611-6A71366A515E}"/>
                  </a:ext>
                </a:extLst>
              </p:cNvPr>
              <p:cNvSpPr txBox="1">
                <a:spLocks noRot="1" noChangeAspect="1" noMove="1" noResize="1" noEditPoints="1" noAdjustHandles="1" noChangeArrowheads="1" noChangeShapeType="1" noTextEdit="1"/>
              </p:cNvSpPr>
              <p:nvPr/>
            </p:nvSpPr>
            <p:spPr>
              <a:xfrm>
                <a:off x="2139950" y="1759165"/>
                <a:ext cx="1066767" cy="374270"/>
              </a:xfrm>
              <a:prstGeom prst="rect">
                <a:avLst/>
              </a:prstGeom>
              <a:blipFill>
                <a:blip r:embed="rId1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75BFA958-10D2-4C8F-432A-AB2703F57EB3}"/>
                  </a:ext>
                </a:extLst>
              </p:cNvPr>
              <p:cNvSpPr txBox="1"/>
              <p:nvPr/>
            </p:nvSpPr>
            <p:spPr>
              <a:xfrm>
                <a:off x="3803636" y="1758873"/>
                <a:ext cx="1144159"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da-DK" b="0" i="1" smtClean="0">
                              <a:latin typeface="Cambria Math" panose="02040503050406030204" pitchFamily="18" charset="0"/>
                            </a:rPr>
                          </m:ctrlPr>
                        </m:sSupPr>
                        <m:e>
                          <m:r>
                            <a:rPr lang="en-US" b="0" i="1" smtClean="0">
                              <a:latin typeface="Cambria Math" panose="02040503050406030204" pitchFamily="18" charset="0"/>
                            </a:rPr>
                            <m:t>𝑌</m:t>
                          </m:r>
                        </m:e>
                        <m:sup>
                          <m:r>
                            <a:rPr lang="da-DK" b="0" i="1" smtClean="0">
                              <a:latin typeface="Cambria Math" panose="02040503050406030204" pitchFamily="18" charset="0"/>
                            </a:rPr>
                            <m:t>𝑀𝑎𝑡𝑒𝑟𝑖𝑎𝑙</m:t>
                          </m:r>
                        </m:sup>
                      </m:sSup>
                    </m:oMath>
                  </m:oMathPara>
                </a14:m>
                <a:endParaRPr lang="en-US" dirty="0"/>
              </a:p>
            </p:txBody>
          </p:sp>
        </mc:Choice>
        <mc:Fallback xmlns="">
          <p:sp>
            <p:nvSpPr>
              <p:cNvPr id="86" name="TextBox 85">
                <a:extLst>
                  <a:ext uri="{FF2B5EF4-FFF2-40B4-BE49-F238E27FC236}">
                    <a16:creationId xmlns:a16="http://schemas.microsoft.com/office/drawing/2014/main" id="{75BFA958-10D2-4C8F-432A-AB2703F57EB3}"/>
                  </a:ext>
                </a:extLst>
              </p:cNvPr>
              <p:cNvSpPr txBox="1">
                <a:spLocks noRot="1" noChangeAspect="1" noMove="1" noResize="1" noEditPoints="1" noAdjustHandles="1" noChangeArrowheads="1" noChangeShapeType="1" noTextEdit="1"/>
              </p:cNvSpPr>
              <p:nvPr/>
            </p:nvSpPr>
            <p:spPr>
              <a:xfrm>
                <a:off x="3803636" y="1758873"/>
                <a:ext cx="1144159" cy="378245"/>
              </a:xfrm>
              <a:prstGeom prst="rect">
                <a:avLst/>
              </a:prstGeom>
              <a:blipFill>
                <a:blip r:embed="rId18"/>
                <a:stretch>
                  <a:fillRect/>
                </a:stretch>
              </a:blipFill>
            </p:spPr>
            <p:txBody>
              <a:bodyPr/>
              <a:lstStyle/>
              <a:p>
                <a:r>
                  <a:rPr lang="en-GB">
                    <a:noFill/>
                  </a:rPr>
                  <a:t> </a:t>
                </a:r>
              </a:p>
            </p:txBody>
          </p:sp>
        </mc:Fallback>
      </mc:AlternateContent>
      <p:cxnSp>
        <p:nvCxnSpPr>
          <p:cNvPr id="89" name="Straight Connector 88">
            <a:extLst>
              <a:ext uri="{FF2B5EF4-FFF2-40B4-BE49-F238E27FC236}">
                <a16:creationId xmlns:a16="http://schemas.microsoft.com/office/drawing/2014/main" id="{C7AA0A93-0C84-4ACA-8A39-0A2EE9D3F95A}"/>
              </a:ext>
            </a:extLst>
          </p:cNvPr>
          <p:cNvCxnSpPr>
            <a:cxnSpLocks/>
          </p:cNvCxnSpPr>
          <p:nvPr/>
        </p:nvCxnSpPr>
        <p:spPr>
          <a:xfrm flipV="1">
            <a:off x="3501030" y="2076858"/>
            <a:ext cx="605212" cy="431861"/>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52933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97D7C-8D35-D0B1-A390-CA53B21A2F4B}"/>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E6A1BE7-2DAC-F6BA-2E78-5458A8D6F289}"/>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912B1873-B6D3-AFC8-2061-40800F46A0C4}"/>
              </a:ext>
            </a:extLst>
          </p:cNvPr>
          <p:cNvSpPr>
            <a:spLocks noGrp="1"/>
          </p:cNvSpPr>
          <p:nvPr>
            <p:ph type="sldNum" sz="quarter" idx="12"/>
          </p:nvPr>
        </p:nvSpPr>
        <p:spPr/>
        <p:txBody>
          <a:bodyPr/>
          <a:lstStyle/>
          <a:p>
            <a:fld id="{091A926C-488A-4E3E-9C21-57CAA120E114}" type="slidenum">
              <a:rPr lang="en-US" smtClean="0"/>
              <a:t>15</a:t>
            </a:fld>
            <a:endParaRPr lang="en-US" dirty="0"/>
          </a:p>
        </p:txBody>
      </p:sp>
      <p:sp>
        <p:nvSpPr>
          <p:cNvPr id="6" name="AutoShape 2" descr="data:image/png;base64,iVBORw0KGgoAAAANSUhEUgAAAaoAAAH0CAYAAABsC2lxAAAAAXNSR0IArs4c6QAAEsdJREFUeF7t1UENAAAMArHh3/Rs3KNTQMoSdo4AAQIECIQFFs4mGgECBAgQOEPlCQ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KGyg8QIECAQFrAUKXrEY4AAQIEDJUfIECAAIG0gKFK1yMcAQIECBgqP0CAAAECaQFDla5HOAIECBAwVH6AAAECBNIChipdj3AECBAgYKj8AAECBAikBQxVuh7hCBAgQMBQ+QECBAgQSAsYqnQ9whEgQICAofIDBAgQIJAWMFTpeoQjQIAAAUPlBwgQIEAgLWCo0vUIR4AAAQIPSl4B9e6xdAEAAAAASUVORK5CYII=">
            <a:extLst>
              <a:ext uri="{FF2B5EF4-FFF2-40B4-BE49-F238E27FC236}">
                <a16:creationId xmlns:a16="http://schemas.microsoft.com/office/drawing/2014/main" id="{7DE19171-8003-38AA-09B1-7A64812D1635}"/>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Title 2">
            <a:extLst>
              <a:ext uri="{FF2B5EF4-FFF2-40B4-BE49-F238E27FC236}">
                <a16:creationId xmlns:a16="http://schemas.microsoft.com/office/drawing/2014/main" id="{ED30CA00-DF44-0A8D-315D-11E0D4738A83}"/>
              </a:ext>
            </a:extLst>
          </p:cNvPr>
          <p:cNvSpPr>
            <a:spLocks noGrp="1"/>
          </p:cNvSpPr>
          <p:nvPr>
            <p:ph type="title"/>
          </p:nvPr>
        </p:nvSpPr>
        <p:spPr>
          <a:xfrm>
            <a:off x="587375" y="619125"/>
            <a:ext cx="7967664" cy="865188"/>
          </a:xfrm>
        </p:spPr>
        <p:txBody>
          <a:bodyPr/>
          <a:lstStyle/>
          <a:p>
            <a:r>
              <a:rPr lang="en-US" dirty="0"/>
              <a:t>Introduction</a:t>
            </a:r>
          </a:p>
        </p:txBody>
      </p:sp>
      <p:sp>
        <p:nvSpPr>
          <p:cNvPr id="3" name="TextBox 2">
            <a:extLst>
              <a:ext uri="{FF2B5EF4-FFF2-40B4-BE49-F238E27FC236}">
                <a16:creationId xmlns:a16="http://schemas.microsoft.com/office/drawing/2014/main" id="{3CD77D32-7D43-7648-34F0-3D860F1D084E}"/>
              </a:ext>
            </a:extLst>
          </p:cNvPr>
          <p:cNvSpPr txBox="1"/>
          <p:nvPr/>
        </p:nvSpPr>
        <p:spPr>
          <a:xfrm>
            <a:off x="508409" y="1051323"/>
            <a:ext cx="4661854" cy="400110"/>
          </a:xfrm>
          <a:prstGeom prst="rect">
            <a:avLst/>
          </a:prstGeom>
          <a:noFill/>
        </p:spPr>
        <p:txBody>
          <a:bodyPr wrap="none" rtlCol="0">
            <a:spAutoFit/>
          </a:bodyPr>
          <a:lstStyle/>
          <a:p>
            <a:r>
              <a:rPr lang="en-US" sz="2000" b="1" dirty="0"/>
              <a:t>Our framework – A simplified picture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24F1AD3-53D1-1387-A20A-708FB9C4D0FC}"/>
                  </a:ext>
                </a:extLst>
              </p:cNvPr>
              <p:cNvSpPr txBox="1"/>
              <p:nvPr/>
            </p:nvSpPr>
            <p:spPr>
              <a:xfrm>
                <a:off x="3515421" y="4520650"/>
                <a:ext cx="4019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𝑋</m:t>
                      </m:r>
                    </m:oMath>
                  </m:oMathPara>
                </a14:m>
                <a:endParaRPr lang="en-US" dirty="0"/>
              </a:p>
            </p:txBody>
          </p:sp>
        </mc:Choice>
        <mc:Fallback xmlns="">
          <p:sp>
            <p:nvSpPr>
              <p:cNvPr id="5" name="TextBox 4">
                <a:extLst>
                  <a:ext uri="{FF2B5EF4-FFF2-40B4-BE49-F238E27FC236}">
                    <a16:creationId xmlns:a16="http://schemas.microsoft.com/office/drawing/2014/main" id="{524F1AD3-53D1-1387-A20A-708FB9C4D0FC}"/>
                  </a:ext>
                </a:extLst>
              </p:cNvPr>
              <p:cNvSpPr txBox="1">
                <a:spLocks noRot="1" noChangeAspect="1" noMove="1" noResize="1" noEditPoints="1" noAdjustHandles="1" noChangeArrowheads="1" noChangeShapeType="1" noTextEdit="1"/>
              </p:cNvSpPr>
              <p:nvPr/>
            </p:nvSpPr>
            <p:spPr>
              <a:xfrm>
                <a:off x="3515421" y="4520650"/>
                <a:ext cx="401905" cy="369332"/>
              </a:xfrm>
              <a:prstGeom prst="rect">
                <a:avLst/>
              </a:prstGeom>
              <a:blipFill>
                <a:blip r:embed="rId3"/>
                <a:stretch>
                  <a:fillRect/>
                </a:stretch>
              </a:blipFill>
            </p:spPr>
            <p:txBody>
              <a:bodyPr/>
              <a:lstStyle/>
              <a:p>
                <a:r>
                  <a:rPr lang="en-GB">
                    <a:noFill/>
                  </a:rPr>
                  <a:t> </a:t>
                </a:r>
              </a:p>
            </p:txBody>
          </p:sp>
        </mc:Fallback>
      </mc:AlternateContent>
      <p:cxnSp>
        <p:nvCxnSpPr>
          <p:cNvPr id="8" name="Straight Connector 7">
            <a:extLst>
              <a:ext uri="{FF2B5EF4-FFF2-40B4-BE49-F238E27FC236}">
                <a16:creationId xmlns:a16="http://schemas.microsoft.com/office/drawing/2014/main" id="{4313C53A-C2B7-B615-ED0D-AA81DE454927}"/>
              </a:ext>
            </a:extLst>
          </p:cNvPr>
          <p:cNvCxnSpPr/>
          <p:nvPr/>
        </p:nvCxnSpPr>
        <p:spPr>
          <a:xfrm flipV="1">
            <a:off x="2604258" y="4811948"/>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D0D6C75-3947-0EB9-E798-DE7E724A1AA8}"/>
              </a:ext>
            </a:extLst>
          </p:cNvPr>
          <p:cNvCxnSpPr>
            <a:cxnSpLocks/>
          </p:cNvCxnSpPr>
          <p:nvPr/>
        </p:nvCxnSpPr>
        <p:spPr>
          <a:xfrm flipV="1">
            <a:off x="3696999" y="4828161"/>
            <a:ext cx="0" cy="864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922E2EB-F190-AA83-3F4D-532676F38DE6}"/>
              </a:ext>
            </a:extLst>
          </p:cNvPr>
          <p:cNvCxnSpPr>
            <a:cxnSpLocks/>
          </p:cNvCxnSpPr>
          <p:nvPr/>
        </p:nvCxnSpPr>
        <p:spPr>
          <a:xfrm rot="16200000" flipV="1">
            <a:off x="3936947" y="4815349"/>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CFF00F3-4CF3-9380-2E3C-7A1D9046A8E4}"/>
                  </a:ext>
                </a:extLst>
              </p:cNvPr>
              <p:cNvSpPr txBox="1"/>
              <p:nvPr/>
            </p:nvSpPr>
            <p:spPr>
              <a:xfrm>
                <a:off x="2953717" y="5623339"/>
                <a:ext cx="4203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6" name="TextBox 15">
                <a:extLst>
                  <a:ext uri="{FF2B5EF4-FFF2-40B4-BE49-F238E27FC236}">
                    <a16:creationId xmlns:a16="http://schemas.microsoft.com/office/drawing/2014/main" id="{1CFF00F3-4CF3-9380-2E3C-7A1D9046A8E4}"/>
                  </a:ext>
                </a:extLst>
              </p:cNvPr>
              <p:cNvSpPr txBox="1">
                <a:spLocks noRot="1" noChangeAspect="1" noMove="1" noResize="1" noEditPoints="1" noAdjustHandles="1" noChangeArrowheads="1" noChangeShapeType="1" noTextEdit="1"/>
              </p:cNvSpPr>
              <p:nvPr/>
            </p:nvSpPr>
            <p:spPr>
              <a:xfrm>
                <a:off x="2953717" y="5623339"/>
                <a:ext cx="420308" cy="369332"/>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6FFF915-E280-950C-E8AD-C9D3E9089A05}"/>
                  </a:ext>
                </a:extLst>
              </p:cNvPr>
              <p:cNvSpPr txBox="1"/>
              <p:nvPr/>
            </p:nvSpPr>
            <p:spPr>
              <a:xfrm>
                <a:off x="4083467" y="5623339"/>
                <a:ext cx="42030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dirty="0"/>
              </a:p>
            </p:txBody>
          </p:sp>
        </mc:Choice>
        <mc:Fallback xmlns="">
          <p:sp>
            <p:nvSpPr>
              <p:cNvPr id="18" name="TextBox 17">
                <a:extLst>
                  <a:ext uri="{FF2B5EF4-FFF2-40B4-BE49-F238E27FC236}">
                    <a16:creationId xmlns:a16="http://schemas.microsoft.com/office/drawing/2014/main" id="{66FFF915-E280-950C-E8AD-C9D3E9089A05}"/>
                  </a:ext>
                </a:extLst>
              </p:cNvPr>
              <p:cNvSpPr txBox="1">
                <a:spLocks noRot="1" noChangeAspect="1" noMove="1" noResize="1" noEditPoints="1" noAdjustHandles="1" noChangeArrowheads="1" noChangeShapeType="1" noTextEdit="1"/>
              </p:cNvSpPr>
              <p:nvPr/>
            </p:nvSpPr>
            <p:spPr>
              <a:xfrm>
                <a:off x="4083467" y="5623339"/>
                <a:ext cx="420308" cy="369332"/>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1A90830-632B-E8C1-9909-17D7B6CDA90C}"/>
                  </a:ext>
                </a:extLst>
              </p:cNvPr>
              <p:cNvSpPr txBox="1"/>
              <p:nvPr/>
            </p:nvSpPr>
            <p:spPr>
              <a:xfrm>
                <a:off x="2337646" y="5710135"/>
                <a:ext cx="4881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1</m:t>
                          </m:r>
                        </m:sub>
                      </m:sSub>
                    </m:oMath>
                  </m:oMathPara>
                </a14:m>
                <a:endParaRPr lang="en-US" dirty="0"/>
              </a:p>
            </p:txBody>
          </p:sp>
        </mc:Choice>
        <mc:Fallback xmlns="">
          <p:sp>
            <p:nvSpPr>
              <p:cNvPr id="19" name="TextBox 18">
                <a:extLst>
                  <a:ext uri="{FF2B5EF4-FFF2-40B4-BE49-F238E27FC236}">
                    <a16:creationId xmlns:a16="http://schemas.microsoft.com/office/drawing/2014/main" id="{E1A90830-632B-E8C1-9909-17D7B6CDA90C}"/>
                  </a:ext>
                </a:extLst>
              </p:cNvPr>
              <p:cNvSpPr txBox="1">
                <a:spLocks noRot="1" noChangeAspect="1" noMove="1" noResize="1" noEditPoints="1" noAdjustHandles="1" noChangeArrowheads="1" noChangeShapeType="1" noTextEdit="1"/>
              </p:cNvSpPr>
              <p:nvPr/>
            </p:nvSpPr>
            <p:spPr>
              <a:xfrm>
                <a:off x="2337646" y="5710135"/>
                <a:ext cx="488147" cy="36933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0A1B39C1-3636-6483-B0FB-A5E9682F040B}"/>
                  </a:ext>
                </a:extLst>
              </p:cNvPr>
              <p:cNvSpPr txBox="1"/>
              <p:nvPr/>
            </p:nvSpPr>
            <p:spPr>
              <a:xfrm>
                <a:off x="3452950" y="5710135"/>
                <a:ext cx="4607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𝑖</m:t>
                          </m:r>
                        </m:sub>
                      </m:sSub>
                    </m:oMath>
                  </m:oMathPara>
                </a14:m>
                <a:endParaRPr lang="en-US" dirty="0"/>
              </a:p>
            </p:txBody>
          </p:sp>
        </mc:Choice>
        <mc:Fallback xmlns="">
          <p:sp>
            <p:nvSpPr>
              <p:cNvPr id="20" name="TextBox 19">
                <a:extLst>
                  <a:ext uri="{FF2B5EF4-FFF2-40B4-BE49-F238E27FC236}">
                    <a16:creationId xmlns:a16="http://schemas.microsoft.com/office/drawing/2014/main" id="{0A1B39C1-3636-6483-B0FB-A5E9682F040B}"/>
                  </a:ext>
                </a:extLst>
              </p:cNvPr>
              <p:cNvSpPr txBox="1">
                <a:spLocks noRot="1" noChangeAspect="1" noMove="1" noResize="1" noEditPoints="1" noAdjustHandles="1" noChangeArrowheads="1" noChangeShapeType="1" noTextEdit="1"/>
              </p:cNvSpPr>
              <p:nvPr/>
            </p:nvSpPr>
            <p:spPr>
              <a:xfrm>
                <a:off x="3452950" y="5710135"/>
                <a:ext cx="460767" cy="36933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735C296-1F85-5EC7-D4B4-3E08736558DF}"/>
                  </a:ext>
                </a:extLst>
              </p:cNvPr>
              <p:cNvSpPr txBox="1"/>
              <p:nvPr/>
            </p:nvSpPr>
            <p:spPr>
              <a:xfrm>
                <a:off x="4649472" y="5681004"/>
                <a:ext cx="46673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𝑋</m:t>
                          </m:r>
                        </m:e>
                        <m:sub>
                          <m:r>
                            <a:rPr lang="en-US" b="0" i="1" smtClean="0">
                              <a:latin typeface="Cambria Math" panose="02040503050406030204" pitchFamily="18" charset="0"/>
                            </a:rPr>
                            <m:t>𝐼</m:t>
                          </m:r>
                        </m:sub>
                      </m:sSub>
                    </m:oMath>
                  </m:oMathPara>
                </a14:m>
                <a:endParaRPr lang="en-US" dirty="0"/>
              </a:p>
            </p:txBody>
          </p:sp>
        </mc:Choice>
        <mc:Fallback xmlns="">
          <p:sp>
            <p:nvSpPr>
              <p:cNvPr id="33" name="TextBox 32">
                <a:extLst>
                  <a:ext uri="{FF2B5EF4-FFF2-40B4-BE49-F238E27FC236}">
                    <a16:creationId xmlns:a16="http://schemas.microsoft.com/office/drawing/2014/main" id="{A735C296-1F85-5EC7-D4B4-3E08736558DF}"/>
                  </a:ext>
                </a:extLst>
              </p:cNvPr>
              <p:cNvSpPr txBox="1">
                <a:spLocks noRot="1" noChangeAspect="1" noMove="1" noResize="1" noEditPoints="1" noAdjustHandles="1" noChangeArrowheads="1" noChangeShapeType="1" noTextEdit="1"/>
              </p:cNvSpPr>
              <p:nvPr/>
            </p:nvSpPr>
            <p:spPr>
              <a:xfrm>
                <a:off x="4649472" y="5681004"/>
                <a:ext cx="466731" cy="36933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94E9C21-FD63-3CFA-C047-5BE3E3EF552D}"/>
                  </a:ext>
                </a:extLst>
              </p:cNvPr>
              <p:cNvSpPr txBox="1"/>
              <p:nvPr/>
            </p:nvSpPr>
            <p:spPr>
              <a:xfrm>
                <a:off x="3123134" y="2382322"/>
                <a:ext cx="3922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oMath>
                  </m:oMathPara>
                </a14:m>
                <a:endParaRPr lang="en-US" dirty="0"/>
              </a:p>
            </p:txBody>
          </p:sp>
        </mc:Choice>
        <mc:Fallback xmlns="">
          <p:sp>
            <p:nvSpPr>
              <p:cNvPr id="36" name="TextBox 35">
                <a:extLst>
                  <a:ext uri="{FF2B5EF4-FFF2-40B4-BE49-F238E27FC236}">
                    <a16:creationId xmlns:a16="http://schemas.microsoft.com/office/drawing/2014/main" id="{E94E9C21-FD63-3CFA-C047-5BE3E3EF552D}"/>
                  </a:ext>
                </a:extLst>
              </p:cNvPr>
              <p:cNvSpPr txBox="1">
                <a:spLocks noRot="1" noChangeAspect="1" noMove="1" noResize="1" noEditPoints="1" noAdjustHandles="1" noChangeArrowheads="1" noChangeShapeType="1" noTextEdit="1"/>
              </p:cNvSpPr>
              <p:nvPr/>
            </p:nvSpPr>
            <p:spPr>
              <a:xfrm>
                <a:off x="3123134" y="2382322"/>
                <a:ext cx="392287" cy="369332"/>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C132E71-1A11-F776-1A49-77001875F16F}"/>
                  </a:ext>
                </a:extLst>
              </p:cNvPr>
              <p:cNvSpPr txBox="1"/>
              <p:nvPr/>
            </p:nvSpPr>
            <p:spPr>
              <a:xfrm>
                <a:off x="1286840" y="3336473"/>
                <a:ext cx="53726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𝐾𝐿</m:t>
                      </m:r>
                    </m:oMath>
                  </m:oMathPara>
                </a14:m>
                <a:endParaRPr lang="en-US" dirty="0"/>
              </a:p>
            </p:txBody>
          </p:sp>
        </mc:Choice>
        <mc:Fallback xmlns="">
          <p:sp>
            <p:nvSpPr>
              <p:cNvPr id="45" name="TextBox 44">
                <a:extLst>
                  <a:ext uri="{FF2B5EF4-FFF2-40B4-BE49-F238E27FC236}">
                    <a16:creationId xmlns:a16="http://schemas.microsoft.com/office/drawing/2014/main" id="{DC132E71-1A11-F776-1A49-77001875F16F}"/>
                  </a:ext>
                </a:extLst>
              </p:cNvPr>
              <p:cNvSpPr txBox="1">
                <a:spLocks noRot="1" noChangeAspect="1" noMove="1" noResize="1" noEditPoints="1" noAdjustHandles="1" noChangeArrowheads="1" noChangeShapeType="1" noTextEdit="1"/>
              </p:cNvSpPr>
              <p:nvPr/>
            </p:nvSpPr>
            <p:spPr>
              <a:xfrm>
                <a:off x="1286840" y="3336473"/>
                <a:ext cx="537263" cy="369332"/>
              </a:xfrm>
              <a:prstGeom prst="rect">
                <a:avLst/>
              </a:prstGeom>
              <a:blipFill>
                <a:blip r:embed="rId10"/>
                <a:stretch>
                  <a:fillRect/>
                </a:stretch>
              </a:blipFill>
            </p:spPr>
            <p:txBody>
              <a:bodyPr/>
              <a:lstStyle/>
              <a:p>
                <a:r>
                  <a:rPr lang="en-GB">
                    <a:noFill/>
                  </a:rPr>
                  <a:t> </a:t>
                </a:r>
              </a:p>
            </p:txBody>
          </p:sp>
        </mc:Fallback>
      </mc:AlternateContent>
      <p:cxnSp>
        <p:nvCxnSpPr>
          <p:cNvPr id="47" name="Straight Connector 46">
            <a:extLst>
              <a:ext uri="{FF2B5EF4-FFF2-40B4-BE49-F238E27FC236}">
                <a16:creationId xmlns:a16="http://schemas.microsoft.com/office/drawing/2014/main" id="{88A23B05-0620-550A-AD48-EA04099299EF}"/>
              </a:ext>
            </a:extLst>
          </p:cNvPr>
          <p:cNvCxnSpPr/>
          <p:nvPr/>
        </p:nvCxnSpPr>
        <p:spPr>
          <a:xfrm flipV="1">
            <a:off x="462731" y="3644781"/>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5F44514-6D07-C268-8B0B-6F91509DA161}"/>
              </a:ext>
            </a:extLst>
          </p:cNvPr>
          <p:cNvCxnSpPr>
            <a:cxnSpLocks/>
          </p:cNvCxnSpPr>
          <p:nvPr/>
        </p:nvCxnSpPr>
        <p:spPr>
          <a:xfrm rot="16200000" flipV="1">
            <a:off x="1795420" y="3648182"/>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DD9DE70-CAA3-86E7-A3DC-A244EB8E4349}"/>
                  </a:ext>
                </a:extLst>
              </p:cNvPr>
              <p:cNvSpPr txBox="1"/>
              <p:nvPr/>
            </p:nvSpPr>
            <p:spPr>
              <a:xfrm>
                <a:off x="196119" y="4542968"/>
                <a:ext cx="3753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oMath>
                  </m:oMathPara>
                </a14:m>
                <a:endParaRPr lang="en-US" dirty="0"/>
              </a:p>
            </p:txBody>
          </p:sp>
        </mc:Choice>
        <mc:Fallback xmlns="">
          <p:sp>
            <p:nvSpPr>
              <p:cNvPr id="52" name="TextBox 51">
                <a:extLst>
                  <a:ext uri="{FF2B5EF4-FFF2-40B4-BE49-F238E27FC236}">
                    <a16:creationId xmlns:a16="http://schemas.microsoft.com/office/drawing/2014/main" id="{0DD9DE70-CAA3-86E7-A3DC-A244EB8E4349}"/>
                  </a:ext>
                </a:extLst>
              </p:cNvPr>
              <p:cNvSpPr txBox="1">
                <a:spLocks noRot="1" noChangeAspect="1" noMove="1" noResize="1" noEditPoints="1" noAdjustHandles="1" noChangeArrowheads="1" noChangeShapeType="1" noTextEdit="1"/>
              </p:cNvSpPr>
              <p:nvPr/>
            </p:nvSpPr>
            <p:spPr>
              <a:xfrm>
                <a:off x="196119" y="4542968"/>
                <a:ext cx="375359" cy="369332"/>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9CAADE74-05E7-041F-4E17-053C4D2422F2}"/>
                  </a:ext>
                </a:extLst>
              </p:cNvPr>
              <p:cNvSpPr txBox="1"/>
              <p:nvPr/>
            </p:nvSpPr>
            <p:spPr>
              <a:xfrm>
                <a:off x="2507945" y="4513837"/>
                <a:ext cx="4160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𝐾</m:t>
                      </m:r>
                    </m:oMath>
                  </m:oMathPara>
                </a14:m>
                <a:endParaRPr lang="en-US" dirty="0"/>
              </a:p>
            </p:txBody>
          </p:sp>
        </mc:Choice>
        <mc:Fallback xmlns="">
          <p:sp>
            <p:nvSpPr>
              <p:cNvPr id="54" name="TextBox 53">
                <a:extLst>
                  <a:ext uri="{FF2B5EF4-FFF2-40B4-BE49-F238E27FC236}">
                    <a16:creationId xmlns:a16="http://schemas.microsoft.com/office/drawing/2014/main" id="{9CAADE74-05E7-041F-4E17-053C4D2422F2}"/>
                  </a:ext>
                </a:extLst>
              </p:cNvPr>
              <p:cNvSpPr txBox="1">
                <a:spLocks noRot="1" noChangeAspect="1" noMove="1" noResize="1" noEditPoints="1" noAdjustHandles="1" noChangeArrowheads="1" noChangeShapeType="1" noTextEdit="1"/>
              </p:cNvSpPr>
              <p:nvPr/>
            </p:nvSpPr>
            <p:spPr>
              <a:xfrm>
                <a:off x="2507945" y="4513837"/>
                <a:ext cx="416075" cy="369332"/>
              </a:xfrm>
              <a:prstGeom prst="rect">
                <a:avLst/>
              </a:prstGeom>
              <a:blipFill>
                <a:blip r:embed="rId12"/>
                <a:stretch>
                  <a:fillRect/>
                </a:stretch>
              </a:blipFill>
            </p:spPr>
            <p:txBody>
              <a:bodyPr/>
              <a:lstStyle/>
              <a:p>
                <a:r>
                  <a:rPr lang="en-GB">
                    <a:noFill/>
                  </a:rPr>
                  <a:t> </a:t>
                </a:r>
              </a:p>
            </p:txBody>
          </p:sp>
        </mc:Fallback>
      </mc:AlternateContent>
      <p:cxnSp>
        <p:nvCxnSpPr>
          <p:cNvPr id="55" name="Straight Connector 54">
            <a:extLst>
              <a:ext uri="{FF2B5EF4-FFF2-40B4-BE49-F238E27FC236}">
                <a16:creationId xmlns:a16="http://schemas.microsoft.com/office/drawing/2014/main" id="{EC2DC283-5A5C-F89B-4941-47BBB713E5F4}"/>
              </a:ext>
            </a:extLst>
          </p:cNvPr>
          <p:cNvCxnSpPr>
            <a:cxnSpLocks/>
          </p:cNvCxnSpPr>
          <p:nvPr/>
        </p:nvCxnSpPr>
        <p:spPr>
          <a:xfrm flipV="1">
            <a:off x="1696995" y="2751654"/>
            <a:ext cx="1359317" cy="6185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0C288B3-F778-EF46-CAA7-E81B4736083C}"/>
              </a:ext>
            </a:extLst>
          </p:cNvPr>
          <p:cNvCxnSpPr>
            <a:cxnSpLocks/>
          </p:cNvCxnSpPr>
          <p:nvPr/>
        </p:nvCxnSpPr>
        <p:spPr>
          <a:xfrm>
            <a:off x="3515421" y="2751654"/>
            <a:ext cx="1359317" cy="6185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69C1D407-5494-5F36-7856-D651E9BAECE6}"/>
              </a:ext>
            </a:extLst>
          </p:cNvPr>
          <p:cNvSpPr/>
          <p:nvPr/>
        </p:nvSpPr>
        <p:spPr>
          <a:xfrm>
            <a:off x="5304454" y="5580076"/>
            <a:ext cx="581227" cy="571188"/>
          </a:xfrm>
          <a:prstGeom prst="ellipse">
            <a:avLst/>
          </a:prstGeom>
          <a:noFill/>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65" name="Oval 64">
            <a:extLst>
              <a:ext uri="{FF2B5EF4-FFF2-40B4-BE49-F238E27FC236}">
                <a16:creationId xmlns:a16="http://schemas.microsoft.com/office/drawing/2014/main" id="{3E68FD3E-4C5A-50A9-A938-45A2AC997B1D}"/>
              </a:ext>
            </a:extLst>
          </p:cNvPr>
          <p:cNvSpPr/>
          <p:nvPr/>
        </p:nvSpPr>
        <p:spPr>
          <a:xfrm>
            <a:off x="6540335" y="5580076"/>
            <a:ext cx="581227" cy="571188"/>
          </a:xfrm>
          <a:prstGeom prst="ellipse">
            <a:avLst/>
          </a:prstGeom>
          <a:noFill/>
          <a:ln>
            <a:solidFill>
              <a:schemeClr val="accent3">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66" name="TextBox 65">
            <a:extLst>
              <a:ext uri="{FF2B5EF4-FFF2-40B4-BE49-F238E27FC236}">
                <a16:creationId xmlns:a16="http://schemas.microsoft.com/office/drawing/2014/main" id="{E06E9F7F-0F34-4ACA-40D3-C70A361978E3}"/>
              </a:ext>
            </a:extLst>
          </p:cNvPr>
          <p:cNvSpPr txBox="1"/>
          <p:nvPr/>
        </p:nvSpPr>
        <p:spPr>
          <a:xfrm>
            <a:off x="5222746" y="6261868"/>
            <a:ext cx="2636230" cy="523220"/>
          </a:xfrm>
          <a:prstGeom prst="rect">
            <a:avLst/>
          </a:prstGeom>
          <a:noFill/>
        </p:spPr>
        <p:txBody>
          <a:bodyPr wrap="square" rtlCol="0">
            <a:spAutoFit/>
          </a:bodyPr>
          <a:lstStyle/>
          <a:p>
            <a:pPr algn="ctr"/>
            <a:r>
              <a:rPr lang="en-US" sz="1400" dirty="0">
                <a:solidFill>
                  <a:schemeClr val="accent3">
                    <a:lumMod val="50000"/>
                  </a:schemeClr>
                </a:solidFill>
              </a:rPr>
              <a:t>Virgin and recycled materials </a:t>
            </a:r>
          </a:p>
          <a:p>
            <a:pPr algn="ctr"/>
            <a:r>
              <a:rPr lang="en-US" sz="1400" dirty="0">
                <a:solidFill>
                  <a:schemeClr val="accent3">
                    <a:lumMod val="50000"/>
                  </a:schemeClr>
                </a:solidFill>
              </a:rPr>
              <a:t>(measured in mass units)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28A5FB6-6862-5154-6938-3C9796D2ABF9}"/>
                  </a:ext>
                </a:extLst>
              </p:cNvPr>
              <p:cNvSpPr txBox="1"/>
              <p:nvPr/>
            </p:nvSpPr>
            <p:spPr>
              <a:xfrm>
                <a:off x="5986671" y="4520801"/>
                <a:ext cx="5541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𝑀</m:t>
                          </m:r>
                        </m:sup>
                      </m:sSup>
                    </m:oMath>
                  </m:oMathPara>
                </a14:m>
                <a:endParaRPr lang="en-US" dirty="0"/>
              </a:p>
            </p:txBody>
          </p:sp>
        </mc:Choice>
        <mc:Fallback xmlns="">
          <p:sp>
            <p:nvSpPr>
              <p:cNvPr id="7" name="TextBox 6">
                <a:extLst>
                  <a:ext uri="{FF2B5EF4-FFF2-40B4-BE49-F238E27FC236}">
                    <a16:creationId xmlns:a16="http://schemas.microsoft.com/office/drawing/2014/main" id="{928A5FB6-6862-5154-6938-3C9796D2ABF9}"/>
                  </a:ext>
                </a:extLst>
              </p:cNvPr>
              <p:cNvSpPr txBox="1">
                <a:spLocks noRot="1" noChangeAspect="1" noMove="1" noResize="1" noEditPoints="1" noAdjustHandles="1" noChangeArrowheads="1" noChangeShapeType="1" noTextEdit="1"/>
              </p:cNvSpPr>
              <p:nvPr/>
            </p:nvSpPr>
            <p:spPr>
              <a:xfrm>
                <a:off x="5986671" y="4520801"/>
                <a:ext cx="554190" cy="369332"/>
              </a:xfrm>
              <a:prstGeom prst="rect">
                <a:avLst/>
              </a:prstGeom>
              <a:blipFill>
                <a:blip r:embed="rId13"/>
                <a:stretch>
                  <a:fillRect/>
                </a:stretch>
              </a:blipFill>
            </p:spPr>
            <p:txBody>
              <a:bodyPr/>
              <a:lstStyle/>
              <a:p>
                <a:r>
                  <a:rPr lang="en-GB">
                    <a:noFill/>
                  </a:rPr>
                  <a:t> </a:t>
                </a:r>
              </a:p>
            </p:txBody>
          </p:sp>
        </mc:Fallback>
      </mc:AlternateContent>
      <p:cxnSp>
        <p:nvCxnSpPr>
          <p:cNvPr id="10" name="Straight Connector 9">
            <a:extLst>
              <a:ext uri="{FF2B5EF4-FFF2-40B4-BE49-F238E27FC236}">
                <a16:creationId xmlns:a16="http://schemas.microsoft.com/office/drawing/2014/main" id="{C149FD87-8765-084B-D081-06A4CB7BCB66}"/>
              </a:ext>
            </a:extLst>
          </p:cNvPr>
          <p:cNvCxnSpPr>
            <a:cxnSpLocks/>
            <a:stCxn id="17" idx="0"/>
          </p:cNvCxnSpPr>
          <p:nvPr/>
        </p:nvCxnSpPr>
        <p:spPr>
          <a:xfrm flipV="1">
            <a:off x="5604818" y="4871685"/>
            <a:ext cx="526965" cy="8227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3EBAA8-2998-5BB4-A3ED-683ADA82F5B2}"/>
              </a:ext>
            </a:extLst>
          </p:cNvPr>
          <p:cNvCxnSpPr>
            <a:cxnSpLocks/>
            <a:stCxn id="22" idx="0"/>
            <a:endCxn id="7" idx="2"/>
          </p:cNvCxnSpPr>
          <p:nvPr/>
        </p:nvCxnSpPr>
        <p:spPr>
          <a:xfrm flipH="1" flipV="1">
            <a:off x="6263766" y="4890133"/>
            <a:ext cx="553139" cy="8005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A67175C-28C9-242E-9BC9-E30FE4F86263}"/>
                  </a:ext>
                </a:extLst>
              </p:cNvPr>
              <p:cNvSpPr txBox="1"/>
              <p:nvPr/>
            </p:nvSpPr>
            <p:spPr>
              <a:xfrm>
                <a:off x="5345677" y="5694392"/>
                <a:ext cx="5182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𝑉</m:t>
                          </m:r>
                        </m:sup>
                      </m:sSup>
                    </m:oMath>
                  </m:oMathPara>
                </a14:m>
                <a:endParaRPr lang="en-US" dirty="0"/>
              </a:p>
            </p:txBody>
          </p:sp>
        </mc:Choice>
        <mc:Fallback xmlns="">
          <p:sp>
            <p:nvSpPr>
              <p:cNvPr id="17" name="TextBox 16">
                <a:extLst>
                  <a:ext uri="{FF2B5EF4-FFF2-40B4-BE49-F238E27FC236}">
                    <a16:creationId xmlns:a16="http://schemas.microsoft.com/office/drawing/2014/main" id="{6A67175C-28C9-242E-9BC9-E30FE4F86263}"/>
                  </a:ext>
                </a:extLst>
              </p:cNvPr>
              <p:cNvSpPr txBox="1">
                <a:spLocks noRot="1" noChangeAspect="1" noMove="1" noResize="1" noEditPoints="1" noAdjustHandles="1" noChangeArrowheads="1" noChangeShapeType="1" noTextEdit="1"/>
              </p:cNvSpPr>
              <p:nvPr/>
            </p:nvSpPr>
            <p:spPr>
              <a:xfrm>
                <a:off x="5345677" y="5694392"/>
                <a:ext cx="518282" cy="369332"/>
              </a:xfrm>
              <a:prstGeom prst="rect">
                <a:avLst/>
              </a:prstGeom>
              <a:blipFill>
                <a:blip r:embed="rId1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A9E362D0-0E63-AB40-7785-85045E01F948}"/>
                  </a:ext>
                </a:extLst>
              </p:cNvPr>
              <p:cNvSpPr txBox="1"/>
              <p:nvPr/>
            </p:nvSpPr>
            <p:spPr>
              <a:xfrm>
                <a:off x="6557764" y="5690680"/>
                <a:ext cx="51828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𝑍</m:t>
                          </m:r>
                        </m:e>
                        <m:sup>
                          <m:r>
                            <a:rPr lang="en-US" b="0" i="1" smtClean="0">
                              <a:latin typeface="Cambria Math" panose="02040503050406030204" pitchFamily="18" charset="0"/>
                            </a:rPr>
                            <m:t>𝑅</m:t>
                          </m:r>
                        </m:sup>
                      </m:sSup>
                    </m:oMath>
                  </m:oMathPara>
                </a14:m>
                <a:endParaRPr lang="en-US" dirty="0"/>
              </a:p>
            </p:txBody>
          </p:sp>
        </mc:Choice>
        <mc:Fallback xmlns="">
          <p:sp>
            <p:nvSpPr>
              <p:cNvPr id="22" name="TextBox 21">
                <a:extLst>
                  <a:ext uri="{FF2B5EF4-FFF2-40B4-BE49-F238E27FC236}">
                    <a16:creationId xmlns:a16="http://schemas.microsoft.com/office/drawing/2014/main" id="{A9E362D0-0E63-AB40-7785-85045E01F948}"/>
                  </a:ext>
                </a:extLst>
              </p:cNvPr>
              <p:cNvSpPr txBox="1">
                <a:spLocks noRot="1" noChangeAspect="1" noMove="1" noResize="1" noEditPoints="1" noAdjustHandles="1" noChangeArrowheads="1" noChangeShapeType="1" noTextEdit="1"/>
              </p:cNvSpPr>
              <p:nvPr/>
            </p:nvSpPr>
            <p:spPr>
              <a:xfrm>
                <a:off x="6557764" y="5690680"/>
                <a:ext cx="518282" cy="369332"/>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719B39E-9950-A55A-969D-C36638D8ACFF}"/>
                  </a:ext>
                </a:extLst>
              </p:cNvPr>
              <p:cNvSpPr txBox="1"/>
              <p:nvPr/>
            </p:nvSpPr>
            <p:spPr>
              <a:xfrm>
                <a:off x="4831292" y="3336473"/>
                <a:ext cx="3890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𝑍</m:t>
                      </m:r>
                    </m:oMath>
                  </m:oMathPara>
                </a14:m>
                <a:endParaRPr lang="en-US" dirty="0"/>
              </a:p>
            </p:txBody>
          </p:sp>
        </mc:Choice>
        <mc:Fallback xmlns="">
          <p:sp>
            <p:nvSpPr>
              <p:cNvPr id="23" name="TextBox 22">
                <a:extLst>
                  <a:ext uri="{FF2B5EF4-FFF2-40B4-BE49-F238E27FC236}">
                    <a16:creationId xmlns:a16="http://schemas.microsoft.com/office/drawing/2014/main" id="{5719B39E-9950-A55A-969D-C36638D8ACFF}"/>
                  </a:ext>
                </a:extLst>
              </p:cNvPr>
              <p:cNvSpPr txBox="1">
                <a:spLocks noRot="1" noChangeAspect="1" noMove="1" noResize="1" noEditPoints="1" noAdjustHandles="1" noChangeArrowheads="1" noChangeShapeType="1" noTextEdit="1"/>
              </p:cNvSpPr>
              <p:nvPr/>
            </p:nvSpPr>
            <p:spPr>
              <a:xfrm>
                <a:off x="4831292" y="3336473"/>
                <a:ext cx="389081" cy="369332"/>
              </a:xfrm>
              <a:prstGeom prst="rect">
                <a:avLst/>
              </a:prstGeom>
              <a:blipFill>
                <a:blip r:embed="rId16"/>
                <a:stretch>
                  <a:fillRect/>
                </a:stretch>
              </a:blipFill>
            </p:spPr>
            <p:txBody>
              <a:bodyPr/>
              <a:lstStyle/>
              <a:p>
                <a:r>
                  <a:rPr lang="en-GB">
                    <a:noFill/>
                  </a:rPr>
                  <a:t> </a:t>
                </a:r>
              </a:p>
            </p:txBody>
          </p:sp>
        </mc:Fallback>
      </mc:AlternateContent>
      <p:cxnSp>
        <p:nvCxnSpPr>
          <p:cNvPr id="24" name="Straight Connector 23">
            <a:extLst>
              <a:ext uri="{FF2B5EF4-FFF2-40B4-BE49-F238E27FC236}">
                <a16:creationId xmlns:a16="http://schemas.microsoft.com/office/drawing/2014/main" id="{42F0B6A8-DF3A-7657-1971-897CF43FC302}"/>
              </a:ext>
            </a:extLst>
          </p:cNvPr>
          <p:cNvCxnSpPr/>
          <p:nvPr/>
        </p:nvCxnSpPr>
        <p:spPr>
          <a:xfrm flipV="1">
            <a:off x="3913717" y="3659546"/>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E881A79-8F32-36C7-5632-1FF051056DF4}"/>
              </a:ext>
            </a:extLst>
          </p:cNvPr>
          <p:cNvCxnSpPr>
            <a:cxnSpLocks/>
          </p:cNvCxnSpPr>
          <p:nvPr/>
        </p:nvCxnSpPr>
        <p:spPr>
          <a:xfrm rot="16200000" flipV="1">
            <a:off x="5246406" y="3662947"/>
            <a:ext cx="888460" cy="8822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2E353247-F266-1A7B-EC2F-C63D2528D2A0}"/>
              </a:ext>
            </a:extLst>
          </p:cNvPr>
          <p:cNvSpPr/>
          <p:nvPr/>
        </p:nvSpPr>
        <p:spPr>
          <a:xfrm>
            <a:off x="2131425" y="5557965"/>
            <a:ext cx="3038838" cy="659151"/>
          </a:xfrm>
          <a:prstGeom prst="ellipse">
            <a:avLst/>
          </a:prstGeom>
          <a:no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43" name="TextBox 42">
            <a:extLst>
              <a:ext uri="{FF2B5EF4-FFF2-40B4-BE49-F238E27FC236}">
                <a16:creationId xmlns:a16="http://schemas.microsoft.com/office/drawing/2014/main" id="{E0BBBDEC-3276-EE02-F19D-A8F3092EBC2B}"/>
              </a:ext>
            </a:extLst>
          </p:cNvPr>
          <p:cNvSpPr txBox="1"/>
          <p:nvPr/>
        </p:nvSpPr>
        <p:spPr>
          <a:xfrm>
            <a:off x="2295980" y="6277141"/>
            <a:ext cx="2636230" cy="523220"/>
          </a:xfrm>
          <a:prstGeom prst="rect">
            <a:avLst/>
          </a:prstGeom>
          <a:noFill/>
        </p:spPr>
        <p:txBody>
          <a:bodyPr wrap="square" rtlCol="0">
            <a:spAutoFit/>
          </a:bodyPr>
          <a:lstStyle/>
          <a:p>
            <a:pPr algn="ctr"/>
            <a:r>
              <a:rPr lang="en-US" sz="1400" dirty="0">
                <a:solidFill>
                  <a:srgbClr val="7030A0"/>
                </a:solidFill>
              </a:rPr>
              <a:t>Other intermediate goods</a:t>
            </a:r>
          </a:p>
          <a:p>
            <a:pPr algn="ctr"/>
            <a:r>
              <a:rPr lang="en-US" sz="1400" dirty="0">
                <a:solidFill>
                  <a:srgbClr val="7030A0"/>
                </a:solidFill>
              </a:rPr>
              <a:t>(measured in value terms)</a:t>
            </a:r>
          </a:p>
        </p:txBody>
      </p:sp>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6F40958A-0502-6740-8180-8EECD3792C28}"/>
                  </a:ext>
                </a:extLst>
              </p:cNvPr>
              <p:cNvSpPr txBox="1"/>
              <p:nvPr/>
            </p:nvSpPr>
            <p:spPr>
              <a:xfrm>
                <a:off x="4571207" y="2388074"/>
                <a:ext cx="47583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𝑊</m:t>
                      </m:r>
                    </m:oMath>
                  </m:oMathPara>
                </a14:m>
                <a:endParaRPr lang="en-US" dirty="0"/>
              </a:p>
            </p:txBody>
          </p:sp>
        </mc:Choice>
        <mc:Fallback xmlns="">
          <p:sp>
            <p:nvSpPr>
              <p:cNvPr id="69" name="TextBox 68">
                <a:extLst>
                  <a:ext uri="{FF2B5EF4-FFF2-40B4-BE49-F238E27FC236}">
                    <a16:creationId xmlns:a16="http://schemas.microsoft.com/office/drawing/2014/main" id="{6F40958A-0502-6740-8180-8EECD3792C28}"/>
                  </a:ext>
                </a:extLst>
              </p:cNvPr>
              <p:cNvSpPr txBox="1">
                <a:spLocks noRot="1" noChangeAspect="1" noMove="1" noResize="1" noEditPoints="1" noAdjustHandles="1" noChangeArrowheads="1" noChangeShapeType="1" noTextEdit="1"/>
              </p:cNvSpPr>
              <p:nvPr/>
            </p:nvSpPr>
            <p:spPr>
              <a:xfrm>
                <a:off x="4571207" y="2388074"/>
                <a:ext cx="475836" cy="369332"/>
              </a:xfrm>
              <a:prstGeom prst="rect">
                <a:avLst/>
              </a:prstGeom>
              <a:blipFill>
                <a:blip r:embed="rId17"/>
                <a:stretch>
                  <a:fillRect/>
                </a:stretch>
              </a:blipFill>
            </p:spPr>
            <p:txBody>
              <a:bodyPr/>
              <a:lstStyle/>
              <a:p>
                <a:r>
                  <a:rPr lang="en-GB">
                    <a:noFill/>
                  </a:rPr>
                  <a:t> </a:t>
                </a:r>
              </a:p>
            </p:txBody>
          </p:sp>
        </mc:Fallback>
      </mc:AlternateContent>
      <p:sp>
        <p:nvSpPr>
          <p:cNvPr id="72" name="Oval 71">
            <a:extLst>
              <a:ext uri="{FF2B5EF4-FFF2-40B4-BE49-F238E27FC236}">
                <a16:creationId xmlns:a16="http://schemas.microsoft.com/office/drawing/2014/main" id="{8D43BF68-C32A-B7F7-E9C6-388552F348C0}"/>
              </a:ext>
            </a:extLst>
          </p:cNvPr>
          <p:cNvSpPr/>
          <p:nvPr/>
        </p:nvSpPr>
        <p:spPr>
          <a:xfrm>
            <a:off x="4503775" y="2278953"/>
            <a:ext cx="581227" cy="571188"/>
          </a:xfrm>
          <a:prstGeom prst="ellipse">
            <a:avLst/>
          </a:prstGeom>
          <a:no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73" name="TextBox 72">
            <a:extLst>
              <a:ext uri="{FF2B5EF4-FFF2-40B4-BE49-F238E27FC236}">
                <a16:creationId xmlns:a16="http://schemas.microsoft.com/office/drawing/2014/main" id="{AF9D3F58-B907-A099-5107-E6675AA8769B}"/>
              </a:ext>
            </a:extLst>
          </p:cNvPr>
          <p:cNvSpPr txBox="1"/>
          <p:nvPr/>
        </p:nvSpPr>
        <p:spPr>
          <a:xfrm>
            <a:off x="5073981" y="2421320"/>
            <a:ext cx="778090" cy="307777"/>
          </a:xfrm>
          <a:prstGeom prst="rect">
            <a:avLst/>
          </a:prstGeom>
          <a:noFill/>
        </p:spPr>
        <p:txBody>
          <a:bodyPr wrap="square" rtlCol="0">
            <a:spAutoFit/>
          </a:bodyPr>
          <a:lstStyle/>
          <a:p>
            <a:pPr algn="ctr"/>
            <a:r>
              <a:rPr lang="en-US" sz="1400" dirty="0">
                <a:solidFill>
                  <a:schemeClr val="accent6">
                    <a:lumMod val="75000"/>
                  </a:schemeClr>
                </a:solidFill>
              </a:rPr>
              <a:t>Waste</a:t>
            </a:r>
          </a:p>
        </p:txBody>
      </p:sp>
      <p:cxnSp>
        <p:nvCxnSpPr>
          <p:cNvPr id="74" name="Straight Connector 73">
            <a:extLst>
              <a:ext uri="{FF2B5EF4-FFF2-40B4-BE49-F238E27FC236}">
                <a16:creationId xmlns:a16="http://schemas.microsoft.com/office/drawing/2014/main" id="{247440FC-3FA3-7B8E-05C2-E96B73DF4359}"/>
              </a:ext>
            </a:extLst>
          </p:cNvPr>
          <p:cNvCxnSpPr>
            <a:cxnSpLocks/>
          </p:cNvCxnSpPr>
          <p:nvPr/>
        </p:nvCxnSpPr>
        <p:spPr>
          <a:xfrm flipV="1">
            <a:off x="4983794" y="1766801"/>
            <a:ext cx="1089562" cy="7090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1673CD38-5B7F-4B8A-2336-8896AEE7F086}"/>
                  </a:ext>
                </a:extLst>
              </p:cNvPr>
              <p:cNvSpPr txBox="1"/>
              <p:nvPr/>
            </p:nvSpPr>
            <p:spPr>
              <a:xfrm>
                <a:off x="6025848" y="1566970"/>
                <a:ext cx="1212640"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𝑊</m:t>
                          </m:r>
                        </m:e>
                        <m:sup>
                          <m:r>
                            <a:rPr lang="en-US" b="0" i="1" smtClean="0">
                              <a:latin typeface="Cambria Math" panose="02040503050406030204" pitchFamily="18" charset="0"/>
                            </a:rPr>
                            <m:t>𝑟𝑒𝑐𝑦𝑐𝑙𝑒𝑑</m:t>
                          </m:r>
                        </m:sup>
                      </m:sSup>
                    </m:oMath>
                  </m:oMathPara>
                </a14:m>
                <a:endParaRPr lang="en-US" dirty="0"/>
              </a:p>
            </p:txBody>
          </p:sp>
        </mc:Choice>
        <mc:Fallback xmlns="">
          <p:sp>
            <p:nvSpPr>
              <p:cNvPr id="76" name="TextBox 75">
                <a:extLst>
                  <a:ext uri="{FF2B5EF4-FFF2-40B4-BE49-F238E27FC236}">
                    <a16:creationId xmlns:a16="http://schemas.microsoft.com/office/drawing/2014/main" id="{1673CD38-5B7F-4B8A-2336-8896AEE7F086}"/>
                  </a:ext>
                </a:extLst>
              </p:cNvPr>
              <p:cNvSpPr txBox="1">
                <a:spLocks noRot="1" noChangeAspect="1" noMove="1" noResize="1" noEditPoints="1" noAdjustHandles="1" noChangeArrowheads="1" noChangeShapeType="1" noTextEdit="1"/>
              </p:cNvSpPr>
              <p:nvPr/>
            </p:nvSpPr>
            <p:spPr>
              <a:xfrm>
                <a:off x="6025848" y="1566970"/>
                <a:ext cx="1212640" cy="374270"/>
              </a:xfrm>
              <a:prstGeom prst="rect">
                <a:avLst/>
              </a:prstGeom>
              <a:blipFill>
                <a:blip r:embed="rId1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06271669-FD60-8DC5-5F89-D8CA867231D7}"/>
                  </a:ext>
                </a:extLst>
              </p:cNvPr>
              <p:cNvSpPr txBox="1"/>
              <p:nvPr/>
            </p:nvSpPr>
            <p:spPr>
              <a:xfrm>
                <a:off x="6025848" y="3269381"/>
                <a:ext cx="136088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𝑊</m:t>
                          </m:r>
                        </m:e>
                        <m:sup>
                          <m:r>
                            <a:rPr lang="en-US" b="0" i="1" smtClean="0">
                              <a:latin typeface="Cambria Math" panose="02040503050406030204" pitchFamily="18" charset="0"/>
                            </a:rPr>
                            <m:t>𝑡𝑟𝑒𝑎𝑡𝑚𝑒𝑛𝑡</m:t>
                          </m:r>
                        </m:sup>
                      </m:sSup>
                    </m:oMath>
                  </m:oMathPara>
                </a14:m>
                <a:endParaRPr lang="en-US" dirty="0"/>
              </a:p>
            </p:txBody>
          </p:sp>
        </mc:Choice>
        <mc:Fallback xmlns="">
          <p:sp>
            <p:nvSpPr>
              <p:cNvPr id="77" name="TextBox 76">
                <a:extLst>
                  <a:ext uri="{FF2B5EF4-FFF2-40B4-BE49-F238E27FC236}">
                    <a16:creationId xmlns:a16="http://schemas.microsoft.com/office/drawing/2014/main" id="{06271669-FD60-8DC5-5F89-D8CA867231D7}"/>
                  </a:ext>
                </a:extLst>
              </p:cNvPr>
              <p:cNvSpPr txBox="1">
                <a:spLocks noRot="1" noChangeAspect="1" noMove="1" noResize="1" noEditPoints="1" noAdjustHandles="1" noChangeArrowheads="1" noChangeShapeType="1" noTextEdit="1"/>
              </p:cNvSpPr>
              <p:nvPr/>
            </p:nvSpPr>
            <p:spPr>
              <a:xfrm>
                <a:off x="6025848" y="3269381"/>
                <a:ext cx="1360885" cy="369332"/>
              </a:xfrm>
              <a:prstGeom prst="rect">
                <a:avLst/>
              </a:prstGeom>
              <a:blipFill>
                <a:blip r:embed="rId19"/>
                <a:stretch>
                  <a:fillRect/>
                </a:stretch>
              </a:blipFill>
            </p:spPr>
            <p:txBody>
              <a:bodyPr/>
              <a:lstStyle/>
              <a:p>
                <a:r>
                  <a:rPr lang="en-GB">
                    <a:noFill/>
                  </a:rPr>
                  <a:t> </a:t>
                </a:r>
              </a:p>
            </p:txBody>
          </p:sp>
        </mc:Fallback>
      </mc:AlternateContent>
      <p:cxnSp>
        <p:nvCxnSpPr>
          <p:cNvPr id="78" name="Straight Connector 77">
            <a:extLst>
              <a:ext uri="{FF2B5EF4-FFF2-40B4-BE49-F238E27FC236}">
                <a16:creationId xmlns:a16="http://schemas.microsoft.com/office/drawing/2014/main" id="{E4B79F24-0ABB-6BCE-9666-09CDFFE33076}"/>
              </a:ext>
            </a:extLst>
          </p:cNvPr>
          <p:cNvCxnSpPr>
            <a:cxnSpLocks/>
          </p:cNvCxnSpPr>
          <p:nvPr/>
        </p:nvCxnSpPr>
        <p:spPr>
          <a:xfrm>
            <a:off x="4983794" y="2653193"/>
            <a:ext cx="1089562" cy="7090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9C69F868-4F78-1214-A6B8-0F54B9762318}"/>
              </a:ext>
            </a:extLst>
          </p:cNvPr>
          <p:cNvSpPr txBox="1"/>
          <p:nvPr/>
        </p:nvSpPr>
        <p:spPr>
          <a:xfrm>
            <a:off x="7067902" y="1453622"/>
            <a:ext cx="1212640" cy="523220"/>
          </a:xfrm>
          <a:prstGeom prst="rect">
            <a:avLst/>
          </a:prstGeom>
          <a:noFill/>
        </p:spPr>
        <p:txBody>
          <a:bodyPr wrap="square" rtlCol="0">
            <a:spAutoFit/>
          </a:bodyPr>
          <a:lstStyle/>
          <a:p>
            <a:pPr algn="ctr"/>
            <a:r>
              <a:rPr lang="en-US" sz="1400" noProof="0" dirty="0">
                <a:solidFill>
                  <a:srgbClr val="00B050"/>
                </a:solidFill>
              </a:rPr>
              <a:t>Valuable waste</a:t>
            </a:r>
          </a:p>
        </p:txBody>
      </p:sp>
      <p:sp>
        <p:nvSpPr>
          <p:cNvPr id="80" name="TextBox 79">
            <a:extLst>
              <a:ext uri="{FF2B5EF4-FFF2-40B4-BE49-F238E27FC236}">
                <a16:creationId xmlns:a16="http://schemas.microsoft.com/office/drawing/2014/main" id="{4A3EF2FA-A929-50D2-0934-309176AF8B0B}"/>
              </a:ext>
            </a:extLst>
          </p:cNvPr>
          <p:cNvSpPr txBox="1"/>
          <p:nvPr/>
        </p:nvSpPr>
        <p:spPr>
          <a:xfrm>
            <a:off x="7307610" y="2976993"/>
            <a:ext cx="1360884" cy="954107"/>
          </a:xfrm>
          <a:prstGeom prst="rect">
            <a:avLst/>
          </a:prstGeom>
          <a:noFill/>
        </p:spPr>
        <p:txBody>
          <a:bodyPr wrap="square" rtlCol="0">
            <a:spAutoFit/>
          </a:bodyPr>
          <a:lstStyle/>
          <a:p>
            <a:pPr algn="ctr"/>
            <a:r>
              <a:rPr lang="en-US" sz="1400" dirty="0">
                <a:solidFill>
                  <a:schemeClr val="accent3">
                    <a:lumMod val="75000"/>
                  </a:schemeClr>
                </a:solidFill>
              </a:rPr>
              <a:t>Transferred to waste management sector</a:t>
            </a:r>
            <a:endParaRPr lang="en-US" sz="1400" noProof="0" dirty="0">
              <a:solidFill>
                <a:schemeClr val="accent3">
                  <a:lumMod val="75000"/>
                </a:schemeClr>
              </a:solidFill>
            </a:endParaRPr>
          </a:p>
        </p:txBody>
      </p:sp>
      <p:sp>
        <p:nvSpPr>
          <p:cNvPr id="81" name="Oval 80">
            <a:extLst>
              <a:ext uri="{FF2B5EF4-FFF2-40B4-BE49-F238E27FC236}">
                <a16:creationId xmlns:a16="http://schemas.microsoft.com/office/drawing/2014/main" id="{3E795042-DC0C-2B31-5035-40C0C0736E6D}"/>
              </a:ext>
            </a:extLst>
          </p:cNvPr>
          <p:cNvSpPr/>
          <p:nvPr/>
        </p:nvSpPr>
        <p:spPr>
          <a:xfrm>
            <a:off x="5979470" y="1438799"/>
            <a:ext cx="1259018" cy="571188"/>
          </a:xfrm>
          <a:prstGeom prst="ellipse">
            <a:avLst/>
          </a:prstGeom>
          <a:noFill/>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sp>
        <p:nvSpPr>
          <p:cNvPr id="82" name="Oval 81">
            <a:extLst>
              <a:ext uri="{FF2B5EF4-FFF2-40B4-BE49-F238E27FC236}">
                <a16:creationId xmlns:a16="http://schemas.microsoft.com/office/drawing/2014/main" id="{41F9864A-279B-1F10-8D84-D2A33A0A5B45}"/>
              </a:ext>
            </a:extLst>
          </p:cNvPr>
          <p:cNvSpPr/>
          <p:nvPr/>
        </p:nvSpPr>
        <p:spPr>
          <a:xfrm>
            <a:off x="5926952" y="3174211"/>
            <a:ext cx="1439085" cy="571188"/>
          </a:xfrm>
          <a:prstGeom prst="ellipse">
            <a:avLst/>
          </a:prstGeom>
          <a:noFill/>
          <a:ln>
            <a:solidFill>
              <a:schemeClr val="accent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schemeClr val="accent6">
                  <a:lumMod val="75000"/>
                </a:schemeClr>
              </a:solidFill>
            </a:endParaRPr>
          </a:p>
        </p:txBody>
      </p:sp>
      <p:cxnSp>
        <p:nvCxnSpPr>
          <p:cNvPr id="83" name="Straight Connector 82">
            <a:extLst>
              <a:ext uri="{FF2B5EF4-FFF2-40B4-BE49-F238E27FC236}">
                <a16:creationId xmlns:a16="http://schemas.microsoft.com/office/drawing/2014/main" id="{25EF1483-7933-60DD-D2EE-EAF6DAA28555}"/>
              </a:ext>
            </a:extLst>
          </p:cNvPr>
          <p:cNvCxnSpPr>
            <a:cxnSpLocks/>
          </p:cNvCxnSpPr>
          <p:nvPr/>
        </p:nvCxnSpPr>
        <p:spPr>
          <a:xfrm>
            <a:off x="2451100" y="2076858"/>
            <a:ext cx="605212" cy="431861"/>
          </a:xfrm>
          <a:prstGeom prst="line">
            <a:avLst/>
          </a:prstGeom>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B0B18FDB-3ED2-2BA8-1191-89D60722D0A7}"/>
                  </a:ext>
                </a:extLst>
              </p:cNvPr>
              <p:cNvSpPr txBox="1"/>
              <p:nvPr/>
            </p:nvSpPr>
            <p:spPr>
              <a:xfrm>
                <a:off x="2139950" y="1759165"/>
                <a:ext cx="1066767" cy="37427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da-DK" b="0" i="1" smtClean="0">
                              <a:latin typeface="Cambria Math" panose="02040503050406030204" pitchFamily="18" charset="0"/>
                            </a:rPr>
                          </m:ctrlPr>
                        </m:sSupPr>
                        <m:e>
                          <m:r>
                            <a:rPr lang="en-US" b="0" i="1" smtClean="0">
                              <a:latin typeface="Cambria Math" panose="02040503050406030204" pitchFamily="18" charset="0"/>
                            </a:rPr>
                            <m:t>𝑌</m:t>
                          </m:r>
                        </m:e>
                        <m:sup>
                          <m:r>
                            <a:rPr lang="da-DK" b="0" i="1" smtClean="0">
                              <a:latin typeface="Cambria Math" panose="02040503050406030204" pitchFamily="18" charset="0"/>
                            </a:rPr>
                            <m:t>𝑟𝑒𝑔𝑢𝑙𝑎𝑟</m:t>
                          </m:r>
                        </m:sup>
                      </m:sSup>
                    </m:oMath>
                  </m:oMathPara>
                </a14:m>
                <a:endParaRPr lang="en-US" dirty="0"/>
              </a:p>
            </p:txBody>
          </p:sp>
        </mc:Choice>
        <mc:Fallback xmlns="">
          <p:sp>
            <p:nvSpPr>
              <p:cNvPr id="85" name="TextBox 84">
                <a:extLst>
                  <a:ext uri="{FF2B5EF4-FFF2-40B4-BE49-F238E27FC236}">
                    <a16:creationId xmlns:a16="http://schemas.microsoft.com/office/drawing/2014/main" id="{B0B18FDB-3ED2-2BA8-1191-89D60722D0A7}"/>
                  </a:ext>
                </a:extLst>
              </p:cNvPr>
              <p:cNvSpPr txBox="1">
                <a:spLocks noRot="1" noChangeAspect="1" noMove="1" noResize="1" noEditPoints="1" noAdjustHandles="1" noChangeArrowheads="1" noChangeShapeType="1" noTextEdit="1"/>
              </p:cNvSpPr>
              <p:nvPr/>
            </p:nvSpPr>
            <p:spPr>
              <a:xfrm>
                <a:off x="2139950" y="1759165"/>
                <a:ext cx="1066767" cy="374270"/>
              </a:xfrm>
              <a:prstGeom prst="rect">
                <a:avLst/>
              </a:prstGeom>
              <a:blipFill>
                <a:blip r:embed="rId20"/>
                <a:stretch>
                  <a:fillRect/>
                </a:stretch>
              </a:blipFill>
            </p:spPr>
            <p:txBody>
              <a:bodyPr/>
              <a:lstStyle/>
              <a:p>
                <a:r>
                  <a:rPr lang="en-GB">
                    <a:noFill/>
                  </a:rPr>
                  <a:t> </a:t>
                </a:r>
              </a:p>
            </p:txBody>
          </p:sp>
        </mc:Fallback>
      </mc:AlternateContent>
      <p:cxnSp>
        <p:nvCxnSpPr>
          <p:cNvPr id="21" name="Straight Connector 20">
            <a:extLst>
              <a:ext uri="{FF2B5EF4-FFF2-40B4-BE49-F238E27FC236}">
                <a16:creationId xmlns:a16="http://schemas.microsoft.com/office/drawing/2014/main" id="{25401A36-EA30-1FE4-1FCF-C895420CC62A}"/>
              </a:ext>
            </a:extLst>
          </p:cNvPr>
          <p:cNvCxnSpPr>
            <a:cxnSpLocks/>
            <a:endCxn id="69" idx="2"/>
          </p:cNvCxnSpPr>
          <p:nvPr/>
        </p:nvCxnSpPr>
        <p:spPr>
          <a:xfrm flipV="1">
            <a:off x="2680797" y="2757406"/>
            <a:ext cx="2128328" cy="304927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ECEA762-51E2-AAAA-3B33-719263572C82}"/>
              </a:ext>
            </a:extLst>
          </p:cNvPr>
          <p:cNvCxnSpPr>
            <a:cxnSpLocks/>
            <a:endCxn id="69" idx="2"/>
          </p:cNvCxnSpPr>
          <p:nvPr/>
        </p:nvCxnSpPr>
        <p:spPr>
          <a:xfrm flipV="1">
            <a:off x="3809097" y="2757406"/>
            <a:ext cx="1000028" cy="295272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F17AD30-D5F0-1344-46AE-F00F4748086D}"/>
              </a:ext>
            </a:extLst>
          </p:cNvPr>
          <p:cNvCxnSpPr>
            <a:cxnSpLocks/>
            <a:endCxn id="69" idx="2"/>
          </p:cNvCxnSpPr>
          <p:nvPr/>
        </p:nvCxnSpPr>
        <p:spPr>
          <a:xfrm flipH="1" flipV="1">
            <a:off x="4809125" y="2757406"/>
            <a:ext cx="65613" cy="2952729"/>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80225FF-FAE3-739B-8F0F-19E3B972978A}"/>
              </a:ext>
            </a:extLst>
          </p:cNvPr>
          <p:cNvCxnSpPr>
            <a:cxnSpLocks/>
          </p:cNvCxnSpPr>
          <p:nvPr/>
        </p:nvCxnSpPr>
        <p:spPr>
          <a:xfrm flipH="1" flipV="1">
            <a:off x="4932210" y="2725140"/>
            <a:ext cx="560540" cy="295586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A5E7BA8-8532-F0DF-DCFC-05F9077140E9}"/>
              </a:ext>
            </a:extLst>
          </p:cNvPr>
          <p:cNvCxnSpPr>
            <a:cxnSpLocks/>
          </p:cNvCxnSpPr>
          <p:nvPr/>
        </p:nvCxnSpPr>
        <p:spPr>
          <a:xfrm flipH="1" flipV="1">
            <a:off x="4934484" y="2735880"/>
            <a:ext cx="1731722" cy="2945124"/>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00F8D04A-D76D-8645-8B17-6B8D926A2B0C}"/>
                  </a:ext>
                </a:extLst>
              </p:cNvPr>
              <p:cNvSpPr txBox="1"/>
              <p:nvPr/>
            </p:nvSpPr>
            <p:spPr>
              <a:xfrm>
                <a:off x="3803636" y="1758873"/>
                <a:ext cx="1144159" cy="37824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da-DK" b="0" i="1" smtClean="0">
                              <a:latin typeface="Cambria Math" panose="02040503050406030204" pitchFamily="18" charset="0"/>
                            </a:rPr>
                          </m:ctrlPr>
                        </m:sSupPr>
                        <m:e>
                          <m:r>
                            <a:rPr lang="en-US" b="0" i="1" smtClean="0">
                              <a:latin typeface="Cambria Math" panose="02040503050406030204" pitchFamily="18" charset="0"/>
                            </a:rPr>
                            <m:t>𝑌</m:t>
                          </m:r>
                        </m:e>
                        <m:sup>
                          <m:r>
                            <a:rPr lang="da-DK" b="0" i="1" smtClean="0">
                              <a:latin typeface="Cambria Math" panose="02040503050406030204" pitchFamily="18" charset="0"/>
                            </a:rPr>
                            <m:t>𝑀𝑎𝑡𝑒𝑟𝑖𝑎𝑙</m:t>
                          </m:r>
                        </m:sup>
                      </m:sSup>
                    </m:oMath>
                  </m:oMathPara>
                </a14:m>
                <a:endParaRPr lang="en-US" dirty="0"/>
              </a:p>
            </p:txBody>
          </p:sp>
        </mc:Choice>
        <mc:Fallback xmlns="">
          <p:sp>
            <p:nvSpPr>
              <p:cNvPr id="44" name="TextBox 43">
                <a:extLst>
                  <a:ext uri="{FF2B5EF4-FFF2-40B4-BE49-F238E27FC236}">
                    <a16:creationId xmlns:a16="http://schemas.microsoft.com/office/drawing/2014/main" id="{00F8D04A-D76D-8645-8B17-6B8D926A2B0C}"/>
                  </a:ext>
                </a:extLst>
              </p:cNvPr>
              <p:cNvSpPr txBox="1">
                <a:spLocks noRot="1" noChangeAspect="1" noMove="1" noResize="1" noEditPoints="1" noAdjustHandles="1" noChangeArrowheads="1" noChangeShapeType="1" noTextEdit="1"/>
              </p:cNvSpPr>
              <p:nvPr/>
            </p:nvSpPr>
            <p:spPr>
              <a:xfrm>
                <a:off x="3803636" y="1758873"/>
                <a:ext cx="1144159" cy="378245"/>
              </a:xfrm>
              <a:prstGeom prst="rect">
                <a:avLst/>
              </a:prstGeom>
              <a:blipFill>
                <a:blip r:embed="rId21"/>
                <a:stretch>
                  <a:fillRect/>
                </a:stretch>
              </a:blipFill>
            </p:spPr>
            <p:txBody>
              <a:bodyPr/>
              <a:lstStyle/>
              <a:p>
                <a:r>
                  <a:rPr lang="en-GB">
                    <a:noFill/>
                  </a:rPr>
                  <a:t> </a:t>
                </a:r>
              </a:p>
            </p:txBody>
          </p:sp>
        </mc:Fallback>
      </mc:AlternateContent>
      <p:cxnSp>
        <p:nvCxnSpPr>
          <p:cNvPr id="46" name="Straight Connector 45">
            <a:extLst>
              <a:ext uri="{FF2B5EF4-FFF2-40B4-BE49-F238E27FC236}">
                <a16:creationId xmlns:a16="http://schemas.microsoft.com/office/drawing/2014/main" id="{7097E7FC-EB48-6F14-1BD7-A46EA6A1FDE5}"/>
              </a:ext>
            </a:extLst>
          </p:cNvPr>
          <p:cNvCxnSpPr>
            <a:cxnSpLocks/>
          </p:cNvCxnSpPr>
          <p:nvPr/>
        </p:nvCxnSpPr>
        <p:spPr>
          <a:xfrm flipV="1">
            <a:off x="3501030" y="2076858"/>
            <a:ext cx="605212" cy="431861"/>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0436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68C9A-B7B4-9FCB-35B2-0012707103F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B86CBB-269A-E587-6D92-DE3393879BDE}"/>
              </a:ext>
            </a:extLst>
          </p:cNvPr>
          <p:cNvSpPr>
            <a:spLocks noGrp="1"/>
          </p:cNvSpPr>
          <p:nvPr>
            <p:ph type="title"/>
          </p:nvPr>
        </p:nvSpPr>
        <p:spPr/>
        <p:txBody>
          <a:bodyPr/>
          <a:lstStyle/>
          <a:p>
            <a:r>
              <a:rPr lang="en-US" dirty="0"/>
              <a:t>Introduction</a:t>
            </a:r>
          </a:p>
        </p:txBody>
      </p:sp>
      <p:sp>
        <p:nvSpPr>
          <p:cNvPr id="2" name="Date Placeholder 1">
            <a:extLst>
              <a:ext uri="{FF2B5EF4-FFF2-40B4-BE49-F238E27FC236}">
                <a16:creationId xmlns:a16="http://schemas.microsoft.com/office/drawing/2014/main" id="{5203BCE2-21FD-3DA5-E1C1-EC038A85DF7C}"/>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9D5E5F04-D1B2-3A84-1685-7F528C5AAD1E}"/>
              </a:ext>
            </a:extLst>
          </p:cNvPr>
          <p:cNvSpPr>
            <a:spLocks noGrp="1"/>
          </p:cNvSpPr>
          <p:nvPr>
            <p:ph type="sldNum" sz="quarter" idx="12"/>
          </p:nvPr>
        </p:nvSpPr>
        <p:spPr/>
        <p:txBody>
          <a:bodyPr/>
          <a:lstStyle/>
          <a:p>
            <a:fld id="{091A926C-488A-4E3E-9C21-57CAA120E114}" type="slidenum">
              <a:rPr lang="en-US" smtClean="0"/>
              <a:t>16</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52DD272-6BCB-1DDC-FD05-47743104009B}"/>
                  </a:ext>
                </a:extLst>
              </p:cNvPr>
              <p:cNvSpPr txBox="1"/>
              <p:nvPr/>
            </p:nvSpPr>
            <p:spPr>
              <a:xfrm>
                <a:off x="508409" y="1051323"/>
                <a:ext cx="8046629" cy="5901295"/>
              </a:xfrm>
              <a:prstGeom prst="rect">
                <a:avLst/>
              </a:prstGeom>
              <a:noFill/>
            </p:spPr>
            <p:txBody>
              <a:bodyPr wrap="square" rtlCol="0">
                <a:spAutoFit/>
              </a:bodyPr>
              <a:lstStyle/>
              <a:p>
                <a:r>
                  <a:rPr lang="en-US" sz="2000" b="1" noProof="0" dirty="0"/>
                  <a:t>The material rebound effect</a:t>
                </a:r>
              </a:p>
              <a:p>
                <a:pPr marL="342900" indent="-342900">
                  <a:buFont typeface="Arial" panose="020B0604020202020204" pitchFamily="34" charset="0"/>
                  <a:buChar char="•"/>
                </a:pPr>
                <a:endParaRPr lang="en-US" sz="2000" noProof="0" dirty="0"/>
              </a:p>
              <a:p>
                <a:pPr marL="342900" indent="-342900">
                  <a:buFont typeface="Arial" panose="020B0604020202020204" pitchFamily="34" charset="0"/>
                  <a:buChar char="•"/>
                </a:pPr>
                <a:r>
                  <a:rPr lang="en-US" sz="2000" noProof="0" dirty="0"/>
                  <a:t>Formally:</a:t>
                </a:r>
              </a:p>
              <a:p>
                <a:pPr marL="342900" indent="-342900">
                  <a:buFont typeface="Arial" panose="020B0604020202020204" pitchFamily="34" charset="0"/>
                  <a:buChar char="•"/>
                </a:pPr>
                <a:endParaRPr lang="en-US" sz="2000" noProof="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𝑟</m:t>
                      </m:r>
                      <m:r>
                        <a:rPr lang="en-US" sz="2000" b="0" i="1" noProof="0" smtClean="0">
                          <a:latin typeface="Cambria Math" panose="02040503050406030204" pitchFamily="18" charset="0"/>
                        </a:rPr>
                        <m:t>= </m:t>
                      </m:r>
                      <m:f>
                        <m:fPr>
                          <m:ctrlPr>
                            <a:rPr lang="en-US" sz="2000" b="0" i="1" noProof="0" smtClean="0">
                              <a:latin typeface="Cambria Math" panose="02040503050406030204" pitchFamily="18" charset="0"/>
                            </a:rPr>
                          </m:ctrlPr>
                        </m:fPr>
                        <m:num>
                          <m:r>
                            <a:rPr lang="en-US" sz="2000" b="0" i="1" noProof="0" smtClean="0">
                              <a:latin typeface="Cambria Math" panose="02040503050406030204" pitchFamily="18" charset="0"/>
                            </a:rPr>
                            <m:t>𝐸𝑥𝑝𝑒𝑐𝑡𝑒𝑑</m:t>
                          </m:r>
                          <m:r>
                            <a:rPr lang="en-US" sz="2000" b="0" i="1" noProof="0" smtClean="0">
                              <a:latin typeface="Cambria Math" panose="02040503050406030204" pitchFamily="18" charset="0"/>
                            </a:rPr>
                            <m:t> </m:t>
                          </m:r>
                          <m:r>
                            <a:rPr lang="en-US" sz="2000" b="0" i="1" noProof="0" smtClean="0">
                              <a:latin typeface="Cambria Math" panose="02040503050406030204" pitchFamily="18" charset="0"/>
                            </a:rPr>
                            <m:t>𝑠𝑎𝑣𝑖𝑛𝑔</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𝐴𝑐𝑡𝑢𝑎𝑙</m:t>
                          </m:r>
                          <m:r>
                            <a:rPr lang="en-US" sz="2000" b="0" i="1" noProof="0" smtClean="0">
                              <a:latin typeface="Cambria Math" panose="02040503050406030204" pitchFamily="18" charset="0"/>
                            </a:rPr>
                            <m:t> </m:t>
                          </m:r>
                          <m:r>
                            <a:rPr lang="en-US" sz="2000" b="0" i="1" noProof="0" smtClean="0">
                              <a:latin typeface="Cambria Math" panose="02040503050406030204" pitchFamily="18" charset="0"/>
                            </a:rPr>
                            <m:t>𝑠𝑎𝑣𝑖𝑛𝑔</m:t>
                          </m:r>
                        </m:num>
                        <m:den>
                          <m:r>
                            <a:rPr lang="en-US" sz="2000" b="0" i="1" noProof="0" smtClean="0">
                              <a:latin typeface="Cambria Math" panose="02040503050406030204" pitchFamily="18" charset="0"/>
                            </a:rPr>
                            <m:t>𝐸𝑥𝑝𝑒𝑐𝑡𝑒𝑑</m:t>
                          </m:r>
                          <m:r>
                            <a:rPr lang="en-US" sz="2000" b="0" i="1" noProof="0" smtClean="0">
                              <a:latin typeface="Cambria Math" panose="02040503050406030204" pitchFamily="18" charset="0"/>
                            </a:rPr>
                            <m:t> </m:t>
                          </m:r>
                          <m:r>
                            <a:rPr lang="en-US" sz="2000" b="0" i="1" noProof="0" smtClean="0">
                              <a:latin typeface="Cambria Math" panose="02040503050406030204" pitchFamily="18" charset="0"/>
                            </a:rPr>
                            <m:t>𝑠𝑎𝑣𝑖𝑛𝑔</m:t>
                          </m:r>
                        </m:den>
                      </m:f>
                    </m:oMath>
                  </m:oMathPara>
                </a14:m>
                <a:endParaRPr lang="en-US" sz="2000" noProof="0" dirty="0"/>
              </a:p>
              <a:p>
                <a:endParaRPr lang="en-US" sz="2000" noProof="0" dirty="0"/>
              </a:p>
              <a:p>
                <a:pPr marL="342900" indent="-342900">
                  <a:buFont typeface="Arial" panose="020B0604020202020204" pitchFamily="34" charset="0"/>
                  <a:buChar char="•"/>
                </a:pPr>
                <a:r>
                  <a:rPr lang="en-US" sz="2000" dirty="0"/>
                  <a:t>Here we are focusing on the saving of primary (virgin) materials.</a:t>
                </a:r>
              </a:p>
              <a:p>
                <a:endParaRPr lang="en-US" sz="2000" noProof="0" dirty="0"/>
              </a:p>
              <a:p>
                <a:pPr marL="342900" indent="-342900">
                  <a:buFont typeface="Arial" panose="020B0604020202020204" pitchFamily="34" charset="0"/>
                  <a:buChar char="•"/>
                </a:pPr>
                <a:r>
                  <a:rPr lang="en-US" sz="2000" noProof="0" dirty="0"/>
                  <a:t>Note that:</a:t>
                </a:r>
              </a:p>
              <a:p>
                <a:pPr marL="342900" indent="-342900">
                  <a:buFont typeface="Arial" panose="020B0604020202020204" pitchFamily="34" charset="0"/>
                  <a:buChar char="•"/>
                </a:pPr>
                <a:endParaRPr lang="en-US" sz="2000" noProof="0" dirty="0"/>
              </a:p>
              <a:p>
                <a:pPr marL="800100" lvl="1" indent="-342900">
                  <a:buFont typeface="Arial" panose="020B0604020202020204" pitchFamily="34" charset="0"/>
                  <a:buChar char="•"/>
                </a:pPr>
                <a14:m>
                  <m:oMath xmlns:m="http://schemas.openxmlformats.org/officeDocument/2006/math">
                    <m:r>
                      <a:rPr lang="en-US" sz="2000" b="0" i="1" noProof="0" smtClean="0">
                        <a:latin typeface="Cambria Math" panose="02040503050406030204" pitchFamily="18" charset="0"/>
                      </a:rPr>
                      <m:t>0&lt;</m:t>
                    </m:r>
                    <m:r>
                      <a:rPr lang="en-US" sz="2000" b="0" i="1" noProof="0" smtClean="0">
                        <a:latin typeface="Cambria Math" panose="02040503050406030204" pitchFamily="18" charset="0"/>
                      </a:rPr>
                      <m:t>𝑟</m:t>
                    </m:r>
                    <m:r>
                      <a:rPr lang="en-US" sz="2000" b="0" i="1" noProof="0" smtClean="0">
                        <a:latin typeface="Cambria Math" panose="02040503050406030204" pitchFamily="18" charset="0"/>
                      </a:rPr>
                      <m:t>&lt;1</m:t>
                    </m:r>
                  </m:oMath>
                </a14:m>
                <a:r>
                  <a:rPr lang="en-US" sz="2000" noProof="0" dirty="0"/>
                  <a:t>: partial rebound</a:t>
                </a:r>
              </a:p>
              <a:p>
                <a:pPr marL="800100" lvl="1" indent="-342900">
                  <a:buFont typeface="Arial" panose="020B0604020202020204" pitchFamily="34" charset="0"/>
                  <a:buChar char="•"/>
                </a:pPr>
                <a:endParaRPr lang="en-US" sz="800" noProof="0" dirty="0"/>
              </a:p>
              <a:p>
                <a:pPr marL="800100" lvl="1" indent="-342900">
                  <a:buFont typeface="Arial" panose="020B0604020202020204" pitchFamily="34" charset="0"/>
                  <a:buChar char="•"/>
                </a:pPr>
                <a14:m>
                  <m:oMath xmlns:m="http://schemas.openxmlformats.org/officeDocument/2006/math">
                    <m:r>
                      <a:rPr lang="en-US" sz="2000" b="0" i="1" noProof="0" smtClean="0">
                        <a:latin typeface="Cambria Math" panose="02040503050406030204" pitchFamily="18" charset="0"/>
                      </a:rPr>
                      <m:t>𝑟</m:t>
                    </m:r>
                    <m:r>
                      <a:rPr lang="en-US" sz="2000" b="0" i="1" noProof="0" smtClean="0">
                        <a:latin typeface="Cambria Math" panose="02040503050406030204" pitchFamily="18" charset="0"/>
                      </a:rPr>
                      <m:t>=1</m:t>
                    </m:r>
                  </m:oMath>
                </a14:m>
                <a:r>
                  <a:rPr lang="en-US" sz="2000" noProof="0" dirty="0"/>
                  <a:t>: full rebound</a:t>
                </a:r>
              </a:p>
              <a:p>
                <a:pPr marL="800100" lvl="1" indent="-342900">
                  <a:buFont typeface="Arial" panose="020B0604020202020204" pitchFamily="34" charset="0"/>
                  <a:buChar char="•"/>
                </a:pPr>
                <a:endParaRPr lang="en-US" sz="800" noProof="0" dirty="0"/>
              </a:p>
              <a:p>
                <a:pPr marL="800100" lvl="1" indent="-342900">
                  <a:buFont typeface="Arial" panose="020B0604020202020204" pitchFamily="34" charset="0"/>
                  <a:buChar char="•"/>
                </a:pPr>
                <a14:m>
                  <m:oMath xmlns:m="http://schemas.openxmlformats.org/officeDocument/2006/math">
                    <m:r>
                      <a:rPr lang="en-US" sz="2000" b="0" i="1" noProof="0" smtClean="0">
                        <a:latin typeface="Cambria Math" panose="02040503050406030204" pitchFamily="18" charset="0"/>
                      </a:rPr>
                      <m:t>𝑟</m:t>
                    </m:r>
                    <m:r>
                      <a:rPr lang="en-US" sz="2000" b="0" i="1" noProof="0" smtClean="0">
                        <a:latin typeface="Cambria Math" panose="02040503050406030204" pitchFamily="18" charset="0"/>
                      </a:rPr>
                      <m:t>=0</m:t>
                    </m:r>
                  </m:oMath>
                </a14:m>
                <a:r>
                  <a:rPr lang="en-US" sz="2000" noProof="0" dirty="0"/>
                  <a:t>: zero rebound</a:t>
                </a:r>
              </a:p>
              <a:p>
                <a:pPr marL="800100" lvl="1" indent="-342900">
                  <a:buFont typeface="Arial" panose="020B0604020202020204" pitchFamily="34" charset="0"/>
                  <a:buChar char="•"/>
                </a:pPr>
                <a:endParaRPr lang="en-US" sz="800" noProof="0" dirty="0"/>
              </a:p>
              <a:p>
                <a:pPr marL="800100" lvl="1" indent="-342900">
                  <a:buFont typeface="Arial" panose="020B0604020202020204" pitchFamily="34" charset="0"/>
                  <a:buChar char="•"/>
                </a:pPr>
                <a14:m>
                  <m:oMath xmlns:m="http://schemas.openxmlformats.org/officeDocument/2006/math">
                    <m:r>
                      <a:rPr lang="en-US" sz="2000" b="0" i="1" noProof="0" smtClean="0">
                        <a:solidFill>
                          <a:srgbClr val="FF0000"/>
                        </a:solidFill>
                        <a:latin typeface="Cambria Math" panose="02040503050406030204" pitchFamily="18" charset="0"/>
                      </a:rPr>
                      <m:t>𝑟</m:t>
                    </m:r>
                    <m:r>
                      <a:rPr lang="en-US" sz="2000" b="0" i="1" noProof="0" smtClean="0">
                        <a:solidFill>
                          <a:srgbClr val="FF0000"/>
                        </a:solidFill>
                        <a:latin typeface="Cambria Math" panose="02040503050406030204" pitchFamily="18" charset="0"/>
                      </a:rPr>
                      <m:t>&gt;1</m:t>
                    </m:r>
                  </m:oMath>
                </a14:m>
                <a:r>
                  <a:rPr lang="en-US" sz="2000" noProof="0" dirty="0">
                    <a:solidFill>
                      <a:srgbClr val="FF0000"/>
                    </a:solidFill>
                  </a:rPr>
                  <a:t>: backfire</a:t>
                </a:r>
              </a:p>
              <a:p>
                <a:pPr algn="ctr"/>
                <a:endParaRPr lang="en-US" sz="2000" noProof="0" dirty="0"/>
              </a:p>
              <a:p>
                <a:pPr algn="ctr"/>
                <a:endParaRPr lang="en-US" sz="2000" noProof="0" dirty="0"/>
              </a:p>
            </p:txBody>
          </p:sp>
        </mc:Choice>
        <mc:Fallback xmlns="">
          <p:sp>
            <p:nvSpPr>
              <p:cNvPr id="6" name="TextBox 5">
                <a:extLst>
                  <a:ext uri="{FF2B5EF4-FFF2-40B4-BE49-F238E27FC236}">
                    <a16:creationId xmlns:a16="http://schemas.microsoft.com/office/drawing/2014/main" id="{752DD272-6BCB-1DDC-FD05-47743104009B}"/>
                  </a:ext>
                </a:extLst>
              </p:cNvPr>
              <p:cNvSpPr txBox="1">
                <a:spLocks noRot="1" noChangeAspect="1" noMove="1" noResize="1" noEditPoints="1" noAdjustHandles="1" noChangeArrowheads="1" noChangeShapeType="1" noTextEdit="1"/>
              </p:cNvSpPr>
              <p:nvPr/>
            </p:nvSpPr>
            <p:spPr>
              <a:xfrm>
                <a:off x="508409" y="1051323"/>
                <a:ext cx="8046629" cy="5901295"/>
              </a:xfrm>
              <a:prstGeom prst="rect">
                <a:avLst/>
              </a:prstGeom>
              <a:blipFill>
                <a:blip r:embed="rId3"/>
                <a:stretch>
                  <a:fillRect l="-758" t="-516"/>
                </a:stretch>
              </a:blipFill>
            </p:spPr>
            <p:txBody>
              <a:bodyPr/>
              <a:lstStyle/>
              <a:p>
                <a:r>
                  <a:rPr lang="en-GB">
                    <a:noFill/>
                  </a:rPr>
                  <a:t> </a:t>
                </a:r>
              </a:p>
            </p:txBody>
          </p:sp>
        </mc:Fallback>
      </mc:AlternateContent>
    </p:spTree>
    <p:extLst>
      <p:ext uri="{BB962C8B-B14F-4D97-AF65-F5344CB8AC3E}">
        <p14:creationId xmlns:p14="http://schemas.microsoft.com/office/powerpoint/2010/main" val="37149298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987F3-86AF-CAB5-B943-572D03E067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B06AF61-8238-4E61-2A6E-20F13ABAF2C0}"/>
              </a:ext>
            </a:extLst>
          </p:cNvPr>
          <p:cNvSpPr>
            <a:spLocks noGrp="1"/>
          </p:cNvSpPr>
          <p:nvPr>
            <p:ph type="title"/>
          </p:nvPr>
        </p:nvSpPr>
        <p:spPr/>
        <p:txBody>
          <a:bodyPr/>
          <a:lstStyle/>
          <a:p>
            <a:r>
              <a:rPr lang="en-US" dirty="0"/>
              <a:t>Introduction</a:t>
            </a:r>
          </a:p>
        </p:txBody>
      </p:sp>
      <p:sp>
        <p:nvSpPr>
          <p:cNvPr id="2" name="Date Placeholder 1">
            <a:extLst>
              <a:ext uri="{FF2B5EF4-FFF2-40B4-BE49-F238E27FC236}">
                <a16:creationId xmlns:a16="http://schemas.microsoft.com/office/drawing/2014/main" id="{599EB8EA-900B-56BF-151E-00A12ACE0064}"/>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1F4493E0-E61E-4763-5D6B-80A72E1AD176}"/>
              </a:ext>
            </a:extLst>
          </p:cNvPr>
          <p:cNvSpPr>
            <a:spLocks noGrp="1"/>
          </p:cNvSpPr>
          <p:nvPr>
            <p:ph type="sldNum" sz="quarter" idx="12"/>
          </p:nvPr>
        </p:nvSpPr>
        <p:spPr/>
        <p:txBody>
          <a:bodyPr/>
          <a:lstStyle/>
          <a:p>
            <a:fld id="{091A926C-488A-4E3E-9C21-57CAA120E114}" type="slidenum">
              <a:rPr lang="en-US" smtClean="0"/>
              <a:t>17</a:t>
            </a:fld>
            <a:endParaRPr lang="en-US" dirty="0"/>
          </a:p>
        </p:txBody>
      </p:sp>
      <p:sp>
        <p:nvSpPr>
          <p:cNvPr id="6" name="TextBox 5">
            <a:extLst>
              <a:ext uri="{FF2B5EF4-FFF2-40B4-BE49-F238E27FC236}">
                <a16:creationId xmlns:a16="http://schemas.microsoft.com/office/drawing/2014/main" id="{8C1F6E3B-2B7B-068E-B358-8DAF503CCDBF}"/>
              </a:ext>
            </a:extLst>
          </p:cNvPr>
          <p:cNvSpPr txBox="1"/>
          <p:nvPr/>
        </p:nvSpPr>
        <p:spPr>
          <a:xfrm>
            <a:off x="508410" y="1051719"/>
            <a:ext cx="8046629" cy="707886"/>
          </a:xfrm>
          <a:prstGeom prst="rect">
            <a:avLst/>
          </a:prstGeom>
          <a:noFill/>
        </p:spPr>
        <p:txBody>
          <a:bodyPr wrap="square" rtlCol="0">
            <a:spAutoFit/>
          </a:bodyPr>
          <a:lstStyle/>
          <a:p>
            <a:r>
              <a:rPr lang="en-US" sz="2000" b="1" dirty="0"/>
              <a:t>The material rebound effect</a:t>
            </a:r>
            <a:endParaRPr lang="en-US" sz="2000" dirty="0"/>
          </a:p>
          <a:p>
            <a:pPr algn="ctr"/>
            <a:endParaRPr lang="en-US" sz="2000" dirty="0"/>
          </a:p>
        </p:txBody>
      </p:sp>
      <p:pic>
        <p:nvPicPr>
          <p:cNvPr id="5" name="Picture 4">
            <a:extLst>
              <a:ext uri="{FF2B5EF4-FFF2-40B4-BE49-F238E27FC236}">
                <a16:creationId xmlns:a16="http://schemas.microsoft.com/office/drawing/2014/main" id="{5547E8C3-3236-6030-1ECE-6F3D97ABCDA0}"/>
              </a:ext>
            </a:extLst>
          </p:cNvPr>
          <p:cNvPicPr>
            <a:picLocks noChangeAspect="1"/>
          </p:cNvPicPr>
          <p:nvPr/>
        </p:nvPicPr>
        <p:blipFill>
          <a:blip r:embed="rId3"/>
          <a:stretch>
            <a:fillRect/>
          </a:stretch>
        </p:blipFill>
        <p:spPr>
          <a:xfrm>
            <a:off x="3267350" y="1983180"/>
            <a:ext cx="1682337" cy="1321354"/>
          </a:xfrm>
          <a:prstGeom prst="rect">
            <a:avLst/>
          </a:prstGeom>
        </p:spPr>
      </p:pic>
      <p:sp>
        <p:nvSpPr>
          <p:cNvPr id="7" name="Rounded Rectangle 6">
            <a:extLst>
              <a:ext uri="{FF2B5EF4-FFF2-40B4-BE49-F238E27FC236}">
                <a16:creationId xmlns:a16="http://schemas.microsoft.com/office/drawing/2014/main" id="{0AE02284-A2EB-DE12-A11A-4699660B6D79}"/>
              </a:ext>
            </a:extLst>
          </p:cNvPr>
          <p:cNvSpPr/>
          <p:nvPr/>
        </p:nvSpPr>
        <p:spPr>
          <a:xfrm>
            <a:off x="566411" y="2257155"/>
            <a:ext cx="1853682" cy="749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Virgin natural resource input</a:t>
            </a:r>
          </a:p>
        </p:txBody>
      </p:sp>
      <p:cxnSp>
        <p:nvCxnSpPr>
          <p:cNvPr id="9" name="Straight Arrow Connector 8">
            <a:extLst>
              <a:ext uri="{FF2B5EF4-FFF2-40B4-BE49-F238E27FC236}">
                <a16:creationId xmlns:a16="http://schemas.microsoft.com/office/drawing/2014/main" id="{2D57DD1B-1316-8A3F-9EBC-7B3563B1BAC3}"/>
              </a:ext>
            </a:extLst>
          </p:cNvPr>
          <p:cNvCxnSpPr>
            <a:cxnSpLocks/>
          </p:cNvCxnSpPr>
          <p:nvPr/>
        </p:nvCxnSpPr>
        <p:spPr>
          <a:xfrm>
            <a:off x="2477313" y="2631920"/>
            <a:ext cx="73281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12">
            <a:extLst>
              <a:ext uri="{FF2B5EF4-FFF2-40B4-BE49-F238E27FC236}">
                <a16:creationId xmlns:a16="http://schemas.microsoft.com/office/drawing/2014/main" id="{F05D883B-F2BB-5889-E75E-E461F02086D3}"/>
              </a:ext>
            </a:extLst>
          </p:cNvPr>
          <p:cNvSpPr/>
          <p:nvPr/>
        </p:nvSpPr>
        <p:spPr>
          <a:xfrm>
            <a:off x="5601843" y="1598299"/>
            <a:ext cx="1853682" cy="485192"/>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Production</a:t>
            </a:r>
          </a:p>
        </p:txBody>
      </p:sp>
      <p:sp>
        <p:nvSpPr>
          <p:cNvPr id="11" name="Rounded Rectangle 16">
            <a:extLst>
              <a:ext uri="{FF2B5EF4-FFF2-40B4-BE49-F238E27FC236}">
                <a16:creationId xmlns:a16="http://schemas.microsoft.com/office/drawing/2014/main" id="{F3030461-A868-0612-EC7B-C1263EFD86BF}"/>
              </a:ext>
            </a:extLst>
          </p:cNvPr>
          <p:cNvSpPr/>
          <p:nvPr/>
        </p:nvSpPr>
        <p:spPr>
          <a:xfrm>
            <a:off x="5601843" y="4151788"/>
            <a:ext cx="1853682" cy="750951"/>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Waste</a:t>
            </a:r>
          </a:p>
          <a:p>
            <a:pPr algn="ctr"/>
            <a:r>
              <a:rPr lang="en-US" dirty="0"/>
              <a:t>(negative value)</a:t>
            </a:r>
          </a:p>
        </p:txBody>
      </p:sp>
      <p:sp>
        <p:nvSpPr>
          <p:cNvPr id="12" name="Rounded Rectangle 23">
            <a:extLst>
              <a:ext uri="{FF2B5EF4-FFF2-40B4-BE49-F238E27FC236}">
                <a16:creationId xmlns:a16="http://schemas.microsoft.com/office/drawing/2014/main" id="{7462893B-D150-8F40-EB6A-5F11A54B2B92}"/>
              </a:ext>
            </a:extLst>
          </p:cNvPr>
          <p:cNvSpPr/>
          <p:nvPr/>
        </p:nvSpPr>
        <p:spPr>
          <a:xfrm>
            <a:off x="5601843" y="2521100"/>
            <a:ext cx="1853682" cy="108410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Recycled materials (positive value)</a:t>
            </a:r>
          </a:p>
        </p:txBody>
      </p:sp>
      <p:cxnSp>
        <p:nvCxnSpPr>
          <p:cNvPr id="14" name="Straight Arrow Connector 13">
            <a:extLst>
              <a:ext uri="{FF2B5EF4-FFF2-40B4-BE49-F238E27FC236}">
                <a16:creationId xmlns:a16="http://schemas.microsoft.com/office/drawing/2014/main" id="{7FD5C1C3-51D8-FBE9-D195-5B94EE0251C5}"/>
              </a:ext>
            </a:extLst>
          </p:cNvPr>
          <p:cNvCxnSpPr>
            <a:cxnSpLocks/>
          </p:cNvCxnSpPr>
          <p:nvPr/>
        </p:nvCxnSpPr>
        <p:spPr>
          <a:xfrm flipV="1">
            <a:off x="4883287" y="2083491"/>
            <a:ext cx="654996" cy="31673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41163802-24CC-0D46-CAA0-E0130F7353A2}"/>
              </a:ext>
            </a:extLst>
          </p:cNvPr>
          <p:cNvCxnSpPr>
            <a:cxnSpLocks/>
          </p:cNvCxnSpPr>
          <p:nvPr/>
        </p:nvCxnSpPr>
        <p:spPr>
          <a:xfrm>
            <a:off x="4883287" y="2911813"/>
            <a:ext cx="654996" cy="1513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D46739F-BA56-E2CA-2660-771878E2A147}"/>
              </a:ext>
            </a:extLst>
          </p:cNvPr>
          <p:cNvCxnSpPr>
            <a:cxnSpLocks/>
          </p:cNvCxnSpPr>
          <p:nvPr/>
        </p:nvCxnSpPr>
        <p:spPr>
          <a:xfrm>
            <a:off x="4883287" y="3404845"/>
            <a:ext cx="654996" cy="7469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3">
            <a:extLst>
              <a:ext uri="{FF2B5EF4-FFF2-40B4-BE49-F238E27FC236}">
                <a16:creationId xmlns:a16="http://schemas.microsoft.com/office/drawing/2014/main" id="{49FB7C6D-DAF0-E26D-18E6-2A6E346682D0}"/>
              </a:ext>
            </a:extLst>
          </p:cNvPr>
          <p:cNvSpPr/>
          <p:nvPr/>
        </p:nvSpPr>
        <p:spPr>
          <a:xfrm>
            <a:off x="566411" y="3236261"/>
            <a:ext cx="1853682" cy="61505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Recycled materials</a:t>
            </a:r>
          </a:p>
        </p:txBody>
      </p:sp>
      <p:cxnSp>
        <p:nvCxnSpPr>
          <p:cNvPr id="28" name="Straight Arrow Connector 27">
            <a:extLst>
              <a:ext uri="{FF2B5EF4-FFF2-40B4-BE49-F238E27FC236}">
                <a16:creationId xmlns:a16="http://schemas.microsoft.com/office/drawing/2014/main" id="{6A3CFC03-F29A-B7C7-1073-3075551747B1}"/>
              </a:ext>
            </a:extLst>
          </p:cNvPr>
          <p:cNvCxnSpPr>
            <a:cxnSpLocks/>
          </p:cNvCxnSpPr>
          <p:nvPr/>
        </p:nvCxnSpPr>
        <p:spPr>
          <a:xfrm flipV="1">
            <a:off x="2477313" y="3145277"/>
            <a:ext cx="732817" cy="4232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957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8A3ED-85FD-8174-BD77-A527184EB3A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053F8E6-F6D4-38E0-5244-2BA1ABB2CA18}"/>
              </a:ext>
            </a:extLst>
          </p:cNvPr>
          <p:cNvSpPr>
            <a:spLocks noGrp="1"/>
          </p:cNvSpPr>
          <p:nvPr>
            <p:ph type="title"/>
          </p:nvPr>
        </p:nvSpPr>
        <p:spPr/>
        <p:txBody>
          <a:bodyPr/>
          <a:lstStyle/>
          <a:p>
            <a:r>
              <a:rPr lang="en-US" dirty="0"/>
              <a:t>Introduction</a:t>
            </a:r>
          </a:p>
        </p:txBody>
      </p:sp>
      <p:sp>
        <p:nvSpPr>
          <p:cNvPr id="2" name="Date Placeholder 1">
            <a:extLst>
              <a:ext uri="{FF2B5EF4-FFF2-40B4-BE49-F238E27FC236}">
                <a16:creationId xmlns:a16="http://schemas.microsoft.com/office/drawing/2014/main" id="{F2CD6E48-6FA6-557C-6AC1-212C2DF15CE2}"/>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0CFEC662-A9A1-0DBD-869B-4BF03C66A526}"/>
              </a:ext>
            </a:extLst>
          </p:cNvPr>
          <p:cNvSpPr>
            <a:spLocks noGrp="1"/>
          </p:cNvSpPr>
          <p:nvPr>
            <p:ph type="sldNum" sz="quarter" idx="12"/>
          </p:nvPr>
        </p:nvSpPr>
        <p:spPr/>
        <p:txBody>
          <a:bodyPr/>
          <a:lstStyle/>
          <a:p>
            <a:fld id="{091A926C-488A-4E3E-9C21-57CAA120E114}" type="slidenum">
              <a:rPr lang="en-US" smtClean="0"/>
              <a:t>18</a:t>
            </a:fld>
            <a:endParaRPr lang="en-US" dirty="0"/>
          </a:p>
        </p:txBody>
      </p:sp>
      <p:sp>
        <p:nvSpPr>
          <p:cNvPr id="6" name="TextBox 5">
            <a:extLst>
              <a:ext uri="{FF2B5EF4-FFF2-40B4-BE49-F238E27FC236}">
                <a16:creationId xmlns:a16="http://schemas.microsoft.com/office/drawing/2014/main" id="{D33C3F96-540B-5C24-7AAE-0DA7D93446FD}"/>
              </a:ext>
            </a:extLst>
          </p:cNvPr>
          <p:cNvSpPr txBox="1"/>
          <p:nvPr/>
        </p:nvSpPr>
        <p:spPr>
          <a:xfrm>
            <a:off x="508410" y="1051719"/>
            <a:ext cx="8046629" cy="707886"/>
          </a:xfrm>
          <a:prstGeom prst="rect">
            <a:avLst/>
          </a:prstGeom>
          <a:noFill/>
        </p:spPr>
        <p:txBody>
          <a:bodyPr wrap="square" rtlCol="0">
            <a:spAutoFit/>
          </a:bodyPr>
          <a:lstStyle/>
          <a:p>
            <a:r>
              <a:rPr lang="en-US" sz="2000" b="1" dirty="0"/>
              <a:t>The material rebound effect</a:t>
            </a:r>
            <a:endParaRPr lang="en-US" sz="2000" dirty="0"/>
          </a:p>
          <a:p>
            <a:pPr algn="ctr"/>
            <a:endParaRPr lang="en-US" sz="2000" dirty="0"/>
          </a:p>
        </p:txBody>
      </p:sp>
      <p:pic>
        <p:nvPicPr>
          <p:cNvPr id="5" name="Picture 4">
            <a:extLst>
              <a:ext uri="{FF2B5EF4-FFF2-40B4-BE49-F238E27FC236}">
                <a16:creationId xmlns:a16="http://schemas.microsoft.com/office/drawing/2014/main" id="{14B5CEAC-0E39-BE04-F6EC-3B83942ED017}"/>
              </a:ext>
            </a:extLst>
          </p:cNvPr>
          <p:cNvPicPr>
            <a:picLocks noChangeAspect="1"/>
          </p:cNvPicPr>
          <p:nvPr/>
        </p:nvPicPr>
        <p:blipFill>
          <a:blip r:embed="rId3"/>
          <a:stretch>
            <a:fillRect/>
          </a:stretch>
        </p:blipFill>
        <p:spPr>
          <a:xfrm>
            <a:off x="3267350" y="1983180"/>
            <a:ext cx="1682337" cy="1321354"/>
          </a:xfrm>
          <a:prstGeom prst="rect">
            <a:avLst/>
          </a:prstGeom>
        </p:spPr>
      </p:pic>
      <p:sp>
        <p:nvSpPr>
          <p:cNvPr id="7" name="Rounded Rectangle 6">
            <a:extLst>
              <a:ext uri="{FF2B5EF4-FFF2-40B4-BE49-F238E27FC236}">
                <a16:creationId xmlns:a16="http://schemas.microsoft.com/office/drawing/2014/main" id="{F4FB4A64-174F-5448-B34E-5E9EBF71F454}"/>
              </a:ext>
            </a:extLst>
          </p:cNvPr>
          <p:cNvSpPr/>
          <p:nvPr/>
        </p:nvSpPr>
        <p:spPr>
          <a:xfrm>
            <a:off x="566411" y="2257155"/>
            <a:ext cx="1853682" cy="749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Virgin natural resource input</a:t>
            </a:r>
          </a:p>
        </p:txBody>
      </p:sp>
      <p:cxnSp>
        <p:nvCxnSpPr>
          <p:cNvPr id="9" name="Straight Arrow Connector 8">
            <a:extLst>
              <a:ext uri="{FF2B5EF4-FFF2-40B4-BE49-F238E27FC236}">
                <a16:creationId xmlns:a16="http://schemas.microsoft.com/office/drawing/2014/main" id="{21699302-24B5-2F8F-FF31-D77A3B3B9E93}"/>
              </a:ext>
            </a:extLst>
          </p:cNvPr>
          <p:cNvCxnSpPr>
            <a:cxnSpLocks/>
          </p:cNvCxnSpPr>
          <p:nvPr/>
        </p:nvCxnSpPr>
        <p:spPr>
          <a:xfrm>
            <a:off x="2477313" y="2631920"/>
            <a:ext cx="73281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12">
            <a:extLst>
              <a:ext uri="{FF2B5EF4-FFF2-40B4-BE49-F238E27FC236}">
                <a16:creationId xmlns:a16="http://schemas.microsoft.com/office/drawing/2014/main" id="{B6D3EC9A-8DC8-60CB-0858-27074F3903A7}"/>
              </a:ext>
            </a:extLst>
          </p:cNvPr>
          <p:cNvSpPr/>
          <p:nvPr/>
        </p:nvSpPr>
        <p:spPr>
          <a:xfrm>
            <a:off x="5601843" y="1598299"/>
            <a:ext cx="1853682" cy="485192"/>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Production</a:t>
            </a:r>
          </a:p>
        </p:txBody>
      </p:sp>
      <p:sp>
        <p:nvSpPr>
          <p:cNvPr id="11" name="Rounded Rectangle 16">
            <a:extLst>
              <a:ext uri="{FF2B5EF4-FFF2-40B4-BE49-F238E27FC236}">
                <a16:creationId xmlns:a16="http://schemas.microsoft.com/office/drawing/2014/main" id="{0DFA5ADC-19C1-F049-CD81-B9FE7833335C}"/>
              </a:ext>
            </a:extLst>
          </p:cNvPr>
          <p:cNvSpPr/>
          <p:nvPr/>
        </p:nvSpPr>
        <p:spPr>
          <a:xfrm>
            <a:off x="5601843" y="4151788"/>
            <a:ext cx="1853682" cy="750951"/>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Waste</a:t>
            </a:r>
          </a:p>
          <a:p>
            <a:pPr algn="ctr"/>
            <a:r>
              <a:rPr lang="en-US" dirty="0"/>
              <a:t>(negative value)</a:t>
            </a:r>
          </a:p>
        </p:txBody>
      </p:sp>
      <p:sp>
        <p:nvSpPr>
          <p:cNvPr id="12" name="Rounded Rectangle 23">
            <a:extLst>
              <a:ext uri="{FF2B5EF4-FFF2-40B4-BE49-F238E27FC236}">
                <a16:creationId xmlns:a16="http://schemas.microsoft.com/office/drawing/2014/main" id="{B9435C43-E9F2-4395-3A0B-497268645F5A}"/>
              </a:ext>
            </a:extLst>
          </p:cNvPr>
          <p:cNvSpPr/>
          <p:nvPr/>
        </p:nvSpPr>
        <p:spPr>
          <a:xfrm>
            <a:off x="5601843" y="2521100"/>
            <a:ext cx="1853682" cy="108410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Recycled materials (positive value)</a:t>
            </a:r>
          </a:p>
        </p:txBody>
      </p:sp>
      <p:cxnSp>
        <p:nvCxnSpPr>
          <p:cNvPr id="14" name="Straight Arrow Connector 13">
            <a:extLst>
              <a:ext uri="{FF2B5EF4-FFF2-40B4-BE49-F238E27FC236}">
                <a16:creationId xmlns:a16="http://schemas.microsoft.com/office/drawing/2014/main" id="{D4763EBC-C9B9-71A3-35A6-CBEA951D693C}"/>
              </a:ext>
            </a:extLst>
          </p:cNvPr>
          <p:cNvCxnSpPr>
            <a:cxnSpLocks/>
          </p:cNvCxnSpPr>
          <p:nvPr/>
        </p:nvCxnSpPr>
        <p:spPr>
          <a:xfrm flipV="1">
            <a:off x="4883287" y="2083491"/>
            <a:ext cx="654996" cy="31673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F69977B-AEFF-E768-DDE7-29EB6286D1A5}"/>
              </a:ext>
            </a:extLst>
          </p:cNvPr>
          <p:cNvCxnSpPr>
            <a:cxnSpLocks/>
          </p:cNvCxnSpPr>
          <p:nvPr/>
        </p:nvCxnSpPr>
        <p:spPr>
          <a:xfrm>
            <a:off x="4883287" y="2911813"/>
            <a:ext cx="654996" cy="1513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687DE829-8C31-3024-5333-F9A8D42DCDBA}"/>
              </a:ext>
            </a:extLst>
          </p:cNvPr>
          <p:cNvCxnSpPr>
            <a:cxnSpLocks/>
          </p:cNvCxnSpPr>
          <p:nvPr/>
        </p:nvCxnSpPr>
        <p:spPr>
          <a:xfrm>
            <a:off x="4883287" y="3404845"/>
            <a:ext cx="654996" cy="7469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3">
            <a:extLst>
              <a:ext uri="{FF2B5EF4-FFF2-40B4-BE49-F238E27FC236}">
                <a16:creationId xmlns:a16="http://schemas.microsoft.com/office/drawing/2014/main" id="{6939B204-486F-9C51-034E-377962732D61}"/>
              </a:ext>
            </a:extLst>
          </p:cNvPr>
          <p:cNvSpPr/>
          <p:nvPr/>
        </p:nvSpPr>
        <p:spPr>
          <a:xfrm>
            <a:off x="566411" y="3236261"/>
            <a:ext cx="1853682" cy="61505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Recycled materials</a:t>
            </a:r>
          </a:p>
        </p:txBody>
      </p:sp>
      <p:cxnSp>
        <p:nvCxnSpPr>
          <p:cNvPr id="28" name="Straight Arrow Connector 27">
            <a:extLst>
              <a:ext uri="{FF2B5EF4-FFF2-40B4-BE49-F238E27FC236}">
                <a16:creationId xmlns:a16="http://schemas.microsoft.com/office/drawing/2014/main" id="{F2FF283F-8371-4A3F-4C46-B4DAECA122E4}"/>
              </a:ext>
            </a:extLst>
          </p:cNvPr>
          <p:cNvCxnSpPr>
            <a:cxnSpLocks/>
          </p:cNvCxnSpPr>
          <p:nvPr/>
        </p:nvCxnSpPr>
        <p:spPr>
          <a:xfrm flipV="1">
            <a:off x="2477313" y="3145277"/>
            <a:ext cx="732817" cy="4232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Arrow: Down 29">
            <a:extLst>
              <a:ext uri="{FF2B5EF4-FFF2-40B4-BE49-F238E27FC236}">
                <a16:creationId xmlns:a16="http://schemas.microsoft.com/office/drawing/2014/main" id="{9BB7CFC8-0848-4B59-549E-85085A24D43F}"/>
              </a:ext>
            </a:extLst>
          </p:cNvPr>
          <p:cNvSpPr/>
          <p:nvPr/>
        </p:nvSpPr>
        <p:spPr>
          <a:xfrm>
            <a:off x="7600547" y="4293799"/>
            <a:ext cx="344481" cy="466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Down 30">
            <a:extLst>
              <a:ext uri="{FF2B5EF4-FFF2-40B4-BE49-F238E27FC236}">
                <a16:creationId xmlns:a16="http://schemas.microsoft.com/office/drawing/2014/main" id="{8A8F75D2-4F75-2103-4249-D9BCF09A1605}"/>
              </a:ext>
            </a:extLst>
          </p:cNvPr>
          <p:cNvSpPr/>
          <p:nvPr/>
        </p:nvSpPr>
        <p:spPr>
          <a:xfrm rot="10800000">
            <a:off x="7600547" y="2805181"/>
            <a:ext cx="344481" cy="4669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953C752E-EC96-251F-B58D-9094B6F843F3}"/>
              </a:ext>
            </a:extLst>
          </p:cNvPr>
          <p:cNvSpPr txBox="1"/>
          <p:nvPr/>
        </p:nvSpPr>
        <p:spPr>
          <a:xfrm>
            <a:off x="7680210" y="3543788"/>
            <a:ext cx="1960852" cy="461665"/>
          </a:xfrm>
          <a:prstGeom prst="rect">
            <a:avLst/>
          </a:prstGeom>
          <a:noFill/>
        </p:spPr>
        <p:txBody>
          <a:bodyPr wrap="square" rtlCol="0">
            <a:spAutoFit/>
          </a:bodyPr>
          <a:lstStyle/>
          <a:p>
            <a:r>
              <a:rPr lang="en-US" sz="1200" dirty="0"/>
              <a:t>Policy or </a:t>
            </a:r>
          </a:p>
          <a:p>
            <a:r>
              <a:rPr lang="en-US" sz="1200" dirty="0"/>
              <a:t>technological shock</a:t>
            </a:r>
          </a:p>
        </p:txBody>
      </p:sp>
      <p:cxnSp>
        <p:nvCxnSpPr>
          <p:cNvPr id="47" name="Straight Arrow Connector 46">
            <a:extLst>
              <a:ext uri="{FF2B5EF4-FFF2-40B4-BE49-F238E27FC236}">
                <a16:creationId xmlns:a16="http://schemas.microsoft.com/office/drawing/2014/main" id="{C2D22C8B-F2B7-3EA9-A38D-48DAEB6A4DAA}"/>
              </a:ext>
            </a:extLst>
          </p:cNvPr>
          <p:cNvCxnSpPr>
            <a:cxnSpLocks/>
          </p:cNvCxnSpPr>
          <p:nvPr/>
        </p:nvCxnSpPr>
        <p:spPr>
          <a:xfrm flipH="1" flipV="1">
            <a:off x="7929996" y="3272109"/>
            <a:ext cx="293810" cy="2963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EFD0ABD-80C1-DEF6-0BE2-FE18FC32E6C8}"/>
              </a:ext>
            </a:extLst>
          </p:cNvPr>
          <p:cNvCxnSpPr>
            <a:cxnSpLocks/>
          </p:cNvCxnSpPr>
          <p:nvPr/>
        </p:nvCxnSpPr>
        <p:spPr>
          <a:xfrm flipH="1">
            <a:off x="7945028" y="4005453"/>
            <a:ext cx="329968" cy="359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5357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1323C-AFDF-FC50-3C59-6112E9E1F0D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5380AB-10FE-1B7C-FB06-A9EC090B9098}"/>
              </a:ext>
            </a:extLst>
          </p:cNvPr>
          <p:cNvSpPr>
            <a:spLocks noGrp="1"/>
          </p:cNvSpPr>
          <p:nvPr>
            <p:ph type="title"/>
          </p:nvPr>
        </p:nvSpPr>
        <p:spPr/>
        <p:txBody>
          <a:bodyPr/>
          <a:lstStyle/>
          <a:p>
            <a:r>
              <a:rPr lang="en-US" dirty="0"/>
              <a:t>Introduction</a:t>
            </a:r>
          </a:p>
        </p:txBody>
      </p:sp>
      <p:sp>
        <p:nvSpPr>
          <p:cNvPr id="2" name="Date Placeholder 1">
            <a:extLst>
              <a:ext uri="{FF2B5EF4-FFF2-40B4-BE49-F238E27FC236}">
                <a16:creationId xmlns:a16="http://schemas.microsoft.com/office/drawing/2014/main" id="{79BE65DF-DD17-DA14-DDC7-48499B84B164}"/>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3EF13D5C-B8E5-18D5-73B0-9BE7FA1E398A}"/>
              </a:ext>
            </a:extLst>
          </p:cNvPr>
          <p:cNvSpPr>
            <a:spLocks noGrp="1"/>
          </p:cNvSpPr>
          <p:nvPr>
            <p:ph type="sldNum" sz="quarter" idx="12"/>
          </p:nvPr>
        </p:nvSpPr>
        <p:spPr/>
        <p:txBody>
          <a:bodyPr/>
          <a:lstStyle/>
          <a:p>
            <a:fld id="{091A926C-488A-4E3E-9C21-57CAA120E114}" type="slidenum">
              <a:rPr lang="en-US" smtClean="0"/>
              <a:t>19</a:t>
            </a:fld>
            <a:endParaRPr lang="en-US" dirty="0"/>
          </a:p>
        </p:txBody>
      </p:sp>
      <p:sp>
        <p:nvSpPr>
          <p:cNvPr id="6" name="TextBox 5">
            <a:extLst>
              <a:ext uri="{FF2B5EF4-FFF2-40B4-BE49-F238E27FC236}">
                <a16:creationId xmlns:a16="http://schemas.microsoft.com/office/drawing/2014/main" id="{15E13A3F-3F12-FF1D-5820-890CAAED4E35}"/>
              </a:ext>
            </a:extLst>
          </p:cNvPr>
          <p:cNvSpPr txBox="1"/>
          <p:nvPr/>
        </p:nvSpPr>
        <p:spPr>
          <a:xfrm>
            <a:off x="508410" y="1051719"/>
            <a:ext cx="8046629" cy="707886"/>
          </a:xfrm>
          <a:prstGeom prst="rect">
            <a:avLst/>
          </a:prstGeom>
          <a:noFill/>
        </p:spPr>
        <p:txBody>
          <a:bodyPr wrap="square" rtlCol="0">
            <a:spAutoFit/>
          </a:bodyPr>
          <a:lstStyle/>
          <a:p>
            <a:r>
              <a:rPr lang="en-US" sz="2000" b="1" dirty="0"/>
              <a:t>The material rebound effect</a:t>
            </a:r>
            <a:endParaRPr lang="en-US" sz="2000" dirty="0"/>
          </a:p>
          <a:p>
            <a:pPr algn="ctr"/>
            <a:endParaRPr lang="en-US" sz="2000" dirty="0"/>
          </a:p>
        </p:txBody>
      </p:sp>
      <p:pic>
        <p:nvPicPr>
          <p:cNvPr id="5" name="Picture 4">
            <a:extLst>
              <a:ext uri="{FF2B5EF4-FFF2-40B4-BE49-F238E27FC236}">
                <a16:creationId xmlns:a16="http://schemas.microsoft.com/office/drawing/2014/main" id="{D13EE9A6-49F3-4A2E-43E6-C6CAC5CF29E9}"/>
              </a:ext>
            </a:extLst>
          </p:cNvPr>
          <p:cNvPicPr>
            <a:picLocks noChangeAspect="1"/>
          </p:cNvPicPr>
          <p:nvPr/>
        </p:nvPicPr>
        <p:blipFill>
          <a:blip r:embed="rId3"/>
          <a:stretch>
            <a:fillRect/>
          </a:stretch>
        </p:blipFill>
        <p:spPr>
          <a:xfrm>
            <a:off x="3267350" y="1983180"/>
            <a:ext cx="1682337" cy="1321354"/>
          </a:xfrm>
          <a:prstGeom prst="rect">
            <a:avLst/>
          </a:prstGeom>
        </p:spPr>
      </p:pic>
      <p:sp>
        <p:nvSpPr>
          <p:cNvPr id="7" name="Rounded Rectangle 6">
            <a:extLst>
              <a:ext uri="{FF2B5EF4-FFF2-40B4-BE49-F238E27FC236}">
                <a16:creationId xmlns:a16="http://schemas.microsoft.com/office/drawing/2014/main" id="{1ADF5316-8CAC-1194-9744-FAEF3E493B0B}"/>
              </a:ext>
            </a:extLst>
          </p:cNvPr>
          <p:cNvSpPr/>
          <p:nvPr/>
        </p:nvSpPr>
        <p:spPr>
          <a:xfrm>
            <a:off x="566411" y="2257155"/>
            <a:ext cx="1853682" cy="749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Virgin natural resource input</a:t>
            </a:r>
          </a:p>
        </p:txBody>
      </p:sp>
      <p:cxnSp>
        <p:nvCxnSpPr>
          <p:cNvPr id="9" name="Straight Arrow Connector 8">
            <a:extLst>
              <a:ext uri="{FF2B5EF4-FFF2-40B4-BE49-F238E27FC236}">
                <a16:creationId xmlns:a16="http://schemas.microsoft.com/office/drawing/2014/main" id="{BB80BC0C-9853-E6C9-35E3-B3F8880E5A54}"/>
              </a:ext>
            </a:extLst>
          </p:cNvPr>
          <p:cNvCxnSpPr>
            <a:cxnSpLocks/>
          </p:cNvCxnSpPr>
          <p:nvPr/>
        </p:nvCxnSpPr>
        <p:spPr>
          <a:xfrm>
            <a:off x="2477313" y="2631920"/>
            <a:ext cx="73281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12">
            <a:extLst>
              <a:ext uri="{FF2B5EF4-FFF2-40B4-BE49-F238E27FC236}">
                <a16:creationId xmlns:a16="http://schemas.microsoft.com/office/drawing/2014/main" id="{86B6AEF8-930B-3FEB-9D24-C28784C9AB41}"/>
              </a:ext>
            </a:extLst>
          </p:cNvPr>
          <p:cNvSpPr/>
          <p:nvPr/>
        </p:nvSpPr>
        <p:spPr>
          <a:xfrm>
            <a:off x="5601843" y="1598299"/>
            <a:ext cx="1853682" cy="485192"/>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Production</a:t>
            </a:r>
          </a:p>
        </p:txBody>
      </p:sp>
      <p:sp>
        <p:nvSpPr>
          <p:cNvPr id="11" name="Rounded Rectangle 16">
            <a:extLst>
              <a:ext uri="{FF2B5EF4-FFF2-40B4-BE49-F238E27FC236}">
                <a16:creationId xmlns:a16="http://schemas.microsoft.com/office/drawing/2014/main" id="{E27A02AA-AA90-C4DB-B1C9-5E537FAC08C9}"/>
              </a:ext>
            </a:extLst>
          </p:cNvPr>
          <p:cNvSpPr/>
          <p:nvPr/>
        </p:nvSpPr>
        <p:spPr>
          <a:xfrm>
            <a:off x="5601843" y="4151788"/>
            <a:ext cx="1853682" cy="750951"/>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Waste</a:t>
            </a:r>
          </a:p>
          <a:p>
            <a:pPr algn="ctr"/>
            <a:r>
              <a:rPr lang="en-US" dirty="0"/>
              <a:t>(negative value)</a:t>
            </a:r>
          </a:p>
        </p:txBody>
      </p:sp>
      <p:sp>
        <p:nvSpPr>
          <p:cNvPr id="12" name="Rounded Rectangle 23">
            <a:extLst>
              <a:ext uri="{FF2B5EF4-FFF2-40B4-BE49-F238E27FC236}">
                <a16:creationId xmlns:a16="http://schemas.microsoft.com/office/drawing/2014/main" id="{102FE0FA-CD63-3CAE-2778-73E6D6B1D805}"/>
              </a:ext>
            </a:extLst>
          </p:cNvPr>
          <p:cNvSpPr/>
          <p:nvPr/>
        </p:nvSpPr>
        <p:spPr>
          <a:xfrm>
            <a:off x="5601843" y="2521100"/>
            <a:ext cx="1853682" cy="108410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Recycled materials (positive value)</a:t>
            </a:r>
          </a:p>
        </p:txBody>
      </p:sp>
      <p:cxnSp>
        <p:nvCxnSpPr>
          <p:cNvPr id="14" name="Straight Arrow Connector 13">
            <a:extLst>
              <a:ext uri="{FF2B5EF4-FFF2-40B4-BE49-F238E27FC236}">
                <a16:creationId xmlns:a16="http://schemas.microsoft.com/office/drawing/2014/main" id="{BA38FC7D-1106-F37E-054A-846D7E5E9BE4}"/>
              </a:ext>
            </a:extLst>
          </p:cNvPr>
          <p:cNvCxnSpPr>
            <a:cxnSpLocks/>
          </p:cNvCxnSpPr>
          <p:nvPr/>
        </p:nvCxnSpPr>
        <p:spPr>
          <a:xfrm flipV="1">
            <a:off x="4883287" y="2083491"/>
            <a:ext cx="654996" cy="31673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97FBECF-43DB-3ECD-49A1-A871A166B6D1}"/>
              </a:ext>
            </a:extLst>
          </p:cNvPr>
          <p:cNvCxnSpPr>
            <a:cxnSpLocks/>
          </p:cNvCxnSpPr>
          <p:nvPr/>
        </p:nvCxnSpPr>
        <p:spPr>
          <a:xfrm>
            <a:off x="4883287" y="2911813"/>
            <a:ext cx="654996" cy="1513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F08BB90-6B9F-48EC-2C51-01A835D53684}"/>
              </a:ext>
            </a:extLst>
          </p:cNvPr>
          <p:cNvCxnSpPr>
            <a:cxnSpLocks/>
          </p:cNvCxnSpPr>
          <p:nvPr/>
        </p:nvCxnSpPr>
        <p:spPr>
          <a:xfrm>
            <a:off x="4883287" y="3404845"/>
            <a:ext cx="654996" cy="7469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3">
            <a:extLst>
              <a:ext uri="{FF2B5EF4-FFF2-40B4-BE49-F238E27FC236}">
                <a16:creationId xmlns:a16="http://schemas.microsoft.com/office/drawing/2014/main" id="{6617B482-F4F3-6BF0-62F2-E005E494C1CB}"/>
              </a:ext>
            </a:extLst>
          </p:cNvPr>
          <p:cNvSpPr/>
          <p:nvPr/>
        </p:nvSpPr>
        <p:spPr>
          <a:xfrm>
            <a:off x="566411" y="3236261"/>
            <a:ext cx="1853682" cy="61505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Recycled materials</a:t>
            </a:r>
          </a:p>
        </p:txBody>
      </p:sp>
      <p:cxnSp>
        <p:nvCxnSpPr>
          <p:cNvPr id="28" name="Straight Arrow Connector 27">
            <a:extLst>
              <a:ext uri="{FF2B5EF4-FFF2-40B4-BE49-F238E27FC236}">
                <a16:creationId xmlns:a16="http://schemas.microsoft.com/office/drawing/2014/main" id="{704F00F5-FB6C-9B8F-F228-5976E622E23D}"/>
              </a:ext>
            </a:extLst>
          </p:cNvPr>
          <p:cNvCxnSpPr>
            <a:cxnSpLocks/>
          </p:cNvCxnSpPr>
          <p:nvPr/>
        </p:nvCxnSpPr>
        <p:spPr>
          <a:xfrm flipV="1">
            <a:off x="2477313" y="3145277"/>
            <a:ext cx="732817" cy="4232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Arrow: Down 29">
            <a:extLst>
              <a:ext uri="{FF2B5EF4-FFF2-40B4-BE49-F238E27FC236}">
                <a16:creationId xmlns:a16="http://schemas.microsoft.com/office/drawing/2014/main" id="{F110EBFB-D547-30C3-9FEE-19C24FF1D431}"/>
              </a:ext>
            </a:extLst>
          </p:cNvPr>
          <p:cNvSpPr/>
          <p:nvPr/>
        </p:nvSpPr>
        <p:spPr>
          <a:xfrm>
            <a:off x="7600547" y="4293799"/>
            <a:ext cx="344481" cy="466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Down 30">
            <a:extLst>
              <a:ext uri="{FF2B5EF4-FFF2-40B4-BE49-F238E27FC236}">
                <a16:creationId xmlns:a16="http://schemas.microsoft.com/office/drawing/2014/main" id="{C388DBEC-ED94-BB60-2105-4A66CDD38BE5}"/>
              </a:ext>
            </a:extLst>
          </p:cNvPr>
          <p:cNvSpPr/>
          <p:nvPr/>
        </p:nvSpPr>
        <p:spPr>
          <a:xfrm rot="10800000">
            <a:off x="7600547" y="2805181"/>
            <a:ext cx="344481" cy="4669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55" name="Group 54">
            <a:extLst>
              <a:ext uri="{FF2B5EF4-FFF2-40B4-BE49-F238E27FC236}">
                <a16:creationId xmlns:a16="http://schemas.microsoft.com/office/drawing/2014/main" id="{0F3B01B8-5BF8-9D7F-EB63-121E1A549C0E}"/>
              </a:ext>
            </a:extLst>
          </p:cNvPr>
          <p:cNvGrpSpPr/>
          <p:nvPr/>
        </p:nvGrpSpPr>
        <p:grpSpPr>
          <a:xfrm>
            <a:off x="566411" y="5915709"/>
            <a:ext cx="2465633" cy="646331"/>
            <a:chOff x="3496748" y="6020485"/>
            <a:chExt cx="2465633" cy="646331"/>
          </a:xfrm>
        </p:grpSpPr>
        <p:sp>
          <p:nvSpPr>
            <p:cNvPr id="37" name="TextBox 36">
              <a:extLst>
                <a:ext uri="{FF2B5EF4-FFF2-40B4-BE49-F238E27FC236}">
                  <a16:creationId xmlns:a16="http://schemas.microsoft.com/office/drawing/2014/main" id="{63798F31-DE64-543A-3774-1F80843F3420}"/>
                </a:ext>
              </a:extLst>
            </p:cNvPr>
            <p:cNvSpPr txBox="1"/>
            <p:nvPr/>
          </p:nvSpPr>
          <p:spPr>
            <a:xfrm>
              <a:off x="3496748" y="6020485"/>
              <a:ext cx="2465633" cy="646331"/>
            </a:xfrm>
            <a:prstGeom prst="rect">
              <a:avLst/>
            </a:prstGeom>
            <a:noFill/>
          </p:spPr>
          <p:txBody>
            <a:bodyPr wrap="square" rtlCol="0">
              <a:spAutoFit/>
            </a:bodyPr>
            <a:lstStyle/>
            <a:p>
              <a:r>
                <a:rPr lang="en-US" dirty="0"/>
                <a:t>Supply of recycled materials</a:t>
              </a:r>
            </a:p>
          </p:txBody>
        </p:sp>
        <p:sp>
          <p:nvSpPr>
            <p:cNvPr id="41" name="Arrow: Down 40">
              <a:extLst>
                <a:ext uri="{FF2B5EF4-FFF2-40B4-BE49-F238E27FC236}">
                  <a16:creationId xmlns:a16="http://schemas.microsoft.com/office/drawing/2014/main" id="{EBAE6CCC-9304-FB81-444B-1EE2E640559F}"/>
                </a:ext>
              </a:extLst>
            </p:cNvPr>
            <p:cNvSpPr/>
            <p:nvPr/>
          </p:nvSpPr>
          <p:spPr>
            <a:xfrm rot="10800000">
              <a:off x="5601817" y="6141983"/>
              <a:ext cx="344481" cy="4669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sp>
        <p:nvSpPr>
          <p:cNvPr id="45" name="TextBox 44">
            <a:extLst>
              <a:ext uri="{FF2B5EF4-FFF2-40B4-BE49-F238E27FC236}">
                <a16:creationId xmlns:a16="http://schemas.microsoft.com/office/drawing/2014/main" id="{0AF3233A-857A-6E4F-5511-F27FFD6A0241}"/>
              </a:ext>
            </a:extLst>
          </p:cNvPr>
          <p:cNvSpPr txBox="1"/>
          <p:nvPr/>
        </p:nvSpPr>
        <p:spPr>
          <a:xfrm>
            <a:off x="7680210" y="3543788"/>
            <a:ext cx="1960852" cy="461665"/>
          </a:xfrm>
          <a:prstGeom prst="rect">
            <a:avLst/>
          </a:prstGeom>
          <a:noFill/>
        </p:spPr>
        <p:txBody>
          <a:bodyPr wrap="square" rtlCol="0">
            <a:spAutoFit/>
          </a:bodyPr>
          <a:lstStyle/>
          <a:p>
            <a:r>
              <a:rPr lang="en-US" sz="1200" dirty="0"/>
              <a:t>Policy or </a:t>
            </a:r>
          </a:p>
          <a:p>
            <a:r>
              <a:rPr lang="en-US" sz="1200" dirty="0"/>
              <a:t>technological shock</a:t>
            </a:r>
          </a:p>
        </p:txBody>
      </p:sp>
      <p:cxnSp>
        <p:nvCxnSpPr>
          <p:cNvPr id="47" name="Straight Arrow Connector 46">
            <a:extLst>
              <a:ext uri="{FF2B5EF4-FFF2-40B4-BE49-F238E27FC236}">
                <a16:creationId xmlns:a16="http://schemas.microsoft.com/office/drawing/2014/main" id="{A4C10CA4-65FC-5912-CA32-4CD5FD8DAC15}"/>
              </a:ext>
            </a:extLst>
          </p:cNvPr>
          <p:cNvCxnSpPr>
            <a:cxnSpLocks/>
          </p:cNvCxnSpPr>
          <p:nvPr/>
        </p:nvCxnSpPr>
        <p:spPr>
          <a:xfrm flipH="1" flipV="1">
            <a:off x="7929996" y="3272109"/>
            <a:ext cx="293810" cy="2963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3EA0A78-8539-CCB6-42CE-55FB6C6ED683}"/>
              </a:ext>
            </a:extLst>
          </p:cNvPr>
          <p:cNvCxnSpPr>
            <a:cxnSpLocks/>
          </p:cNvCxnSpPr>
          <p:nvPr/>
        </p:nvCxnSpPr>
        <p:spPr>
          <a:xfrm flipH="1">
            <a:off x="7945028" y="4005453"/>
            <a:ext cx="329968" cy="359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4756D801-18A8-2A24-0A71-792E5E7DBAED}"/>
              </a:ext>
            </a:extLst>
          </p:cNvPr>
          <p:cNvSpPr/>
          <p:nvPr/>
        </p:nvSpPr>
        <p:spPr>
          <a:xfrm>
            <a:off x="587375" y="5806281"/>
            <a:ext cx="2523817" cy="84743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4" name="Straight Arrow Connector 63">
            <a:extLst>
              <a:ext uri="{FF2B5EF4-FFF2-40B4-BE49-F238E27FC236}">
                <a16:creationId xmlns:a16="http://schemas.microsoft.com/office/drawing/2014/main" id="{F901711A-5030-E376-AD24-88AEB6B57B1B}"/>
              </a:ext>
            </a:extLst>
          </p:cNvPr>
          <p:cNvCxnSpPr>
            <a:cxnSpLocks/>
          </p:cNvCxnSpPr>
          <p:nvPr/>
        </p:nvCxnSpPr>
        <p:spPr>
          <a:xfrm>
            <a:off x="3267350" y="6202610"/>
            <a:ext cx="1891125" cy="188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Arrow: Down 15">
            <a:extLst>
              <a:ext uri="{FF2B5EF4-FFF2-40B4-BE49-F238E27FC236}">
                <a16:creationId xmlns:a16="http://schemas.microsoft.com/office/drawing/2014/main" id="{8460604C-2D8F-23C4-A375-3D3808A5F271}"/>
              </a:ext>
            </a:extLst>
          </p:cNvPr>
          <p:cNvSpPr/>
          <p:nvPr/>
        </p:nvSpPr>
        <p:spPr>
          <a:xfrm>
            <a:off x="7050697" y="6158143"/>
            <a:ext cx="344481" cy="466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9AA45127-A175-D37F-A472-A227B7A76079}"/>
              </a:ext>
            </a:extLst>
          </p:cNvPr>
          <p:cNvSpPr txBox="1"/>
          <p:nvPr/>
        </p:nvSpPr>
        <p:spPr>
          <a:xfrm>
            <a:off x="5292830" y="6068443"/>
            <a:ext cx="1809010" cy="646331"/>
          </a:xfrm>
          <a:prstGeom prst="rect">
            <a:avLst/>
          </a:prstGeom>
          <a:noFill/>
        </p:spPr>
        <p:txBody>
          <a:bodyPr wrap="square" rtlCol="0">
            <a:spAutoFit/>
          </a:bodyPr>
          <a:lstStyle/>
          <a:p>
            <a:r>
              <a:rPr lang="en-US" dirty="0"/>
              <a:t>Demand for virgin materials</a:t>
            </a:r>
          </a:p>
        </p:txBody>
      </p:sp>
      <p:sp>
        <p:nvSpPr>
          <p:cNvPr id="15" name="Rectangle 14">
            <a:extLst>
              <a:ext uri="{FF2B5EF4-FFF2-40B4-BE49-F238E27FC236}">
                <a16:creationId xmlns:a16="http://schemas.microsoft.com/office/drawing/2014/main" id="{33F0166C-A31C-7A4E-6494-00FAF573C96C}"/>
              </a:ext>
            </a:extLst>
          </p:cNvPr>
          <p:cNvSpPr/>
          <p:nvPr/>
        </p:nvSpPr>
        <p:spPr>
          <a:xfrm>
            <a:off x="5253706" y="6016132"/>
            <a:ext cx="2305334" cy="75095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620369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492FB-A295-898D-E577-6984E1B9F2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D4DACD-BC7D-26A5-9D2A-C93C2C08E6D3}"/>
              </a:ext>
            </a:extLst>
          </p:cNvPr>
          <p:cNvSpPr>
            <a:spLocks noGrp="1"/>
          </p:cNvSpPr>
          <p:nvPr>
            <p:ph type="title"/>
          </p:nvPr>
        </p:nvSpPr>
        <p:spPr/>
        <p:txBody>
          <a:bodyPr/>
          <a:lstStyle/>
          <a:p>
            <a:r>
              <a:rPr lang="en-US" dirty="0"/>
              <a:t>Introduction</a:t>
            </a:r>
          </a:p>
        </p:txBody>
      </p:sp>
      <p:sp>
        <p:nvSpPr>
          <p:cNvPr id="2" name="Date Placeholder 1">
            <a:extLst>
              <a:ext uri="{FF2B5EF4-FFF2-40B4-BE49-F238E27FC236}">
                <a16:creationId xmlns:a16="http://schemas.microsoft.com/office/drawing/2014/main" id="{0F4F8234-00E6-1711-2433-DB0A41CFFA2F}"/>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6E0B3940-B6D6-666C-C54D-C4E5394D72B6}"/>
              </a:ext>
            </a:extLst>
          </p:cNvPr>
          <p:cNvSpPr>
            <a:spLocks noGrp="1"/>
          </p:cNvSpPr>
          <p:nvPr>
            <p:ph type="sldNum" sz="quarter" idx="12"/>
          </p:nvPr>
        </p:nvSpPr>
        <p:spPr/>
        <p:txBody>
          <a:bodyPr/>
          <a:lstStyle/>
          <a:p>
            <a:fld id="{091A926C-488A-4E3E-9C21-57CAA120E114}" type="slidenum">
              <a:rPr lang="en-US" smtClean="0"/>
              <a:t>20</a:t>
            </a:fld>
            <a:endParaRPr lang="en-US" dirty="0"/>
          </a:p>
        </p:txBody>
      </p:sp>
      <p:sp>
        <p:nvSpPr>
          <p:cNvPr id="6" name="TextBox 5">
            <a:extLst>
              <a:ext uri="{FF2B5EF4-FFF2-40B4-BE49-F238E27FC236}">
                <a16:creationId xmlns:a16="http://schemas.microsoft.com/office/drawing/2014/main" id="{CE33C65E-9542-114C-D368-6513B06A5CDF}"/>
              </a:ext>
            </a:extLst>
          </p:cNvPr>
          <p:cNvSpPr txBox="1"/>
          <p:nvPr/>
        </p:nvSpPr>
        <p:spPr>
          <a:xfrm>
            <a:off x="508410" y="1051719"/>
            <a:ext cx="8046629" cy="707886"/>
          </a:xfrm>
          <a:prstGeom prst="rect">
            <a:avLst/>
          </a:prstGeom>
          <a:noFill/>
        </p:spPr>
        <p:txBody>
          <a:bodyPr wrap="square" rtlCol="0">
            <a:spAutoFit/>
          </a:bodyPr>
          <a:lstStyle/>
          <a:p>
            <a:r>
              <a:rPr lang="en-US" sz="2000" b="1" dirty="0"/>
              <a:t>The material rebound effect</a:t>
            </a:r>
            <a:endParaRPr lang="en-US" sz="2000" dirty="0"/>
          </a:p>
          <a:p>
            <a:pPr algn="ctr"/>
            <a:endParaRPr lang="en-US" sz="2000" dirty="0"/>
          </a:p>
        </p:txBody>
      </p:sp>
      <p:pic>
        <p:nvPicPr>
          <p:cNvPr id="5" name="Picture 4">
            <a:extLst>
              <a:ext uri="{FF2B5EF4-FFF2-40B4-BE49-F238E27FC236}">
                <a16:creationId xmlns:a16="http://schemas.microsoft.com/office/drawing/2014/main" id="{94E5D567-BD98-6406-0F22-111D7782A9B7}"/>
              </a:ext>
            </a:extLst>
          </p:cNvPr>
          <p:cNvPicPr>
            <a:picLocks noChangeAspect="1"/>
          </p:cNvPicPr>
          <p:nvPr/>
        </p:nvPicPr>
        <p:blipFill>
          <a:blip r:embed="rId3"/>
          <a:stretch>
            <a:fillRect/>
          </a:stretch>
        </p:blipFill>
        <p:spPr>
          <a:xfrm>
            <a:off x="3267350" y="1983180"/>
            <a:ext cx="1682337" cy="1321354"/>
          </a:xfrm>
          <a:prstGeom prst="rect">
            <a:avLst/>
          </a:prstGeom>
        </p:spPr>
      </p:pic>
      <p:sp>
        <p:nvSpPr>
          <p:cNvPr id="7" name="Rounded Rectangle 6">
            <a:extLst>
              <a:ext uri="{FF2B5EF4-FFF2-40B4-BE49-F238E27FC236}">
                <a16:creationId xmlns:a16="http://schemas.microsoft.com/office/drawing/2014/main" id="{59EAAF6B-0461-F924-6367-72ED3B76747D}"/>
              </a:ext>
            </a:extLst>
          </p:cNvPr>
          <p:cNvSpPr/>
          <p:nvPr/>
        </p:nvSpPr>
        <p:spPr>
          <a:xfrm>
            <a:off x="566411" y="2257155"/>
            <a:ext cx="1853682" cy="7495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Virgin natural resource input</a:t>
            </a:r>
          </a:p>
        </p:txBody>
      </p:sp>
      <p:cxnSp>
        <p:nvCxnSpPr>
          <p:cNvPr id="9" name="Straight Arrow Connector 8">
            <a:extLst>
              <a:ext uri="{FF2B5EF4-FFF2-40B4-BE49-F238E27FC236}">
                <a16:creationId xmlns:a16="http://schemas.microsoft.com/office/drawing/2014/main" id="{2DB4DCCC-A1D8-20A7-334E-81D957003C32}"/>
              </a:ext>
            </a:extLst>
          </p:cNvPr>
          <p:cNvCxnSpPr>
            <a:cxnSpLocks/>
          </p:cNvCxnSpPr>
          <p:nvPr/>
        </p:nvCxnSpPr>
        <p:spPr>
          <a:xfrm>
            <a:off x="2477313" y="2631920"/>
            <a:ext cx="732817"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12">
            <a:extLst>
              <a:ext uri="{FF2B5EF4-FFF2-40B4-BE49-F238E27FC236}">
                <a16:creationId xmlns:a16="http://schemas.microsoft.com/office/drawing/2014/main" id="{55E839DF-BC63-A9F3-9F33-B0C1222F6B20}"/>
              </a:ext>
            </a:extLst>
          </p:cNvPr>
          <p:cNvSpPr/>
          <p:nvPr/>
        </p:nvSpPr>
        <p:spPr>
          <a:xfrm>
            <a:off x="5601843" y="1598299"/>
            <a:ext cx="1853682" cy="485192"/>
          </a:xfrm>
          <a:prstGeom prst="round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dirty="0"/>
              <a:t>Production</a:t>
            </a:r>
          </a:p>
        </p:txBody>
      </p:sp>
      <p:sp>
        <p:nvSpPr>
          <p:cNvPr id="11" name="Rounded Rectangle 16">
            <a:extLst>
              <a:ext uri="{FF2B5EF4-FFF2-40B4-BE49-F238E27FC236}">
                <a16:creationId xmlns:a16="http://schemas.microsoft.com/office/drawing/2014/main" id="{5C29366D-C335-2D8F-FF23-EFC896B35A74}"/>
              </a:ext>
            </a:extLst>
          </p:cNvPr>
          <p:cNvSpPr/>
          <p:nvPr/>
        </p:nvSpPr>
        <p:spPr>
          <a:xfrm>
            <a:off x="5601843" y="4151788"/>
            <a:ext cx="1853682" cy="750951"/>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Waste</a:t>
            </a:r>
          </a:p>
          <a:p>
            <a:pPr algn="ctr"/>
            <a:r>
              <a:rPr lang="en-US" dirty="0"/>
              <a:t>(negative value)</a:t>
            </a:r>
          </a:p>
        </p:txBody>
      </p:sp>
      <p:sp>
        <p:nvSpPr>
          <p:cNvPr id="12" name="Rounded Rectangle 23">
            <a:extLst>
              <a:ext uri="{FF2B5EF4-FFF2-40B4-BE49-F238E27FC236}">
                <a16:creationId xmlns:a16="http://schemas.microsoft.com/office/drawing/2014/main" id="{81800F35-809A-C5F4-DC4B-75B0D20CA40D}"/>
              </a:ext>
            </a:extLst>
          </p:cNvPr>
          <p:cNvSpPr/>
          <p:nvPr/>
        </p:nvSpPr>
        <p:spPr>
          <a:xfrm>
            <a:off x="5601843" y="2521100"/>
            <a:ext cx="1853682" cy="1084109"/>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Recycled materials (positive value)</a:t>
            </a:r>
          </a:p>
        </p:txBody>
      </p:sp>
      <p:cxnSp>
        <p:nvCxnSpPr>
          <p:cNvPr id="14" name="Straight Arrow Connector 13">
            <a:extLst>
              <a:ext uri="{FF2B5EF4-FFF2-40B4-BE49-F238E27FC236}">
                <a16:creationId xmlns:a16="http://schemas.microsoft.com/office/drawing/2014/main" id="{959D41CA-02CC-1A04-7002-5BCB8738B66A}"/>
              </a:ext>
            </a:extLst>
          </p:cNvPr>
          <p:cNvCxnSpPr>
            <a:cxnSpLocks/>
          </p:cNvCxnSpPr>
          <p:nvPr/>
        </p:nvCxnSpPr>
        <p:spPr>
          <a:xfrm flipV="1">
            <a:off x="4883287" y="2083491"/>
            <a:ext cx="654996" cy="31673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2C0CD7E5-2D90-885A-DD74-4F0AD1255FF3}"/>
              </a:ext>
            </a:extLst>
          </p:cNvPr>
          <p:cNvCxnSpPr>
            <a:cxnSpLocks/>
          </p:cNvCxnSpPr>
          <p:nvPr/>
        </p:nvCxnSpPr>
        <p:spPr>
          <a:xfrm>
            <a:off x="4883287" y="2911813"/>
            <a:ext cx="654996" cy="1513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28FB011-0358-F443-3D02-D88AE5596D53}"/>
              </a:ext>
            </a:extLst>
          </p:cNvPr>
          <p:cNvCxnSpPr>
            <a:cxnSpLocks/>
          </p:cNvCxnSpPr>
          <p:nvPr/>
        </p:nvCxnSpPr>
        <p:spPr>
          <a:xfrm>
            <a:off x="4883287" y="3404845"/>
            <a:ext cx="654996" cy="74694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ounded Rectangle 23">
            <a:extLst>
              <a:ext uri="{FF2B5EF4-FFF2-40B4-BE49-F238E27FC236}">
                <a16:creationId xmlns:a16="http://schemas.microsoft.com/office/drawing/2014/main" id="{CAD01DC2-5697-4B32-6C12-885F2FC1871A}"/>
              </a:ext>
            </a:extLst>
          </p:cNvPr>
          <p:cNvSpPr/>
          <p:nvPr/>
        </p:nvSpPr>
        <p:spPr>
          <a:xfrm>
            <a:off x="566411" y="3236261"/>
            <a:ext cx="1853682" cy="615055"/>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Recycled materials</a:t>
            </a:r>
          </a:p>
        </p:txBody>
      </p:sp>
      <p:cxnSp>
        <p:nvCxnSpPr>
          <p:cNvPr id="28" name="Straight Arrow Connector 27">
            <a:extLst>
              <a:ext uri="{FF2B5EF4-FFF2-40B4-BE49-F238E27FC236}">
                <a16:creationId xmlns:a16="http://schemas.microsoft.com/office/drawing/2014/main" id="{EEAAB508-F7CA-0F6E-DF20-1D3A43DBB0F2}"/>
              </a:ext>
            </a:extLst>
          </p:cNvPr>
          <p:cNvCxnSpPr>
            <a:cxnSpLocks/>
          </p:cNvCxnSpPr>
          <p:nvPr/>
        </p:nvCxnSpPr>
        <p:spPr>
          <a:xfrm flipV="1">
            <a:off x="2477313" y="3145277"/>
            <a:ext cx="732817" cy="42323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Arrow: Down 29">
            <a:extLst>
              <a:ext uri="{FF2B5EF4-FFF2-40B4-BE49-F238E27FC236}">
                <a16:creationId xmlns:a16="http://schemas.microsoft.com/office/drawing/2014/main" id="{29809187-CD21-1E90-BE51-B65294239198}"/>
              </a:ext>
            </a:extLst>
          </p:cNvPr>
          <p:cNvSpPr/>
          <p:nvPr/>
        </p:nvSpPr>
        <p:spPr>
          <a:xfrm>
            <a:off x="7600547" y="4293799"/>
            <a:ext cx="344481" cy="466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Arrow: Down 30">
            <a:extLst>
              <a:ext uri="{FF2B5EF4-FFF2-40B4-BE49-F238E27FC236}">
                <a16:creationId xmlns:a16="http://schemas.microsoft.com/office/drawing/2014/main" id="{A8599640-7177-6D99-19D4-1B37726B2370}"/>
              </a:ext>
            </a:extLst>
          </p:cNvPr>
          <p:cNvSpPr/>
          <p:nvPr/>
        </p:nvSpPr>
        <p:spPr>
          <a:xfrm rot="10800000">
            <a:off x="7600547" y="2805181"/>
            <a:ext cx="344481" cy="4669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nvGrpSpPr>
          <p:cNvPr id="56" name="Group 55">
            <a:extLst>
              <a:ext uri="{FF2B5EF4-FFF2-40B4-BE49-F238E27FC236}">
                <a16:creationId xmlns:a16="http://schemas.microsoft.com/office/drawing/2014/main" id="{9A485901-0310-5876-20A5-237BE3C82420}"/>
              </a:ext>
            </a:extLst>
          </p:cNvPr>
          <p:cNvGrpSpPr/>
          <p:nvPr/>
        </p:nvGrpSpPr>
        <p:grpSpPr>
          <a:xfrm>
            <a:off x="553443" y="4310165"/>
            <a:ext cx="2815960" cy="1218849"/>
            <a:chOff x="1346123" y="4364790"/>
            <a:chExt cx="2815960" cy="1218849"/>
          </a:xfrm>
        </p:grpSpPr>
        <p:sp>
          <p:nvSpPr>
            <p:cNvPr id="33" name="TextBox 32">
              <a:extLst>
                <a:ext uri="{FF2B5EF4-FFF2-40B4-BE49-F238E27FC236}">
                  <a16:creationId xmlns:a16="http://schemas.microsoft.com/office/drawing/2014/main" id="{D3016062-1580-D7C3-0FF6-E4A442F5D93F}"/>
                </a:ext>
              </a:extLst>
            </p:cNvPr>
            <p:cNvSpPr txBox="1"/>
            <p:nvPr/>
          </p:nvSpPr>
          <p:spPr>
            <a:xfrm>
              <a:off x="1346124" y="4413588"/>
              <a:ext cx="2465633" cy="369332"/>
            </a:xfrm>
            <a:prstGeom prst="rect">
              <a:avLst/>
            </a:prstGeom>
            <a:noFill/>
          </p:spPr>
          <p:txBody>
            <a:bodyPr wrap="square" rtlCol="0">
              <a:spAutoFit/>
            </a:bodyPr>
            <a:lstStyle/>
            <a:p>
              <a:r>
                <a:rPr lang="en-US" dirty="0"/>
                <a:t>Price of production</a:t>
              </a:r>
            </a:p>
          </p:txBody>
        </p:sp>
        <p:sp>
          <p:nvSpPr>
            <p:cNvPr id="34" name="TextBox 33">
              <a:extLst>
                <a:ext uri="{FF2B5EF4-FFF2-40B4-BE49-F238E27FC236}">
                  <a16:creationId xmlns:a16="http://schemas.microsoft.com/office/drawing/2014/main" id="{93EA3097-DB58-482D-AD99-D25F2D7A301B}"/>
                </a:ext>
              </a:extLst>
            </p:cNvPr>
            <p:cNvSpPr txBox="1"/>
            <p:nvPr/>
          </p:nvSpPr>
          <p:spPr>
            <a:xfrm>
              <a:off x="1346123" y="5165509"/>
              <a:ext cx="2465633" cy="369332"/>
            </a:xfrm>
            <a:prstGeom prst="rect">
              <a:avLst/>
            </a:prstGeom>
            <a:noFill/>
          </p:spPr>
          <p:txBody>
            <a:bodyPr wrap="square" rtlCol="0">
              <a:spAutoFit/>
            </a:bodyPr>
            <a:lstStyle/>
            <a:p>
              <a:r>
                <a:rPr lang="en-US" dirty="0"/>
                <a:t>Demand for materials</a:t>
              </a:r>
            </a:p>
          </p:txBody>
        </p:sp>
        <p:sp>
          <p:nvSpPr>
            <p:cNvPr id="35" name="Arrow: Down 34">
              <a:extLst>
                <a:ext uri="{FF2B5EF4-FFF2-40B4-BE49-F238E27FC236}">
                  <a16:creationId xmlns:a16="http://schemas.microsoft.com/office/drawing/2014/main" id="{31BAAF64-2879-969D-2302-D0A0ECE7D217}"/>
                </a:ext>
              </a:extLst>
            </p:cNvPr>
            <p:cNvSpPr/>
            <p:nvPr/>
          </p:nvSpPr>
          <p:spPr>
            <a:xfrm>
              <a:off x="3817602" y="4364790"/>
              <a:ext cx="344481" cy="466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Arrow: Down 35">
              <a:extLst>
                <a:ext uri="{FF2B5EF4-FFF2-40B4-BE49-F238E27FC236}">
                  <a16:creationId xmlns:a16="http://schemas.microsoft.com/office/drawing/2014/main" id="{443F9816-716D-E591-2C27-6660CD5C22D1}"/>
                </a:ext>
              </a:extLst>
            </p:cNvPr>
            <p:cNvSpPr/>
            <p:nvPr/>
          </p:nvSpPr>
          <p:spPr>
            <a:xfrm rot="10800000">
              <a:off x="3811756" y="5116711"/>
              <a:ext cx="344481" cy="4669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grpSp>
        <p:nvGrpSpPr>
          <p:cNvPr id="55" name="Group 54">
            <a:extLst>
              <a:ext uri="{FF2B5EF4-FFF2-40B4-BE49-F238E27FC236}">
                <a16:creationId xmlns:a16="http://schemas.microsoft.com/office/drawing/2014/main" id="{B52135B4-3810-14A0-3A76-A5E1E61E7586}"/>
              </a:ext>
            </a:extLst>
          </p:cNvPr>
          <p:cNvGrpSpPr/>
          <p:nvPr/>
        </p:nvGrpSpPr>
        <p:grpSpPr>
          <a:xfrm>
            <a:off x="566411" y="5915709"/>
            <a:ext cx="2465633" cy="646331"/>
            <a:chOff x="3496748" y="6020485"/>
            <a:chExt cx="2465633" cy="646331"/>
          </a:xfrm>
        </p:grpSpPr>
        <p:sp>
          <p:nvSpPr>
            <p:cNvPr id="37" name="TextBox 36">
              <a:extLst>
                <a:ext uri="{FF2B5EF4-FFF2-40B4-BE49-F238E27FC236}">
                  <a16:creationId xmlns:a16="http://schemas.microsoft.com/office/drawing/2014/main" id="{065171E9-07B0-303E-96A6-69C2BB143F61}"/>
                </a:ext>
              </a:extLst>
            </p:cNvPr>
            <p:cNvSpPr txBox="1"/>
            <p:nvPr/>
          </p:nvSpPr>
          <p:spPr>
            <a:xfrm>
              <a:off x="3496748" y="6020485"/>
              <a:ext cx="2465633" cy="646331"/>
            </a:xfrm>
            <a:prstGeom prst="rect">
              <a:avLst/>
            </a:prstGeom>
            <a:noFill/>
          </p:spPr>
          <p:txBody>
            <a:bodyPr wrap="square" rtlCol="0">
              <a:spAutoFit/>
            </a:bodyPr>
            <a:lstStyle/>
            <a:p>
              <a:r>
                <a:rPr lang="en-US" dirty="0"/>
                <a:t>Supply of recycled materials</a:t>
              </a:r>
            </a:p>
          </p:txBody>
        </p:sp>
        <p:sp>
          <p:nvSpPr>
            <p:cNvPr id="41" name="Arrow: Down 40">
              <a:extLst>
                <a:ext uri="{FF2B5EF4-FFF2-40B4-BE49-F238E27FC236}">
                  <a16:creationId xmlns:a16="http://schemas.microsoft.com/office/drawing/2014/main" id="{9F316B2D-F551-7696-598A-DF4678161D22}"/>
                </a:ext>
              </a:extLst>
            </p:cNvPr>
            <p:cNvSpPr/>
            <p:nvPr/>
          </p:nvSpPr>
          <p:spPr>
            <a:xfrm rot="10800000">
              <a:off x="5601817" y="6141983"/>
              <a:ext cx="344481" cy="4669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grpSp>
      <p:sp>
        <p:nvSpPr>
          <p:cNvPr id="45" name="TextBox 44">
            <a:extLst>
              <a:ext uri="{FF2B5EF4-FFF2-40B4-BE49-F238E27FC236}">
                <a16:creationId xmlns:a16="http://schemas.microsoft.com/office/drawing/2014/main" id="{937953D4-9805-5DC3-39E4-03DB44B402D1}"/>
              </a:ext>
            </a:extLst>
          </p:cNvPr>
          <p:cNvSpPr txBox="1"/>
          <p:nvPr/>
        </p:nvSpPr>
        <p:spPr>
          <a:xfrm>
            <a:off x="7680210" y="3543788"/>
            <a:ext cx="1960852" cy="461665"/>
          </a:xfrm>
          <a:prstGeom prst="rect">
            <a:avLst/>
          </a:prstGeom>
          <a:noFill/>
        </p:spPr>
        <p:txBody>
          <a:bodyPr wrap="square" rtlCol="0">
            <a:spAutoFit/>
          </a:bodyPr>
          <a:lstStyle/>
          <a:p>
            <a:r>
              <a:rPr lang="en-US" sz="1200" dirty="0"/>
              <a:t>Policy or </a:t>
            </a:r>
          </a:p>
          <a:p>
            <a:r>
              <a:rPr lang="en-US" sz="1200" dirty="0"/>
              <a:t>technological shock</a:t>
            </a:r>
          </a:p>
        </p:txBody>
      </p:sp>
      <p:cxnSp>
        <p:nvCxnSpPr>
          <p:cNvPr id="47" name="Straight Arrow Connector 46">
            <a:extLst>
              <a:ext uri="{FF2B5EF4-FFF2-40B4-BE49-F238E27FC236}">
                <a16:creationId xmlns:a16="http://schemas.microsoft.com/office/drawing/2014/main" id="{24F50A47-619C-2C96-AEE1-5D5DAB9ABBC1}"/>
              </a:ext>
            </a:extLst>
          </p:cNvPr>
          <p:cNvCxnSpPr>
            <a:cxnSpLocks/>
          </p:cNvCxnSpPr>
          <p:nvPr/>
        </p:nvCxnSpPr>
        <p:spPr>
          <a:xfrm flipH="1" flipV="1">
            <a:off x="7929996" y="3272109"/>
            <a:ext cx="293810" cy="2963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C7DD726-C054-10EA-4A13-DA44870853AD}"/>
              </a:ext>
            </a:extLst>
          </p:cNvPr>
          <p:cNvCxnSpPr>
            <a:cxnSpLocks/>
          </p:cNvCxnSpPr>
          <p:nvPr/>
        </p:nvCxnSpPr>
        <p:spPr>
          <a:xfrm flipH="1">
            <a:off x="7945028" y="4005453"/>
            <a:ext cx="329968" cy="359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B44C639E-F202-FF6F-85FC-2C82D87E3FEA}"/>
              </a:ext>
            </a:extLst>
          </p:cNvPr>
          <p:cNvSpPr/>
          <p:nvPr/>
        </p:nvSpPr>
        <p:spPr>
          <a:xfrm>
            <a:off x="440987" y="4185121"/>
            <a:ext cx="3158247" cy="1476376"/>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D5A141C8-0183-B263-AE27-DB8BD95EB6C7}"/>
              </a:ext>
            </a:extLst>
          </p:cNvPr>
          <p:cNvSpPr/>
          <p:nvPr/>
        </p:nvSpPr>
        <p:spPr>
          <a:xfrm>
            <a:off x="587375" y="5806281"/>
            <a:ext cx="2523817" cy="847438"/>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9" name="Arrow: Down 38">
            <a:extLst>
              <a:ext uri="{FF2B5EF4-FFF2-40B4-BE49-F238E27FC236}">
                <a16:creationId xmlns:a16="http://schemas.microsoft.com/office/drawing/2014/main" id="{36007A42-E5A8-A36C-B480-5FD39897C7B4}"/>
              </a:ext>
            </a:extLst>
          </p:cNvPr>
          <p:cNvSpPr/>
          <p:nvPr/>
        </p:nvSpPr>
        <p:spPr>
          <a:xfrm rot="10800000">
            <a:off x="7050697" y="5286255"/>
            <a:ext cx="344481" cy="4669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33A53E49-082D-8D31-1B73-443709D1EFE0}"/>
              </a:ext>
            </a:extLst>
          </p:cNvPr>
          <p:cNvSpPr txBox="1"/>
          <p:nvPr/>
        </p:nvSpPr>
        <p:spPr>
          <a:xfrm>
            <a:off x="5292830" y="5196555"/>
            <a:ext cx="1757866" cy="646331"/>
          </a:xfrm>
          <a:prstGeom prst="rect">
            <a:avLst/>
          </a:prstGeom>
          <a:noFill/>
        </p:spPr>
        <p:txBody>
          <a:bodyPr wrap="square" rtlCol="0">
            <a:spAutoFit/>
          </a:bodyPr>
          <a:lstStyle/>
          <a:p>
            <a:r>
              <a:rPr lang="en-US" dirty="0"/>
              <a:t>Demand for virgin materials</a:t>
            </a:r>
          </a:p>
        </p:txBody>
      </p:sp>
      <p:sp>
        <p:nvSpPr>
          <p:cNvPr id="59" name="Rectangle 58">
            <a:extLst>
              <a:ext uri="{FF2B5EF4-FFF2-40B4-BE49-F238E27FC236}">
                <a16:creationId xmlns:a16="http://schemas.microsoft.com/office/drawing/2014/main" id="{119F34CF-F1C8-2B44-AF59-24283428A52C}"/>
              </a:ext>
            </a:extLst>
          </p:cNvPr>
          <p:cNvSpPr/>
          <p:nvPr/>
        </p:nvSpPr>
        <p:spPr>
          <a:xfrm>
            <a:off x="5253706" y="5144244"/>
            <a:ext cx="2305334" cy="75095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cxnSp>
        <p:nvCxnSpPr>
          <p:cNvPr id="60" name="Straight Arrow Connector 59">
            <a:extLst>
              <a:ext uri="{FF2B5EF4-FFF2-40B4-BE49-F238E27FC236}">
                <a16:creationId xmlns:a16="http://schemas.microsoft.com/office/drawing/2014/main" id="{7C39B03C-58D3-D207-CC4A-F08F197F9EE5}"/>
              </a:ext>
            </a:extLst>
          </p:cNvPr>
          <p:cNvCxnSpPr>
            <a:cxnSpLocks/>
          </p:cNvCxnSpPr>
          <p:nvPr/>
        </p:nvCxnSpPr>
        <p:spPr>
          <a:xfrm>
            <a:off x="3734824" y="5110884"/>
            <a:ext cx="1401380" cy="41813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182FFE8-B12A-C4D9-36EB-80069B0BBD28}"/>
              </a:ext>
            </a:extLst>
          </p:cNvPr>
          <p:cNvCxnSpPr>
            <a:cxnSpLocks/>
          </p:cNvCxnSpPr>
          <p:nvPr/>
        </p:nvCxnSpPr>
        <p:spPr>
          <a:xfrm>
            <a:off x="3267350" y="6202610"/>
            <a:ext cx="1891125" cy="18899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Arrow: Down 15">
            <a:extLst>
              <a:ext uri="{FF2B5EF4-FFF2-40B4-BE49-F238E27FC236}">
                <a16:creationId xmlns:a16="http://schemas.microsoft.com/office/drawing/2014/main" id="{2141806B-6860-EB64-5330-398FE9B28A67}"/>
              </a:ext>
            </a:extLst>
          </p:cNvPr>
          <p:cNvSpPr/>
          <p:nvPr/>
        </p:nvSpPr>
        <p:spPr>
          <a:xfrm>
            <a:off x="7050697" y="6158143"/>
            <a:ext cx="344481" cy="466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0498363E-8663-0DF7-C92E-B47AE3C24B81}"/>
              </a:ext>
            </a:extLst>
          </p:cNvPr>
          <p:cNvSpPr txBox="1"/>
          <p:nvPr/>
        </p:nvSpPr>
        <p:spPr>
          <a:xfrm>
            <a:off x="5292830" y="6068443"/>
            <a:ext cx="1809010" cy="646331"/>
          </a:xfrm>
          <a:prstGeom prst="rect">
            <a:avLst/>
          </a:prstGeom>
          <a:noFill/>
        </p:spPr>
        <p:txBody>
          <a:bodyPr wrap="square" rtlCol="0">
            <a:spAutoFit/>
          </a:bodyPr>
          <a:lstStyle/>
          <a:p>
            <a:r>
              <a:rPr lang="en-US" dirty="0"/>
              <a:t>Demand for virgin materials</a:t>
            </a:r>
          </a:p>
        </p:txBody>
      </p:sp>
      <p:sp>
        <p:nvSpPr>
          <p:cNvPr id="15" name="Rectangle 14">
            <a:extLst>
              <a:ext uri="{FF2B5EF4-FFF2-40B4-BE49-F238E27FC236}">
                <a16:creationId xmlns:a16="http://schemas.microsoft.com/office/drawing/2014/main" id="{2ECADBF5-F6AE-5918-92EF-BCE6ADAA9E89}"/>
              </a:ext>
            </a:extLst>
          </p:cNvPr>
          <p:cNvSpPr/>
          <p:nvPr/>
        </p:nvSpPr>
        <p:spPr>
          <a:xfrm>
            <a:off x="5253706" y="6016132"/>
            <a:ext cx="2305334" cy="75095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1645737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0DF2A-C673-F9B2-8674-5850FAE93F0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6CB4E3-7BD7-C17B-75D4-F8F853F304C7}"/>
              </a:ext>
            </a:extLst>
          </p:cNvPr>
          <p:cNvSpPr>
            <a:spLocks noGrp="1"/>
          </p:cNvSpPr>
          <p:nvPr>
            <p:ph type="title"/>
          </p:nvPr>
        </p:nvSpPr>
        <p:spPr/>
        <p:txBody>
          <a:bodyPr/>
          <a:lstStyle/>
          <a:p>
            <a:r>
              <a:rPr lang="en-US" dirty="0"/>
              <a:t>Literature</a:t>
            </a:r>
          </a:p>
        </p:txBody>
      </p:sp>
      <p:sp>
        <p:nvSpPr>
          <p:cNvPr id="2" name="Date Placeholder 1">
            <a:extLst>
              <a:ext uri="{FF2B5EF4-FFF2-40B4-BE49-F238E27FC236}">
                <a16:creationId xmlns:a16="http://schemas.microsoft.com/office/drawing/2014/main" id="{2DF9FB9A-D1F0-5BEE-5D69-2DC9B94CBFB2}"/>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C1D61FFF-4080-C531-C431-95CBED965275}"/>
              </a:ext>
            </a:extLst>
          </p:cNvPr>
          <p:cNvSpPr>
            <a:spLocks noGrp="1"/>
          </p:cNvSpPr>
          <p:nvPr>
            <p:ph type="sldNum" sz="quarter" idx="12"/>
          </p:nvPr>
        </p:nvSpPr>
        <p:spPr/>
        <p:txBody>
          <a:bodyPr/>
          <a:lstStyle/>
          <a:p>
            <a:fld id="{091A926C-488A-4E3E-9C21-57CAA120E114}" type="slidenum">
              <a:rPr lang="en-US" smtClean="0"/>
              <a:t>21</a:t>
            </a:fld>
            <a:endParaRPr lang="en-US" dirty="0"/>
          </a:p>
        </p:txBody>
      </p:sp>
      <p:sp>
        <p:nvSpPr>
          <p:cNvPr id="6" name="TextBox 5">
            <a:extLst>
              <a:ext uri="{FF2B5EF4-FFF2-40B4-BE49-F238E27FC236}">
                <a16:creationId xmlns:a16="http://schemas.microsoft.com/office/drawing/2014/main" id="{1C90CF70-358F-C5A0-A9E9-7C71F5E7BA2A}"/>
              </a:ext>
            </a:extLst>
          </p:cNvPr>
          <p:cNvSpPr txBox="1"/>
          <p:nvPr/>
        </p:nvSpPr>
        <p:spPr>
          <a:xfrm>
            <a:off x="508409" y="1041601"/>
            <a:ext cx="8046629" cy="5724644"/>
          </a:xfrm>
          <a:prstGeom prst="rect">
            <a:avLst/>
          </a:prstGeom>
          <a:noFill/>
        </p:spPr>
        <p:txBody>
          <a:bodyPr wrap="square" rtlCol="0">
            <a:spAutoFit/>
          </a:bodyPr>
          <a:lstStyle/>
          <a:p>
            <a:endParaRPr lang="en-US" sz="2000" b="1" dirty="0"/>
          </a:p>
          <a:p>
            <a:pPr marL="342900" indent="-342900">
              <a:buFont typeface="Arial" panose="020B0604020202020204" pitchFamily="34" charset="0"/>
              <a:buChar char="•"/>
            </a:pPr>
            <a:r>
              <a:rPr lang="en-US" sz="1900" u="sng" dirty="0"/>
              <a:t>Circular Economy Rebound</a:t>
            </a:r>
            <a:r>
              <a:rPr lang="en-US" sz="1900" dirty="0"/>
              <a:t> in environmental engineering (Castro et al., 2022) and industrial ecology (Zink and Geyer, 2017). </a:t>
            </a:r>
            <a:r>
              <a:rPr lang="en-US" sz="1900" b="1" dirty="0"/>
              <a:t>We contribute with a macroeconomic perspective. </a:t>
            </a:r>
          </a:p>
          <a:p>
            <a:pPr marL="342900" indent="-342900">
              <a:buFont typeface="Arial" panose="020B0604020202020204" pitchFamily="34" charset="0"/>
              <a:buChar char="•"/>
            </a:pPr>
            <a:endParaRPr lang="en-US" sz="1900" b="1" dirty="0"/>
          </a:p>
          <a:p>
            <a:pPr marL="342900" indent="-342900">
              <a:buFont typeface="Arial" panose="020B0604020202020204" pitchFamily="34" charset="0"/>
              <a:buChar char="•"/>
            </a:pPr>
            <a:r>
              <a:rPr lang="en-US" sz="1900" dirty="0"/>
              <a:t>Early evidence of backfire in simple economic models (Sauders, 2014). </a:t>
            </a:r>
            <a:r>
              <a:rPr lang="en-US" sz="1900" b="1" dirty="0"/>
              <a:t>We contribute with a multi-sector model featuring recycling</a:t>
            </a:r>
            <a:r>
              <a:rPr lang="en-US" sz="1900" dirty="0"/>
              <a:t>.</a:t>
            </a:r>
          </a:p>
          <a:p>
            <a:pPr marL="342900" indent="-342900">
              <a:buFont typeface="Arial" panose="020B0604020202020204" pitchFamily="34" charset="0"/>
              <a:buChar char="•"/>
            </a:pPr>
            <a:endParaRPr lang="en-US" sz="1900" dirty="0"/>
          </a:p>
          <a:p>
            <a:pPr marL="342900" indent="-342900">
              <a:buFont typeface="Arial" panose="020B0604020202020204" pitchFamily="34" charset="0"/>
              <a:buChar char="•"/>
            </a:pPr>
            <a:r>
              <a:rPr lang="en-US" sz="1900" dirty="0"/>
              <a:t>CGE models </a:t>
            </a:r>
            <a:r>
              <a:rPr lang="en-US" dirty="0"/>
              <a:t>incorporates physical flows into CGE models</a:t>
            </a:r>
            <a:r>
              <a:rPr lang="en-US" sz="1900" dirty="0"/>
              <a:t> (Sjöström and </a:t>
            </a:r>
            <a:r>
              <a:rPr lang="en-US" sz="1900" dirty="0" err="1"/>
              <a:t>Östblom</a:t>
            </a:r>
            <a:r>
              <a:rPr lang="en-US" sz="1900" dirty="0"/>
              <a:t>, 2010; </a:t>
            </a:r>
            <a:r>
              <a:rPr lang="en-US" dirty="0"/>
              <a:t>Skelton et al., 2020; </a:t>
            </a:r>
            <a:r>
              <a:rPr lang="en-US" sz="1900" dirty="0"/>
              <a:t>Yerushalmi and Saha, 2025). </a:t>
            </a:r>
            <a:r>
              <a:rPr lang="en-US" sz="1900" b="1" dirty="0"/>
              <a:t>We contribute with a model featuring recycling.</a:t>
            </a:r>
          </a:p>
          <a:p>
            <a:pPr marL="342900" indent="-342900">
              <a:buFont typeface="Arial" panose="020B0604020202020204" pitchFamily="34" charset="0"/>
              <a:buChar char="•"/>
            </a:pPr>
            <a:endParaRPr lang="en-US" sz="1900" dirty="0"/>
          </a:p>
          <a:p>
            <a:pPr marL="342900" indent="-342900">
              <a:buFont typeface="Arial" panose="020B0604020202020204" pitchFamily="34" charset="0"/>
              <a:buChar char="•"/>
            </a:pPr>
            <a:r>
              <a:rPr lang="en-US" sz="1900" dirty="0"/>
              <a:t>Theoretical studies (Sørensen, 2018; </a:t>
            </a:r>
            <a:r>
              <a:rPr lang="da-DK" sz="1900" dirty="0"/>
              <a:t>Smulders and Zhou, 2021; </a:t>
            </a:r>
            <a:r>
              <a:rPr lang="en-US" sz="1900" dirty="0"/>
              <a:t>Egger and </a:t>
            </a:r>
            <a:r>
              <a:rPr lang="en-US" sz="1900" dirty="0" err="1"/>
              <a:t>Keuschnigg</a:t>
            </a:r>
            <a:r>
              <a:rPr lang="en-US" sz="1900" dirty="0"/>
              <a:t>, 2024). </a:t>
            </a:r>
            <a:r>
              <a:rPr lang="en-US" sz="1900" b="1" dirty="0"/>
              <a:t>We contribute with theory related to the rebound effect as well as numerical results.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endParaRPr lang="da-DK" sz="2000" dirty="0"/>
          </a:p>
          <a:p>
            <a:endParaRPr lang="en-US" sz="2000" dirty="0"/>
          </a:p>
        </p:txBody>
      </p:sp>
    </p:spTree>
    <p:extLst>
      <p:ext uri="{BB962C8B-B14F-4D97-AF65-F5344CB8AC3E}">
        <p14:creationId xmlns:p14="http://schemas.microsoft.com/office/powerpoint/2010/main" val="1497740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7DF4C-F459-022E-9E65-38D4B99240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8B0F0E7-F2D8-F724-B149-6F04A4464C35}"/>
              </a:ext>
            </a:extLst>
          </p:cNvPr>
          <p:cNvSpPr>
            <a:spLocks noGrp="1"/>
          </p:cNvSpPr>
          <p:nvPr>
            <p:ph type="title"/>
          </p:nvPr>
        </p:nvSpPr>
        <p:spPr/>
        <p:txBody>
          <a:bodyPr/>
          <a:lstStyle/>
          <a:p>
            <a:r>
              <a:rPr lang="en-US" dirty="0"/>
              <a:t>Literature</a:t>
            </a:r>
          </a:p>
        </p:txBody>
      </p:sp>
      <p:sp>
        <p:nvSpPr>
          <p:cNvPr id="2" name="Date Placeholder 1">
            <a:extLst>
              <a:ext uri="{FF2B5EF4-FFF2-40B4-BE49-F238E27FC236}">
                <a16:creationId xmlns:a16="http://schemas.microsoft.com/office/drawing/2014/main" id="{5BEF62BA-42B3-07E1-1426-E8A283694D1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4FAA45D2-FB8E-DE1B-8F39-612527D26540}"/>
              </a:ext>
            </a:extLst>
          </p:cNvPr>
          <p:cNvSpPr>
            <a:spLocks noGrp="1"/>
          </p:cNvSpPr>
          <p:nvPr>
            <p:ph type="sldNum" sz="quarter" idx="12"/>
          </p:nvPr>
        </p:nvSpPr>
        <p:spPr/>
        <p:txBody>
          <a:bodyPr/>
          <a:lstStyle/>
          <a:p>
            <a:fld id="{091A926C-488A-4E3E-9C21-57CAA120E114}" type="slidenum">
              <a:rPr lang="en-US" smtClean="0"/>
              <a:t>22</a:t>
            </a:fld>
            <a:endParaRPr lang="en-US" dirty="0"/>
          </a:p>
        </p:txBody>
      </p:sp>
      <p:sp>
        <p:nvSpPr>
          <p:cNvPr id="6" name="TextBox 5">
            <a:extLst>
              <a:ext uri="{FF2B5EF4-FFF2-40B4-BE49-F238E27FC236}">
                <a16:creationId xmlns:a16="http://schemas.microsoft.com/office/drawing/2014/main" id="{FF134D87-5B6A-7406-AAE0-9A29C4230B70}"/>
              </a:ext>
            </a:extLst>
          </p:cNvPr>
          <p:cNvSpPr txBox="1"/>
          <p:nvPr/>
        </p:nvSpPr>
        <p:spPr>
          <a:xfrm>
            <a:off x="508409" y="1041601"/>
            <a:ext cx="8046629" cy="5432256"/>
          </a:xfrm>
          <a:prstGeom prst="rect">
            <a:avLst/>
          </a:prstGeom>
          <a:noFill/>
        </p:spPr>
        <p:txBody>
          <a:bodyPr wrap="square" rtlCol="0">
            <a:spAutoFit/>
          </a:bodyPr>
          <a:lstStyle/>
          <a:p>
            <a:r>
              <a:rPr lang="en-US" sz="2000" b="1" noProof="0" dirty="0"/>
              <a:t>Key contributions</a:t>
            </a:r>
          </a:p>
          <a:p>
            <a:pPr marL="342900" indent="-342900">
              <a:buFont typeface="Arial" panose="020B0604020202020204" pitchFamily="34" charset="0"/>
              <a:buChar char="•"/>
            </a:pPr>
            <a:endParaRPr lang="en-US" sz="1900" noProof="0" dirty="0"/>
          </a:p>
          <a:p>
            <a:pPr marL="342900" indent="-342900">
              <a:buFont typeface="Arial" panose="020B0604020202020204" pitchFamily="34" charset="0"/>
              <a:buChar char="•"/>
            </a:pPr>
            <a:r>
              <a:rPr lang="en-US" sz="1900" noProof="0" dirty="0"/>
              <a:t>Analysis of material rebound effect in a </a:t>
            </a:r>
            <a:r>
              <a:rPr lang="en-US" sz="1900" u="sng" noProof="0" dirty="0"/>
              <a:t>tractable macroeconomic model</a:t>
            </a:r>
            <a:r>
              <a:rPr lang="en-US" sz="1900" noProof="0" dirty="0"/>
              <a:t>.</a:t>
            </a:r>
          </a:p>
          <a:p>
            <a:pPr marL="342900" indent="-342900">
              <a:buFont typeface="Arial" panose="020B0604020202020204" pitchFamily="34" charset="0"/>
              <a:buChar char="•"/>
            </a:pPr>
            <a:endParaRPr lang="en-US" sz="1900" dirty="0"/>
          </a:p>
          <a:p>
            <a:pPr marL="342900" indent="-342900">
              <a:buFont typeface="Arial" panose="020B0604020202020204" pitchFamily="34" charset="0"/>
              <a:buChar char="•"/>
            </a:pPr>
            <a:r>
              <a:rPr lang="en-US" sz="1900" noProof="0" dirty="0"/>
              <a:t>Develop a </a:t>
            </a:r>
            <a:r>
              <a:rPr lang="en-US" sz="1900" u="sng" noProof="0" dirty="0"/>
              <a:t>numerical macroeconomic model</a:t>
            </a:r>
            <a:r>
              <a:rPr lang="en-US" sz="1900" noProof="0" dirty="0"/>
              <a:t> calibrated on national accounts and material flow accounts data that enables analysis of circular economy policies.</a:t>
            </a:r>
          </a:p>
          <a:p>
            <a:pPr marL="800100" lvl="1" indent="-342900">
              <a:buFont typeface="Arial" panose="020B0604020202020204" pitchFamily="34" charset="0"/>
              <a:buChar char="•"/>
            </a:pPr>
            <a:r>
              <a:rPr lang="en-US" sz="1900" noProof="0" dirty="0"/>
              <a:t>Method to keep track of both the mass and value of key materials.</a:t>
            </a:r>
          </a:p>
          <a:p>
            <a:pPr marL="800100" lvl="1" indent="-342900">
              <a:buFont typeface="Arial" panose="020B0604020202020204" pitchFamily="34" charset="0"/>
              <a:buChar char="•"/>
            </a:pPr>
            <a:r>
              <a:rPr lang="en-US" sz="1900" noProof="0" dirty="0"/>
              <a:t>Development of elaborate recycling sector.</a:t>
            </a:r>
          </a:p>
          <a:p>
            <a:pPr marL="800100" lvl="1" indent="-342900">
              <a:buFont typeface="Arial" panose="020B0604020202020204" pitchFamily="34" charset="0"/>
              <a:buChar char="•"/>
            </a:pPr>
            <a:r>
              <a:rPr lang="en-US" sz="1900" noProof="0" dirty="0"/>
              <a:t>Distinguish between virgin, recycled, and waste materials. </a:t>
            </a:r>
          </a:p>
          <a:p>
            <a:pPr marL="342900" indent="-342900">
              <a:buFont typeface="Arial" panose="020B0604020202020204" pitchFamily="34" charset="0"/>
              <a:buChar char="•"/>
            </a:pPr>
            <a:endParaRPr lang="en-US" sz="1900" noProof="0" dirty="0"/>
          </a:p>
          <a:p>
            <a:pPr marL="342900" indent="-342900">
              <a:buFont typeface="Arial" panose="020B0604020202020204" pitchFamily="34" charset="0"/>
              <a:buChar char="•"/>
            </a:pPr>
            <a:r>
              <a:rPr lang="en-US" sz="1900" noProof="0" dirty="0"/>
              <a:t>Provide </a:t>
            </a:r>
            <a:r>
              <a:rPr lang="en-US" sz="1900" u="sng" noProof="0" dirty="0"/>
              <a:t>estimates of material rebound effect</a:t>
            </a:r>
            <a:r>
              <a:rPr lang="en-US" sz="1900" noProof="0" dirty="0"/>
              <a:t>. </a:t>
            </a:r>
          </a:p>
          <a:p>
            <a:pPr marL="342900" indent="-342900">
              <a:buFont typeface="Arial" panose="020B0604020202020204" pitchFamily="34" charset="0"/>
              <a:buChar char="•"/>
            </a:pPr>
            <a:endParaRPr lang="en-US" sz="1900" noProof="0" dirty="0"/>
          </a:p>
          <a:p>
            <a:pPr marL="342900" indent="-342900">
              <a:buFont typeface="Arial" panose="020B0604020202020204" pitchFamily="34" charset="0"/>
              <a:buChar char="•"/>
            </a:pPr>
            <a:endParaRPr lang="en-US" sz="2000" noProof="0" dirty="0"/>
          </a:p>
          <a:p>
            <a:pPr marL="342900" indent="-342900">
              <a:buFont typeface="Arial" panose="020B0604020202020204" pitchFamily="34" charset="0"/>
              <a:buChar char="•"/>
            </a:pPr>
            <a:endParaRPr lang="en-US" sz="2000" noProof="0" dirty="0"/>
          </a:p>
          <a:p>
            <a:endParaRPr lang="en-US" sz="2000" noProof="0" dirty="0"/>
          </a:p>
          <a:p>
            <a:endParaRPr lang="en-US" sz="2000" noProof="0" dirty="0"/>
          </a:p>
        </p:txBody>
      </p:sp>
    </p:spTree>
    <p:extLst>
      <p:ext uri="{BB962C8B-B14F-4D97-AF65-F5344CB8AC3E}">
        <p14:creationId xmlns:p14="http://schemas.microsoft.com/office/powerpoint/2010/main" val="41218577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2A645-BDF3-DA46-948D-B3179F0C562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4B6E235-BBCA-F994-5C21-1CBB0C3AEF84}"/>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4355C902-F0CB-AC96-4F86-1FC87E5803A5}"/>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9B8D11BE-CA62-E9C4-E5E2-AD0DA82DCAD7}"/>
              </a:ext>
            </a:extLst>
          </p:cNvPr>
          <p:cNvSpPr>
            <a:spLocks noGrp="1"/>
          </p:cNvSpPr>
          <p:nvPr>
            <p:ph type="sldNum" sz="quarter" idx="12"/>
          </p:nvPr>
        </p:nvSpPr>
        <p:spPr/>
        <p:txBody>
          <a:bodyPr/>
          <a:lstStyle/>
          <a:p>
            <a:fld id="{091A926C-488A-4E3E-9C21-57CAA120E114}" type="slidenum">
              <a:rPr lang="en-US" smtClean="0"/>
              <a:t>23</a:t>
            </a:fld>
            <a:endParaRPr lang="en-US" dirty="0"/>
          </a:p>
        </p:txBody>
      </p:sp>
      <p:sp>
        <p:nvSpPr>
          <p:cNvPr id="6" name="TextBox 5">
            <a:extLst>
              <a:ext uri="{FF2B5EF4-FFF2-40B4-BE49-F238E27FC236}">
                <a16:creationId xmlns:a16="http://schemas.microsoft.com/office/drawing/2014/main" id="{B1F5BE63-022C-3C09-EFA8-37EE600F0F02}"/>
              </a:ext>
            </a:extLst>
          </p:cNvPr>
          <p:cNvSpPr txBox="1"/>
          <p:nvPr/>
        </p:nvSpPr>
        <p:spPr>
          <a:xfrm>
            <a:off x="508409" y="1051323"/>
            <a:ext cx="8046629" cy="1323439"/>
          </a:xfrm>
          <a:prstGeom prst="rect">
            <a:avLst/>
          </a:prstGeom>
          <a:noFill/>
        </p:spPr>
        <p:txBody>
          <a:bodyPr wrap="square" rtlCol="0">
            <a:spAutoFit/>
          </a:bodyPr>
          <a:lstStyle/>
          <a:p>
            <a:r>
              <a:rPr lang="en-US" sz="2000" b="1" dirty="0"/>
              <a:t>Overview</a:t>
            </a:r>
          </a:p>
          <a:p>
            <a:pPr marL="342900" indent="-342900">
              <a:buFont typeface="Arial" panose="020B0604020202020204" pitchFamily="34" charset="0"/>
              <a:buChar char="•"/>
            </a:pPr>
            <a:endParaRPr lang="en-US" sz="2000" dirty="0"/>
          </a:p>
          <a:p>
            <a:pPr algn="ctr"/>
            <a:endParaRPr lang="en-US" sz="2000" dirty="0"/>
          </a:p>
          <a:p>
            <a:pPr algn="ctr"/>
            <a:endParaRPr lang="en-US" sz="2000" dirty="0"/>
          </a:p>
        </p:txBody>
      </p:sp>
      <p:pic>
        <p:nvPicPr>
          <p:cNvPr id="5" name="Picture 4">
            <a:extLst>
              <a:ext uri="{FF2B5EF4-FFF2-40B4-BE49-F238E27FC236}">
                <a16:creationId xmlns:a16="http://schemas.microsoft.com/office/drawing/2014/main" id="{1E7FE171-F9E1-3CA8-EFBD-CBEE21DEE205}"/>
              </a:ext>
            </a:extLst>
          </p:cNvPr>
          <p:cNvPicPr>
            <a:picLocks noChangeAspect="1"/>
          </p:cNvPicPr>
          <p:nvPr/>
        </p:nvPicPr>
        <p:blipFill>
          <a:blip r:embed="rId3"/>
          <a:stretch>
            <a:fillRect/>
          </a:stretch>
        </p:blipFill>
        <p:spPr>
          <a:xfrm>
            <a:off x="460374" y="2865215"/>
            <a:ext cx="2836201" cy="783788"/>
          </a:xfrm>
          <a:prstGeom prst="rect">
            <a:avLst/>
          </a:prstGeom>
        </p:spPr>
      </p:pic>
      <p:pic>
        <p:nvPicPr>
          <p:cNvPr id="8" name="Picture 20" descr="Commercial consumers isometric people">
            <a:extLst>
              <a:ext uri="{FF2B5EF4-FFF2-40B4-BE49-F238E27FC236}">
                <a16:creationId xmlns:a16="http://schemas.microsoft.com/office/drawing/2014/main" id="{A0F74A2E-A7FA-AC41-6B19-3F7F9A76A9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9658" y="3165081"/>
            <a:ext cx="1972621" cy="147473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28F46BF4-1C09-443B-ABF9-3DC014FC20D4}"/>
              </a:ext>
            </a:extLst>
          </p:cNvPr>
          <p:cNvPicPr>
            <a:picLocks noChangeAspect="1"/>
          </p:cNvPicPr>
          <p:nvPr/>
        </p:nvPicPr>
        <p:blipFill>
          <a:blip r:embed="rId5"/>
          <a:stretch>
            <a:fillRect/>
          </a:stretch>
        </p:blipFill>
        <p:spPr>
          <a:xfrm>
            <a:off x="4111018" y="2021313"/>
            <a:ext cx="900000" cy="706885"/>
          </a:xfrm>
          <a:prstGeom prst="rect">
            <a:avLst/>
          </a:prstGeom>
        </p:spPr>
      </p:pic>
      <p:pic>
        <p:nvPicPr>
          <p:cNvPr id="11" name="Picture 10">
            <a:extLst>
              <a:ext uri="{FF2B5EF4-FFF2-40B4-BE49-F238E27FC236}">
                <a16:creationId xmlns:a16="http://schemas.microsoft.com/office/drawing/2014/main" id="{65C2A687-6B46-4B9A-E8D9-778D2BC947B2}"/>
              </a:ext>
            </a:extLst>
          </p:cNvPr>
          <p:cNvPicPr>
            <a:picLocks noChangeAspect="1"/>
          </p:cNvPicPr>
          <p:nvPr/>
        </p:nvPicPr>
        <p:blipFill>
          <a:blip r:embed="rId6"/>
          <a:stretch>
            <a:fillRect/>
          </a:stretch>
        </p:blipFill>
        <p:spPr>
          <a:xfrm>
            <a:off x="4111018" y="3082929"/>
            <a:ext cx="900000" cy="707410"/>
          </a:xfrm>
          <a:prstGeom prst="rect">
            <a:avLst/>
          </a:prstGeom>
        </p:spPr>
      </p:pic>
      <p:pic>
        <p:nvPicPr>
          <p:cNvPr id="12" name="Picture 11">
            <a:extLst>
              <a:ext uri="{FF2B5EF4-FFF2-40B4-BE49-F238E27FC236}">
                <a16:creationId xmlns:a16="http://schemas.microsoft.com/office/drawing/2014/main" id="{AE9682EB-90BE-A33F-2358-C27501161944}"/>
              </a:ext>
            </a:extLst>
          </p:cNvPr>
          <p:cNvPicPr>
            <a:picLocks noChangeAspect="1"/>
          </p:cNvPicPr>
          <p:nvPr/>
        </p:nvPicPr>
        <p:blipFill>
          <a:blip r:embed="rId7"/>
          <a:stretch>
            <a:fillRect/>
          </a:stretch>
        </p:blipFill>
        <p:spPr>
          <a:xfrm>
            <a:off x="4111018" y="4121084"/>
            <a:ext cx="900000" cy="779463"/>
          </a:xfrm>
          <a:prstGeom prst="rect">
            <a:avLst/>
          </a:prstGeom>
        </p:spPr>
      </p:pic>
      <p:sp>
        <p:nvSpPr>
          <p:cNvPr id="13" name="TextBox 12">
            <a:extLst>
              <a:ext uri="{FF2B5EF4-FFF2-40B4-BE49-F238E27FC236}">
                <a16:creationId xmlns:a16="http://schemas.microsoft.com/office/drawing/2014/main" id="{3C1A92B0-9E87-B58E-3A68-44D6C2F862B0}"/>
              </a:ext>
            </a:extLst>
          </p:cNvPr>
          <p:cNvSpPr txBox="1"/>
          <p:nvPr/>
        </p:nvSpPr>
        <p:spPr>
          <a:xfrm>
            <a:off x="642589" y="2424911"/>
            <a:ext cx="2287806" cy="276999"/>
          </a:xfrm>
          <a:prstGeom prst="rect">
            <a:avLst/>
          </a:prstGeom>
          <a:noFill/>
        </p:spPr>
        <p:txBody>
          <a:bodyPr wrap="none" rtlCol="0">
            <a:spAutoFit/>
          </a:bodyPr>
          <a:lstStyle/>
          <a:p>
            <a:r>
              <a:rPr lang="en-US" sz="1200" b="1" u="sng" dirty="0" err="1"/>
              <a:t>Labour</a:t>
            </a:r>
            <a:r>
              <a:rPr lang="en-US" sz="1200" b="1" u="sng" dirty="0"/>
              <a:t> and natural resources</a:t>
            </a:r>
          </a:p>
        </p:txBody>
      </p:sp>
      <p:sp>
        <p:nvSpPr>
          <p:cNvPr id="14" name="TextBox 13">
            <a:extLst>
              <a:ext uri="{FF2B5EF4-FFF2-40B4-BE49-F238E27FC236}">
                <a16:creationId xmlns:a16="http://schemas.microsoft.com/office/drawing/2014/main" id="{B969E512-BBD1-1F56-32E2-8A27D6EAEC5F}"/>
              </a:ext>
            </a:extLst>
          </p:cNvPr>
          <p:cNvSpPr txBox="1"/>
          <p:nvPr/>
        </p:nvSpPr>
        <p:spPr>
          <a:xfrm>
            <a:off x="3804010" y="1673901"/>
            <a:ext cx="1534394" cy="276999"/>
          </a:xfrm>
          <a:prstGeom prst="rect">
            <a:avLst/>
          </a:prstGeom>
          <a:noFill/>
        </p:spPr>
        <p:txBody>
          <a:bodyPr wrap="none" rtlCol="0">
            <a:spAutoFit/>
          </a:bodyPr>
          <a:lstStyle/>
          <a:p>
            <a:r>
              <a:rPr lang="en-US" sz="1200" b="1" u="sng" dirty="0"/>
              <a:t>Production sectors</a:t>
            </a:r>
          </a:p>
        </p:txBody>
      </p:sp>
      <p:sp>
        <p:nvSpPr>
          <p:cNvPr id="15" name="TextBox 14">
            <a:extLst>
              <a:ext uri="{FF2B5EF4-FFF2-40B4-BE49-F238E27FC236}">
                <a16:creationId xmlns:a16="http://schemas.microsoft.com/office/drawing/2014/main" id="{D3E922FA-4FCC-73A7-8ACF-EF5B1BE34FBD}"/>
              </a:ext>
            </a:extLst>
          </p:cNvPr>
          <p:cNvSpPr txBox="1"/>
          <p:nvPr/>
        </p:nvSpPr>
        <p:spPr>
          <a:xfrm>
            <a:off x="7389678" y="2670102"/>
            <a:ext cx="981359" cy="276999"/>
          </a:xfrm>
          <a:prstGeom prst="rect">
            <a:avLst/>
          </a:prstGeom>
          <a:noFill/>
        </p:spPr>
        <p:txBody>
          <a:bodyPr wrap="none" rtlCol="0">
            <a:spAutoFit/>
          </a:bodyPr>
          <a:lstStyle/>
          <a:p>
            <a:r>
              <a:rPr lang="en-US" sz="1200" b="1" u="sng" dirty="0"/>
              <a:t>Consumers</a:t>
            </a:r>
          </a:p>
        </p:txBody>
      </p:sp>
      <p:cxnSp>
        <p:nvCxnSpPr>
          <p:cNvPr id="16" name="Straight Arrow Connector 15">
            <a:extLst>
              <a:ext uri="{FF2B5EF4-FFF2-40B4-BE49-F238E27FC236}">
                <a16:creationId xmlns:a16="http://schemas.microsoft.com/office/drawing/2014/main" id="{92A4C710-29D7-140C-B5C6-21F86872DAD9}"/>
              </a:ext>
            </a:extLst>
          </p:cNvPr>
          <p:cNvCxnSpPr>
            <a:cxnSpLocks/>
            <a:stCxn id="5" idx="3"/>
          </p:cNvCxnSpPr>
          <p:nvPr/>
        </p:nvCxnSpPr>
        <p:spPr>
          <a:xfrm flipV="1">
            <a:off x="3296575" y="2606265"/>
            <a:ext cx="794984" cy="650844"/>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31CD2CB-A6FA-465D-CA9B-15D68086C98A}"/>
              </a:ext>
            </a:extLst>
          </p:cNvPr>
          <p:cNvCxnSpPr/>
          <p:nvPr/>
        </p:nvCxnSpPr>
        <p:spPr>
          <a:xfrm flipV="1">
            <a:off x="2771200" y="2760167"/>
            <a:ext cx="1370177" cy="1375442"/>
          </a:xfrm>
          <a:prstGeom prst="straightConnector1">
            <a:avLst/>
          </a:prstGeom>
          <a:ln w="127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4C43F1D-E742-0989-0A2A-F542D8A6687A}"/>
              </a:ext>
            </a:extLst>
          </p:cNvPr>
          <p:cNvCxnSpPr/>
          <p:nvPr/>
        </p:nvCxnSpPr>
        <p:spPr>
          <a:xfrm>
            <a:off x="5015413" y="2488608"/>
            <a:ext cx="1619936" cy="7903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2" descr="Magnetite, iron oxide, iron ore similarities and differences - LKAB Minerals">
            <a:extLst>
              <a:ext uri="{FF2B5EF4-FFF2-40B4-BE49-F238E27FC236}">
                <a16:creationId xmlns:a16="http://schemas.microsoft.com/office/drawing/2014/main" id="{966ABEDA-EFA8-1F04-71D3-C14A13E2E2C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2118" y="3902450"/>
            <a:ext cx="1308640" cy="872427"/>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Arrow Connector 26">
            <a:extLst>
              <a:ext uri="{FF2B5EF4-FFF2-40B4-BE49-F238E27FC236}">
                <a16:creationId xmlns:a16="http://schemas.microsoft.com/office/drawing/2014/main" id="{1B8460D4-63C6-7395-A44D-8805BDA84597}"/>
              </a:ext>
            </a:extLst>
          </p:cNvPr>
          <p:cNvCxnSpPr>
            <a:cxnSpLocks/>
            <a:stCxn id="5" idx="3"/>
            <a:endCxn id="11" idx="1"/>
          </p:cNvCxnSpPr>
          <p:nvPr/>
        </p:nvCxnSpPr>
        <p:spPr>
          <a:xfrm>
            <a:off x="3296575" y="3257109"/>
            <a:ext cx="814443" cy="179525"/>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03D7D3A5-55CD-B333-B1B1-CE032B785932}"/>
              </a:ext>
            </a:extLst>
          </p:cNvPr>
          <p:cNvCxnSpPr>
            <a:cxnSpLocks/>
            <a:stCxn id="5" idx="3"/>
            <a:endCxn id="12" idx="1"/>
          </p:cNvCxnSpPr>
          <p:nvPr/>
        </p:nvCxnSpPr>
        <p:spPr>
          <a:xfrm>
            <a:off x="3296575" y="3257109"/>
            <a:ext cx="814443" cy="1253707"/>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FE9916C-9BD3-881F-AA2D-12BE6A456780}"/>
              </a:ext>
            </a:extLst>
          </p:cNvPr>
          <p:cNvCxnSpPr>
            <a:cxnSpLocks/>
          </p:cNvCxnSpPr>
          <p:nvPr/>
        </p:nvCxnSpPr>
        <p:spPr>
          <a:xfrm flipV="1">
            <a:off x="3296575" y="3691191"/>
            <a:ext cx="794984" cy="444418"/>
          </a:xfrm>
          <a:prstGeom prst="straightConnector1">
            <a:avLst/>
          </a:prstGeom>
          <a:ln w="127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1F76BE3F-5513-2CC2-B8D0-132B7C5A2354}"/>
              </a:ext>
            </a:extLst>
          </p:cNvPr>
          <p:cNvCxnSpPr>
            <a:cxnSpLocks/>
          </p:cNvCxnSpPr>
          <p:nvPr/>
        </p:nvCxnSpPr>
        <p:spPr>
          <a:xfrm>
            <a:off x="3397645" y="4483021"/>
            <a:ext cx="677556" cy="174157"/>
          </a:xfrm>
          <a:prstGeom prst="straightConnector1">
            <a:avLst/>
          </a:prstGeom>
          <a:ln w="127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AC887A1-2E45-40CB-57D5-35DCB656A25D}"/>
              </a:ext>
            </a:extLst>
          </p:cNvPr>
          <p:cNvCxnSpPr>
            <a:cxnSpLocks/>
          </p:cNvCxnSpPr>
          <p:nvPr/>
        </p:nvCxnSpPr>
        <p:spPr>
          <a:xfrm flipV="1">
            <a:off x="5103419" y="3579068"/>
            <a:ext cx="1481531" cy="138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38809C0-B518-996D-243B-1AD9C343058A}"/>
              </a:ext>
            </a:extLst>
          </p:cNvPr>
          <p:cNvCxnSpPr>
            <a:cxnSpLocks/>
          </p:cNvCxnSpPr>
          <p:nvPr/>
        </p:nvCxnSpPr>
        <p:spPr>
          <a:xfrm flipV="1">
            <a:off x="5103418" y="3869714"/>
            <a:ext cx="1481531" cy="6980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DFA48F11-C02B-FBD9-7AA7-E398F4B7D53B}"/>
              </a:ext>
            </a:extLst>
          </p:cNvPr>
          <p:cNvPicPr>
            <a:picLocks noChangeAspect="1"/>
          </p:cNvPicPr>
          <p:nvPr/>
        </p:nvPicPr>
        <p:blipFill>
          <a:blip r:embed="rId9"/>
          <a:stretch>
            <a:fillRect/>
          </a:stretch>
        </p:blipFill>
        <p:spPr>
          <a:xfrm>
            <a:off x="307542" y="5622527"/>
            <a:ext cx="2463658" cy="810595"/>
          </a:xfrm>
          <a:prstGeom prst="rect">
            <a:avLst/>
          </a:prstGeom>
        </p:spPr>
      </p:pic>
      <p:sp>
        <p:nvSpPr>
          <p:cNvPr id="47" name="TextBox 46">
            <a:extLst>
              <a:ext uri="{FF2B5EF4-FFF2-40B4-BE49-F238E27FC236}">
                <a16:creationId xmlns:a16="http://schemas.microsoft.com/office/drawing/2014/main" id="{9C3B1D4C-6B57-925C-2593-D70EFD8ABBBB}"/>
              </a:ext>
            </a:extLst>
          </p:cNvPr>
          <p:cNvSpPr txBox="1"/>
          <p:nvPr/>
        </p:nvSpPr>
        <p:spPr>
          <a:xfrm>
            <a:off x="791872" y="5299888"/>
            <a:ext cx="1329210" cy="276999"/>
          </a:xfrm>
          <a:prstGeom prst="rect">
            <a:avLst/>
          </a:prstGeom>
          <a:noFill/>
        </p:spPr>
        <p:txBody>
          <a:bodyPr wrap="none" rtlCol="0">
            <a:spAutoFit/>
          </a:bodyPr>
          <a:lstStyle/>
          <a:p>
            <a:r>
              <a:rPr lang="en-US" sz="1200" b="1" u="sng" dirty="0"/>
              <a:t>Virgin materials</a:t>
            </a:r>
          </a:p>
        </p:txBody>
      </p:sp>
      <p:cxnSp>
        <p:nvCxnSpPr>
          <p:cNvPr id="56" name="Straight Arrow Connector 55">
            <a:extLst>
              <a:ext uri="{FF2B5EF4-FFF2-40B4-BE49-F238E27FC236}">
                <a16:creationId xmlns:a16="http://schemas.microsoft.com/office/drawing/2014/main" id="{6240EFE5-4782-5F78-49C8-FE5D54777001}"/>
              </a:ext>
            </a:extLst>
          </p:cNvPr>
          <p:cNvCxnSpPr>
            <a:cxnSpLocks/>
            <a:endCxn id="26" idx="2"/>
          </p:cNvCxnSpPr>
          <p:nvPr/>
        </p:nvCxnSpPr>
        <p:spPr>
          <a:xfrm flipV="1">
            <a:off x="2467241" y="4774877"/>
            <a:ext cx="139197" cy="80201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544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FDDD7-E67C-BA9B-E268-E6D93EBF7B1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9A174D0-9996-90A3-1EFA-6DA59A078196}"/>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092EF0AC-8AF7-B80D-4109-4D6F561CB39E}"/>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C1D642B8-476F-C0AC-637F-389A8790E6D8}"/>
              </a:ext>
            </a:extLst>
          </p:cNvPr>
          <p:cNvSpPr>
            <a:spLocks noGrp="1"/>
          </p:cNvSpPr>
          <p:nvPr>
            <p:ph type="sldNum" sz="quarter" idx="12"/>
          </p:nvPr>
        </p:nvSpPr>
        <p:spPr/>
        <p:txBody>
          <a:bodyPr/>
          <a:lstStyle/>
          <a:p>
            <a:fld id="{091A926C-488A-4E3E-9C21-57CAA120E114}" type="slidenum">
              <a:rPr lang="en-US" smtClean="0"/>
              <a:t>24</a:t>
            </a:fld>
            <a:endParaRPr lang="en-US" dirty="0"/>
          </a:p>
        </p:txBody>
      </p:sp>
      <p:sp>
        <p:nvSpPr>
          <p:cNvPr id="6" name="TextBox 5">
            <a:extLst>
              <a:ext uri="{FF2B5EF4-FFF2-40B4-BE49-F238E27FC236}">
                <a16:creationId xmlns:a16="http://schemas.microsoft.com/office/drawing/2014/main" id="{CA210D0B-85C1-DF48-A30E-1797E69490AD}"/>
              </a:ext>
            </a:extLst>
          </p:cNvPr>
          <p:cNvSpPr txBox="1"/>
          <p:nvPr/>
        </p:nvSpPr>
        <p:spPr>
          <a:xfrm>
            <a:off x="508409" y="1051323"/>
            <a:ext cx="8046629" cy="1323439"/>
          </a:xfrm>
          <a:prstGeom prst="rect">
            <a:avLst/>
          </a:prstGeom>
          <a:noFill/>
        </p:spPr>
        <p:txBody>
          <a:bodyPr wrap="square" rtlCol="0">
            <a:spAutoFit/>
          </a:bodyPr>
          <a:lstStyle/>
          <a:p>
            <a:r>
              <a:rPr lang="en-US" sz="2000" b="1" dirty="0"/>
              <a:t>Overview</a:t>
            </a:r>
          </a:p>
          <a:p>
            <a:pPr marL="342900" indent="-342900">
              <a:buFont typeface="Arial" panose="020B0604020202020204" pitchFamily="34" charset="0"/>
              <a:buChar char="•"/>
            </a:pPr>
            <a:endParaRPr lang="en-US" sz="2000" dirty="0"/>
          </a:p>
          <a:p>
            <a:pPr algn="ctr"/>
            <a:endParaRPr lang="en-US" sz="2000" dirty="0"/>
          </a:p>
          <a:p>
            <a:pPr algn="ctr"/>
            <a:endParaRPr lang="en-US" sz="2000" dirty="0"/>
          </a:p>
        </p:txBody>
      </p:sp>
      <p:pic>
        <p:nvPicPr>
          <p:cNvPr id="5" name="Picture 4">
            <a:extLst>
              <a:ext uri="{FF2B5EF4-FFF2-40B4-BE49-F238E27FC236}">
                <a16:creationId xmlns:a16="http://schemas.microsoft.com/office/drawing/2014/main" id="{EEDB4EB8-EEE0-404D-C48C-9BE3EA5DE34B}"/>
              </a:ext>
            </a:extLst>
          </p:cNvPr>
          <p:cNvPicPr>
            <a:picLocks noChangeAspect="1"/>
          </p:cNvPicPr>
          <p:nvPr/>
        </p:nvPicPr>
        <p:blipFill>
          <a:blip r:embed="rId3"/>
          <a:stretch>
            <a:fillRect/>
          </a:stretch>
        </p:blipFill>
        <p:spPr>
          <a:xfrm>
            <a:off x="460374" y="2865215"/>
            <a:ext cx="2836201" cy="783788"/>
          </a:xfrm>
          <a:prstGeom prst="rect">
            <a:avLst/>
          </a:prstGeom>
        </p:spPr>
      </p:pic>
      <p:pic>
        <p:nvPicPr>
          <p:cNvPr id="8" name="Picture 20" descr="Commercial consumers isometric people">
            <a:extLst>
              <a:ext uri="{FF2B5EF4-FFF2-40B4-BE49-F238E27FC236}">
                <a16:creationId xmlns:a16="http://schemas.microsoft.com/office/drawing/2014/main" id="{41270DC9-6B36-5E61-E294-34AAAB37F6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99658" y="3165081"/>
            <a:ext cx="1972621" cy="147473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B86EAD73-21E8-799E-9C87-15C8EAC8A419}"/>
              </a:ext>
            </a:extLst>
          </p:cNvPr>
          <p:cNvPicPr>
            <a:picLocks noChangeAspect="1"/>
          </p:cNvPicPr>
          <p:nvPr/>
        </p:nvPicPr>
        <p:blipFill>
          <a:blip r:embed="rId5"/>
          <a:stretch>
            <a:fillRect/>
          </a:stretch>
        </p:blipFill>
        <p:spPr>
          <a:xfrm>
            <a:off x="4111018" y="2021313"/>
            <a:ext cx="900000" cy="706885"/>
          </a:xfrm>
          <a:prstGeom prst="rect">
            <a:avLst/>
          </a:prstGeom>
        </p:spPr>
      </p:pic>
      <p:pic>
        <p:nvPicPr>
          <p:cNvPr id="11" name="Picture 10">
            <a:extLst>
              <a:ext uri="{FF2B5EF4-FFF2-40B4-BE49-F238E27FC236}">
                <a16:creationId xmlns:a16="http://schemas.microsoft.com/office/drawing/2014/main" id="{6E1CC4D6-8D66-18A9-1CCB-D3A6F8C774FA}"/>
              </a:ext>
            </a:extLst>
          </p:cNvPr>
          <p:cNvPicPr>
            <a:picLocks noChangeAspect="1"/>
          </p:cNvPicPr>
          <p:nvPr/>
        </p:nvPicPr>
        <p:blipFill>
          <a:blip r:embed="rId6"/>
          <a:stretch>
            <a:fillRect/>
          </a:stretch>
        </p:blipFill>
        <p:spPr>
          <a:xfrm>
            <a:off x="4111018" y="3082929"/>
            <a:ext cx="900000" cy="707410"/>
          </a:xfrm>
          <a:prstGeom prst="rect">
            <a:avLst/>
          </a:prstGeom>
        </p:spPr>
      </p:pic>
      <p:pic>
        <p:nvPicPr>
          <p:cNvPr id="12" name="Picture 11">
            <a:extLst>
              <a:ext uri="{FF2B5EF4-FFF2-40B4-BE49-F238E27FC236}">
                <a16:creationId xmlns:a16="http://schemas.microsoft.com/office/drawing/2014/main" id="{0CC5B112-78B9-C685-7B10-3D80DA95EA8F}"/>
              </a:ext>
            </a:extLst>
          </p:cNvPr>
          <p:cNvPicPr>
            <a:picLocks noChangeAspect="1"/>
          </p:cNvPicPr>
          <p:nvPr/>
        </p:nvPicPr>
        <p:blipFill>
          <a:blip r:embed="rId7"/>
          <a:stretch>
            <a:fillRect/>
          </a:stretch>
        </p:blipFill>
        <p:spPr>
          <a:xfrm>
            <a:off x="4111018" y="4121084"/>
            <a:ext cx="900000" cy="779463"/>
          </a:xfrm>
          <a:prstGeom prst="rect">
            <a:avLst/>
          </a:prstGeom>
        </p:spPr>
      </p:pic>
      <p:sp>
        <p:nvSpPr>
          <p:cNvPr id="13" name="TextBox 12">
            <a:extLst>
              <a:ext uri="{FF2B5EF4-FFF2-40B4-BE49-F238E27FC236}">
                <a16:creationId xmlns:a16="http://schemas.microsoft.com/office/drawing/2014/main" id="{00D6D7B2-B50D-6F96-94FF-FCFE8D749AE1}"/>
              </a:ext>
            </a:extLst>
          </p:cNvPr>
          <p:cNvSpPr txBox="1"/>
          <p:nvPr/>
        </p:nvSpPr>
        <p:spPr>
          <a:xfrm>
            <a:off x="642589" y="2424911"/>
            <a:ext cx="2287806" cy="276999"/>
          </a:xfrm>
          <a:prstGeom prst="rect">
            <a:avLst/>
          </a:prstGeom>
          <a:noFill/>
        </p:spPr>
        <p:txBody>
          <a:bodyPr wrap="none" rtlCol="0">
            <a:spAutoFit/>
          </a:bodyPr>
          <a:lstStyle/>
          <a:p>
            <a:r>
              <a:rPr lang="en-US" sz="1200" b="1" u="sng" dirty="0" err="1"/>
              <a:t>Labour</a:t>
            </a:r>
            <a:r>
              <a:rPr lang="en-US" sz="1200" b="1" u="sng" dirty="0"/>
              <a:t> and natural resources</a:t>
            </a:r>
          </a:p>
        </p:txBody>
      </p:sp>
      <p:sp>
        <p:nvSpPr>
          <p:cNvPr id="14" name="TextBox 13">
            <a:extLst>
              <a:ext uri="{FF2B5EF4-FFF2-40B4-BE49-F238E27FC236}">
                <a16:creationId xmlns:a16="http://schemas.microsoft.com/office/drawing/2014/main" id="{2EBDD0B6-2E45-852F-47EF-402D2E773460}"/>
              </a:ext>
            </a:extLst>
          </p:cNvPr>
          <p:cNvSpPr txBox="1"/>
          <p:nvPr/>
        </p:nvSpPr>
        <p:spPr>
          <a:xfrm>
            <a:off x="3804010" y="1673901"/>
            <a:ext cx="1534394" cy="276999"/>
          </a:xfrm>
          <a:prstGeom prst="rect">
            <a:avLst/>
          </a:prstGeom>
          <a:noFill/>
        </p:spPr>
        <p:txBody>
          <a:bodyPr wrap="none" rtlCol="0">
            <a:spAutoFit/>
          </a:bodyPr>
          <a:lstStyle/>
          <a:p>
            <a:r>
              <a:rPr lang="en-US" sz="1200" b="1" u="sng" dirty="0"/>
              <a:t>Production sectors</a:t>
            </a:r>
          </a:p>
        </p:txBody>
      </p:sp>
      <p:sp>
        <p:nvSpPr>
          <p:cNvPr id="15" name="TextBox 14">
            <a:extLst>
              <a:ext uri="{FF2B5EF4-FFF2-40B4-BE49-F238E27FC236}">
                <a16:creationId xmlns:a16="http://schemas.microsoft.com/office/drawing/2014/main" id="{6D6E18FF-20BB-BDCE-DF84-A5FF3C9E5C75}"/>
              </a:ext>
            </a:extLst>
          </p:cNvPr>
          <p:cNvSpPr txBox="1"/>
          <p:nvPr/>
        </p:nvSpPr>
        <p:spPr>
          <a:xfrm>
            <a:off x="7389678" y="2670102"/>
            <a:ext cx="981359" cy="276999"/>
          </a:xfrm>
          <a:prstGeom prst="rect">
            <a:avLst/>
          </a:prstGeom>
          <a:noFill/>
        </p:spPr>
        <p:txBody>
          <a:bodyPr wrap="none" rtlCol="0">
            <a:spAutoFit/>
          </a:bodyPr>
          <a:lstStyle/>
          <a:p>
            <a:r>
              <a:rPr lang="en-US" sz="1200" b="1" u="sng" dirty="0"/>
              <a:t>Consumers</a:t>
            </a:r>
          </a:p>
        </p:txBody>
      </p:sp>
      <p:cxnSp>
        <p:nvCxnSpPr>
          <p:cNvPr id="16" name="Straight Arrow Connector 15">
            <a:extLst>
              <a:ext uri="{FF2B5EF4-FFF2-40B4-BE49-F238E27FC236}">
                <a16:creationId xmlns:a16="http://schemas.microsoft.com/office/drawing/2014/main" id="{D1706348-6990-A29B-CE7D-DE8E14A5E21D}"/>
              </a:ext>
            </a:extLst>
          </p:cNvPr>
          <p:cNvCxnSpPr>
            <a:cxnSpLocks/>
            <a:stCxn id="5" idx="3"/>
          </p:cNvCxnSpPr>
          <p:nvPr/>
        </p:nvCxnSpPr>
        <p:spPr>
          <a:xfrm flipV="1">
            <a:off x="3296575" y="2606265"/>
            <a:ext cx="794984" cy="650844"/>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187B71E-E579-F60E-3B62-0DFCF7EDE83E}"/>
              </a:ext>
            </a:extLst>
          </p:cNvPr>
          <p:cNvCxnSpPr/>
          <p:nvPr/>
        </p:nvCxnSpPr>
        <p:spPr>
          <a:xfrm flipV="1">
            <a:off x="2771200" y="2760167"/>
            <a:ext cx="1370177" cy="1375442"/>
          </a:xfrm>
          <a:prstGeom prst="straightConnector1">
            <a:avLst/>
          </a:prstGeom>
          <a:ln w="127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6B7F59-66B7-62F7-0A94-A7C850933354}"/>
              </a:ext>
            </a:extLst>
          </p:cNvPr>
          <p:cNvCxnSpPr/>
          <p:nvPr/>
        </p:nvCxnSpPr>
        <p:spPr>
          <a:xfrm>
            <a:off x="5015413" y="2488608"/>
            <a:ext cx="1619936" cy="7903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6" name="Picture 22" descr="Magnetite, iron oxide, iron ore similarities and differences - LKAB Minerals">
            <a:extLst>
              <a:ext uri="{FF2B5EF4-FFF2-40B4-BE49-F238E27FC236}">
                <a16:creationId xmlns:a16="http://schemas.microsoft.com/office/drawing/2014/main" id="{C8B6F0C1-7422-2A6E-B17F-1A0B8667E3E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2118" y="3902450"/>
            <a:ext cx="1308640" cy="872427"/>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Arrow Connector 26">
            <a:extLst>
              <a:ext uri="{FF2B5EF4-FFF2-40B4-BE49-F238E27FC236}">
                <a16:creationId xmlns:a16="http://schemas.microsoft.com/office/drawing/2014/main" id="{DB65DC9F-78D8-A4BE-12A7-EECFDFEE9262}"/>
              </a:ext>
            </a:extLst>
          </p:cNvPr>
          <p:cNvCxnSpPr>
            <a:cxnSpLocks/>
            <a:stCxn id="5" idx="3"/>
            <a:endCxn id="11" idx="1"/>
          </p:cNvCxnSpPr>
          <p:nvPr/>
        </p:nvCxnSpPr>
        <p:spPr>
          <a:xfrm>
            <a:off x="3296575" y="3257109"/>
            <a:ext cx="814443" cy="179525"/>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CC5935E-56AA-492F-14B3-CA0A087ACBF2}"/>
              </a:ext>
            </a:extLst>
          </p:cNvPr>
          <p:cNvCxnSpPr>
            <a:cxnSpLocks/>
            <a:stCxn id="5" idx="3"/>
            <a:endCxn id="12" idx="1"/>
          </p:cNvCxnSpPr>
          <p:nvPr/>
        </p:nvCxnSpPr>
        <p:spPr>
          <a:xfrm>
            <a:off x="3296575" y="3257109"/>
            <a:ext cx="814443" cy="1253707"/>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3FAC83D0-506A-DDFF-2AC0-88511F2CDBDB}"/>
              </a:ext>
            </a:extLst>
          </p:cNvPr>
          <p:cNvCxnSpPr>
            <a:cxnSpLocks/>
          </p:cNvCxnSpPr>
          <p:nvPr/>
        </p:nvCxnSpPr>
        <p:spPr>
          <a:xfrm flipV="1">
            <a:off x="3296575" y="3691191"/>
            <a:ext cx="794984" cy="444418"/>
          </a:xfrm>
          <a:prstGeom prst="straightConnector1">
            <a:avLst/>
          </a:prstGeom>
          <a:ln w="127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7C74FB4-532D-0364-3039-CDD67FCDE07E}"/>
              </a:ext>
            </a:extLst>
          </p:cNvPr>
          <p:cNvCxnSpPr>
            <a:cxnSpLocks/>
          </p:cNvCxnSpPr>
          <p:nvPr/>
        </p:nvCxnSpPr>
        <p:spPr>
          <a:xfrm>
            <a:off x="3397645" y="4483021"/>
            <a:ext cx="677556" cy="174157"/>
          </a:xfrm>
          <a:prstGeom prst="straightConnector1">
            <a:avLst/>
          </a:prstGeom>
          <a:ln w="12700">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7348D94-7192-EFF4-A3B7-817618DC45D4}"/>
              </a:ext>
            </a:extLst>
          </p:cNvPr>
          <p:cNvCxnSpPr>
            <a:cxnSpLocks/>
          </p:cNvCxnSpPr>
          <p:nvPr/>
        </p:nvCxnSpPr>
        <p:spPr>
          <a:xfrm flipV="1">
            <a:off x="5103419" y="3579068"/>
            <a:ext cx="1481531" cy="13848"/>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7058A1C4-DAE5-C771-5141-17A63028D3CB}"/>
              </a:ext>
            </a:extLst>
          </p:cNvPr>
          <p:cNvCxnSpPr>
            <a:cxnSpLocks/>
          </p:cNvCxnSpPr>
          <p:nvPr/>
        </p:nvCxnSpPr>
        <p:spPr>
          <a:xfrm flipV="1">
            <a:off x="5103418" y="3869714"/>
            <a:ext cx="1481531" cy="69805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5CFF0B08-F09C-8914-22E5-1A239EEF34D8}"/>
              </a:ext>
            </a:extLst>
          </p:cNvPr>
          <p:cNvPicPr>
            <a:picLocks noChangeAspect="1"/>
          </p:cNvPicPr>
          <p:nvPr/>
        </p:nvPicPr>
        <p:blipFill>
          <a:blip r:embed="rId9"/>
          <a:stretch>
            <a:fillRect/>
          </a:stretch>
        </p:blipFill>
        <p:spPr>
          <a:xfrm>
            <a:off x="307542" y="5622527"/>
            <a:ext cx="2463658" cy="810595"/>
          </a:xfrm>
          <a:prstGeom prst="rect">
            <a:avLst/>
          </a:prstGeom>
        </p:spPr>
      </p:pic>
      <p:sp>
        <p:nvSpPr>
          <p:cNvPr id="47" name="TextBox 46">
            <a:extLst>
              <a:ext uri="{FF2B5EF4-FFF2-40B4-BE49-F238E27FC236}">
                <a16:creationId xmlns:a16="http://schemas.microsoft.com/office/drawing/2014/main" id="{074AB32A-51F2-AC20-4146-B0E4DEEDF707}"/>
              </a:ext>
            </a:extLst>
          </p:cNvPr>
          <p:cNvSpPr txBox="1"/>
          <p:nvPr/>
        </p:nvSpPr>
        <p:spPr>
          <a:xfrm>
            <a:off x="791872" y="5299888"/>
            <a:ext cx="1329210" cy="276999"/>
          </a:xfrm>
          <a:prstGeom prst="rect">
            <a:avLst/>
          </a:prstGeom>
          <a:noFill/>
        </p:spPr>
        <p:txBody>
          <a:bodyPr wrap="none" rtlCol="0">
            <a:spAutoFit/>
          </a:bodyPr>
          <a:lstStyle/>
          <a:p>
            <a:r>
              <a:rPr lang="en-US" sz="1200" b="1" u="sng" dirty="0"/>
              <a:t>Virgin materials</a:t>
            </a:r>
          </a:p>
        </p:txBody>
      </p:sp>
      <p:pic>
        <p:nvPicPr>
          <p:cNvPr id="49" name="Picture 48">
            <a:extLst>
              <a:ext uri="{FF2B5EF4-FFF2-40B4-BE49-F238E27FC236}">
                <a16:creationId xmlns:a16="http://schemas.microsoft.com/office/drawing/2014/main" id="{6F21C551-877C-1279-D9B1-306FE9B71C0E}"/>
              </a:ext>
            </a:extLst>
          </p:cNvPr>
          <p:cNvPicPr>
            <a:picLocks noChangeAspect="1"/>
          </p:cNvPicPr>
          <p:nvPr/>
        </p:nvPicPr>
        <p:blipFill>
          <a:blip r:embed="rId10"/>
          <a:stretch>
            <a:fillRect/>
          </a:stretch>
        </p:blipFill>
        <p:spPr>
          <a:xfrm>
            <a:off x="4236906" y="5758073"/>
            <a:ext cx="774112" cy="806606"/>
          </a:xfrm>
          <a:prstGeom prst="rect">
            <a:avLst/>
          </a:prstGeom>
        </p:spPr>
      </p:pic>
      <p:sp>
        <p:nvSpPr>
          <p:cNvPr id="50" name="TextBox 49">
            <a:extLst>
              <a:ext uri="{FF2B5EF4-FFF2-40B4-BE49-F238E27FC236}">
                <a16:creationId xmlns:a16="http://schemas.microsoft.com/office/drawing/2014/main" id="{E5C71E7C-8460-053D-4C34-1C0E2C6874A4}"/>
              </a:ext>
            </a:extLst>
          </p:cNvPr>
          <p:cNvSpPr txBox="1"/>
          <p:nvPr/>
        </p:nvSpPr>
        <p:spPr>
          <a:xfrm>
            <a:off x="3795741" y="5438388"/>
            <a:ext cx="1527982" cy="276999"/>
          </a:xfrm>
          <a:prstGeom prst="rect">
            <a:avLst/>
          </a:prstGeom>
          <a:noFill/>
        </p:spPr>
        <p:txBody>
          <a:bodyPr wrap="none" rtlCol="0">
            <a:spAutoFit/>
          </a:bodyPr>
          <a:lstStyle/>
          <a:p>
            <a:r>
              <a:rPr lang="en-US" sz="1200" b="1" u="sng" dirty="0"/>
              <a:t>Recycled materials</a:t>
            </a:r>
          </a:p>
        </p:txBody>
      </p:sp>
      <p:sp>
        <p:nvSpPr>
          <p:cNvPr id="51" name="Freeform: Shape 50">
            <a:extLst>
              <a:ext uri="{FF2B5EF4-FFF2-40B4-BE49-F238E27FC236}">
                <a16:creationId xmlns:a16="http://schemas.microsoft.com/office/drawing/2014/main" id="{C6611B50-ACA4-B8E7-42ED-A9A8432505D6}"/>
              </a:ext>
            </a:extLst>
          </p:cNvPr>
          <p:cNvSpPr/>
          <p:nvPr/>
        </p:nvSpPr>
        <p:spPr>
          <a:xfrm>
            <a:off x="4991100" y="2667000"/>
            <a:ext cx="1408258" cy="3517900"/>
          </a:xfrm>
          <a:custGeom>
            <a:avLst/>
            <a:gdLst>
              <a:gd name="connsiteX0" fmla="*/ 0 w 1408258"/>
              <a:gd name="connsiteY0" fmla="*/ 0 h 3517900"/>
              <a:gd name="connsiteX1" fmla="*/ 1143000 w 1408258"/>
              <a:gd name="connsiteY1" fmla="*/ 1727200 h 3517900"/>
              <a:gd name="connsiteX2" fmla="*/ 1327150 w 1408258"/>
              <a:gd name="connsiteY2" fmla="*/ 3092450 h 3517900"/>
              <a:gd name="connsiteX3" fmla="*/ 69850 w 1408258"/>
              <a:gd name="connsiteY3" fmla="*/ 3517900 h 3517900"/>
            </a:gdLst>
            <a:ahLst/>
            <a:cxnLst>
              <a:cxn ang="0">
                <a:pos x="connsiteX0" y="connsiteY0"/>
              </a:cxn>
              <a:cxn ang="0">
                <a:pos x="connsiteX1" y="connsiteY1"/>
              </a:cxn>
              <a:cxn ang="0">
                <a:pos x="connsiteX2" y="connsiteY2"/>
              </a:cxn>
              <a:cxn ang="0">
                <a:pos x="connsiteX3" y="connsiteY3"/>
              </a:cxn>
            </a:cxnLst>
            <a:rect l="l" t="t" r="r" b="b"/>
            <a:pathLst>
              <a:path w="1408258" h="3517900">
                <a:moveTo>
                  <a:pt x="0" y="0"/>
                </a:moveTo>
                <a:cubicBezTo>
                  <a:pt x="460904" y="605896"/>
                  <a:pt x="921808" y="1211792"/>
                  <a:pt x="1143000" y="1727200"/>
                </a:cubicBezTo>
                <a:cubicBezTo>
                  <a:pt x="1364192" y="2242608"/>
                  <a:pt x="1506008" y="2794000"/>
                  <a:pt x="1327150" y="3092450"/>
                </a:cubicBezTo>
                <a:cubicBezTo>
                  <a:pt x="1148292" y="3390900"/>
                  <a:pt x="609071" y="3454400"/>
                  <a:pt x="69850" y="3517900"/>
                </a:cubicBezTo>
              </a:path>
            </a:pathLst>
          </a:custGeom>
          <a:noFill/>
          <a:ln>
            <a:solidFill>
              <a:schemeClr val="accent3">
                <a:lumMod val="7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71A64193-A853-AA1A-AE85-45BE61B44BCD}"/>
              </a:ext>
            </a:extLst>
          </p:cNvPr>
          <p:cNvSpPr/>
          <p:nvPr/>
        </p:nvSpPr>
        <p:spPr>
          <a:xfrm>
            <a:off x="5073650" y="3740150"/>
            <a:ext cx="1196255" cy="2305050"/>
          </a:xfrm>
          <a:custGeom>
            <a:avLst/>
            <a:gdLst>
              <a:gd name="connsiteX0" fmla="*/ 0 w 1196255"/>
              <a:gd name="connsiteY0" fmla="*/ 0 h 2305050"/>
              <a:gd name="connsiteX1" fmla="*/ 1022350 w 1196255"/>
              <a:gd name="connsiteY1" fmla="*/ 1212850 h 2305050"/>
              <a:gd name="connsiteX2" fmla="*/ 1098550 w 1196255"/>
              <a:gd name="connsiteY2" fmla="*/ 1930400 h 2305050"/>
              <a:gd name="connsiteX3" fmla="*/ 25400 w 1196255"/>
              <a:gd name="connsiteY3" fmla="*/ 2305050 h 2305050"/>
            </a:gdLst>
            <a:ahLst/>
            <a:cxnLst>
              <a:cxn ang="0">
                <a:pos x="connsiteX0" y="connsiteY0"/>
              </a:cxn>
              <a:cxn ang="0">
                <a:pos x="connsiteX1" y="connsiteY1"/>
              </a:cxn>
              <a:cxn ang="0">
                <a:pos x="connsiteX2" y="connsiteY2"/>
              </a:cxn>
              <a:cxn ang="0">
                <a:pos x="connsiteX3" y="connsiteY3"/>
              </a:cxn>
            </a:cxnLst>
            <a:rect l="l" t="t" r="r" b="b"/>
            <a:pathLst>
              <a:path w="1196255" h="2305050">
                <a:moveTo>
                  <a:pt x="0" y="0"/>
                </a:moveTo>
                <a:cubicBezTo>
                  <a:pt x="419629" y="445558"/>
                  <a:pt x="839258" y="891117"/>
                  <a:pt x="1022350" y="1212850"/>
                </a:cubicBezTo>
                <a:cubicBezTo>
                  <a:pt x="1205442" y="1534583"/>
                  <a:pt x="1264708" y="1748367"/>
                  <a:pt x="1098550" y="1930400"/>
                </a:cubicBezTo>
                <a:cubicBezTo>
                  <a:pt x="932392" y="2112433"/>
                  <a:pt x="478896" y="2208741"/>
                  <a:pt x="25400" y="2305050"/>
                </a:cubicBezTo>
              </a:path>
            </a:pathLst>
          </a:custGeom>
          <a:noFill/>
          <a:ln>
            <a:solidFill>
              <a:schemeClr val="accent3">
                <a:lumMod val="7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1462D894-C971-7064-1DC1-9C5A86AEA68A}"/>
              </a:ext>
            </a:extLst>
          </p:cNvPr>
          <p:cNvSpPr/>
          <p:nvPr/>
        </p:nvSpPr>
        <p:spPr>
          <a:xfrm>
            <a:off x="5041900" y="4775200"/>
            <a:ext cx="927107" cy="1136650"/>
          </a:xfrm>
          <a:custGeom>
            <a:avLst/>
            <a:gdLst>
              <a:gd name="connsiteX0" fmla="*/ 12700 w 927107"/>
              <a:gd name="connsiteY0" fmla="*/ 0 h 1136650"/>
              <a:gd name="connsiteX1" fmla="*/ 927100 w 927107"/>
              <a:gd name="connsiteY1" fmla="*/ 679450 h 1136650"/>
              <a:gd name="connsiteX2" fmla="*/ 0 w 927107"/>
              <a:gd name="connsiteY2" fmla="*/ 1136650 h 1136650"/>
            </a:gdLst>
            <a:ahLst/>
            <a:cxnLst>
              <a:cxn ang="0">
                <a:pos x="connsiteX0" y="connsiteY0"/>
              </a:cxn>
              <a:cxn ang="0">
                <a:pos x="connsiteX1" y="connsiteY1"/>
              </a:cxn>
              <a:cxn ang="0">
                <a:pos x="connsiteX2" y="connsiteY2"/>
              </a:cxn>
            </a:cxnLst>
            <a:rect l="l" t="t" r="r" b="b"/>
            <a:pathLst>
              <a:path w="927107" h="1136650">
                <a:moveTo>
                  <a:pt x="12700" y="0"/>
                </a:moveTo>
                <a:cubicBezTo>
                  <a:pt x="470958" y="245004"/>
                  <a:pt x="929217" y="490008"/>
                  <a:pt x="927100" y="679450"/>
                </a:cubicBezTo>
                <a:cubicBezTo>
                  <a:pt x="924983" y="868892"/>
                  <a:pt x="462491" y="1002771"/>
                  <a:pt x="0" y="1136650"/>
                </a:cubicBezTo>
              </a:path>
            </a:pathLst>
          </a:custGeom>
          <a:noFill/>
          <a:ln>
            <a:solidFill>
              <a:schemeClr val="accent3">
                <a:lumMod val="75000"/>
              </a:schemeClr>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6" name="Straight Arrow Connector 55">
            <a:extLst>
              <a:ext uri="{FF2B5EF4-FFF2-40B4-BE49-F238E27FC236}">
                <a16:creationId xmlns:a16="http://schemas.microsoft.com/office/drawing/2014/main" id="{62B2C268-1109-EA3C-986C-324B5BD9E26A}"/>
              </a:ext>
            </a:extLst>
          </p:cNvPr>
          <p:cNvCxnSpPr>
            <a:cxnSpLocks/>
            <a:endCxn id="26" idx="2"/>
          </p:cNvCxnSpPr>
          <p:nvPr/>
        </p:nvCxnSpPr>
        <p:spPr>
          <a:xfrm flipV="1">
            <a:off x="2467241" y="4774877"/>
            <a:ext cx="139197" cy="80201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1" name="Freeform: Shape 60">
            <a:extLst>
              <a:ext uri="{FF2B5EF4-FFF2-40B4-BE49-F238E27FC236}">
                <a16:creationId xmlns:a16="http://schemas.microsoft.com/office/drawing/2014/main" id="{2B2C8BCC-B3EF-0074-68D8-88562F4FFDD6}"/>
              </a:ext>
            </a:extLst>
          </p:cNvPr>
          <p:cNvSpPr/>
          <p:nvPr/>
        </p:nvSpPr>
        <p:spPr>
          <a:xfrm rot="425904">
            <a:off x="2983730" y="4789989"/>
            <a:ext cx="1193800" cy="1380412"/>
          </a:xfrm>
          <a:custGeom>
            <a:avLst/>
            <a:gdLst>
              <a:gd name="connsiteX0" fmla="*/ 1193800 w 1193800"/>
              <a:gd name="connsiteY0" fmla="*/ 1339850 h 1380412"/>
              <a:gd name="connsiteX1" fmla="*/ 508000 w 1193800"/>
              <a:gd name="connsiteY1" fmla="*/ 1212850 h 1380412"/>
              <a:gd name="connsiteX2" fmla="*/ 0 w 1193800"/>
              <a:gd name="connsiteY2" fmla="*/ 0 h 1380412"/>
            </a:gdLst>
            <a:ahLst/>
            <a:cxnLst>
              <a:cxn ang="0">
                <a:pos x="connsiteX0" y="connsiteY0"/>
              </a:cxn>
              <a:cxn ang="0">
                <a:pos x="connsiteX1" y="connsiteY1"/>
              </a:cxn>
              <a:cxn ang="0">
                <a:pos x="connsiteX2" y="connsiteY2"/>
              </a:cxn>
            </a:cxnLst>
            <a:rect l="l" t="t" r="r" b="b"/>
            <a:pathLst>
              <a:path w="1193800" h="1380412">
                <a:moveTo>
                  <a:pt x="1193800" y="1339850"/>
                </a:moveTo>
                <a:cubicBezTo>
                  <a:pt x="950383" y="1388004"/>
                  <a:pt x="706967" y="1436158"/>
                  <a:pt x="508000" y="1212850"/>
                </a:cubicBezTo>
                <a:cubicBezTo>
                  <a:pt x="309033" y="989542"/>
                  <a:pt x="154516" y="494771"/>
                  <a:pt x="0" y="0"/>
                </a:cubicBezTo>
              </a:path>
            </a:pathLst>
          </a:custGeom>
          <a:noFill/>
          <a:ln>
            <a:solidFill>
              <a:srgbClr val="00B050"/>
            </a:solidFill>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7970479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7B82D-B4B0-E70C-E3F9-5BDB9B2E7D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41E714-EAD0-A481-D8BF-0C9593959CE6}"/>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1CF06915-F271-DF71-6B56-597B2DADEFFE}"/>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D5937098-B919-A484-EEA5-0B3317329C2C}"/>
              </a:ext>
            </a:extLst>
          </p:cNvPr>
          <p:cNvSpPr>
            <a:spLocks noGrp="1"/>
          </p:cNvSpPr>
          <p:nvPr>
            <p:ph type="sldNum" sz="quarter" idx="12"/>
          </p:nvPr>
        </p:nvSpPr>
        <p:spPr/>
        <p:txBody>
          <a:bodyPr/>
          <a:lstStyle/>
          <a:p>
            <a:fld id="{091A926C-488A-4E3E-9C21-57CAA120E114}" type="slidenum">
              <a:rPr lang="en-US" smtClean="0"/>
              <a:t>25</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85B558A-A748-271F-618C-1547DC99002F}"/>
                  </a:ext>
                </a:extLst>
              </p:cNvPr>
              <p:cNvSpPr txBox="1"/>
              <p:nvPr/>
            </p:nvSpPr>
            <p:spPr>
              <a:xfrm>
                <a:off x="508409" y="1051323"/>
                <a:ext cx="8046629" cy="4263924"/>
              </a:xfrm>
              <a:prstGeom prst="rect">
                <a:avLst/>
              </a:prstGeom>
              <a:noFill/>
            </p:spPr>
            <p:txBody>
              <a:bodyPr wrap="square" rtlCol="0">
                <a:spAutoFit/>
              </a:bodyPr>
              <a:lstStyle/>
              <a:p>
                <a:r>
                  <a:rPr lang="en-US" sz="2000" b="1" noProof="0" dirty="0"/>
                  <a:t>Final goods sector</a:t>
                </a:r>
              </a:p>
              <a:p>
                <a:r>
                  <a:rPr lang="en-US" sz="2000" noProof="0" dirty="0"/>
                  <a:t>We consider representative firms for each sectors </a:t>
                </a:r>
                <a14:m>
                  <m:oMath xmlns:m="http://schemas.openxmlformats.org/officeDocument/2006/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ea typeface="Cambria Math" panose="02040503050406030204" pitchFamily="18" charset="0"/>
                      </a:rPr>
                      <m:t>𝕀</m:t>
                    </m:r>
                  </m:oMath>
                </a14:m>
                <a:endParaRPr lang="en-US" sz="2000" noProof="0" dirty="0"/>
              </a:p>
              <a:p>
                <a:endParaRPr lang="en-US" sz="2000" noProof="0" dirty="0"/>
              </a:p>
              <a:p>
                <a:endParaRPr lang="en-US" sz="2000" noProof="0" dirty="0"/>
              </a:p>
              <a:p>
                <a:endParaRPr lang="en-US" sz="2000" noProof="0" dirty="0"/>
              </a:p>
              <a:p>
                <a:pPr/>
                <a14:m>
                  <m:oMathPara xmlns:m="http://schemas.openxmlformats.org/officeDocument/2006/math">
                    <m:oMathParaPr>
                      <m:jc m:val="centerGroup"/>
                    </m:oMathParaPr>
                    <m:oMath xmlns:m="http://schemas.openxmlformats.org/officeDocument/2006/math">
                      <m:r>
                        <m:rPr>
                          <m:lit/>
                        </m:rPr>
                        <a:rPr lang="en-US" sz="2000" b="0" i="1" noProof="0" smtClean="0">
                          <a:latin typeface="Cambria Math" panose="02040503050406030204" pitchFamily="18" charset="0"/>
                        </a:rPr>
                        <m:t> </m:t>
                      </m:r>
                      <m:func>
                        <m:funcPr>
                          <m:ctrlPr>
                            <a:rPr lang="en-US" sz="2000" b="0" i="1" noProof="0" smtClean="0">
                              <a:latin typeface="Cambria Math" panose="02040503050406030204" pitchFamily="18" charset="0"/>
                            </a:rPr>
                          </m:ctrlPr>
                        </m:funcPr>
                        <m:fName>
                          <m:limLow>
                            <m:limLowPr>
                              <m:ctrlPr>
                                <a:rPr lang="en-US" sz="2000" b="0" i="1" noProof="0" smtClean="0">
                                  <a:latin typeface="Cambria Math" panose="02040503050406030204" pitchFamily="18" charset="0"/>
                                </a:rPr>
                              </m:ctrlPr>
                            </m:limLowPr>
                            <m:e>
                              <m:r>
                                <m:rPr>
                                  <m:sty m:val="p"/>
                                </m:rPr>
                                <a:rPr lang="en-US" sz="2000" b="0" i="0" noProof="0" smtClean="0">
                                  <a:latin typeface="Cambria Math" panose="02040503050406030204" pitchFamily="18" charset="0"/>
                                </a:rPr>
                                <m:t>max</m:t>
                              </m:r>
                            </m:e>
                            <m:lim>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lim>
                          </m:limLow>
                          <m:r>
                            <a:rPr lang="en-US" sz="2000" b="0" i="1" noProof="0" smtClean="0">
                              <a:latin typeface="Cambria Math" panose="02040503050406030204" pitchFamily="18" charset="0"/>
                            </a:rPr>
                            <m:t> </m:t>
                          </m:r>
                        </m:fName>
                        <m:e>
                          <m:sSub>
                            <m:sSubPr>
                              <m:ctrlPr>
                                <a:rPr lang="en-US" sz="2000" b="0" i="1" noProof="0" smtClean="0">
                                  <a:latin typeface="Cambria Math" panose="02040503050406030204" pitchFamily="18" charset="0"/>
                                </a:rPr>
                              </m:ctrlPr>
                            </m:sSubPr>
                            <m:e>
                              <m:r>
                                <a:rPr lang="en-US" sz="2000" i="1" noProof="0" smtClean="0">
                                  <a:latin typeface="Cambria Math" panose="02040503050406030204" pitchFamily="18" charset="0"/>
                                </a:rPr>
                                <m:t>𝜋</m:t>
                              </m:r>
                            </m:e>
                            <m:sub>
                              <m:r>
                                <a:rPr lang="en-US" sz="2000" b="0" i="1" noProof="0" smtClean="0">
                                  <a:latin typeface="Cambria Math" panose="02040503050406030204" pitchFamily="18" charset="0"/>
                                </a:rPr>
                                <m:t>𝑖</m:t>
                              </m:r>
                            </m:sub>
                          </m:sSub>
                        </m:e>
                      </m:func>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m:t>
                          </m:r>
                        </m:sub>
                      </m:sSub>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𝑤</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up>
                          <m:r>
                            <a:rPr lang="en-US" sz="2000" b="0" i="1" noProof="0" smtClean="0">
                              <a:latin typeface="Cambria Math" panose="02040503050406030204" pitchFamily="18" charset="0"/>
                            </a:rPr>
                            <m:t>𝑊</m:t>
                          </m:r>
                        </m:sup>
                      </m:sSubSup>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𝑊</m:t>
                          </m:r>
                        </m:sup>
                      </m:sSup>
                    </m:oMath>
                  </m:oMathPara>
                </a14:m>
                <a:endParaRPr lang="en-US" sz="2000" b="0" noProof="0" dirty="0"/>
              </a:p>
              <a:p>
                <a:endParaRPr lang="en-US" sz="2000" noProof="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𝑠𝑡</m:t>
                      </m:r>
                      <m:r>
                        <a:rPr lang="en-US" sz="2000" b="0" i="1" noProof="0" smtClean="0">
                          <a:latin typeface="Cambria Math" panose="02040503050406030204" pitchFamily="18" charset="0"/>
                        </a:rPr>
                        <m:t>.        </m:t>
                      </m:r>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up>
                          <m:r>
                            <a:rPr lang="en-US" sz="2000" b="0" i="1" noProof="0" smtClean="0">
                              <a:latin typeface="Cambria Math" panose="02040503050406030204" pitchFamily="18" charset="0"/>
                            </a:rPr>
                            <m:t>𝑊</m:t>
                          </m:r>
                        </m:sup>
                      </m:sSubSup>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  0&lt;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&lt;1,        0&lt;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&lt;1.</m:t>
                      </m:r>
                    </m:oMath>
                  </m:oMathPara>
                </a14:m>
                <a:endParaRPr lang="en-US" sz="2000" noProof="0" dirty="0"/>
              </a:p>
              <a:p>
                <a:pPr algn="ctr"/>
                <a:endParaRPr lang="en-US" sz="2000" noProof="0" dirty="0"/>
              </a:p>
              <a:p>
                <a:endParaRPr lang="en-US" sz="2000" noProof="0" dirty="0"/>
              </a:p>
              <a:p>
                <a:r>
                  <a:rPr lang="en-US" sz="2000" noProof="0" dirty="0"/>
                  <a:t>First-order conditions</a:t>
                </a:r>
              </a:p>
              <a:p>
                <a:endParaRPr lang="en-US" sz="2000" dirty="0"/>
              </a:p>
              <a:p>
                <a:pPr/>
                <a14:m>
                  <m:oMathPara xmlns:m="http://schemas.openxmlformats.org/officeDocument/2006/math">
                    <m:oMathParaPr>
                      <m:jc m:val="centerGroup"/>
                    </m:oMathParaPr>
                    <m:oMath xmlns:m="http://schemas.openxmlformats.org/officeDocument/2006/math">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𝑖𝐿</m:t>
                          </m:r>
                        </m:sub>
                        <m:sup>
                          <m:r>
                            <a:rPr lang="en-US" sz="2000" b="0" i="1" noProof="0" smtClean="0">
                              <a:latin typeface="Cambria Math" panose="02040503050406030204" pitchFamily="18" charset="0"/>
                            </a:rPr>
                            <m:t>′</m:t>
                          </m:r>
                        </m:sup>
                      </m:sSubSup>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𝑤</m:t>
                      </m:r>
                      <m:r>
                        <a:rPr lang="en-US" sz="2000" b="0" i="1" noProof="0" smtClean="0">
                          <a:latin typeface="Cambria Math" panose="02040503050406030204" pitchFamily="18" charset="0"/>
                        </a:rPr>
                        <m:t>     </m:t>
                      </m:r>
                      <m:r>
                        <a:rPr lang="en-US" sz="2000" b="0" i="1" noProof="0" smtClean="0">
                          <a:latin typeface="Cambria Math" panose="02040503050406030204" pitchFamily="18" charset="0"/>
                        </a:rPr>
                        <m:t>𝑎𝑛𝑑</m:t>
                      </m:r>
                      <m:r>
                        <a:rPr lang="en-US" sz="2000" b="0" i="1" noProof="0" smtClean="0">
                          <a:latin typeface="Cambria Math" panose="02040503050406030204" pitchFamily="18" charset="0"/>
                        </a:rPr>
                        <m:t>      </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𝑖𝑅</m:t>
                          </m:r>
                        </m:sub>
                        <m:sup>
                          <m:r>
                            <a:rPr lang="en-US" sz="2000" b="0" i="1" noProof="0" smtClean="0">
                              <a:latin typeface="Cambria Math" panose="02040503050406030204" pitchFamily="18" charset="0"/>
                            </a:rPr>
                            <m:t>′</m:t>
                          </m:r>
                        </m:sup>
                      </m:sSubSup>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e>
                      </m:d>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𝑊</m:t>
                          </m:r>
                        </m:sup>
                      </m:sSup>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r>
                        <a:rPr lang="en-US" sz="2000" b="0" i="1" noProof="0" smtClean="0">
                          <a:latin typeface="Cambria Math" panose="02040503050406030204" pitchFamily="18" charset="0"/>
                        </a:rPr>
                        <m:t>.</m:t>
                      </m:r>
                    </m:oMath>
                  </m:oMathPara>
                </a14:m>
                <a:endParaRPr lang="en-US" sz="2000" noProof="0" dirty="0"/>
              </a:p>
            </p:txBody>
          </p:sp>
        </mc:Choice>
        <mc:Fallback xmlns="">
          <p:sp>
            <p:nvSpPr>
              <p:cNvPr id="6" name="TextBox 5">
                <a:extLst>
                  <a:ext uri="{FF2B5EF4-FFF2-40B4-BE49-F238E27FC236}">
                    <a16:creationId xmlns:a16="http://schemas.microsoft.com/office/drawing/2014/main" id="{485B558A-A748-271F-618C-1547DC99002F}"/>
                  </a:ext>
                </a:extLst>
              </p:cNvPr>
              <p:cNvSpPr txBox="1">
                <a:spLocks noRot="1" noChangeAspect="1" noMove="1" noResize="1" noEditPoints="1" noAdjustHandles="1" noChangeArrowheads="1" noChangeShapeType="1" noTextEdit="1"/>
              </p:cNvSpPr>
              <p:nvPr/>
            </p:nvSpPr>
            <p:spPr>
              <a:xfrm>
                <a:off x="508409" y="1051323"/>
                <a:ext cx="8046629" cy="4263924"/>
              </a:xfrm>
              <a:prstGeom prst="rect">
                <a:avLst/>
              </a:prstGeom>
              <a:blipFill>
                <a:blip r:embed="rId3"/>
                <a:stretch>
                  <a:fillRect l="-758" t="-714" b="-143"/>
                </a:stretch>
              </a:blipFill>
            </p:spPr>
            <p:txBody>
              <a:bodyPr/>
              <a:lstStyle/>
              <a:p>
                <a:r>
                  <a:rPr lang="en-GB">
                    <a:noFill/>
                  </a:rPr>
                  <a:t> </a:t>
                </a:r>
              </a:p>
            </p:txBody>
          </p:sp>
        </mc:Fallback>
      </mc:AlternateContent>
    </p:spTree>
    <p:extLst>
      <p:ext uri="{BB962C8B-B14F-4D97-AF65-F5344CB8AC3E}">
        <p14:creationId xmlns:p14="http://schemas.microsoft.com/office/powerpoint/2010/main" val="28734259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DE942-48CA-1EB7-8928-9AE0217FF0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87A27B-50B8-C6AE-DE55-A4DC5634B7B0}"/>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7A88C60A-87EA-CC9B-9490-2FDA6B0AB2CE}"/>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DB6EFD2A-6CDE-E490-FCFF-CF774068EE2A}"/>
              </a:ext>
            </a:extLst>
          </p:cNvPr>
          <p:cNvSpPr>
            <a:spLocks noGrp="1"/>
          </p:cNvSpPr>
          <p:nvPr>
            <p:ph type="sldNum" sz="quarter" idx="12"/>
          </p:nvPr>
        </p:nvSpPr>
        <p:spPr/>
        <p:txBody>
          <a:bodyPr/>
          <a:lstStyle/>
          <a:p>
            <a:fld id="{091A926C-488A-4E3E-9C21-57CAA120E114}" type="slidenum">
              <a:rPr lang="en-US" smtClean="0"/>
              <a:t>26</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6664D34-5CAF-1656-AE18-7E93474C12AC}"/>
                  </a:ext>
                </a:extLst>
              </p:cNvPr>
              <p:cNvSpPr txBox="1"/>
              <p:nvPr/>
            </p:nvSpPr>
            <p:spPr>
              <a:xfrm>
                <a:off x="508409" y="1051323"/>
                <a:ext cx="8046629" cy="4263924"/>
              </a:xfrm>
              <a:prstGeom prst="rect">
                <a:avLst/>
              </a:prstGeom>
              <a:noFill/>
              <a:ln>
                <a:noFill/>
              </a:ln>
            </p:spPr>
            <p:txBody>
              <a:bodyPr wrap="square" rtlCol="0">
                <a:spAutoFit/>
              </a:bodyPr>
              <a:lstStyle/>
              <a:p>
                <a:r>
                  <a:rPr lang="en-US" sz="2000" b="1" noProof="0" dirty="0"/>
                  <a:t>Final goods sector</a:t>
                </a:r>
              </a:p>
              <a:p>
                <a:r>
                  <a:rPr lang="en-US" sz="2000" noProof="0" dirty="0"/>
                  <a:t>We consider representative firms for each sectors </a:t>
                </a:r>
                <a14:m>
                  <m:oMath xmlns:m="http://schemas.openxmlformats.org/officeDocument/2006/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ea typeface="Cambria Math" panose="02040503050406030204" pitchFamily="18" charset="0"/>
                      </a:rPr>
                      <m:t>𝕀</m:t>
                    </m:r>
                  </m:oMath>
                </a14:m>
                <a:endParaRPr lang="en-US" sz="2000" noProof="0" dirty="0"/>
              </a:p>
              <a:p>
                <a:endParaRPr lang="en-US" sz="2000" noProof="0" dirty="0"/>
              </a:p>
              <a:p>
                <a:endParaRPr lang="en-US" sz="2000" noProof="0" dirty="0"/>
              </a:p>
              <a:p>
                <a:endParaRPr lang="en-US" sz="2000" noProof="0" dirty="0"/>
              </a:p>
              <a:p>
                <a:pPr/>
                <a14:m>
                  <m:oMathPara xmlns:m="http://schemas.openxmlformats.org/officeDocument/2006/math">
                    <m:oMathParaPr>
                      <m:jc m:val="centerGroup"/>
                    </m:oMathParaPr>
                    <m:oMath xmlns:m="http://schemas.openxmlformats.org/officeDocument/2006/math">
                      <m:r>
                        <m:rPr>
                          <m:lit/>
                        </m:rPr>
                        <a:rPr lang="en-US" sz="2000" b="0" i="1" noProof="0" smtClean="0">
                          <a:latin typeface="Cambria Math" panose="02040503050406030204" pitchFamily="18" charset="0"/>
                        </a:rPr>
                        <m:t> </m:t>
                      </m:r>
                      <m:func>
                        <m:funcPr>
                          <m:ctrlPr>
                            <a:rPr lang="en-US" sz="2000" b="0" i="1" noProof="0" smtClean="0">
                              <a:latin typeface="Cambria Math" panose="02040503050406030204" pitchFamily="18" charset="0"/>
                            </a:rPr>
                          </m:ctrlPr>
                        </m:funcPr>
                        <m:fName>
                          <m:limLow>
                            <m:limLowPr>
                              <m:ctrlPr>
                                <a:rPr lang="en-US" sz="2000" b="0" i="1" noProof="0" smtClean="0">
                                  <a:latin typeface="Cambria Math" panose="02040503050406030204" pitchFamily="18" charset="0"/>
                                </a:rPr>
                              </m:ctrlPr>
                            </m:limLowPr>
                            <m:e>
                              <m:r>
                                <m:rPr>
                                  <m:sty m:val="p"/>
                                </m:rPr>
                                <a:rPr lang="en-US" sz="2000" b="0" i="0" noProof="0" smtClean="0">
                                  <a:latin typeface="Cambria Math" panose="02040503050406030204" pitchFamily="18" charset="0"/>
                                </a:rPr>
                                <m:t>max</m:t>
                              </m:r>
                            </m:e>
                            <m:lim>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lim>
                          </m:limLow>
                          <m:r>
                            <a:rPr lang="en-US" sz="2000" b="0" i="1" noProof="0" smtClean="0">
                              <a:latin typeface="Cambria Math" panose="02040503050406030204" pitchFamily="18" charset="0"/>
                            </a:rPr>
                            <m:t> </m:t>
                          </m:r>
                        </m:fName>
                        <m:e>
                          <m:sSub>
                            <m:sSubPr>
                              <m:ctrlPr>
                                <a:rPr lang="en-US" sz="2000" b="0" i="1" noProof="0" smtClean="0">
                                  <a:latin typeface="Cambria Math" panose="02040503050406030204" pitchFamily="18" charset="0"/>
                                </a:rPr>
                              </m:ctrlPr>
                            </m:sSubPr>
                            <m:e>
                              <m:r>
                                <a:rPr lang="en-US" sz="2000" i="1" noProof="0" smtClean="0">
                                  <a:latin typeface="Cambria Math" panose="02040503050406030204" pitchFamily="18" charset="0"/>
                                </a:rPr>
                                <m:t>𝜋</m:t>
                              </m:r>
                            </m:e>
                            <m:sub>
                              <m:r>
                                <a:rPr lang="en-US" sz="2000" b="0" i="1" noProof="0" smtClean="0">
                                  <a:latin typeface="Cambria Math" panose="02040503050406030204" pitchFamily="18" charset="0"/>
                                </a:rPr>
                                <m:t>𝑖</m:t>
                              </m:r>
                            </m:sub>
                          </m:sSub>
                        </m:e>
                      </m:func>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m:t>
                          </m:r>
                        </m:sub>
                      </m:sSub>
                      <m:d>
                        <m:dPr>
                          <m:ctrlPr>
                            <a:rPr lang="en-US" sz="2000" b="0" i="1" noProof="0" smtClean="0">
                              <a:latin typeface="Cambria Math" panose="02040503050406030204" pitchFamily="18" charset="0"/>
                            </a:rPr>
                          </m:ctrlPr>
                        </m:dPr>
                        <m:e>
                          <m:sSub>
                            <m:sSubPr>
                              <m:ctrlPr>
                                <a:rPr lang="en-US" sz="2000" b="0" i="1" noProof="0" smtClean="0">
                                  <a:solidFill>
                                    <a:srgbClr val="0070C0"/>
                                  </a:solidFill>
                                  <a:latin typeface="Cambria Math" panose="02040503050406030204" pitchFamily="18" charset="0"/>
                                </a:rPr>
                              </m:ctrlPr>
                            </m:sSubPr>
                            <m:e>
                              <m:r>
                                <a:rPr lang="en-US" sz="2000" b="0" i="1" noProof="0" smtClean="0">
                                  <a:solidFill>
                                    <a:srgbClr val="0070C0"/>
                                  </a:solidFill>
                                  <a:latin typeface="Cambria Math" panose="02040503050406030204" pitchFamily="18" charset="0"/>
                                </a:rPr>
                                <m:t>𝐿</m:t>
                              </m:r>
                            </m:e>
                            <m:sub>
                              <m:r>
                                <a:rPr lang="en-US" sz="2000" b="0" i="1" noProof="0" smtClean="0">
                                  <a:solidFill>
                                    <a:srgbClr val="0070C0"/>
                                  </a:solidFill>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solidFill>
                                    <a:schemeClr val="accent3"/>
                                  </a:solidFill>
                                  <a:latin typeface="Cambria Math" panose="02040503050406030204" pitchFamily="18" charset="0"/>
                                </a:rPr>
                              </m:ctrlPr>
                            </m:sSubPr>
                            <m:e>
                              <m:r>
                                <a:rPr lang="en-US" sz="2000" b="0" i="1" noProof="0" smtClean="0">
                                  <a:solidFill>
                                    <a:schemeClr val="accent3"/>
                                  </a:solidFill>
                                  <a:latin typeface="Cambria Math" panose="02040503050406030204" pitchFamily="18" charset="0"/>
                                </a:rPr>
                                <m:t>𝑅</m:t>
                              </m:r>
                            </m:e>
                            <m:sub>
                              <m:r>
                                <a:rPr lang="en-US" sz="2000" b="0" i="1" noProof="0" smtClean="0">
                                  <a:solidFill>
                                    <a:schemeClr val="accent3"/>
                                  </a:solidFill>
                                  <a:latin typeface="Cambria Math" panose="02040503050406030204" pitchFamily="18" charset="0"/>
                                </a:rPr>
                                <m:t>𝑖</m:t>
                              </m:r>
                            </m:sub>
                          </m:sSub>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𝑤</m:t>
                      </m:r>
                      <m:sSub>
                        <m:sSubPr>
                          <m:ctrlPr>
                            <a:rPr lang="en-US" sz="2000" b="0" i="1" noProof="0" smtClean="0">
                              <a:solidFill>
                                <a:srgbClr val="0070C0"/>
                              </a:solidFill>
                              <a:latin typeface="Cambria Math" panose="02040503050406030204" pitchFamily="18" charset="0"/>
                            </a:rPr>
                          </m:ctrlPr>
                        </m:sSubPr>
                        <m:e>
                          <m:r>
                            <a:rPr lang="en-US" sz="2000" b="0" i="1" noProof="0" smtClean="0">
                              <a:solidFill>
                                <a:srgbClr val="0070C0"/>
                              </a:solidFill>
                              <a:latin typeface="Cambria Math" panose="02040503050406030204" pitchFamily="18" charset="0"/>
                            </a:rPr>
                            <m:t>𝐿</m:t>
                          </m:r>
                        </m:e>
                        <m:sub>
                          <m:r>
                            <a:rPr lang="en-US" sz="2000" b="0" i="1" noProof="0" smtClean="0">
                              <a:solidFill>
                                <a:srgbClr val="0070C0"/>
                              </a:solidFill>
                              <a:latin typeface="Cambria Math" panose="02040503050406030204" pitchFamily="18" charset="0"/>
                            </a:rPr>
                            <m:t>𝑖</m:t>
                          </m:r>
                        </m:sub>
                      </m:sSub>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sSub>
                        <m:sSubPr>
                          <m:ctrlPr>
                            <a:rPr lang="en-US" sz="2000" b="0" i="1" noProof="0" smtClean="0">
                              <a:solidFill>
                                <a:schemeClr val="accent3"/>
                              </a:solidFill>
                              <a:latin typeface="Cambria Math" panose="02040503050406030204" pitchFamily="18" charset="0"/>
                            </a:rPr>
                          </m:ctrlPr>
                        </m:sSubPr>
                        <m:e>
                          <m:r>
                            <a:rPr lang="en-US" sz="2000" b="0" i="1" noProof="0" smtClean="0">
                              <a:solidFill>
                                <a:schemeClr val="accent3"/>
                              </a:solidFill>
                              <a:latin typeface="Cambria Math" panose="02040503050406030204" pitchFamily="18" charset="0"/>
                            </a:rPr>
                            <m:t>𝑅</m:t>
                          </m:r>
                        </m:e>
                        <m:sub>
                          <m:r>
                            <a:rPr lang="en-US" sz="2000" b="0" i="1" noProof="0" smtClean="0">
                              <a:solidFill>
                                <a:schemeClr val="accent3"/>
                              </a:solidFill>
                              <a:latin typeface="Cambria Math" panose="02040503050406030204" pitchFamily="18" charset="0"/>
                            </a:rPr>
                            <m:t>𝑖</m:t>
                          </m:r>
                        </m:sub>
                      </m:sSub>
                      <m:r>
                        <a:rPr lang="en-US" sz="2000" b="0" i="1" noProof="0" smtClean="0">
                          <a:latin typeface="Cambria Math" panose="02040503050406030204" pitchFamily="18" charset="0"/>
                        </a:rPr>
                        <m:t>+</m:t>
                      </m:r>
                      <m:sSubSup>
                        <m:sSubSupPr>
                          <m:ctrlPr>
                            <a:rPr lang="en-US" sz="2000" b="0" i="1" noProof="0" smtClean="0">
                              <a:solidFill>
                                <a:srgbClr val="00B050"/>
                              </a:solidFill>
                              <a:latin typeface="Cambria Math" panose="02040503050406030204" pitchFamily="18" charset="0"/>
                            </a:rPr>
                          </m:ctrlPr>
                        </m:sSubSupPr>
                        <m:e>
                          <m:r>
                            <a:rPr lang="en-US" sz="2000" b="0" i="1" noProof="0" smtClean="0">
                              <a:solidFill>
                                <a:srgbClr val="00B050"/>
                              </a:solidFill>
                              <a:latin typeface="Cambria Math" panose="02040503050406030204" pitchFamily="18" charset="0"/>
                            </a:rPr>
                            <m:t>𝑅</m:t>
                          </m:r>
                        </m:e>
                        <m:sub>
                          <m:r>
                            <a:rPr lang="en-US" sz="2000" b="0" i="1" noProof="0" smtClean="0">
                              <a:solidFill>
                                <a:srgbClr val="00B050"/>
                              </a:solidFill>
                              <a:latin typeface="Cambria Math" panose="02040503050406030204" pitchFamily="18" charset="0"/>
                            </a:rPr>
                            <m:t>𝑖</m:t>
                          </m:r>
                        </m:sub>
                        <m:sup>
                          <m:r>
                            <a:rPr lang="en-US" sz="2000" b="0" i="1" noProof="0" smtClean="0">
                              <a:solidFill>
                                <a:srgbClr val="00B050"/>
                              </a:solidFill>
                              <a:latin typeface="Cambria Math" panose="02040503050406030204" pitchFamily="18" charset="0"/>
                            </a:rPr>
                            <m:t>𝑊</m:t>
                          </m:r>
                        </m:sup>
                      </m:sSubSup>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𝑊</m:t>
                          </m:r>
                        </m:sup>
                      </m:sSup>
                    </m:oMath>
                  </m:oMathPara>
                </a14:m>
                <a:endParaRPr lang="en-US" sz="2000" b="0" noProof="0" dirty="0"/>
              </a:p>
              <a:p>
                <a:endParaRPr lang="en-US" sz="2000" noProof="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𝑠𝑡</m:t>
                      </m:r>
                      <m:r>
                        <a:rPr lang="en-US" sz="2000" b="0" i="1" noProof="0" smtClean="0">
                          <a:latin typeface="Cambria Math" panose="02040503050406030204" pitchFamily="18" charset="0"/>
                        </a:rPr>
                        <m:t>.        </m:t>
                      </m:r>
                      <m:sSubSup>
                        <m:sSubSupPr>
                          <m:ctrlPr>
                            <a:rPr lang="en-US" sz="2000" b="0" i="1" noProof="0" smtClean="0">
                              <a:solidFill>
                                <a:srgbClr val="00B050"/>
                              </a:solidFill>
                              <a:latin typeface="Cambria Math" panose="02040503050406030204" pitchFamily="18" charset="0"/>
                            </a:rPr>
                          </m:ctrlPr>
                        </m:sSubSupPr>
                        <m:e>
                          <m:r>
                            <a:rPr lang="en-US" sz="2000" b="0" i="1" noProof="0" smtClean="0">
                              <a:solidFill>
                                <a:srgbClr val="00B050"/>
                              </a:solidFill>
                              <a:latin typeface="Cambria Math" panose="02040503050406030204" pitchFamily="18" charset="0"/>
                            </a:rPr>
                            <m:t>𝑅</m:t>
                          </m:r>
                        </m:e>
                        <m:sub>
                          <m:r>
                            <a:rPr lang="en-US" sz="2000" b="0" i="1" noProof="0" smtClean="0">
                              <a:solidFill>
                                <a:srgbClr val="00B050"/>
                              </a:solidFill>
                              <a:latin typeface="Cambria Math" panose="02040503050406030204" pitchFamily="18" charset="0"/>
                            </a:rPr>
                            <m:t>𝑖</m:t>
                          </m:r>
                        </m:sub>
                        <m:sup>
                          <m:r>
                            <a:rPr lang="en-US" sz="2000" b="0" i="1" noProof="0" smtClean="0">
                              <a:solidFill>
                                <a:srgbClr val="00B050"/>
                              </a:solidFill>
                              <a:latin typeface="Cambria Math" panose="02040503050406030204" pitchFamily="18" charset="0"/>
                            </a:rPr>
                            <m:t>𝑊</m:t>
                          </m:r>
                        </m:sup>
                      </m:sSubSup>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sSub>
                        <m:sSubPr>
                          <m:ctrlPr>
                            <a:rPr lang="en-US" sz="2000" b="0" i="1" noProof="0" smtClean="0">
                              <a:solidFill>
                                <a:schemeClr val="accent3"/>
                              </a:solidFill>
                              <a:latin typeface="Cambria Math" panose="02040503050406030204" pitchFamily="18" charset="0"/>
                            </a:rPr>
                          </m:ctrlPr>
                        </m:sSubPr>
                        <m:e>
                          <m:r>
                            <a:rPr lang="en-US" sz="2000" b="0" i="1" noProof="0" smtClean="0">
                              <a:solidFill>
                                <a:schemeClr val="accent3"/>
                              </a:solidFill>
                              <a:latin typeface="Cambria Math" panose="02040503050406030204" pitchFamily="18" charset="0"/>
                            </a:rPr>
                            <m:t>𝑅</m:t>
                          </m:r>
                        </m:e>
                        <m:sub>
                          <m:r>
                            <a:rPr lang="en-US" sz="2000" b="0" i="1" noProof="0" smtClean="0">
                              <a:solidFill>
                                <a:schemeClr val="accent3"/>
                              </a:solidFill>
                              <a:latin typeface="Cambria Math" panose="02040503050406030204" pitchFamily="18" charset="0"/>
                            </a:rPr>
                            <m:t>𝑖</m:t>
                          </m:r>
                        </m:sub>
                      </m:sSub>
                      <m:r>
                        <a:rPr lang="en-US" sz="2000" b="0" i="1" noProof="0" smtClean="0">
                          <a:latin typeface="Cambria Math" panose="02040503050406030204" pitchFamily="18" charset="0"/>
                        </a:rPr>
                        <m:t>,  0&lt;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&lt;1,        0&lt;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&lt;1.</m:t>
                      </m:r>
                    </m:oMath>
                  </m:oMathPara>
                </a14:m>
                <a:endParaRPr lang="en-US" sz="2000" noProof="0" dirty="0"/>
              </a:p>
              <a:p>
                <a:pPr algn="ctr"/>
                <a:endParaRPr lang="en-US" sz="2000" noProof="0" dirty="0"/>
              </a:p>
              <a:p>
                <a:endParaRPr lang="en-US" sz="2000" noProof="0" dirty="0"/>
              </a:p>
              <a:p>
                <a:r>
                  <a:rPr lang="en-US" sz="2000" noProof="0" dirty="0"/>
                  <a:t>First-order conditions</a:t>
                </a:r>
              </a:p>
              <a:p>
                <a:endParaRPr lang="en-US" sz="2000" dirty="0"/>
              </a:p>
              <a:p>
                <a:pPr/>
                <a14:m>
                  <m:oMathPara xmlns:m="http://schemas.openxmlformats.org/officeDocument/2006/math">
                    <m:oMathParaPr>
                      <m:jc m:val="centerGroup"/>
                    </m:oMathParaPr>
                    <m:oMath xmlns:m="http://schemas.openxmlformats.org/officeDocument/2006/math">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𝑖𝐿</m:t>
                          </m:r>
                        </m:sub>
                        <m:sup>
                          <m:r>
                            <a:rPr lang="en-US" sz="2000" b="0" i="1" noProof="0" smtClean="0">
                              <a:latin typeface="Cambria Math" panose="02040503050406030204" pitchFamily="18" charset="0"/>
                            </a:rPr>
                            <m:t>′</m:t>
                          </m:r>
                        </m:sup>
                      </m:sSubSup>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𝑤</m:t>
                      </m:r>
                      <m:r>
                        <a:rPr lang="en-US" sz="2000" b="0" i="1" noProof="0" smtClean="0">
                          <a:latin typeface="Cambria Math" panose="02040503050406030204" pitchFamily="18" charset="0"/>
                        </a:rPr>
                        <m:t>     </m:t>
                      </m:r>
                      <m:r>
                        <a:rPr lang="en-US" sz="2000" b="0" i="1" noProof="0" smtClean="0">
                          <a:latin typeface="Cambria Math" panose="02040503050406030204" pitchFamily="18" charset="0"/>
                        </a:rPr>
                        <m:t>𝑎𝑛𝑑</m:t>
                      </m:r>
                      <m:r>
                        <a:rPr lang="en-US" sz="2000" b="0" i="1" noProof="0" smtClean="0">
                          <a:latin typeface="Cambria Math" panose="02040503050406030204" pitchFamily="18" charset="0"/>
                        </a:rPr>
                        <m:t>      </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𝑖𝑅</m:t>
                          </m:r>
                        </m:sub>
                        <m:sup>
                          <m:r>
                            <a:rPr lang="en-US" sz="2000" b="0" i="1" noProof="0" smtClean="0">
                              <a:latin typeface="Cambria Math" panose="02040503050406030204" pitchFamily="18" charset="0"/>
                            </a:rPr>
                            <m:t>′</m:t>
                          </m:r>
                        </m:sup>
                      </m:sSubSup>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e>
                      </m:d>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𝑊</m:t>
                          </m:r>
                        </m:sup>
                      </m:sSup>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r>
                        <a:rPr lang="en-US" sz="2000" b="0" i="1" noProof="0" smtClean="0">
                          <a:latin typeface="Cambria Math" panose="02040503050406030204" pitchFamily="18" charset="0"/>
                        </a:rPr>
                        <m:t>.</m:t>
                      </m:r>
                    </m:oMath>
                  </m:oMathPara>
                </a14:m>
                <a:endParaRPr lang="en-US" sz="2000" noProof="0" dirty="0"/>
              </a:p>
            </p:txBody>
          </p:sp>
        </mc:Choice>
        <mc:Fallback xmlns="">
          <p:sp>
            <p:nvSpPr>
              <p:cNvPr id="6" name="TextBox 5">
                <a:extLst>
                  <a:ext uri="{FF2B5EF4-FFF2-40B4-BE49-F238E27FC236}">
                    <a16:creationId xmlns:a16="http://schemas.microsoft.com/office/drawing/2014/main" id="{66664D34-5CAF-1656-AE18-7E93474C12AC}"/>
                  </a:ext>
                </a:extLst>
              </p:cNvPr>
              <p:cNvSpPr txBox="1">
                <a:spLocks noRot="1" noChangeAspect="1" noMove="1" noResize="1" noEditPoints="1" noAdjustHandles="1" noChangeArrowheads="1" noChangeShapeType="1" noTextEdit="1"/>
              </p:cNvSpPr>
              <p:nvPr/>
            </p:nvSpPr>
            <p:spPr>
              <a:xfrm>
                <a:off x="508409" y="1051323"/>
                <a:ext cx="8046629" cy="4263924"/>
              </a:xfrm>
              <a:prstGeom prst="rect">
                <a:avLst/>
              </a:prstGeom>
              <a:blipFill>
                <a:blip r:embed="rId3"/>
                <a:stretch>
                  <a:fillRect l="-758" t="-714" b="-143"/>
                </a:stretch>
              </a:blipFill>
              <a:ln>
                <a:noFill/>
              </a:ln>
            </p:spPr>
            <p:txBody>
              <a:bodyPr/>
              <a:lstStyle/>
              <a:p>
                <a:r>
                  <a:rPr lang="en-GB">
                    <a:noFill/>
                  </a:rPr>
                  <a:t> </a:t>
                </a:r>
              </a:p>
            </p:txBody>
          </p:sp>
        </mc:Fallback>
      </mc:AlternateContent>
      <p:sp>
        <p:nvSpPr>
          <p:cNvPr id="5" name="TextBox 4">
            <a:extLst>
              <a:ext uri="{FF2B5EF4-FFF2-40B4-BE49-F238E27FC236}">
                <a16:creationId xmlns:a16="http://schemas.microsoft.com/office/drawing/2014/main" id="{4D97BA26-D68B-BE0A-9F87-61AFD5B7BC8C}"/>
              </a:ext>
            </a:extLst>
          </p:cNvPr>
          <p:cNvSpPr txBox="1"/>
          <p:nvPr/>
        </p:nvSpPr>
        <p:spPr>
          <a:xfrm>
            <a:off x="3333959" y="2000250"/>
            <a:ext cx="1197764" cy="307777"/>
          </a:xfrm>
          <a:prstGeom prst="rect">
            <a:avLst/>
          </a:prstGeom>
          <a:noFill/>
        </p:spPr>
        <p:txBody>
          <a:bodyPr wrap="none" rtlCol="0">
            <a:spAutoFit/>
          </a:bodyPr>
          <a:lstStyle/>
          <a:p>
            <a:r>
              <a:rPr lang="en-US" sz="1400" dirty="0" err="1">
                <a:solidFill>
                  <a:srgbClr val="0070C0"/>
                </a:solidFill>
              </a:rPr>
              <a:t>Labour</a:t>
            </a:r>
            <a:r>
              <a:rPr lang="en-US" sz="1400" dirty="0">
                <a:solidFill>
                  <a:srgbClr val="0070C0"/>
                </a:solidFill>
              </a:rPr>
              <a:t> input</a:t>
            </a:r>
          </a:p>
        </p:txBody>
      </p:sp>
      <p:cxnSp>
        <p:nvCxnSpPr>
          <p:cNvPr id="8" name="Straight Arrow Connector 7">
            <a:extLst>
              <a:ext uri="{FF2B5EF4-FFF2-40B4-BE49-F238E27FC236}">
                <a16:creationId xmlns:a16="http://schemas.microsoft.com/office/drawing/2014/main" id="{C59A6835-16CF-0E90-951F-E9AE3B691AC8}"/>
              </a:ext>
            </a:extLst>
          </p:cNvPr>
          <p:cNvCxnSpPr>
            <a:cxnSpLocks/>
          </p:cNvCxnSpPr>
          <p:nvPr/>
        </p:nvCxnSpPr>
        <p:spPr>
          <a:xfrm>
            <a:off x="3873500" y="2308027"/>
            <a:ext cx="0" cy="301823"/>
          </a:xfrm>
          <a:prstGeom prst="straightConnector1">
            <a:avLst/>
          </a:pr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85B5B09-8018-677A-662B-F6B3C29C3B7B}"/>
              </a:ext>
            </a:extLst>
          </p:cNvPr>
          <p:cNvSpPr txBox="1"/>
          <p:nvPr/>
        </p:nvSpPr>
        <p:spPr>
          <a:xfrm>
            <a:off x="4356309" y="1762622"/>
            <a:ext cx="1962397" cy="307777"/>
          </a:xfrm>
          <a:prstGeom prst="rect">
            <a:avLst/>
          </a:prstGeom>
          <a:noFill/>
        </p:spPr>
        <p:txBody>
          <a:bodyPr wrap="none" rtlCol="0">
            <a:spAutoFit/>
          </a:bodyPr>
          <a:lstStyle/>
          <a:p>
            <a:r>
              <a:rPr lang="en-US" sz="1400" dirty="0">
                <a:solidFill>
                  <a:schemeClr val="accent3"/>
                </a:solidFill>
              </a:rPr>
              <a:t>Natural resource input</a:t>
            </a:r>
          </a:p>
        </p:txBody>
      </p:sp>
      <p:cxnSp>
        <p:nvCxnSpPr>
          <p:cNvPr id="11" name="Straight Arrow Connector 10">
            <a:extLst>
              <a:ext uri="{FF2B5EF4-FFF2-40B4-BE49-F238E27FC236}">
                <a16:creationId xmlns:a16="http://schemas.microsoft.com/office/drawing/2014/main" id="{7E1005DA-D32F-1128-2514-D58A8770ADF3}"/>
              </a:ext>
            </a:extLst>
          </p:cNvPr>
          <p:cNvCxnSpPr>
            <a:cxnSpLocks/>
          </p:cNvCxnSpPr>
          <p:nvPr/>
        </p:nvCxnSpPr>
        <p:spPr>
          <a:xfrm flipH="1">
            <a:off x="4260850" y="2070399"/>
            <a:ext cx="425450" cy="602951"/>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85EC4CD-7591-EA0F-54E1-348194763FC3}"/>
              </a:ext>
            </a:extLst>
          </p:cNvPr>
          <p:cNvSpPr txBox="1"/>
          <p:nvPr/>
        </p:nvSpPr>
        <p:spPr>
          <a:xfrm>
            <a:off x="5663545" y="2151161"/>
            <a:ext cx="1521570" cy="307777"/>
          </a:xfrm>
          <a:prstGeom prst="rect">
            <a:avLst/>
          </a:prstGeom>
          <a:noFill/>
        </p:spPr>
        <p:txBody>
          <a:bodyPr wrap="none" rtlCol="0">
            <a:spAutoFit/>
          </a:bodyPr>
          <a:lstStyle/>
          <a:p>
            <a:r>
              <a:rPr lang="en-US" sz="1400" dirty="0">
                <a:solidFill>
                  <a:srgbClr val="00B050"/>
                </a:solidFill>
              </a:rPr>
              <a:t>Recyclable waste</a:t>
            </a:r>
          </a:p>
        </p:txBody>
      </p:sp>
      <p:cxnSp>
        <p:nvCxnSpPr>
          <p:cNvPr id="14" name="Straight Arrow Connector 13">
            <a:extLst>
              <a:ext uri="{FF2B5EF4-FFF2-40B4-BE49-F238E27FC236}">
                <a16:creationId xmlns:a16="http://schemas.microsoft.com/office/drawing/2014/main" id="{91DFFF2D-CFD2-6534-C7A4-7CB52850AE16}"/>
              </a:ext>
            </a:extLst>
          </p:cNvPr>
          <p:cNvCxnSpPr>
            <a:cxnSpLocks/>
          </p:cNvCxnSpPr>
          <p:nvPr/>
        </p:nvCxnSpPr>
        <p:spPr>
          <a:xfrm>
            <a:off x="6350456" y="2427188"/>
            <a:ext cx="0" cy="214412"/>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621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3EDCE-119D-AE51-E571-8E53520F78E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6711F-12DD-40B0-8C65-14D4C37CA727}"/>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498CD456-3610-71D9-B153-BA50BCEE0996}"/>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FA71BA4F-F6AF-16A4-89F4-44F22ADC172D}"/>
              </a:ext>
            </a:extLst>
          </p:cNvPr>
          <p:cNvSpPr>
            <a:spLocks noGrp="1"/>
          </p:cNvSpPr>
          <p:nvPr>
            <p:ph type="sldNum" sz="quarter" idx="12"/>
          </p:nvPr>
        </p:nvSpPr>
        <p:spPr/>
        <p:txBody>
          <a:bodyPr/>
          <a:lstStyle/>
          <a:p>
            <a:fld id="{091A926C-488A-4E3E-9C21-57CAA120E114}" type="slidenum">
              <a:rPr lang="en-US" smtClean="0"/>
              <a:t>27</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314DF88-9B7B-6E7F-1DE9-C52C51B83D78}"/>
                  </a:ext>
                </a:extLst>
              </p:cNvPr>
              <p:cNvSpPr txBox="1"/>
              <p:nvPr/>
            </p:nvSpPr>
            <p:spPr>
              <a:xfrm>
                <a:off x="508409" y="1051323"/>
                <a:ext cx="8046629" cy="4263924"/>
              </a:xfrm>
              <a:prstGeom prst="rect">
                <a:avLst/>
              </a:prstGeom>
              <a:noFill/>
            </p:spPr>
            <p:txBody>
              <a:bodyPr wrap="square" rtlCol="0">
                <a:spAutoFit/>
              </a:bodyPr>
              <a:lstStyle/>
              <a:p>
                <a:r>
                  <a:rPr lang="en-US" sz="2000" b="1" noProof="0" dirty="0"/>
                  <a:t>Final goods sector</a:t>
                </a:r>
              </a:p>
              <a:p>
                <a:r>
                  <a:rPr lang="en-US" sz="2000" noProof="0" dirty="0"/>
                  <a:t>We consider representative firms for each sectors </a:t>
                </a:r>
                <a14:m>
                  <m:oMath xmlns:m="http://schemas.openxmlformats.org/officeDocument/2006/math">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b="0" i="1" noProof="0" smtClean="0">
                        <a:latin typeface="Cambria Math" panose="02040503050406030204" pitchFamily="18" charset="0"/>
                        <a:ea typeface="Cambria Math" panose="02040503050406030204" pitchFamily="18" charset="0"/>
                      </a:rPr>
                      <m:t>𝕀</m:t>
                    </m:r>
                  </m:oMath>
                </a14:m>
                <a:endParaRPr lang="en-US" sz="2000" noProof="0" dirty="0"/>
              </a:p>
              <a:p>
                <a:endParaRPr lang="en-US" sz="2000" noProof="0" dirty="0"/>
              </a:p>
              <a:p>
                <a:endParaRPr lang="en-US" sz="2000" noProof="0" dirty="0"/>
              </a:p>
              <a:p>
                <a:endParaRPr lang="en-US" sz="2000" noProof="0" dirty="0"/>
              </a:p>
              <a:p>
                <a:pPr/>
                <a14:m>
                  <m:oMathPara xmlns:m="http://schemas.openxmlformats.org/officeDocument/2006/math">
                    <m:oMathParaPr>
                      <m:jc m:val="centerGroup"/>
                    </m:oMathParaPr>
                    <m:oMath xmlns:m="http://schemas.openxmlformats.org/officeDocument/2006/math">
                      <m:r>
                        <m:rPr>
                          <m:lit/>
                        </m:rPr>
                        <a:rPr lang="en-US" sz="2000" b="0" i="1" noProof="0" smtClean="0">
                          <a:latin typeface="Cambria Math" panose="02040503050406030204" pitchFamily="18" charset="0"/>
                        </a:rPr>
                        <m:t> </m:t>
                      </m:r>
                      <m:func>
                        <m:funcPr>
                          <m:ctrlPr>
                            <a:rPr lang="en-US" sz="2000" b="0" i="1" noProof="0" smtClean="0">
                              <a:latin typeface="Cambria Math" panose="02040503050406030204" pitchFamily="18" charset="0"/>
                            </a:rPr>
                          </m:ctrlPr>
                        </m:funcPr>
                        <m:fName>
                          <m:limLow>
                            <m:limLowPr>
                              <m:ctrlPr>
                                <a:rPr lang="en-US" sz="2000" b="0" i="1" noProof="0" smtClean="0">
                                  <a:latin typeface="Cambria Math" panose="02040503050406030204" pitchFamily="18" charset="0"/>
                                </a:rPr>
                              </m:ctrlPr>
                            </m:limLowPr>
                            <m:e>
                              <m:r>
                                <m:rPr>
                                  <m:sty m:val="p"/>
                                </m:rPr>
                                <a:rPr lang="en-US" sz="2000" b="0" i="0" noProof="0" smtClean="0">
                                  <a:latin typeface="Cambria Math" panose="02040503050406030204" pitchFamily="18" charset="0"/>
                                </a:rPr>
                                <m:t>max</m:t>
                              </m:r>
                            </m:e>
                            <m:lim>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lim>
                          </m:limLow>
                          <m:r>
                            <a:rPr lang="en-US" sz="2000" b="0" i="1" noProof="0" smtClean="0">
                              <a:latin typeface="Cambria Math" panose="02040503050406030204" pitchFamily="18" charset="0"/>
                            </a:rPr>
                            <m:t> </m:t>
                          </m:r>
                        </m:fName>
                        <m:e>
                          <m:sSub>
                            <m:sSubPr>
                              <m:ctrlPr>
                                <a:rPr lang="en-US" sz="2000" b="0" i="1" noProof="0" smtClean="0">
                                  <a:latin typeface="Cambria Math" panose="02040503050406030204" pitchFamily="18" charset="0"/>
                                </a:rPr>
                              </m:ctrlPr>
                            </m:sSubPr>
                            <m:e>
                              <m:r>
                                <a:rPr lang="en-US" sz="2000" i="1" noProof="0" smtClean="0">
                                  <a:latin typeface="Cambria Math" panose="02040503050406030204" pitchFamily="18" charset="0"/>
                                </a:rPr>
                                <m:t>𝜋</m:t>
                              </m:r>
                            </m:e>
                            <m:sub>
                              <m:r>
                                <a:rPr lang="en-US" sz="2000" b="0" i="1" noProof="0" smtClean="0">
                                  <a:latin typeface="Cambria Math" panose="02040503050406030204" pitchFamily="18" charset="0"/>
                                </a:rPr>
                                <m:t>𝑖</m:t>
                              </m:r>
                            </m:sub>
                          </m:sSub>
                        </m:e>
                      </m:func>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m:t>
                          </m:r>
                        </m:sub>
                      </m:sSub>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𝑤</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up>
                          <m:r>
                            <a:rPr lang="en-US" sz="2000" b="0" i="1" noProof="0" smtClean="0">
                              <a:latin typeface="Cambria Math" panose="02040503050406030204" pitchFamily="18" charset="0"/>
                            </a:rPr>
                            <m:t>𝑊</m:t>
                          </m:r>
                        </m:sup>
                      </m:sSubSup>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𝑊</m:t>
                          </m:r>
                        </m:sup>
                      </m:sSup>
                    </m:oMath>
                  </m:oMathPara>
                </a14:m>
                <a:endParaRPr lang="en-US" sz="2000" b="0" noProof="0" dirty="0"/>
              </a:p>
              <a:p>
                <a:endParaRPr lang="en-US" sz="2000" noProof="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𝑠𝑡</m:t>
                      </m:r>
                      <m:r>
                        <a:rPr lang="en-US" sz="2000" b="0" i="1" noProof="0" smtClean="0">
                          <a:latin typeface="Cambria Math" panose="02040503050406030204" pitchFamily="18" charset="0"/>
                        </a:rPr>
                        <m:t>.        </m:t>
                      </m:r>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up>
                          <m:r>
                            <a:rPr lang="en-US" sz="2000" b="0" i="1" noProof="0" smtClean="0">
                              <a:latin typeface="Cambria Math" panose="02040503050406030204" pitchFamily="18" charset="0"/>
                            </a:rPr>
                            <m:t>𝑊</m:t>
                          </m:r>
                        </m:sup>
                      </m:sSubSup>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  0&lt;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&lt;1,        0&lt;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&lt;1.</m:t>
                      </m:r>
                    </m:oMath>
                  </m:oMathPara>
                </a14:m>
                <a:endParaRPr lang="en-US" sz="2000" noProof="0" dirty="0"/>
              </a:p>
              <a:p>
                <a:pPr algn="ctr"/>
                <a:endParaRPr lang="en-US" sz="2000" noProof="0" dirty="0"/>
              </a:p>
              <a:p>
                <a:endParaRPr lang="en-US" sz="2000" noProof="0" dirty="0"/>
              </a:p>
              <a:p>
                <a:r>
                  <a:rPr lang="en-US" sz="2000" noProof="0" dirty="0"/>
                  <a:t>First-order conditions</a:t>
                </a:r>
              </a:p>
              <a:p>
                <a:endParaRPr lang="en-US" sz="2000" dirty="0"/>
              </a:p>
              <a:p>
                <a:pPr/>
                <a14:m>
                  <m:oMathPara xmlns:m="http://schemas.openxmlformats.org/officeDocument/2006/math">
                    <m:oMathParaPr>
                      <m:jc m:val="centerGroup"/>
                    </m:oMathParaPr>
                    <m:oMath xmlns:m="http://schemas.openxmlformats.org/officeDocument/2006/math">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𝑖𝐿</m:t>
                          </m:r>
                        </m:sub>
                        <m:sup>
                          <m:r>
                            <a:rPr lang="en-US" sz="2000" b="0" i="1" noProof="0" smtClean="0">
                              <a:latin typeface="Cambria Math" panose="02040503050406030204" pitchFamily="18" charset="0"/>
                            </a:rPr>
                            <m:t>′</m:t>
                          </m:r>
                        </m:sup>
                      </m:sSubSup>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e>
                      </m:d>
                      <m:r>
                        <a:rPr lang="en-US" sz="2000" b="0" i="1" noProof="0" smtClean="0">
                          <a:latin typeface="Cambria Math" panose="02040503050406030204" pitchFamily="18" charset="0"/>
                        </a:rPr>
                        <m:t>=</m:t>
                      </m:r>
                      <m:r>
                        <a:rPr lang="en-US" sz="2000" b="0" i="1" noProof="0" smtClean="0">
                          <a:latin typeface="Cambria Math" panose="02040503050406030204" pitchFamily="18" charset="0"/>
                        </a:rPr>
                        <m:t>𝑤</m:t>
                      </m:r>
                      <m:r>
                        <a:rPr lang="en-US" sz="2000" b="0" i="1" noProof="0" smtClean="0">
                          <a:latin typeface="Cambria Math" panose="02040503050406030204" pitchFamily="18" charset="0"/>
                        </a:rPr>
                        <m:t>     </m:t>
                      </m:r>
                      <m:r>
                        <a:rPr lang="en-US" sz="2000" b="0" i="1" noProof="0" smtClean="0">
                          <a:latin typeface="Cambria Math" panose="02040503050406030204" pitchFamily="18" charset="0"/>
                        </a:rPr>
                        <m:t>𝑎𝑛𝑑</m:t>
                      </m:r>
                      <m:r>
                        <a:rPr lang="en-US" sz="2000" b="0" i="1" noProof="0" smtClean="0">
                          <a:latin typeface="Cambria Math" panose="02040503050406030204" pitchFamily="18" charset="0"/>
                        </a:rPr>
                        <m:t>      </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𝑝</m:t>
                          </m:r>
                        </m:e>
                        <m:sub>
                          <m:r>
                            <a:rPr lang="en-US" sz="2000" b="0" i="1" noProof="0" smtClean="0">
                              <a:latin typeface="Cambria Math" panose="02040503050406030204" pitchFamily="18" charset="0"/>
                            </a:rPr>
                            <m:t>𝑖</m:t>
                          </m:r>
                        </m:sub>
                      </m:sSub>
                      <m:sSubSup>
                        <m:sSubSupPr>
                          <m:ctrlPr>
                            <a:rPr lang="en-US" sz="2000" b="0" i="1" noProof="0" smtClean="0">
                              <a:latin typeface="Cambria Math" panose="02040503050406030204" pitchFamily="18" charset="0"/>
                            </a:rPr>
                          </m:ctrlPr>
                        </m:sSubSup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𝑖𝑅</m:t>
                          </m:r>
                        </m:sub>
                        <m:sup>
                          <m:r>
                            <a:rPr lang="en-US" sz="2000" b="0" i="1" noProof="0" smtClean="0">
                              <a:latin typeface="Cambria Math" panose="02040503050406030204" pitchFamily="18" charset="0"/>
                            </a:rPr>
                            <m:t>′</m:t>
                          </m:r>
                        </m:sup>
                      </m:sSubSup>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e>
                      </m:d>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𝜇</m:t>
                          </m:r>
                        </m:e>
                        <m:sub>
                          <m:r>
                            <a:rPr lang="en-US" sz="2000" b="0" i="1" noProof="0" smtClean="0">
                              <a:latin typeface="Cambria Math" panose="02040503050406030204" pitchFamily="18" charset="0"/>
                            </a:rPr>
                            <m:t>𝑖</m:t>
                          </m:r>
                        </m:sub>
                      </m:sSub>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𝑊</m:t>
                          </m:r>
                        </m:sup>
                      </m:sSup>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r>
                        <a:rPr lang="en-US" sz="2000" b="0" i="1" noProof="0" smtClean="0">
                          <a:latin typeface="Cambria Math" panose="02040503050406030204" pitchFamily="18" charset="0"/>
                        </a:rPr>
                        <m:t>.</m:t>
                      </m:r>
                    </m:oMath>
                  </m:oMathPara>
                </a14:m>
                <a:endParaRPr lang="en-US" sz="2000" noProof="0" dirty="0"/>
              </a:p>
            </p:txBody>
          </p:sp>
        </mc:Choice>
        <mc:Fallback xmlns="">
          <p:sp>
            <p:nvSpPr>
              <p:cNvPr id="6" name="TextBox 5">
                <a:extLst>
                  <a:ext uri="{FF2B5EF4-FFF2-40B4-BE49-F238E27FC236}">
                    <a16:creationId xmlns:a16="http://schemas.microsoft.com/office/drawing/2014/main" id="{C314DF88-9B7B-6E7F-1DE9-C52C51B83D78}"/>
                  </a:ext>
                </a:extLst>
              </p:cNvPr>
              <p:cNvSpPr txBox="1">
                <a:spLocks noRot="1" noChangeAspect="1" noMove="1" noResize="1" noEditPoints="1" noAdjustHandles="1" noChangeArrowheads="1" noChangeShapeType="1" noTextEdit="1"/>
              </p:cNvSpPr>
              <p:nvPr/>
            </p:nvSpPr>
            <p:spPr>
              <a:xfrm>
                <a:off x="508409" y="1051323"/>
                <a:ext cx="8046629" cy="4263924"/>
              </a:xfrm>
              <a:prstGeom prst="rect">
                <a:avLst/>
              </a:prstGeom>
              <a:blipFill>
                <a:blip r:embed="rId3"/>
                <a:stretch>
                  <a:fillRect l="-758" t="-714" b="-143"/>
                </a:stretch>
              </a:blipFill>
            </p:spPr>
            <p:txBody>
              <a:bodyPr/>
              <a:lstStyle/>
              <a:p>
                <a:r>
                  <a:rPr lang="en-GB">
                    <a:noFill/>
                  </a:rPr>
                  <a:t> </a:t>
                </a:r>
              </a:p>
            </p:txBody>
          </p:sp>
        </mc:Fallback>
      </mc:AlternateContent>
      <p:sp>
        <p:nvSpPr>
          <p:cNvPr id="5" name="Right Brace 4">
            <a:extLst>
              <a:ext uri="{FF2B5EF4-FFF2-40B4-BE49-F238E27FC236}">
                <a16:creationId xmlns:a16="http://schemas.microsoft.com/office/drawing/2014/main" id="{BF575E9F-5176-FCEC-CA15-50E696E32972}"/>
              </a:ext>
            </a:extLst>
          </p:cNvPr>
          <p:cNvSpPr/>
          <p:nvPr/>
        </p:nvSpPr>
        <p:spPr>
          <a:xfrm rot="5400000">
            <a:off x="4987754" y="4733758"/>
            <a:ext cx="150348" cy="1266042"/>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1DFD357D-38BB-5B13-2740-14A4D165D230}"/>
              </a:ext>
            </a:extLst>
          </p:cNvPr>
          <p:cNvSpPr txBox="1"/>
          <p:nvPr/>
        </p:nvSpPr>
        <p:spPr>
          <a:xfrm>
            <a:off x="3577585" y="5461130"/>
            <a:ext cx="2970685" cy="261610"/>
          </a:xfrm>
          <a:prstGeom prst="rect">
            <a:avLst/>
          </a:prstGeom>
          <a:noFill/>
        </p:spPr>
        <p:txBody>
          <a:bodyPr wrap="none" rtlCol="0">
            <a:spAutoFit/>
          </a:bodyPr>
          <a:lstStyle/>
          <a:p>
            <a:r>
              <a:rPr lang="en-US" sz="1100" dirty="0"/>
              <a:t>Marginal revenue from increased production</a:t>
            </a:r>
          </a:p>
        </p:txBody>
      </p:sp>
      <p:sp>
        <p:nvSpPr>
          <p:cNvPr id="8" name="TextBox 7">
            <a:extLst>
              <a:ext uri="{FF2B5EF4-FFF2-40B4-BE49-F238E27FC236}">
                <a16:creationId xmlns:a16="http://schemas.microsoft.com/office/drawing/2014/main" id="{C2A8E1C0-8A4C-E050-9D18-3C52D5F2EEEA}"/>
              </a:ext>
            </a:extLst>
          </p:cNvPr>
          <p:cNvSpPr txBox="1"/>
          <p:nvPr/>
        </p:nvSpPr>
        <p:spPr>
          <a:xfrm>
            <a:off x="4553117" y="4533586"/>
            <a:ext cx="3690434" cy="261610"/>
          </a:xfrm>
          <a:prstGeom prst="rect">
            <a:avLst/>
          </a:prstGeom>
          <a:noFill/>
        </p:spPr>
        <p:txBody>
          <a:bodyPr wrap="none" rtlCol="0">
            <a:spAutoFit/>
          </a:bodyPr>
          <a:lstStyle/>
          <a:p>
            <a:r>
              <a:rPr lang="en-US" sz="1100" dirty="0"/>
              <a:t>Marginal revenue from increased valuable waste output </a:t>
            </a:r>
          </a:p>
        </p:txBody>
      </p:sp>
      <p:sp>
        <p:nvSpPr>
          <p:cNvPr id="9" name="Right Brace 8">
            <a:extLst>
              <a:ext uri="{FF2B5EF4-FFF2-40B4-BE49-F238E27FC236}">
                <a16:creationId xmlns:a16="http://schemas.microsoft.com/office/drawing/2014/main" id="{5D0FDD4F-F344-C38C-7F33-FC3B2256A436}"/>
              </a:ext>
            </a:extLst>
          </p:cNvPr>
          <p:cNvSpPr/>
          <p:nvPr/>
        </p:nvSpPr>
        <p:spPr>
          <a:xfrm rot="16200000" flipV="1">
            <a:off x="6338659" y="4421566"/>
            <a:ext cx="119350" cy="896768"/>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2550043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FFEB6-B092-774B-1D8F-AA0D9DE3CB5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CAE5CE-7310-947E-A83E-7F62A5C7112D}"/>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78F4B432-A1CA-E311-D651-AE280989231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2E2CAB10-BC38-B747-B8B4-C999A3C60D18}"/>
              </a:ext>
            </a:extLst>
          </p:cNvPr>
          <p:cNvSpPr>
            <a:spLocks noGrp="1"/>
          </p:cNvSpPr>
          <p:nvPr>
            <p:ph type="sldNum" sz="quarter" idx="12"/>
          </p:nvPr>
        </p:nvSpPr>
        <p:spPr/>
        <p:txBody>
          <a:bodyPr/>
          <a:lstStyle/>
          <a:p>
            <a:fld id="{091A926C-488A-4E3E-9C21-57CAA120E114}" type="slidenum">
              <a:rPr lang="en-US" smtClean="0"/>
              <a:t>28</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9EB2812-A907-5761-1815-213C22FF80C8}"/>
                  </a:ext>
                </a:extLst>
              </p:cNvPr>
              <p:cNvSpPr txBox="1"/>
              <p:nvPr/>
            </p:nvSpPr>
            <p:spPr>
              <a:xfrm>
                <a:off x="508409" y="1051323"/>
                <a:ext cx="8046629" cy="3917034"/>
              </a:xfrm>
              <a:prstGeom prst="rect">
                <a:avLst/>
              </a:prstGeom>
              <a:noFill/>
            </p:spPr>
            <p:txBody>
              <a:bodyPr wrap="square" rtlCol="0">
                <a:spAutoFit/>
              </a:bodyPr>
              <a:lstStyle/>
              <a:p>
                <a:r>
                  <a:rPr lang="en-US" sz="2000" b="1" noProof="0" dirty="0"/>
                  <a:t>Aggregation sector</a:t>
                </a:r>
              </a:p>
              <a:p>
                <a:r>
                  <a:rPr lang="en-US" sz="2000" noProof="0" dirty="0"/>
                  <a:t>A single firm operating under perfect competition using a constant-returns-to-scale technology produces an aggregate consumption good from all final goods in the set </a:t>
                </a:r>
                <a14:m>
                  <m:oMath xmlns:m="http://schemas.openxmlformats.org/officeDocument/2006/math">
                    <m:r>
                      <a:rPr lang="en-US" sz="2000" i="1">
                        <a:latin typeface="Cambria Math" panose="02040503050406030204" pitchFamily="18" charset="0"/>
                        <a:ea typeface="Cambria Math" panose="02040503050406030204" pitchFamily="18" charset="0"/>
                      </a:rPr>
                      <m:t>𝕀</m:t>
                    </m:r>
                  </m:oMath>
                </a14:m>
                <a:endParaRPr lang="en-US" sz="2000" noProof="0" dirty="0"/>
              </a:p>
              <a:p>
                <a:endParaRPr lang="en-US" sz="2000" noProof="0" dirty="0"/>
              </a:p>
              <a:p>
                <a:endParaRPr lang="en-US" sz="2000" noProof="0" dirty="0"/>
              </a:p>
              <a:p>
                <a:endParaRPr lang="en-US" sz="2000" noProof="0" dirty="0"/>
              </a:p>
              <a:p>
                <a:pPr/>
                <a14:m>
                  <m:oMathPara xmlns:m="http://schemas.openxmlformats.org/officeDocument/2006/math">
                    <m:oMathParaPr>
                      <m:jc m:val="centerGroup"/>
                    </m:oMathParaPr>
                    <m:oMath xmlns:m="http://schemas.openxmlformats.org/officeDocument/2006/math">
                      <m:r>
                        <m:rPr>
                          <m:lit/>
                        </m:rPr>
                        <a:rPr lang="en-US" sz="2000" b="0" i="1" noProof="0" smtClean="0">
                          <a:latin typeface="Cambria Math" panose="02040503050406030204" pitchFamily="18" charset="0"/>
                        </a:rPr>
                        <m:t> </m:t>
                      </m:r>
                      <m:func>
                        <m:funcPr>
                          <m:ctrlPr>
                            <a:rPr lang="en-US" sz="2000" b="0" i="1" noProof="0" smtClean="0">
                              <a:latin typeface="Cambria Math" panose="02040503050406030204" pitchFamily="18" charset="0"/>
                            </a:rPr>
                          </m:ctrlPr>
                        </m:funcPr>
                        <m:fName>
                          <m:limLow>
                            <m:limLowPr>
                              <m:ctrlPr>
                                <a:rPr lang="en-US" sz="2000" b="0" i="1" noProof="0" smtClean="0">
                                  <a:latin typeface="Cambria Math" panose="02040503050406030204" pitchFamily="18" charset="0"/>
                                </a:rPr>
                              </m:ctrlPr>
                            </m:limLowPr>
                            <m:e>
                              <m:r>
                                <m:rPr>
                                  <m:sty m:val="p"/>
                                </m:rPr>
                                <a:rPr lang="en-US" sz="2000" b="0" i="0" noProof="0" smtClean="0">
                                  <a:latin typeface="Cambria Math" panose="02040503050406030204" pitchFamily="18" charset="0"/>
                                </a:rPr>
                                <m:t>max</m:t>
                              </m:r>
                            </m:e>
                            <m:lim>
                              <m:sSub>
                                <m:sSubPr>
                                  <m:ctrlPr>
                                    <a:rPr lang="en-US" sz="2000" b="0" i="1" noProof="0" smtClean="0">
                                      <a:latin typeface="Cambria Math" panose="02040503050406030204" pitchFamily="18" charset="0"/>
                                    </a:rPr>
                                  </m:ctrlPr>
                                </m:sSubPr>
                                <m:e>
                                  <m:d>
                                    <m:dPr>
                                      <m:ctrlPr>
                                        <a:rPr lang="en-US" sz="2000" b="0" i="1" noProof="0" smtClean="0">
                                          <a:latin typeface="Cambria Math" panose="02040503050406030204" pitchFamily="18" charset="0"/>
                                        </a:rPr>
                                      </m:ctrlPr>
                                    </m:dPr>
                                    <m:e>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𝑦</m:t>
                                          </m:r>
                                        </m:e>
                                        <m:sub>
                                          <m:r>
                                            <a:rPr lang="en-US" sz="2000" b="0" i="1" noProof="0" smtClean="0">
                                              <a:latin typeface="Cambria Math" panose="02040503050406030204" pitchFamily="18" charset="0"/>
                                            </a:rPr>
                                            <m:t>𝑖</m:t>
                                          </m:r>
                                        </m:sub>
                                      </m:sSub>
                                    </m:e>
                                  </m:d>
                                </m:e>
                                <m:sub>
                                  <m:r>
                                    <a:rPr lang="en-US" sz="2000" b="0" i="1" noProof="0" smtClean="0">
                                      <a:latin typeface="Cambria Math" panose="02040503050406030204" pitchFamily="18" charset="0"/>
                                    </a:rPr>
                                    <m:t>𝑖</m:t>
                                  </m:r>
                                  <m:r>
                                    <a:rPr lang="en-US" sz="2000" b="0" i="1" noProof="0"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sub>
                              </m:sSub>
                            </m:lim>
                          </m:limLow>
                          <m:r>
                            <a:rPr lang="en-US" sz="2000" b="0" i="1" noProof="0" smtClean="0">
                              <a:latin typeface="Cambria Math" panose="02040503050406030204" pitchFamily="18" charset="0"/>
                            </a:rPr>
                            <m:t> </m:t>
                          </m:r>
                        </m:fName>
                        <m:e>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𝜋</m:t>
                              </m:r>
                            </m:e>
                            <m:sup>
                              <m:r>
                                <a:rPr lang="en-US" sz="2000" b="0" i="1" noProof="0" smtClean="0">
                                  <a:latin typeface="Cambria Math" panose="02040503050406030204" pitchFamily="18" charset="0"/>
                                </a:rPr>
                                <m:t>𝐴</m:t>
                              </m:r>
                            </m:sup>
                          </m:sSup>
                        </m:e>
                      </m:func>
                      <m:r>
                        <a:rPr lang="en-US" sz="2000" b="0" i="1" noProof="0" smtClean="0">
                          <a:latin typeface="Cambria Math" panose="02040503050406030204" pitchFamily="18" charset="0"/>
                        </a:rPr>
                        <m:t>=</m:t>
                      </m:r>
                      <m:r>
                        <a:rPr lang="en-US" sz="2000" i="1" smtClean="0">
                          <a:latin typeface="Cambria Math" panose="02040503050406030204" pitchFamily="18" charset="0"/>
                        </a:rPr>
                        <m:t>𝑌</m:t>
                      </m:r>
                      <m:r>
                        <a:rPr lang="en-US" sz="2000" i="1" smtClean="0">
                          <a:latin typeface="Cambria Math" panose="02040503050406030204" pitchFamily="18" charset="0"/>
                        </a:rPr>
                        <m:t>−</m:t>
                      </m:r>
                      <m:nary>
                        <m:naryPr>
                          <m:chr m:val="∑"/>
                          <m:supHide m:val="on"/>
                          <m:ctrlPr>
                            <a:rPr lang="en-US" sz="2000" i="1" smtClean="0">
                              <a:latin typeface="Cambria Math" panose="02040503050406030204" pitchFamily="18" charset="0"/>
                            </a:rPr>
                          </m:ctrlPr>
                        </m:naryPr>
                        <m:sub>
                          <m:r>
                            <a:rPr lang="en-US" sz="2000" i="1" smtClean="0">
                              <a:latin typeface="Cambria Math" panose="02040503050406030204" pitchFamily="18" charset="0"/>
                            </a:rPr>
                            <m:t>𝑖</m:t>
                          </m:r>
                          <m:r>
                            <a:rPr lang="en-US" sz="200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sub>
                        <m:sup/>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𝑖</m:t>
                              </m:r>
                            </m:sub>
                          </m:sSub>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ea typeface="Cambria Math" panose="02040503050406030204" pitchFamily="18" charset="0"/>
                                </a:rPr>
                                <m:t>𝑖</m:t>
                              </m:r>
                            </m:sub>
                          </m:sSub>
                        </m:e>
                      </m:nary>
                    </m:oMath>
                  </m:oMathPara>
                </a14:m>
                <a:endParaRPr lang="en-US" sz="2000" b="0" noProof="0" dirty="0"/>
              </a:p>
              <a:p>
                <a:endParaRPr lang="en-US" sz="2000" noProof="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𝑠𝑡</m:t>
                      </m:r>
                      <m:r>
                        <a:rPr lang="en-US" sz="2000" b="0" i="1" noProof="0" smtClean="0">
                          <a:latin typeface="Cambria Math" panose="02040503050406030204" pitchFamily="18" charset="0"/>
                        </a:rPr>
                        <m:t>.        </m:t>
                      </m:r>
                      <m:r>
                        <a:rPr lang="en-US" sz="2000" b="0" i="1" noProof="0" smtClean="0">
                          <a:latin typeface="Cambria Math" panose="02040503050406030204" pitchFamily="18" charset="0"/>
                        </a:rPr>
                        <m:t>𝑌</m:t>
                      </m:r>
                      <m:r>
                        <a:rPr lang="en-US" sz="2000" b="0" i="1" noProof="0" smtClean="0">
                          <a:latin typeface="Cambria Math" panose="02040503050406030204" pitchFamily="18" charset="0"/>
                        </a:rPr>
                        <m:t>=</m:t>
                      </m:r>
                      <m:r>
                        <a:rPr lang="en-US" sz="2000" b="0" i="1" noProof="0" smtClean="0">
                          <a:latin typeface="Cambria Math" panose="02040503050406030204" pitchFamily="18" charset="0"/>
                        </a:rPr>
                        <m:t>𝐹</m:t>
                      </m:r>
                      <m:r>
                        <a:rPr lang="en-US" sz="2000" b="0" i="1" noProof="0" smtClean="0">
                          <a:latin typeface="Cambria Math" panose="02040503050406030204" pitchFamily="18" charset="0"/>
                        </a:rPr>
                        <m:t>(</m:t>
                      </m:r>
                      <m:r>
                        <a:rPr lang="en-US" sz="2000" b="1" i="1" noProof="0" smtClean="0">
                          <a:latin typeface="Cambria Math" panose="02040503050406030204" pitchFamily="18" charset="0"/>
                        </a:rPr>
                        <m:t>𝒚</m:t>
                      </m:r>
                      <m:r>
                        <a:rPr lang="en-US" sz="2000" b="0" i="1" noProof="0" smtClean="0">
                          <a:latin typeface="Cambria Math" panose="02040503050406030204" pitchFamily="18" charset="0"/>
                        </a:rPr>
                        <m:t>).</m:t>
                      </m:r>
                    </m:oMath>
                  </m:oMathPara>
                </a14:m>
                <a:endParaRPr lang="en-US" sz="2000" noProof="0" dirty="0"/>
              </a:p>
              <a:p>
                <a:pPr algn="ctr"/>
                <a:endParaRPr lang="en-US" sz="2000" noProof="0" dirty="0"/>
              </a:p>
            </p:txBody>
          </p:sp>
        </mc:Choice>
        <mc:Fallback xmlns="">
          <p:sp>
            <p:nvSpPr>
              <p:cNvPr id="6" name="TextBox 5">
                <a:extLst>
                  <a:ext uri="{FF2B5EF4-FFF2-40B4-BE49-F238E27FC236}">
                    <a16:creationId xmlns:a16="http://schemas.microsoft.com/office/drawing/2014/main" id="{A9EB2812-A907-5761-1815-213C22FF80C8}"/>
                  </a:ext>
                </a:extLst>
              </p:cNvPr>
              <p:cNvSpPr txBox="1">
                <a:spLocks noRot="1" noChangeAspect="1" noMove="1" noResize="1" noEditPoints="1" noAdjustHandles="1" noChangeArrowheads="1" noChangeShapeType="1" noTextEdit="1"/>
              </p:cNvSpPr>
              <p:nvPr/>
            </p:nvSpPr>
            <p:spPr>
              <a:xfrm>
                <a:off x="508409" y="1051323"/>
                <a:ext cx="8046629" cy="3917034"/>
              </a:xfrm>
              <a:prstGeom prst="rect">
                <a:avLst/>
              </a:prstGeom>
              <a:blipFill>
                <a:blip r:embed="rId3"/>
                <a:stretch>
                  <a:fillRect l="-758" t="-778"/>
                </a:stretch>
              </a:blipFill>
            </p:spPr>
            <p:txBody>
              <a:bodyPr/>
              <a:lstStyle/>
              <a:p>
                <a:r>
                  <a:rPr lang="en-GB">
                    <a:noFill/>
                  </a:rPr>
                  <a:t> </a:t>
                </a:r>
              </a:p>
            </p:txBody>
          </p:sp>
        </mc:Fallback>
      </mc:AlternateContent>
    </p:spTree>
    <p:extLst>
      <p:ext uri="{BB962C8B-B14F-4D97-AF65-F5344CB8AC3E}">
        <p14:creationId xmlns:p14="http://schemas.microsoft.com/office/powerpoint/2010/main" val="855209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E0D6-B4F0-B5F8-109E-8E1996B1550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0A8148-28A9-5B40-1138-D608D45358F9}"/>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FF3E2A9F-9A3D-CA6D-C153-9680E2A6958B}"/>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726B1C2E-A79F-1DC4-AF42-0E3FF730E61F}"/>
              </a:ext>
            </a:extLst>
          </p:cNvPr>
          <p:cNvSpPr>
            <a:spLocks noGrp="1"/>
          </p:cNvSpPr>
          <p:nvPr>
            <p:ph type="sldNum" sz="quarter" idx="12"/>
          </p:nvPr>
        </p:nvSpPr>
        <p:spPr/>
        <p:txBody>
          <a:bodyPr/>
          <a:lstStyle/>
          <a:p>
            <a:fld id="{091A926C-488A-4E3E-9C21-57CAA120E114}" type="slidenum">
              <a:rPr lang="en-US" smtClean="0"/>
              <a:t>29</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40734E-078B-8E31-D0CF-B4D542B3F05A}"/>
                  </a:ext>
                </a:extLst>
              </p:cNvPr>
              <p:cNvSpPr txBox="1"/>
              <p:nvPr/>
            </p:nvSpPr>
            <p:spPr>
              <a:xfrm>
                <a:off x="508409" y="1051323"/>
                <a:ext cx="8046629" cy="5469574"/>
              </a:xfrm>
              <a:prstGeom prst="rect">
                <a:avLst/>
              </a:prstGeom>
              <a:noFill/>
            </p:spPr>
            <p:txBody>
              <a:bodyPr wrap="square" rtlCol="0">
                <a:spAutoFit/>
              </a:bodyPr>
              <a:lstStyle/>
              <a:p>
                <a:r>
                  <a:rPr lang="en-US" sz="2000" b="1" noProof="0" dirty="0"/>
                  <a:t>Natural resource sector</a:t>
                </a:r>
              </a:p>
              <a:p>
                <a:r>
                  <a:rPr lang="en-US" sz="2000" noProof="0" dirty="0"/>
                  <a:t>Aggregate natural resource supply, </a:t>
                </a:r>
                <a14:m>
                  <m:oMath xmlns:m="http://schemas.openxmlformats.org/officeDocument/2006/math">
                    <m:acc>
                      <m:accPr>
                        <m:chr m:val="̅"/>
                        <m:ctrlPr>
                          <a:rPr lang="en-US" sz="2000" i="1" smtClean="0">
                            <a:solidFill>
                              <a:schemeClr val="accent3">
                                <a:lumMod val="75000"/>
                              </a:schemeClr>
                            </a:solidFill>
                            <a:latin typeface="Cambria Math" panose="02040503050406030204" pitchFamily="18" charset="0"/>
                          </a:rPr>
                        </m:ctrlPr>
                      </m:accPr>
                      <m:e>
                        <m:r>
                          <a:rPr lang="en-US" sz="2000" i="1">
                            <a:solidFill>
                              <a:schemeClr val="accent3">
                                <a:lumMod val="75000"/>
                              </a:schemeClr>
                            </a:solidFill>
                            <a:latin typeface="Cambria Math" panose="02040503050406030204" pitchFamily="18" charset="0"/>
                          </a:rPr>
                          <m:t>𝑅</m:t>
                        </m:r>
                      </m:e>
                    </m:acc>
                  </m:oMath>
                </a14:m>
                <a:r>
                  <a:rPr lang="en-US" sz="2000" noProof="0" dirty="0"/>
                  <a:t>, is given by </a:t>
                </a:r>
              </a:p>
              <a:p>
                <a:endParaRPr lang="en-US" sz="2000" noProof="0" dirty="0"/>
              </a:p>
              <a:p>
                <a:endParaRPr lang="en-US" sz="2000" noProof="0" dirty="0"/>
              </a:p>
              <a:p>
                <a:pPr/>
                <a14:m>
                  <m:oMathPara xmlns:m="http://schemas.openxmlformats.org/officeDocument/2006/math">
                    <m:oMathParaPr>
                      <m:jc m:val="centerGroup"/>
                    </m:oMathParaPr>
                    <m:oMath xmlns:m="http://schemas.openxmlformats.org/officeDocument/2006/math">
                      <m:acc>
                        <m:accPr>
                          <m:chr m:val="̅"/>
                          <m:ctrlPr>
                            <a:rPr lang="en-US" sz="2000" i="1" noProof="0" smtClean="0">
                              <a:solidFill>
                                <a:schemeClr val="accent3">
                                  <a:lumMod val="75000"/>
                                </a:schemeClr>
                              </a:solidFill>
                              <a:latin typeface="Cambria Math" panose="02040503050406030204" pitchFamily="18" charset="0"/>
                            </a:rPr>
                          </m:ctrlPr>
                        </m:accPr>
                        <m:e>
                          <m:r>
                            <a:rPr lang="en-US" sz="2000" b="0" i="1" noProof="0" smtClean="0">
                              <a:solidFill>
                                <a:schemeClr val="accent3">
                                  <a:lumMod val="75000"/>
                                </a:schemeClr>
                              </a:solidFill>
                              <a:latin typeface="Cambria Math" panose="02040503050406030204" pitchFamily="18" charset="0"/>
                            </a:rPr>
                            <m:t>𝑅</m:t>
                          </m:r>
                        </m:e>
                      </m:acc>
                      <m:r>
                        <a:rPr lang="en-US" sz="2000" b="0" i="1" noProof="0" dirty="0" smtClean="0">
                          <a:latin typeface="Cambria Math" panose="02040503050406030204" pitchFamily="18" charset="0"/>
                        </a:rPr>
                        <m:t>=</m:t>
                      </m:r>
                      <m:sSup>
                        <m:sSupPr>
                          <m:ctrlPr>
                            <a:rPr lang="en-US" sz="2000" b="0" i="1" noProof="0" dirty="0" smtClean="0">
                              <a:solidFill>
                                <a:srgbClr val="00B050"/>
                              </a:solidFill>
                              <a:latin typeface="Cambria Math" panose="02040503050406030204" pitchFamily="18" charset="0"/>
                            </a:rPr>
                          </m:ctrlPr>
                        </m:sSupPr>
                        <m:e>
                          <m:r>
                            <a:rPr lang="en-US" sz="2000" b="0" i="1" noProof="0" dirty="0" smtClean="0">
                              <a:solidFill>
                                <a:srgbClr val="00B050"/>
                              </a:solidFill>
                              <a:latin typeface="Cambria Math" panose="02040503050406030204" pitchFamily="18" charset="0"/>
                            </a:rPr>
                            <m:t>𝑅</m:t>
                          </m:r>
                        </m:e>
                        <m:sup>
                          <m:r>
                            <a:rPr lang="en-US" sz="2000" b="0" i="1" noProof="0" dirty="0" smtClean="0">
                              <a:solidFill>
                                <a:srgbClr val="00B050"/>
                              </a:solidFill>
                              <a:latin typeface="Cambria Math" panose="02040503050406030204" pitchFamily="18" charset="0"/>
                            </a:rPr>
                            <m:t>𝑉</m:t>
                          </m:r>
                        </m:sup>
                      </m:sSup>
                      <m:r>
                        <a:rPr lang="en-US" sz="2000" b="0" i="1" noProof="0" dirty="0" smtClean="0">
                          <a:latin typeface="Cambria Math" panose="02040503050406030204" pitchFamily="18" charset="0"/>
                        </a:rPr>
                        <m:t>+</m:t>
                      </m:r>
                      <m:r>
                        <a:rPr lang="en-US" sz="2000" b="0" i="1" noProof="0" dirty="0" smtClean="0">
                          <a:latin typeface="Cambria Math" panose="02040503050406030204" pitchFamily="18" charset="0"/>
                        </a:rPr>
                        <m:t>𝛼</m:t>
                      </m:r>
                      <m:sSup>
                        <m:sSupPr>
                          <m:ctrlPr>
                            <a:rPr lang="en-US" sz="2000" b="0" i="1" noProof="0" dirty="0" smtClean="0">
                              <a:solidFill>
                                <a:schemeClr val="accent6"/>
                              </a:solidFill>
                              <a:latin typeface="Cambria Math" panose="02040503050406030204" pitchFamily="18" charset="0"/>
                            </a:rPr>
                          </m:ctrlPr>
                        </m:sSupPr>
                        <m:e>
                          <m:r>
                            <a:rPr lang="en-US" sz="2000" b="0" i="1" noProof="0" dirty="0" smtClean="0">
                              <a:solidFill>
                                <a:schemeClr val="accent6"/>
                              </a:solidFill>
                              <a:latin typeface="Cambria Math" panose="02040503050406030204" pitchFamily="18" charset="0"/>
                            </a:rPr>
                            <m:t>𝑅</m:t>
                          </m:r>
                        </m:e>
                        <m:sup>
                          <m:r>
                            <a:rPr lang="en-US" sz="2000" b="0" i="1" noProof="0" dirty="0" smtClean="0">
                              <a:solidFill>
                                <a:schemeClr val="accent6"/>
                              </a:solidFill>
                              <a:latin typeface="Cambria Math" panose="02040503050406030204" pitchFamily="18" charset="0"/>
                            </a:rPr>
                            <m:t>𝑊</m:t>
                          </m:r>
                        </m:sup>
                      </m:sSup>
                      <m:r>
                        <a:rPr lang="en-US" sz="2000" b="0" i="1" noProof="0" dirty="0" smtClean="0">
                          <a:latin typeface="Cambria Math" panose="02040503050406030204" pitchFamily="18" charset="0"/>
                        </a:rPr>
                        <m:t>,    0&lt;</m:t>
                      </m:r>
                      <m:r>
                        <a:rPr lang="en-US" sz="2000" b="0" i="1" noProof="0" dirty="0" smtClean="0">
                          <a:latin typeface="Cambria Math" panose="02040503050406030204" pitchFamily="18" charset="0"/>
                        </a:rPr>
                        <m:t>𝛼</m:t>
                      </m:r>
                      <m:r>
                        <a:rPr lang="en-US" sz="2000" b="0" i="1" noProof="0" dirty="0" smtClean="0">
                          <a:latin typeface="Cambria Math" panose="02040503050406030204" pitchFamily="18" charset="0"/>
                          <a:ea typeface="Cambria Math" panose="02040503050406030204" pitchFamily="18" charset="0"/>
                        </a:rPr>
                        <m:t>≤</m:t>
                      </m:r>
                      <m:r>
                        <a:rPr lang="en-US" sz="2000" b="0" i="1" noProof="0" dirty="0" smtClean="0">
                          <a:latin typeface="Cambria Math" panose="02040503050406030204" pitchFamily="18" charset="0"/>
                        </a:rPr>
                        <m:t>1.</m:t>
                      </m:r>
                    </m:oMath>
                  </m:oMathPara>
                </a14:m>
                <a:endParaRPr lang="en-US" sz="2000" noProof="0" dirty="0"/>
              </a:p>
              <a:p>
                <a:pPr algn="ctr"/>
                <a:endParaRPr lang="en-US" sz="2000" noProof="0" dirty="0"/>
              </a:p>
              <a:p>
                <a:pPr algn="ctr"/>
                <a:endParaRPr lang="en-US" sz="2000" dirty="0"/>
              </a:p>
              <a:p>
                <a:r>
                  <a:rPr lang="en-US" sz="2000" noProof="0" dirty="0"/>
                  <a:t>A representative natural resource firm solves the problem</a:t>
                </a:r>
              </a:p>
              <a:p>
                <a:endParaRPr lang="en-US" sz="2000" dirty="0"/>
              </a:p>
              <a:p>
                <a:endParaRPr lang="en-US" sz="2000" dirty="0"/>
              </a:p>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limLow>
                            <m:limLowPr>
                              <m:ctrlPr>
                                <a:rPr lang="en-US" sz="2000" i="1">
                                  <a:latin typeface="Cambria Math" panose="02040503050406030204" pitchFamily="18" charset="0"/>
                                </a:rPr>
                              </m:ctrlPr>
                            </m:limLowPr>
                            <m:e>
                              <m:r>
                                <m:rPr>
                                  <m:sty m:val="p"/>
                                </m:rPr>
                                <a:rPr lang="en-US" sz="2000">
                                  <a:latin typeface="Cambria Math" panose="02040503050406030204" pitchFamily="18" charset="0"/>
                                </a:rPr>
                                <m:t>max</m:t>
                              </m:r>
                            </m:e>
                            <m:li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𝑉</m:t>
                                  </m:r>
                                </m:sup>
                              </m:sSup>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𝑊</m:t>
                                  </m:r>
                                </m:sup>
                              </m:sSup>
                            </m:lim>
                          </m:limLow>
                          <m:r>
                            <a:rPr lang="en-US" sz="2000" i="1">
                              <a:latin typeface="Cambria Math" panose="02040503050406030204" pitchFamily="18" charset="0"/>
                            </a:rPr>
                            <m:t> </m:t>
                          </m:r>
                        </m:fName>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𝜋</m:t>
                              </m:r>
                            </m:e>
                            <m:sup>
                              <m:r>
                                <a:rPr lang="en-US" sz="2000" b="0" i="1" smtClean="0">
                                  <a:latin typeface="Cambria Math" panose="02040503050406030204" pitchFamily="18" charset="0"/>
                                </a:rPr>
                                <m:t>𝑅</m:t>
                              </m:r>
                            </m:sup>
                          </m:sSup>
                        </m:e>
                      </m:func>
                      <m:r>
                        <a:rPr lang="en-US" sz="2000" i="1">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𝑅</m:t>
                          </m:r>
                        </m:sup>
                      </m:sSup>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𝑅</m:t>
                          </m:r>
                        </m:e>
                      </m:acc>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𝑉</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𝑉</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𝑊</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𝑊</m:t>
                          </m:r>
                        </m:sup>
                      </m:sSup>
                      <m:r>
                        <a:rPr lang="en-US" sz="2000" b="0" i="1" smtClean="0">
                          <a:latin typeface="Cambria Math" panose="02040503050406030204" pitchFamily="18" charset="0"/>
                        </a:rPr>
                        <m:t>     </m:t>
                      </m:r>
                      <m:r>
                        <a:rPr lang="en-US" sz="2000" b="0" i="1" smtClean="0">
                          <a:latin typeface="Cambria Math" panose="02040503050406030204" pitchFamily="18" charset="0"/>
                        </a:rPr>
                        <m:t>𝑠𝑡</m:t>
                      </m:r>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𝑅</m:t>
                          </m:r>
                        </m:e>
                      </m:acc>
                      <m:r>
                        <a:rPr lang="en-US" sz="2000" b="0" i="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𝑉</m:t>
                          </m:r>
                        </m:sup>
                      </m:sSup>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𝑊</m:t>
                          </m:r>
                        </m:sup>
                      </m:sSup>
                      <m:r>
                        <a:rPr lang="en-US" sz="2000" b="0" i="1" smtClean="0">
                          <a:latin typeface="Cambria Math" panose="02040503050406030204" pitchFamily="18" charset="0"/>
                        </a:rPr>
                        <m:t>.</m:t>
                      </m:r>
                    </m:oMath>
                  </m:oMathPara>
                </a14:m>
                <a:endParaRPr lang="en-US" sz="2000" i="1" noProof="0" dirty="0"/>
              </a:p>
              <a:p>
                <a:endParaRPr lang="en-US" sz="2000" i="1" dirty="0"/>
              </a:p>
              <a:p>
                <a:endParaRPr lang="en-US" sz="2000" i="1" dirty="0"/>
              </a:p>
              <a:p>
                <a:r>
                  <a:rPr lang="en-US" sz="2000" dirty="0"/>
                  <a:t>First-order conditions</a:t>
                </a:r>
              </a:p>
              <a:p>
                <a:endParaRPr lang="en-US" sz="2000" i="1" noProof="0" dirty="0"/>
              </a:p>
              <a:p>
                <a:endParaRPr lang="en-US" sz="2000" i="1" noProof="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𝛼</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𝑊</m:t>
                          </m:r>
                        </m:sup>
                      </m:sSup>
                      <m:r>
                        <a:rPr lang="en-US" sz="2000" b="0" i="1" noProof="0" smtClean="0">
                          <a:latin typeface="Cambria Math" panose="02040503050406030204" pitchFamily="18" charset="0"/>
                        </a:rPr>
                        <m:t>     </m:t>
                      </m:r>
                      <m:r>
                        <a:rPr lang="en-US" sz="2000" b="0" i="1" noProof="0" smtClean="0">
                          <a:latin typeface="Cambria Math" panose="02040503050406030204" pitchFamily="18" charset="0"/>
                        </a:rPr>
                        <m:t>𝑎𝑛𝑑</m:t>
                      </m:r>
                      <m:r>
                        <a:rPr lang="en-US" sz="2000" b="0" i="1" noProof="0" smtClean="0">
                          <a:latin typeface="Cambria Math" panose="02040503050406030204" pitchFamily="18" charset="0"/>
                        </a:rPr>
                        <m:t>        </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𝑉</m:t>
                          </m:r>
                        </m:sup>
                      </m:sSup>
                      <m:r>
                        <a:rPr lang="en-US" sz="2000" b="0" i="1" noProof="0" smtClean="0">
                          <a:latin typeface="Cambria Math" panose="02040503050406030204" pitchFamily="18" charset="0"/>
                        </a:rPr>
                        <m:t>.</m:t>
                      </m:r>
                    </m:oMath>
                  </m:oMathPara>
                </a14:m>
                <a:endParaRPr lang="en-US" sz="2000" i="1" noProof="0" dirty="0"/>
              </a:p>
            </p:txBody>
          </p:sp>
        </mc:Choice>
        <mc:Fallback xmlns="">
          <p:sp>
            <p:nvSpPr>
              <p:cNvPr id="6" name="TextBox 5">
                <a:extLst>
                  <a:ext uri="{FF2B5EF4-FFF2-40B4-BE49-F238E27FC236}">
                    <a16:creationId xmlns:a16="http://schemas.microsoft.com/office/drawing/2014/main" id="{5140734E-078B-8E31-D0CF-B4D542B3F05A}"/>
                  </a:ext>
                </a:extLst>
              </p:cNvPr>
              <p:cNvSpPr txBox="1">
                <a:spLocks noRot="1" noChangeAspect="1" noMove="1" noResize="1" noEditPoints="1" noAdjustHandles="1" noChangeArrowheads="1" noChangeShapeType="1" noTextEdit="1"/>
              </p:cNvSpPr>
              <p:nvPr/>
            </p:nvSpPr>
            <p:spPr>
              <a:xfrm>
                <a:off x="508409" y="1051323"/>
                <a:ext cx="8046629" cy="5469574"/>
              </a:xfrm>
              <a:prstGeom prst="rect">
                <a:avLst/>
              </a:prstGeom>
              <a:blipFill>
                <a:blip r:embed="rId3"/>
                <a:stretch>
                  <a:fillRect l="-758" t="-557"/>
                </a:stretch>
              </a:blipFill>
            </p:spPr>
            <p:txBody>
              <a:bodyPr/>
              <a:lstStyle/>
              <a:p>
                <a:r>
                  <a:rPr lang="en-GB">
                    <a:noFill/>
                  </a:rPr>
                  <a:t> </a:t>
                </a:r>
              </a:p>
            </p:txBody>
          </p:sp>
        </mc:Fallback>
      </mc:AlternateContent>
      <p:cxnSp>
        <p:nvCxnSpPr>
          <p:cNvPr id="7" name="Straight Arrow Connector 6">
            <a:extLst>
              <a:ext uri="{FF2B5EF4-FFF2-40B4-BE49-F238E27FC236}">
                <a16:creationId xmlns:a16="http://schemas.microsoft.com/office/drawing/2014/main" id="{042A4030-46ED-506D-E411-8850BAD368A5}"/>
              </a:ext>
            </a:extLst>
          </p:cNvPr>
          <p:cNvCxnSpPr>
            <a:cxnSpLocks/>
          </p:cNvCxnSpPr>
          <p:nvPr/>
        </p:nvCxnSpPr>
        <p:spPr>
          <a:xfrm flipH="1" flipV="1">
            <a:off x="3422650" y="2600980"/>
            <a:ext cx="260350" cy="30480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1616066-6AAD-F667-A4B3-2D6A5340872A}"/>
              </a:ext>
            </a:extLst>
          </p:cNvPr>
          <p:cNvSpPr txBox="1"/>
          <p:nvPr/>
        </p:nvSpPr>
        <p:spPr>
          <a:xfrm>
            <a:off x="3363085" y="2905780"/>
            <a:ext cx="3691765" cy="307777"/>
          </a:xfrm>
          <a:prstGeom prst="rect">
            <a:avLst/>
          </a:prstGeom>
          <a:noFill/>
        </p:spPr>
        <p:txBody>
          <a:bodyPr wrap="square" rtlCol="0">
            <a:spAutoFit/>
          </a:bodyPr>
          <a:lstStyle/>
          <a:p>
            <a:r>
              <a:rPr lang="en-US" sz="1400" noProof="0" dirty="0">
                <a:solidFill>
                  <a:srgbClr val="00B050"/>
                </a:solidFill>
              </a:rPr>
              <a:t>Virgin natural resources/primary materials</a:t>
            </a:r>
          </a:p>
        </p:txBody>
      </p:sp>
      <p:sp>
        <p:nvSpPr>
          <p:cNvPr id="9" name="TextBox 8">
            <a:extLst>
              <a:ext uri="{FF2B5EF4-FFF2-40B4-BE49-F238E27FC236}">
                <a16:creationId xmlns:a16="http://schemas.microsoft.com/office/drawing/2014/main" id="{D64F8598-0502-25BD-4545-4F76418C95D1}"/>
              </a:ext>
            </a:extLst>
          </p:cNvPr>
          <p:cNvSpPr txBox="1"/>
          <p:nvPr/>
        </p:nvSpPr>
        <p:spPr>
          <a:xfrm>
            <a:off x="3988445" y="1762324"/>
            <a:ext cx="3691765" cy="307777"/>
          </a:xfrm>
          <a:prstGeom prst="rect">
            <a:avLst/>
          </a:prstGeom>
          <a:noFill/>
        </p:spPr>
        <p:txBody>
          <a:bodyPr wrap="square" rtlCol="0">
            <a:spAutoFit/>
          </a:bodyPr>
          <a:lstStyle/>
          <a:p>
            <a:r>
              <a:rPr lang="en-US" sz="1400" noProof="0" dirty="0">
                <a:solidFill>
                  <a:schemeClr val="accent6"/>
                </a:solidFill>
              </a:rPr>
              <a:t>Recycled materials </a:t>
            </a:r>
          </a:p>
        </p:txBody>
      </p:sp>
      <p:cxnSp>
        <p:nvCxnSpPr>
          <p:cNvPr id="10" name="Straight Arrow Connector 9">
            <a:extLst>
              <a:ext uri="{FF2B5EF4-FFF2-40B4-BE49-F238E27FC236}">
                <a16:creationId xmlns:a16="http://schemas.microsoft.com/office/drawing/2014/main" id="{F35AFFAE-E176-A939-9008-5B90E5FD2342}"/>
              </a:ext>
            </a:extLst>
          </p:cNvPr>
          <p:cNvCxnSpPr>
            <a:cxnSpLocks/>
          </p:cNvCxnSpPr>
          <p:nvPr/>
        </p:nvCxnSpPr>
        <p:spPr>
          <a:xfrm flipH="1">
            <a:off x="4203700" y="2017638"/>
            <a:ext cx="171450" cy="302354"/>
          </a:xfrm>
          <a:prstGeom prst="straightConnector1">
            <a:avLst/>
          </a:prstGeom>
          <a:ln w="190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6676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B12BB-742F-D387-07B7-BA0428CC6F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8DA11C-632D-4F0B-2E2F-47DF509E8CB6}"/>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8837D352-532C-44DF-11C3-735C13FB4F4F}"/>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540A8012-EF72-FF89-DF21-F45762D61DF2}"/>
              </a:ext>
            </a:extLst>
          </p:cNvPr>
          <p:cNvSpPr>
            <a:spLocks noGrp="1"/>
          </p:cNvSpPr>
          <p:nvPr>
            <p:ph type="sldNum" sz="quarter" idx="12"/>
          </p:nvPr>
        </p:nvSpPr>
        <p:spPr/>
        <p:txBody>
          <a:bodyPr/>
          <a:lstStyle/>
          <a:p>
            <a:fld id="{091A926C-488A-4E3E-9C21-57CAA120E114}" type="slidenum">
              <a:rPr lang="en-US" smtClean="0"/>
              <a:t>30</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799CD49-1A81-F8BA-A88B-724E420CD811}"/>
                  </a:ext>
                </a:extLst>
              </p:cNvPr>
              <p:cNvSpPr txBox="1"/>
              <p:nvPr/>
            </p:nvSpPr>
            <p:spPr>
              <a:xfrm>
                <a:off x="508409" y="1051323"/>
                <a:ext cx="8046629" cy="5469574"/>
              </a:xfrm>
              <a:prstGeom prst="rect">
                <a:avLst/>
              </a:prstGeom>
              <a:noFill/>
            </p:spPr>
            <p:txBody>
              <a:bodyPr wrap="square" rtlCol="0">
                <a:spAutoFit/>
              </a:bodyPr>
              <a:lstStyle/>
              <a:p>
                <a:r>
                  <a:rPr lang="en-US" sz="2000" b="1" noProof="0" dirty="0"/>
                  <a:t>Natural resource sector</a:t>
                </a:r>
              </a:p>
              <a:p>
                <a:r>
                  <a:rPr lang="en-US" sz="2000" dirty="0"/>
                  <a:t>Aggregate natural resource supply, </a:t>
                </a:r>
                <a14:m>
                  <m:oMath xmlns:m="http://schemas.openxmlformats.org/officeDocument/2006/math">
                    <m:acc>
                      <m:accPr>
                        <m:chr m:val="̅"/>
                        <m:ctrlPr>
                          <a:rPr lang="en-US" sz="2000" i="1">
                            <a:solidFill>
                              <a:schemeClr val="accent3">
                                <a:lumMod val="75000"/>
                              </a:schemeClr>
                            </a:solidFill>
                            <a:latin typeface="Cambria Math" panose="02040503050406030204" pitchFamily="18" charset="0"/>
                          </a:rPr>
                        </m:ctrlPr>
                      </m:accPr>
                      <m:e>
                        <m:r>
                          <a:rPr lang="en-US" sz="2000" i="1">
                            <a:solidFill>
                              <a:schemeClr val="accent3">
                                <a:lumMod val="75000"/>
                              </a:schemeClr>
                            </a:solidFill>
                            <a:latin typeface="Cambria Math" panose="02040503050406030204" pitchFamily="18" charset="0"/>
                          </a:rPr>
                          <m:t>𝑅</m:t>
                        </m:r>
                      </m:e>
                    </m:acc>
                  </m:oMath>
                </a14:m>
                <a:r>
                  <a:rPr lang="en-US" sz="2000" dirty="0"/>
                  <a:t>, is given by </a:t>
                </a:r>
              </a:p>
              <a:p>
                <a:endParaRPr lang="en-US" sz="2000" noProof="0" dirty="0"/>
              </a:p>
              <a:p>
                <a:endParaRPr lang="en-US" sz="2000" noProof="0" dirty="0"/>
              </a:p>
              <a:p>
                <a:pPr/>
                <a14:m>
                  <m:oMathPara xmlns:m="http://schemas.openxmlformats.org/officeDocument/2006/math">
                    <m:oMathParaPr>
                      <m:jc m:val="centerGroup"/>
                    </m:oMathParaPr>
                    <m:oMath xmlns:m="http://schemas.openxmlformats.org/officeDocument/2006/math">
                      <m:acc>
                        <m:accPr>
                          <m:chr m:val="̅"/>
                          <m:ctrlPr>
                            <a:rPr lang="en-US" sz="2000" i="1" noProof="0" smtClean="0">
                              <a:latin typeface="Cambria Math" panose="02040503050406030204" pitchFamily="18" charset="0"/>
                            </a:rPr>
                          </m:ctrlPr>
                        </m:accPr>
                        <m:e>
                          <m:r>
                            <a:rPr lang="en-US" sz="2000" b="0" i="1" noProof="0" smtClean="0">
                              <a:latin typeface="Cambria Math" panose="02040503050406030204" pitchFamily="18" charset="0"/>
                            </a:rPr>
                            <m:t>𝑅</m:t>
                          </m:r>
                        </m:e>
                      </m:acc>
                      <m:r>
                        <a:rPr lang="en-US" sz="2000" b="0" i="1" noProof="0" dirty="0" smtClean="0">
                          <a:latin typeface="Cambria Math" panose="02040503050406030204" pitchFamily="18" charset="0"/>
                        </a:rPr>
                        <m:t>=</m:t>
                      </m:r>
                      <m:sSup>
                        <m:sSupPr>
                          <m:ctrlPr>
                            <a:rPr lang="en-US" sz="2000" b="0" i="1" noProof="0" dirty="0" smtClean="0">
                              <a:latin typeface="Cambria Math" panose="02040503050406030204" pitchFamily="18" charset="0"/>
                            </a:rPr>
                          </m:ctrlPr>
                        </m:sSupPr>
                        <m:e>
                          <m:r>
                            <a:rPr lang="en-US" sz="2000" b="0" i="1" noProof="0" dirty="0" smtClean="0">
                              <a:latin typeface="Cambria Math" panose="02040503050406030204" pitchFamily="18" charset="0"/>
                            </a:rPr>
                            <m:t>𝑅</m:t>
                          </m:r>
                        </m:e>
                        <m:sup>
                          <m:r>
                            <a:rPr lang="en-US" sz="2000" b="0" i="1" noProof="0" dirty="0" smtClean="0">
                              <a:latin typeface="Cambria Math" panose="02040503050406030204" pitchFamily="18" charset="0"/>
                            </a:rPr>
                            <m:t>𝑉</m:t>
                          </m:r>
                        </m:sup>
                      </m:sSup>
                      <m:r>
                        <a:rPr lang="en-US" sz="2000" b="0" i="1" noProof="0" dirty="0" smtClean="0">
                          <a:latin typeface="Cambria Math" panose="02040503050406030204" pitchFamily="18" charset="0"/>
                        </a:rPr>
                        <m:t>+</m:t>
                      </m:r>
                      <m:r>
                        <a:rPr lang="en-US" sz="2000" b="0" i="1" noProof="0" dirty="0" smtClean="0">
                          <a:latin typeface="Cambria Math" panose="02040503050406030204" pitchFamily="18" charset="0"/>
                        </a:rPr>
                        <m:t>𝛼</m:t>
                      </m:r>
                      <m:sSup>
                        <m:sSupPr>
                          <m:ctrlPr>
                            <a:rPr lang="en-US" sz="2000" b="0" i="1" noProof="0" dirty="0" smtClean="0">
                              <a:latin typeface="Cambria Math" panose="02040503050406030204" pitchFamily="18" charset="0"/>
                            </a:rPr>
                          </m:ctrlPr>
                        </m:sSupPr>
                        <m:e>
                          <m:r>
                            <a:rPr lang="en-US" sz="2000" b="0" i="1" noProof="0" dirty="0" smtClean="0">
                              <a:latin typeface="Cambria Math" panose="02040503050406030204" pitchFamily="18" charset="0"/>
                            </a:rPr>
                            <m:t>𝑅</m:t>
                          </m:r>
                        </m:e>
                        <m:sup>
                          <m:r>
                            <a:rPr lang="en-US" sz="2000" b="0" i="1" noProof="0" dirty="0" smtClean="0">
                              <a:latin typeface="Cambria Math" panose="02040503050406030204" pitchFamily="18" charset="0"/>
                            </a:rPr>
                            <m:t>𝑊</m:t>
                          </m:r>
                        </m:sup>
                      </m:sSup>
                      <m:r>
                        <a:rPr lang="en-US" sz="2000" b="0" i="1" noProof="0" dirty="0" smtClean="0">
                          <a:latin typeface="Cambria Math" panose="02040503050406030204" pitchFamily="18" charset="0"/>
                        </a:rPr>
                        <m:t>,    0&lt;</m:t>
                      </m:r>
                      <m:r>
                        <a:rPr lang="en-US" sz="2000" b="0" i="1" noProof="0" dirty="0" smtClean="0">
                          <a:latin typeface="Cambria Math" panose="02040503050406030204" pitchFamily="18" charset="0"/>
                        </a:rPr>
                        <m:t>𝛼</m:t>
                      </m:r>
                      <m:r>
                        <a:rPr lang="en-US" sz="2000" b="0" i="1" noProof="0" dirty="0" smtClean="0">
                          <a:latin typeface="Cambria Math" panose="02040503050406030204" pitchFamily="18" charset="0"/>
                          <a:ea typeface="Cambria Math" panose="02040503050406030204" pitchFamily="18" charset="0"/>
                        </a:rPr>
                        <m:t>≤</m:t>
                      </m:r>
                      <m:r>
                        <a:rPr lang="en-US" sz="2000" b="0" i="1" noProof="0" dirty="0" smtClean="0">
                          <a:latin typeface="Cambria Math" panose="02040503050406030204" pitchFamily="18" charset="0"/>
                        </a:rPr>
                        <m:t>1.</m:t>
                      </m:r>
                    </m:oMath>
                  </m:oMathPara>
                </a14:m>
                <a:endParaRPr lang="en-US" sz="2000" noProof="0" dirty="0"/>
              </a:p>
              <a:p>
                <a:pPr algn="ctr"/>
                <a:endParaRPr lang="en-US" sz="2000" noProof="0" dirty="0"/>
              </a:p>
              <a:p>
                <a:pPr algn="ctr"/>
                <a:endParaRPr lang="en-US" sz="2000" dirty="0"/>
              </a:p>
              <a:p>
                <a:r>
                  <a:rPr lang="en-US" sz="2000" noProof="0" dirty="0"/>
                  <a:t>A representative natural resource firm solves the problem</a:t>
                </a:r>
              </a:p>
              <a:p>
                <a:endParaRPr lang="en-US" sz="2000" dirty="0"/>
              </a:p>
              <a:p>
                <a:endParaRPr lang="en-US" sz="2000" dirty="0"/>
              </a:p>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limLow>
                            <m:limLowPr>
                              <m:ctrlPr>
                                <a:rPr lang="en-US" sz="2000" i="1">
                                  <a:latin typeface="Cambria Math" panose="02040503050406030204" pitchFamily="18" charset="0"/>
                                </a:rPr>
                              </m:ctrlPr>
                            </m:limLowPr>
                            <m:e>
                              <m:r>
                                <m:rPr>
                                  <m:sty m:val="p"/>
                                </m:rPr>
                                <a:rPr lang="en-US" sz="2000">
                                  <a:latin typeface="Cambria Math" panose="02040503050406030204" pitchFamily="18" charset="0"/>
                                </a:rPr>
                                <m:t>max</m:t>
                              </m:r>
                            </m:e>
                            <m:li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𝑉</m:t>
                                  </m:r>
                                </m:sup>
                              </m:sSup>
                              <m:r>
                                <a:rPr lang="en-US" sz="2000" b="0" i="1" smtClean="0">
                                  <a:latin typeface="Cambria Math" panose="02040503050406030204" pitchFamily="18" charset="0"/>
                                </a:rPr>
                                <m:t>, </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𝑊</m:t>
                                  </m:r>
                                </m:sup>
                              </m:sSup>
                            </m:lim>
                          </m:limLow>
                          <m:r>
                            <a:rPr lang="en-US" sz="2000" i="1">
                              <a:latin typeface="Cambria Math" panose="02040503050406030204" pitchFamily="18" charset="0"/>
                            </a:rPr>
                            <m:t> </m:t>
                          </m:r>
                        </m:fName>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𝜋</m:t>
                              </m:r>
                            </m:e>
                            <m:sup>
                              <m:r>
                                <a:rPr lang="en-US" sz="2000" b="0" i="1" smtClean="0">
                                  <a:latin typeface="Cambria Math" panose="02040503050406030204" pitchFamily="18" charset="0"/>
                                </a:rPr>
                                <m:t>𝑅</m:t>
                              </m:r>
                            </m:sup>
                          </m:sSup>
                        </m:e>
                      </m:func>
                      <m:r>
                        <a:rPr lang="en-US" sz="2000" i="1">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𝑅</m:t>
                          </m:r>
                        </m:sup>
                      </m:sSup>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𝑅</m:t>
                          </m:r>
                        </m:e>
                      </m:acc>
                      <m:r>
                        <a:rPr lang="en-US" sz="2000" b="0" i="1" smtClean="0">
                          <a:latin typeface="Cambria Math" panose="02040503050406030204" pitchFamily="18" charset="0"/>
                        </a:rPr>
                        <m:t>−</m:t>
                      </m:r>
                      <m:sSup>
                        <m:sSupPr>
                          <m:ctrlPr>
                            <a:rPr lang="en-US" sz="2000" b="0" i="1" smtClean="0">
                              <a:solidFill>
                                <a:schemeClr val="tx1"/>
                              </a:solidFill>
                              <a:latin typeface="Cambria Math" panose="02040503050406030204" pitchFamily="18" charset="0"/>
                            </a:rPr>
                          </m:ctrlPr>
                        </m:sSupPr>
                        <m:e>
                          <m:r>
                            <a:rPr lang="en-US" sz="2000" b="0" i="1" smtClean="0">
                              <a:solidFill>
                                <a:schemeClr val="tx1"/>
                              </a:solidFill>
                              <a:latin typeface="Cambria Math" panose="02040503050406030204" pitchFamily="18" charset="0"/>
                            </a:rPr>
                            <m:t>𝑝</m:t>
                          </m:r>
                        </m:e>
                        <m:sup>
                          <m:r>
                            <a:rPr lang="en-US" sz="2000" b="0" i="1" smtClean="0">
                              <a:solidFill>
                                <a:schemeClr val="tx1"/>
                              </a:solidFill>
                              <a:latin typeface="Cambria Math" panose="02040503050406030204" pitchFamily="18" charset="0"/>
                            </a:rPr>
                            <m:t>𝑉</m:t>
                          </m:r>
                        </m:sup>
                      </m:sSup>
                      <m:sSup>
                        <m:sSupPr>
                          <m:ctrlPr>
                            <a:rPr lang="en-US" sz="2000" b="0" i="1" smtClean="0">
                              <a:solidFill>
                                <a:srgbClr val="C00000"/>
                              </a:solidFill>
                              <a:latin typeface="Cambria Math" panose="02040503050406030204" pitchFamily="18" charset="0"/>
                            </a:rPr>
                          </m:ctrlPr>
                        </m:sSupPr>
                        <m:e>
                          <m:r>
                            <a:rPr lang="en-US" sz="2000" b="0" i="1" smtClean="0">
                              <a:solidFill>
                                <a:srgbClr val="C00000"/>
                              </a:solidFill>
                              <a:latin typeface="Cambria Math" panose="02040503050406030204" pitchFamily="18" charset="0"/>
                            </a:rPr>
                            <m:t>𝑅</m:t>
                          </m:r>
                        </m:e>
                        <m:sup>
                          <m:r>
                            <a:rPr lang="en-US" sz="2000" b="0" i="1" smtClean="0">
                              <a:solidFill>
                                <a:srgbClr val="C00000"/>
                              </a:solidFill>
                              <a:latin typeface="Cambria Math" panose="02040503050406030204" pitchFamily="18" charset="0"/>
                            </a:rPr>
                            <m:t>𝑉</m:t>
                          </m:r>
                        </m:sup>
                      </m:sSup>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𝑊</m:t>
                          </m:r>
                        </m:sup>
                      </m:s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𝑊</m:t>
                          </m:r>
                        </m:sup>
                      </m:sSup>
                      <m:r>
                        <a:rPr lang="en-US" sz="2000" b="0" i="1" smtClean="0">
                          <a:latin typeface="Cambria Math" panose="02040503050406030204" pitchFamily="18" charset="0"/>
                        </a:rPr>
                        <m:t>     </m:t>
                      </m:r>
                      <m:r>
                        <a:rPr lang="en-US" sz="2000" b="0" i="1" smtClean="0">
                          <a:latin typeface="Cambria Math" panose="02040503050406030204" pitchFamily="18" charset="0"/>
                        </a:rPr>
                        <m:t>𝑠𝑡</m:t>
                      </m:r>
                      <m:r>
                        <a:rPr lang="en-US" sz="2000" b="0" i="1" smtClean="0">
                          <a:latin typeface="Cambria Math" panose="02040503050406030204" pitchFamily="18" charset="0"/>
                        </a:rPr>
                        <m:t>.     </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𝑅</m:t>
                          </m:r>
                        </m:e>
                      </m:acc>
                      <m:r>
                        <a:rPr lang="en-US" sz="2000" b="0" i="0"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𝑉</m:t>
                          </m:r>
                        </m:sup>
                      </m:sSup>
                      <m:r>
                        <a:rPr lang="en-US" sz="2000" b="0" i="1" smtClean="0">
                          <a:latin typeface="Cambria Math" panose="02040503050406030204" pitchFamily="18" charset="0"/>
                        </a:rPr>
                        <m:t>+</m:t>
                      </m:r>
                      <m:r>
                        <a:rPr lang="en-US" sz="2000" b="0" i="1" smtClean="0">
                          <a:latin typeface="Cambria Math" panose="02040503050406030204" pitchFamily="18" charset="0"/>
                        </a:rPr>
                        <m:t>𝛼</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𝑊</m:t>
                          </m:r>
                        </m:sup>
                      </m:sSup>
                      <m:r>
                        <a:rPr lang="en-US" sz="2000" b="0" i="1" smtClean="0">
                          <a:latin typeface="Cambria Math" panose="02040503050406030204" pitchFamily="18" charset="0"/>
                        </a:rPr>
                        <m:t>.</m:t>
                      </m:r>
                    </m:oMath>
                  </m:oMathPara>
                </a14:m>
                <a:endParaRPr lang="en-US" sz="2000" i="1" noProof="0" dirty="0"/>
              </a:p>
              <a:p>
                <a:endParaRPr lang="en-US" sz="2000" i="1" dirty="0"/>
              </a:p>
              <a:p>
                <a:endParaRPr lang="en-US" sz="2000" i="1" dirty="0"/>
              </a:p>
              <a:p>
                <a:r>
                  <a:rPr lang="en-US" sz="2000" dirty="0"/>
                  <a:t>First-order conditions</a:t>
                </a:r>
              </a:p>
              <a:p>
                <a:endParaRPr lang="en-US" sz="2000" i="1" noProof="0" dirty="0"/>
              </a:p>
              <a:p>
                <a:endParaRPr lang="en-US" sz="2000" i="1" noProof="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𝛼</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𝑊</m:t>
                          </m:r>
                        </m:sup>
                      </m:sSup>
                      <m:r>
                        <a:rPr lang="en-US" sz="2000" b="0" i="1" noProof="0" smtClean="0">
                          <a:latin typeface="Cambria Math" panose="02040503050406030204" pitchFamily="18" charset="0"/>
                        </a:rPr>
                        <m:t>     </m:t>
                      </m:r>
                      <m:r>
                        <a:rPr lang="en-US" sz="2000" b="0" i="1" noProof="0" smtClean="0">
                          <a:latin typeface="Cambria Math" panose="02040503050406030204" pitchFamily="18" charset="0"/>
                        </a:rPr>
                        <m:t>𝑎𝑛𝑑</m:t>
                      </m:r>
                      <m:r>
                        <a:rPr lang="en-US" sz="2000" b="0" i="1" noProof="0" smtClean="0">
                          <a:latin typeface="Cambria Math" panose="02040503050406030204" pitchFamily="18" charset="0"/>
                        </a:rPr>
                        <m:t>        </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𝑅</m:t>
                          </m:r>
                        </m:sup>
                      </m:sSup>
                      <m:r>
                        <a:rPr lang="en-US" sz="2000" b="0" i="1" noProof="0" smtClean="0">
                          <a:latin typeface="Cambria Math" panose="02040503050406030204" pitchFamily="18" charset="0"/>
                        </a:rPr>
                        <m:t>=</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𝑝</m:t>
                          </m:r>
                        </m:e>
                        <m:sup>
                          <m:r>
                            <a:rPr lang="en-US" sz="2000" b="0" i="1" noProof="0" smtClean="0">
                              <a:latin typeface="Cambria Math" panose="02040503050406030204" pitchFamily="18" charset="0"/>
                            </a:rPr>
                            <m:t>𝑉</m:t>
                          </m:r>
                        </m:sup>
                      </m:sSup>
                      <m:r>
                        <a:rPr lang="en-US" sz="2000" b="0" i="1" noProof="0" smtClean="0">
                          <a:latin typeface="Cambria Math" panose="02040503050406030204" pitchFamily="18" charset="0"/>
                        </a:rPr>
                        <m:t>.</m:t>
                      </m:r>
                    </m:oMath>
                  </m:oMathPara>
                </a14:m>
                <a:endParaRPr lang="en-US" sz="2000" i="1" noProof="0" dirty="0"/>
              </a:p>
            </p:txBody>
          </p:sp>
        </mc:Choice>
        <mc:Fallback xmlns="">
          <p:sp>
            <p:nvSpPr>
              <p:cNvPr id="6" name="TextBox 5">
                <a:extLst>
                  <a:ext uri="{FF2B5EF4-FFF2-40B4-BE49-F238E27FC236}">
                    <a16:creationId xmlns:a16="http://schemas.microsoft.com/office/drawing/2014/main" id="{5799CD49-1A81-F8BA-A88B-724E420CD811}"/>
                  </a:ext>
                </a:extLst>
              </p:cNvPr>
              <p:cNvSpPr txBox="1">
                <a:spLocks noRot="1" noChangeAspect="1" noMove="1" noResize="1" noEditPoints="1" noAdjustHandles="1" noChangeArrowheads="1" noChangeShapeType="1" noTextEdit="1"/>
              </p:cNvSpPr>
              <p:nvPr/>
            </p:nvSpPr>
            <p:spPr>
              <a:xfrm>
                <a:off x="508409" y="1051323"/>
                <a:ext cx="8046629" cy="5469574"/>
              </a:xfrm>
              <a:prstGeom prst="rect">
                <a:avLst/>
              </a:prstGeom>
              <a:blipFill>
                <a:blip r:embed="rId3"/>
                <a:stretch>
                  <a:fillRect l="-758" t="-557"/>
                </a:stretch>
              </a:blipFill>
            </p:spPr>
            <p:txBody>
              <a:bodyPr/>
              <a:lstStyle/>
              <a:p>
                <a:r>
                  <a:rPr lang="en-GB">
                    <a:noFill/>
                  </a:rPr>
                  <a:t> </a:t>
                </a:r>
              </a:p>
            </p:txBody>
          </p:sp>
        </mc:Fallback>
      </mc:AlternateContent>
      <p:cxnSp>
        <p:nvCxnSpPr>
          <p:cNvPr id="7" name="Straight Arrow Connector 6">
            <a:extLst>
              <a:ext uri="{FF2B5EF4-FFF2-40B4-BE49-F238E27FC236}">
                <a16:creationId xmlns:a16="http://schemas.microsoft.com/office/drawing/2014/main" id="{186530F1-4637-76D7-0450-74B680AB9033}"/>
              </a:ext>
            </a:extLst>
          </p:cNvPr>
          <p:cNvCxnSpPr>
            <a:cxnSpLocks/>
          </p:cNvCxnSpPr>
          <p:nvPr/>
        </p:nvCxnSpPr>
        <p:spPr>
          <a:xfrm flipH="1" flipV="1">
            <a:off x="3886200" y="4476750"/>
            <a:ext cx="260350" cy="30480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E23B5B2-1441-DC7A-A71A-8F46CE2A6145}"/>
                  </a:ext>
                </a:extLst>
              </p:cNvPr>
              <p:cNvSpPr txBox="1"/>
              <p:nvPr/>
            </p:nvSpPr>
            <p:spPr>
              <a:xfrm>
                <a:off x="3826635" y="4781550"/>
                <a:ext cx="3691765" cy="523220"/>
              </a:xfrm>
              <a:prstGeom prst="rect">
                <a:avLst/>
              </a:prstGeom>
              <a:noFill/>
            </p:spPr>
            <p:txBody>
              <a:bodyPr wrap="square" rtlCol="0">
                <a:spAutoFit/>
              </a:bodyPr>
              <a:lstStyle/>
              <a:p>
                <a:r>
                  <a:rPr lang="en-US" sz="1400" dirty="0">
                    <a:solidFill>
                      <a:srgbClr val="C00000"/>
                    </a:solidFill>
                  </a:rPr>
                  <a:t>Produced at a constant price </a:t>
                </a:r>
                <a14:m>
                  <m:oMath xmlns:m="http://schemas.openxmlformats.org/officeDocument/2006/math">
                    <m:sSup>
                      <m:sSupPr>
                        <m:ctrlPr>
                          <a:rPr lang="en-US" sz="1400" b="0" i="1" smtClean="0">
                            <a:solidFill>
                              <a:srgbClr val="C00000"/>
                            </a:solidFill>
                            <a:latin typeface="Cambria Math" panose="02040503050406030204" pitchFamily="18" charset="0"/>
                          </a:rPr>
                        </m:ctrlPr>
                      </m:sSupPr>
                      <m:e>
                        <m:r>
                          <a:rPr lang="en-US" sz="1400" b="0" i="1" smtClean="0">
                            <a:solidFill>
                              <a:srgbClr val="C00000"/>
                            </a:solidFill>
                            <a:latin typeface="Cambria Math" panose="02040503050406030204" pitchFamily="18" charset="0"/>
                          </a:rPr>
                          <m:t>𝑝</m:t>
                        </m:r>
                      </m:e>
                      <m:sup>
                        <m:r>
                          <a:rPr lang="en-US" sz="1400" b="0" i="1" smtClean="0">
                            <a:solidFill>
                              <a:srgbClr val="C00000"/>
                            </a:solidFill>
                            <a:latin typeface="Cambria Math" panose="02040503050406030204" pitchFamily="18" charset="0"/>
                          </a:rPr>
                          <m:t>𝑉</m:t>
                        </m:r>
                      </m:sup>
                    </m:sSup>
                  </m:oMath>
                </a14:m>
                <a:r>
                  <a:rPr lang="en-US" sz="1400" dirty="0">
                    <a:solidFill>
                      <a:srgbClr val="C00000"/>
                    </a:solidFill>
                  </a:rPr>
                  <a:t> </a:t>
                </a:r>
                <a:r>
                  <a:rPr lang="en-US" sz="1400" u="sng" dirty="0">
                    <a:solidFill>
                      <a:srgbClr val="C00000"/>
                    </a:solidFill>
                  </a:rPr>
                  <a:t>or</a:t>
                </a:r>
                <a:r>
                  <a:rPr lang="en-US" sz="1400" dirty="0">
                    <a:solidFill>
                      <a:srgbClr val="C00000"/>
                    </a:solidFill>
                  </a:rPr>
                  <a:t> imported from abroad at a constant price </a:t>
                </a:r>
                <a14:m>
                  <m:oMath xmlns:m="http://schemas.openxmlformats.org/officeDocument/2006/math">
                    <m:sSup>
                      <m:sSupPr>
                        <m:ctrlPr>
                          <a:rPr lang="en-US" sz="1400" b="0" i="1" smtClean="0">
                            <a:solidFill>
                              <a:srgbClr val="C00000"/>
                            </a:solidFill>
                            <a:latin typeface="Cambria Math" panose="02040503050406030204" pitchFamily="18" charset="0"/>
                          </a:rPr>
                        </m:ctrlPr>
                      </m:sSupPr>
                      <m:e>
                        <m:r>
                          <a:rPr lang="en-US" sz="1400" b="0" i="1" smtClean="0">
                            <a:solidFill>
                              <a:srgbClr val="C00000"/>
                            </a:solidFill>
                            <a:latin typeface="Cambria Math" panose="02040503050406030204" pitchFamily="18" charset="0"/>
                          </a:rPr>
                          <m:t>𝑝</m:t>
                        </m:r>
                      </m:e>
                      <m:sup>
                        <m:r>
                          <a:rPr lang="en-US" sz="1400" b="0" i="1" smtClean="0">
                            <a:solidFill>
                              <a:srgbClr val="C00000"/>
                            </a:solidFill>
                            <a:latin typeface="Cambria Math" panose="02040503050406030204" pitchFamily="18" charset="0"/>
                          </a:rPr>
                          <m:t>𝑉</m:t>
                        </m:r>
                      </m:sup>
                    </m:sSup>
                  </m:oMath>
                </a14:m>
                <a:endParaRPr lang="en-US" sz="1400" dirty="0">
                  <a:solidFill>
                    <a:srgbClr val="C00000"/>
                  </a:solidFill>
                </a:endParaRPr>
              </a:p>
            </p:txBody>
          </p:sp>
        </mc:Choice>
        <mc:Fallback xmlns="">
          <p:sp>
            <p:nvSpPr>
              <p:cNvPr id="8" name="TextBox 7">
                <a:extLst>
                  <a:ext uri="{FF2B5EF4-FFF2-40B4-BE49-F238E27FC236}">
                    <a16:creationId xmlns:a16="http://schemas.microsoft.com/office/drawing/2014/main" id="{2E23B5B2-1441-DC7A-A71A-8F46CE2A6145}"/>
                  </a:ext>
                </a:extLst>
              </p:cNvPr>
              <p:cNvSpPr txBox="1">
                <a:spLocks noRot="1" noChangeAspect="1" noMove="1" noResize="1" noEditPoints="1" noAdjustHandles="1" noChangeArrowheads="1" noChangeShapeType="1" noTextEdit="1"/>
              </p:cNvSpPr>
              <p:nvPr/>
            </p:nvSpPr>
            <p:spPr>
              <a:xfrm>
                <a:off x="3826635" y="4781550"/>
                <a:ext cx="3691765" cy="523220"/>
              </a:xfrm>
              <a:prstGeom prst="rect">
                <a:avLst/>
              </a:prstGeom>
              <a:blipFill>
                <a:blip r:embed="rId4"/>
                <a:stretch>
                  <a:fillRect l="-496" r="-1322" b="-12791"/>
                </a:stretch>
              </a:blipFill>
            </p:spPr>
            <p:txBody>
              <a:bodyPr/>
              <a:lstStyle/>
              <a:p>
                <a:r>
                  <a:rPr lang="en-GB">
                    <a:noFill/>
                  </a:rPr>
                  <a:t> </a:t>
                </a:r>
              </a:p>
            </p:txBody>
          </p:sp>
        </mc:Fallback>
      </mc:AlternateContent>
    </p:spTree>
    <p:extLst>
      <p:ext uri="{BB962C8B-B14F-4D97-AF65-F5344CB8AC3E}">
        <p14:creationId xmlns:p14="http://schemas.microsoft.com/office/powerpoint/2010/main" val="20656451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CBA9C-8060-3FDE-5713-FD25069C0D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86717A3-DD7C-A5D7-7713-5C536CCF3654}"/>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A300AB48-0A9D-1E1C-72FE-8CB73C250A9D}"/>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22C22B05-D14A-571E-9B3E-3383485C35A6}"/>
              </a:ext>
            </a:extLst>
          </p:cNvPr>
          <p:cNvSpPr>
            <a:spLocks noGrp="1"/>
          </p:cNvSpPr>
          <p:nvPr>
            <p:ph type="sldNum" sz="quarter" idx="12"/>
          </p:nvPr>
        </p:nvSpPr>
        <p:spPr/>
        <p:txBody>
          <a:bodyPr/>
          <a:lstStyle/>
          <a:p>
            <a:fld id="{091A926C-488A-4E3E-9C21-57CAA120E114}" type="slidenum">
              <a:rPr lang="en-US" smtClean="0"/>
              <a:t>31</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686C8C1-1569-99F3-01E8-36CB4584FC38}"/>
                  </a:ext>
                </a:extLst>
              </p:cNvPr>
              <p:cNvSpPr txBox="1"/>
              <p:nvPr/>
            </p:nvSpPr>
            <p:spPr>
              <a:xfrm>
                <a:off x="508409" y="1051323"/>
                <a:ext cx="8046629" cy="5542286"/>
              </a:xfrm>
              <a:prstGeom prst="rect">
                <a:avLst/>
              </a:prstGeom>
              <a:noFill/>
            </p:spPr>
            <p:txBody>
              <a:bodyPr wrap="square" rtlCol="0">
                <a:spAutoFit/>
              </a:bodyPr>
              <a:lstStyle/>
              <a:p>
                <a:r>
                  <a:rPr lang="en-US" sz="2000" b="1" noProof="0" dirty="0"/>
                  <a:t>Household sector</a:t>
                </a:r>
              </a:p>
              <a:p>
                <a:endParaRPr lang="en-US" sz="2000" dirty="0"/>
              </a:p>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limLow>
                            <m:limLowPr>
                              <m:ctrlPr>
                                <a:rPr lang="en-US" sz="2000" i="1">
                                  <a:latin typeface="Cambria Math" panose="02040503050406030204" pitchFamily="18" charset="0"/>
                                </a:rPr>
                              </m:ctrlPr>
                            </m:limLowPr>
                            <m:e>
                              <m:r>
                                <m:rPr>
                                  <m:sty m:val="p"/>
                                </m:rPr>
                                <a:rPr lang="en-US" sz="2000">
                                  <a:latin typeface="Cambria Math" panose="02040503050406030204" pitchFamily="18" charset="0"/>
                                </a:rPr>
                                <m:t>max</m:t>
                              </m:r>
                            </m:e>
                            <m:lim>
                              <m:r>
                                <a:rPr lang="en-US" sz="2000" b="0" i="1" smtClean="0">
                                  <a:latin typeface="Cambria Math" panose="02040503050406030204" pitchFamily="18" charset="0"/>
                                </a:rPr>
                                <m:t>𝐶</m:t>
                              </m:r>
                            </m:lim>
                          </m:limLow>
                          <m:r>
                            <a:rPr lang="en-US" sz="2000" i="1">
                              <a:latin typeface="Cambria Math" panose="02040503050406030204" pitchFamily="18" charset="0"/>
                            </a:rPr>
                            <m:t> </m:t>
                          </m:r>
                        </m:fName>
                        <m:e>
                          <m:r>
                            <a:rPr lang="en-US" sz="2000" b="0" i="1" smtClean="0">
                              <a:latin typeface="Cambria Math" panose="02040503050406030204" pitchFamily="18" charset="0"/>
                            </a:rPr>
                            <m:t>𝑢</m:t>
                          </m:r>
                          <m:r>
                            <a:rPr lang="en-US" sz="2000" b="0" i="1" smtClean="0">
                              <a:latin typeface="Cambria Math" panose="02040503050406030204" pitchFamily="18" charset="0"/>
                            </a:rPr>
                            <m:t>(</m:t>
                          </m:r>
                          <m:r>
                            <a:rPr lang="en-US" sz="2000" b="0" i="1" smtClean="0">
                              <a:latin typeface="Cambria Math" panose="02040503050406030204" pitchFamily="18" charset="0"/>
                            </a:rPr>
                            <m:t>𝐶</m:t>
                          </m:r>
                          <m:r>
                            <a:rPr lang="en-US" sz="2000" b="0" i="1" smtClean="0">
                              <a:latin typeface="Cambria Math" panose="02040503050406030204" pitchFamily="18" charset="0"/>
                            </a:rPr>
                            <m:t>)</m:t>
                          </m:r>
                        </m:e>
                      </m:func>
                      <m:r>
                        <a:rPr lang="en-US" sz="2000" b="0" i="1" smtClean="0">
                          <a:latin typeface="Cambria Math" panose="02040503050406030204" pitchFamily="18" charset="0"/>
                        </a:rPr>
                        <m:t>     </m:t>
                      </m:r>
                      <m:r>
                        <a:rPr lang="en-US" sz="2000" b="0" i="1" smtClean="0">
                          <a:latin typeface="Cambria Math" panose="02040503050406030204" pitchFamily="18" charset="0"/>
                        </a:rPr>
                        <m:t>𝑠𝑡</m:t>
                      </m:r>
                      <m:r>
                        <a:rPr lang="en-US" sz="2000" b="0" i="1" smtClean="0">
                          <a:latin typeface="Cambria Math" panose="02040503050406030204" pitchFamily="18" charset="0"/>
                        </a:rPr>
                        <m:t>.    </m:t>
                      </m:r>
                      <m:r>
                        <a:rPr lang="en-US" sz="2000" b="0" i="1" smtClean="0">
                          <a:latin typeface="Cambria Math" panose="02040503050406030204" pitchFamily="18" charset="0"/>
                        </a:rPr>
                        <m:t>𝑤</m:t>
                      </m:r>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𝐿</m:t>
                          </m:r>
                        </m:e>
                      </m:acc>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sub>
                        <m:sup/>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𝜋</m:t>
                              </m:r>
                            </m:e>
                            <m:sub>
                              <m:r>
                                <a:rPr lang="en-US" sz="2000" b="0" i="1" smtClean="0">
                                  <a:latin typeface="Cambria Math" panose="02040503050406030204" pitchFamily="18" charset="0"/>
                                  <a:ea typeface="Cambria Math" panose="02040503050406030204" pitchFamily="18" charset="0"/>
                                </a:rPr>
                                <m:t>𝑖</m:t>
                              </m:r>
                            </m:sub>
                          </m:sSub>
                        </m:e>
                      </m:nary>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𝜋</m:t>
                          </m:r>
                        </m:e>
                        <m:sup>
                          <m:r>
                            <a:rPr lang="en-US" sz="2000" b="0" i="1" smtClean="0">
                              <a:latin typeface="Cambria Math" panose="02040503050406030204" pitchFamily="18" charset="0"/>
                              <a:ea typeface="Cambria Math" panose="02040503050406030204" pitchFamily="18" charset="0"/>
                            </a:rPr>
                            <m:t>𝐴</m:t>
                          </m:r>
                        </m:sup>
                      </m:sSup>
                      <m:r>
                        <a:rPr lang="en-US" sz="2000" b="0" i="1" smtClean="0">
                          <a:latin typeface="Cambria Math" panose="02040503050406030204" pitchFamily="18" charset="0"/>
                          <a:ea typeface="Cambria Math" panose="02040503050406030204" pitchFamily="18" charset="0"/>
                        </a:rPr>
                        <m:t>+</m:t>
                      </m:r>
                      <m:sSup>
                        <m:sSupPr>
                          <m:ctrlPr>
                            <a:rPr lang="en-US" sz="2000" b="0" i="1" smtClean="0">
                              <a:latin typeface="Cambria Math" panose="02040503050406030204" pitchFamily="18" charset="0"/>
                              <a:ea typeface="Cambria Math" panose="02040503050406030204" pitchFamily="18" charset="0"/>
                            </a:rPr>
                          </m:ctrlPr>
                        </m:sSupPr>
                        <m:e>
                          <m:r>
                            <a:rPr lang="en-US" sz="2000" b="0" i="1" smtClean="0">
                              <a:latin typeface="Cambria Math" panose="02040503050406030204" pitchFamily="18" charset="0"/>
                              <a:ea typeface="Cambria Math" panose="02040503050406030204" pitchFamily="18" charset="0"/>
                            </a:rPr>
                            <m:t>𝜋</m:t>
                          </m:r>
                        </m:e>
                        <m:sup>
                          <m:r>
                            <a:rPr lang="en-US" sz="2000" b="0" i="1" smtClean="0">
                              <a:latin typeface="Cambria Math" panose="02040503050406030204" pitchFamily="18" charset="0"/>
                              <a:ea typeface="Cambria Math" panose="02040503050406030204" pitchFamily="18" charset="0"/>
                            </a:rPr>
                            <m:t>𝑅</m:t>
                          </m:r>
                        </m:sup>
                      </m:s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𝐶</m:t>
                      </m:r>
                      <m:r>
                        <a:rPr lang="en-US" sz="2000" b="0" i="1" smtClean="0">
                          <a:latin typeface="Cambria Math" panose="02040503050406030204" pitchFamily="18" charset="0"/>
                          <a:ea typeface="Cambria Math" panose="02040503050406030204" pitchFamily="18" charset="0"/>
                        </a:rPr>
                        <m:t>.</m:t>
                      </m:r>
                    </m:oMath>
                  </m:oMathPara>
                </a14:m>
                <a:endParaRPr lang="en-US" sz="2000" i="1" noProof="0" dirty="0"/>
              </a:p>
              <a:p>
                <a:endParaRPr lang="en-US" sz="2000" i="1" dirty="0"/>
              </a:p>
              <a:p>
                <a:r>
                  <a:rPr lang="en-US" sz="2000" b="1" dirty="0"/>
                  <a:t>Equilibrium conditions</a:t>
                </a:r>
              </a:p>
              <a:p>
                <a:endParaRPr lang="en-US" sz="2000" b="0" i="1" noProof="0"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𝑦</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𝑓</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𝐿</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𝑅</m:t>
                          </m:r>
                        </m:e>
                        <m:sub>
                          <m:r>
                            <a:rPr lang="en-US" sz="2000" b="0" i="1" noProof="0" smtClean="0">
                              <a:latin typeface="Cambria Math" panose="02040503050406030204" pitchFamily="18" charset="0"/>
                            </a:rPr>
                            <m:t>𝑖</m:t>
                          </m:r>
                        </m:sub>
                      </m:sSub>
                      <m:r>
                        <a:rPr lang="en-US" sz="2000" b="0" i="1" noProof="0" smtClean="0">
                          <a:latin typeface="Cambria Math" panose="02040503050406030204" pitchFamily="18" charset="0"/>
                        </a:rPr>
                        <m:t>)</m:t>
                      </m:r>
                    </m:oMath>
                  </m:oMathPara>
                </a14:m>
                <a:endParaRPr lang="en-US" sz="2000" i="1" noProof="0" dirty="0"/>
              </a:p>
              <a:p>
                <a:endParaRPr lang="en-US" sz="1000" i="1" dirty="0"/>
              </a:p>
              <a:p>
                <a:pPr/>
                <a14:m>
                  <m:oMathPara xmlns:m="http://schemas.openxmlformats.org/officeDocument/2006/math">
                    <m:oMathParaPr>
                      <m:jc m:val="centerGroup"/>
                    </m:oMathParaPr>
                    <m:oMath xmlns:m="http://schemas.openxmlformats.org/officeDocument/2006/math">
                      <m:acc>
                        <m:accPr>
                          <m:chr m:val="̅"/>
                          <m:ctrlPr>
                            <a:rPr lang="en-US" sz="2000" i="1" noProof="0" smtClean="0">
                              <a:latin typeface="Cambria Math" panose="02040503050406030204" pitchFamily="18" charset="0"/>
                            </a:rPr>
                          </m:ctrlPr>
                        </m:accPr>
                        <m:e>
                          <m:r>
                            <a:rPr lang="en-US" sz="2000" b="0" i="1" noProof="0" smtClean="0">
                              <a:latin typeface="Cambria Math" panose="02040503050406030204" pitchFamily="18" charset="0"/>
                            </a:rPr>
                            <m:t>𝑅</m:t>
                          </m:r>
                        </m:e>
                      </m:acc>
                      <m:r>
                        <a:rPr lang="en-US" sz="2000" b="0" i="1" noProof="0" dirty="0" smtClean="0">
                          <a:latin typeface="Cambria Math" panose="02040503050406030204" pitchFamily="18" charset="0"/>
                        </a:rPr>
                        <m:t>=</m:t>
                      </m:r>
                      <m:nary>
                        <m:naryPr>
                          <m:chr m:val="∑"/>
                          <m:supHide m:val="on"/>
                          <m:ctrlPr>
                            <a:rPr lang="en-US" sz="2000" i="1" smtClean="0">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sub>
                        <m:sup/>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𝑖</m:t>
                              </m:r>
                            </m:sub>
                          </m:sSub>
                        </m:e>
                      </m:nary>
                    </m:oMath>
                  </m:oMathPara>
                </a14:m>
                <a:endParaRPr lang="en-US" sz="2000" i="1" dirty="0">
                  <a:ea typeface="Cambria Math" panose="02040503050406030204" pitchFamily="18" charset="0"/>
                </a:endParaRPr>
              </a:p>
              <a:p>
                <a:endParaRPr lang="en-US" sz="1000" i="1" noProof="0" dirty="0"/>
              </a:p>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𝑊</m:t>
                          </m:r>
                        </m:sup>
                      </m:sSup>
                      <m:r>
                        <a:rPr lang="en-US" sz="2000" b="0" i="1" smtClean="0">
                          <a:latin typeface="Cambria Math" panose="02040503050406030204" pitchFamily="18" charset="0"/>
                        </a:rPr>
                        <m:t>=</m:t>
                      </m:r>
                      <m:nary>
                        <m:naryPr>
                          <m:chr m:val="∑"/>
                          <m:supHide m:val="on"/>
                          <m:ctrlPr>
                            <a:rPr lang="en-US" sz="2000" i="1" smtClean="0">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sub>
                        <m:sup/>
                        <m:e>
                          <m:sSubSup>
                            <m:sSubSupPr>
                              <m:ctrlPr>
                                <a:rPr lang="en-US" sz="2000" b="0" i="1" smtClean="0">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𝑅</m:t>
                              </m:r>
                            </m:e>
                            <m:sub>
                              <m:r>
                                <a:rPr lang="en-US" sz="2000" b="0" i="1" smtClean="0">
                                  <a:latin typeface="Cambria Math" panose="02040503050406030204" pitchFamily="18" charset="0"/>
                                  <a:ea typeface="Cambria Math" panose="02040503050406030204" pitchFamily="18" charset="0"/>
                                </a:rPr>
                                <m:t>𝑖</m:t>
                              </m:r>
                            </m:sub>
                            <m:sup>
                              <m:r>
                                <a:rPr lang="en-US" sz="2000" b="0" i="1" smtClean="0">
                                  <a:latin typeface="Cambria Math" panose="02040503050406030204" pitchFamily="18" charset="0"/>
                                  <a:ea typeface="Cambria Math" panose="02040503050406030204" pitchFamily="18" charset="0"/>
                                </a:rPr>
                                <m:t>𝑊</m:t>
                              </m:r>
                            </m:sup>
                          </m:sSubSup>
                        </m:e>
                      </m:nary>
                    </m:oMath>
                  </m:oMathPara>
                </a14:m>
                <a:endParaRPr lang="en-US" sz="2000" i="1" dirty="0">
                  <a:ea typeface="Cambria Math" panose="02040503050406030204" pitchFamily="18" charset="0"/>
                </a:endParaRPr>
              </a:p>
              <a:p>
                <a:endParaRPr lang="en-US" sz="1000" i="1" noProof="0" dirty="0"/>
              </a:p>
              <a:p>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i="1" smtClean="0">
                              <a:latin typeface="Cambria Math" panose="02040503050406030204" pitchFamily="18" charset="0"/>
                            </a:rPr>
                            <m:t>𝐿</m:t>
                          </m:r>
                        </m:e>
                      </m:acc>
                      <m:r>
                        <a:rPr lang="en-US" sz="2000" b="0" i="1" smtClean="0">
                          <a:latin typeface="Cambria Math" panose="02040503050406030204" pitchFamily="18" charset="0"/>
                        </a:rPr>
                        <m:t>=</m:t>
                      </m:r>
                      <m:nary>
                        <m:naryPr>
                          <m:chr m:val="∑"/>
                          <m:supHide m:val="on"/>
                          <m:ctrlPr>
                            <a:rPr lang="en-US" sz="2000" i="1" smtClean="0">
                              <a:latin typeface="Cambria Math" panose="02040503050406030204" pitchFamily="18" charset="0"/>
                            </a:rPr>
                          </m:ctrlPr>
                        </m:naryPr>
                        <m:sub>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sub>
                        <m:sup/>
                        <m:e>
                          <m:sSub>
                            <m:sSubPr>
                              <m:ctrlPr>
                                <a:rPr lang="en-US" sz="200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𝐿</m:t>
                              </m:r>
                            </m:e>
                            <m:sub>
                              <m:r>
                                <a:rPr lang="en-US" sz="2000" i="1" smtClean="0">
                                  <a:latin typeface="Cambria Math" panose="02040503050406030204" pitchFamily="18" charset="0"/>
                                  <a:ea typeface="Cambria Math" panose="02040503050406030204" pitchFamily="18" charset="0"/>
                                </a:rPr>
                                <m:t>𝑖</m:t>
                              </m:r>
                            </m:sub>
                          </m:sSub>
                        </m:e>
                      </m:nary>
                    </m:oMath>
                  </m:oMathPara>
                </a14:m>
                <a:endParaRPr lang="en-US" sz="2000" i="1" noProof="0" dirty="0"/>
              </a:p>
            </p:txBody>
          </p:sp>
        </mc:Choice>
        <mc:Fallback xmlns="">
          <p:sp>
            <p:nvSpPr>
              <p:cNvPr id="6" name="TextBox 5">
                <a:extLst>
                  <a:ext uri="{FF2B5EF4-FFF2-40B4-BE49-F238E27FC236}">
                    <a16:creationId xmlns:a16="http://schemas.microsoft.com/office/drawing/2014/main" id="{7686C8C1-1569-99F3-01E8-36CB4584FC38}"/>
                  </a:ext>
                </a:extLst>
              </p:cNvPr>
              <p:cNvSpPr txBox="1">
                <a:spLocks noRot="1" noChangeAspect="1" noMove="1" noResize="1" noEditPoints="1" noAdjustHandles="1" noChangeArrowheads="1" noChangeShapeType="1" noTextEdit="1"/>
              </p:cNvSpPr>
              <p:nvPr/>
            </p:nvSpPr>
            <p:spPr>
              <a:xfrm>
                <a:off x="508409" y="1051323"/>
                <a:ext cx="8046629" cy="5542286"/>
              </a:xfrm>
              <a:prstGeom prst="rect">
                <a:avLst/>
              </a:prstGeom>
              <a:blipFill>
                <a:blip r:embed="rId3"/>
                <a:stretch>
                  <a:fillRect l="-758" t="-549"/>
                </a:stretch>
              </a:blipFill>
            </p:spPr>
            <p:txBody>
              <a:bodyPr/>
              <a:lstStyle/>
              <a:p>
                <a:r>
                  <a:rPr lang="en-GB">
                    <a:noFill/>
                  </a:rPr>
                  <a:t> </a:t>
                </a:r>
              </a:p>
            </p:txBody>
          </p:sp>
        </mc:Fallback>
      </mc:AlternateContent>
    </p:spTree>
    <p:extLst>
      <p:ext uri="{BB962C8B-B14F-4D97-AF65-F5344CB8AC3E}">
        <p14:creationId xmlns:p14="http://schemas.microsoft.com/office/powerpoint/2010/main" val="1736134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A15EA-7608-2B46-B8AE-EF9595567D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5F67FC4-2C89-08AE-B906-319078C22A7A}"/>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010AD33B-0E12-8B08-FE7E-211122641053}"/>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BA343DB4-0E88-35F5-B2FF-0321D9906D98}"/>
              </a:ext>
            </a:extLst>
          </p:cNvPr>
          <p:cNvSpPr>
            <a:spLocks noGrp="1"/>
          </p:cNvSpPr>
          <p:nvPr>
            <p:ph type="sldNum" sz="quarter" idx="12"/>
          </p:nvPr>
        </p:nvSpPr>
        <p:spPr/>
        <p:txBody>
          <a:bodyPr/>
          <a:lstStyle/>
          <a:p>
            <a:fld id="{091A926C-488A-4E3E-9C21-57CAA120E114}" type="slidenum">
              <a:rPr lang="en-US" smtClean="0"/>
              <a:t>32</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155E21-0B5D-5D38-1B09-0155221E1777}"/>
                  </a:ext>
                </a:extLst>
              </p:cNvPr>
              <p:cNvSpPr txBox="1"/>
              <p:nvPr/>
            </p:nvSpPr>
            <p:spPr>
              <a:xfrm>
                <a:off x="508409" y="1051323"/>
                <a:ext cx="8046629" cy="3912610"/>
              </a:xfrm>
              <a:prstGeom prst="rect">
                <a:avLst/>
              </a:prstGeom>
              <a:noFill/>
            </p:spPr>
            <p:txBody>
              <a:bodyPr wrap="square" rtlCol="0">
                <a:spAutoFit/>
              </a:bodyPr>
              <a:lstStyle/>
              <a:p>
                <a:r>
                  <a:rPr lang="en-US" sz="2000" b="1" dirty="0"/>
                  <a:t>Solving the model</a:t>
                </a:r>
                <a:endParaRPr lang="en-US" sz="2000" b="1" noProof="0" dirty="0"/>
              </a:p>
              <a:p>
                <a:endParaRPr lang="en-US" sz="2000" dirty="0"/>
              </a:p>
              <a:p>
                <a:r>
                  <a:rPr lang="en-US" sz="2000" dirty="0"/>
                  <a:t>Cobb-Douglas production functions:</a:t>
                </a:r>
              </a:p>
              <a:p>
                <a:endParaRPr lang="en-US" sz="2000" dirty="0"/>
              </a:p>
              <a:p>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𝑓</m:t>
                          </m:r>
                        </m:e>
                        <m:sub>
                          <m:r>
                            <a:rPr lang="en-US" sz="2000" b="0" i="1" smtClean="0">
                              <a:latin typeface="Cambria Math" panose="02040503050406030204" pitchFamily="18" charset="0"/>
                            </a:rPr>
                            <m:t>𝑖</m:t>
                          </m:r>
                        </m:sub>
                      </m:sSub>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𝐿</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1−</m:t>
                          </m:r>
                          <m:r>
                            <a:rPr lang="en-US" sz="2000" b="0" i="1" smtClean="0">
                              <a:latin typeface="Cambria Math" panose="02040503050406030204" pitchFamily="18" charset="0"/>
                            </a:rPr>
                            <m:t>𝛾</m:t>
                          </m:r>
                        </m:sup>
                      </m:sSubSup>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𝑅</m:t>
                          </m:r>
                        </m:e>
                        <m:sub>
                          <m:r>
                            <a:rPr lang="en-US" sz="2000" b="0" i="1" smtClean="0">
                              <a:latin typeface="Cambria Math" panose="02040503050406030204" pitchFamily="18" charset="0"/>
                            </a:rPr>
                            <m:t>𝑖</m:t>
                          </m:r>
                        </m:sub>
                        <m:sup>
                          <m:r>
                            <a:rPr lang="en-US" sz="2000" b="0" i="1" smtClean="0">
                              <a:latin typeface="Cambria Math" panose="02040503050406030204" pitchFamily="18" charset="0"/>
                            </a:rPr>
                            <m:t>𝛾</m:t>
                          </m:r>
                        </m:sup>
                      </m:sSubSup>
                      <m:r>
                        <a:rPr lang="en-US" sz="2000" b="0" i="1" smtClean="0">
                          <a:latin typeface="Cambria Math" panose="02040503050406030204" pitchFamily="18" charset="0"/>
                        </a:rPr>
                        <m:t>,   0&lt;</m:t>
                      </m:r>
                      <m:r>
                        <a:rPr lang="en-US" sz="2000" b="0" i="1" smtClean="0">
                          <a:latin typeface="Cambria Math" panose="02040503050406030204" pitchFamily="18" charset="0"/>
                        </a:rPr>
                        <m:t>𝛾</m:t>
                      </m:r>
                      <m:r>
                        <a:rPr lang="en-US" sz="2000" b="0" i="1" smtClean="0">
                          <a:latin typeface="Cambria Math" panose="02040503050406030204" pitchFamily="18" charset="0"/>
                        </a:rPr>
                        <m:t>&lt;1,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𝐴</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&gt;0.</m:t>
                      </m:r>
                    </m:oMath>
                  </m:oMathPara>
                </a14:m>
                <a:endParaRPr lang="en-US" sz="2000" dirty="0"/>
              </a:p>
              <a:p>
                <a:endParaRPr lang="en-US" sz="2000" dirty="0"/>
              </a:p>
              <a:p>
                <a:endParaRPr lang="en-US" sz="2000" dirty="0"/>
              </a:p>
              <a:p>
                <a:r>
                  <a:rPr lang="en-US" sz="2000" dirty="0"/>
                  <a:t>CES aggregation function:</a:t>
                </a:r>
              </a:p>
              <a:p>
                <a:endParaRPr lang="en-US" sz="2000" dirty="0"/>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d>
                            <m:dPr>
                              <m:ctrlPr>
                                <a:rPr lang="en-US" sz="2000" b="0" i="1" smtClean="0">
                                  <a:latin typeface="Cambria Math" panose="02040503050406030204" pitchFamily="18" charset="0"/>
                                </a:rPr>
                              </m:ctrlPr>
                            </m:dPr>
                            <m:e>
                              <m:nary>
                                <m:naryPr>
                                  <m:chr m:val="∑"/>
                                  <m:supHide m:val="on"/>
                                  <m:ctrlPr>
                                    <a:rPr lang="en-US" sz="2000" i="1" smtClean="0">
                                      <a:latin typeface="Cambria Math" panose="02040503050406030204" pitchFamily="18" charset="0"/>
                                    </a:rPr>
                                  </m:ctrlPr>
                                </m:naryPr>
                                <m:sub>
                                  <m:r>
                                    <a:rPr lang="en-US" sz="2000" i="1" smtClean="0">
                                      <a:latin typeface="Cambria Math" panose="02040503050406030204" pitchFamily="18" charset="0"/>
                                    </a:rPr>
                                    <m:t>𝑖</m:t>
                                  </m:r>
                                  <m:r>
                                    <a:rPr lang="en-US" sz="200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sub>
                                <m:sup/>
                                <m:e>
                                  <m:sSubSup>
                                    <m:sSubSupPr>
                                      <m:ctrlPr>
                                        <a:rPr lang="en-US" sz="2000" b="0" i="1" smtClean="0">
                                          <a:latin typeface="Cambria Math" panose="02040503050406030204" pitchFamily="18" charset="0"/>
                                          <a:ea typeface="Cambria Math" panose="02040503050406030204" pitchFamily="18" charset="0"/>
                                        </a:rPr>
                                      </m:ctrlPr>
                                    </m:sSubSupPr>
                                    <m:e>
                                      <m:r>
                                        <a:rPr lang="en-US" sz="2000" i="1" smtClean="0">
                                          <a:latin typeface="Cambria Math" panose="02040503050406030204" pitchFamily="18" charset="0"/>
                                          <a:ea typeface="Cambria Math" panose="02040503050406030204" pitchFamily="18" charset="0"/>
                                        </a:rPr>
                                        <m:t>𝑦</m:t>
                                      </m:r>
                                    </m:e>
                                    <m:sub>
                                      <m:r>
                                        <a:rPr lang="en-US" sz="2000" i="1" smtClean="0">
                                          <a:latin typeface="Cambria Math" panose="02040503050406030204" pitchFamily="18" charset="0"/>
                                          <a:ea typeface="Cambria Math" panose="02040503050406030204" pitchFamily="18" charset="0"/>
                                        </a:rPr>
                                        <m:t>𝑖</m:t>
                                      </m:r>
                                    </m:sub>
                                    <m:sup>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𝜖</m:t>
                                          </m:r>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𝜖</m:t>
                                          </m:r>
                                        </m:den>
                                      </m:f>
                                    </m:sup>
                                  </m:sSubSup>
                                </m:e>
                              </m:nary>
                            </m:e>
                          </m:d>
                        </m:e>
                        <m:sup>
                          <m:f>
                            <m:fPr>
                              <m:ctrlPr>
                                <a:rPr lang="en-US" sz="2000" i="1" smtClean="0">
                                  <a:latin typeface="Cambria Math" panose="02040503050406030204" pitchFamily="18" charset="0"/>
                                  <a:ea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𝜖</m:t>
                              </m:r>
                            </m:num>
                            <m:den>
                              <m:r>
                                <a:rPr lang="en-US" sz="2000" i="1" smtClean="0">
                                  <a:latin typeface="Cambria Math" panose="02040503050406030204" pitchFamily="18" charset="0"/>
                                  <a:ea typeface="Cambria Math" panose="02040503050406030204" pitchFamily="18" charset="0"/>
                                </a:rPr>
                                <m:t>𝜖</m:t>
                              </m:r>
                              <m:r>
                                <a:rPr lang="en-US" sz="2000" b="0" i="1" smtClean="0">
                                  <a:latin typeface="Cambria Math" panose="02040503050406030204" pitchFamily="18" charset="0"/>
                                  <a:ea typeface="Cambria Math" panose="02040503050406030204" pitchFamily="18" charset="0"/>
                                </a:rPr>
                                <m:t>−1</m:t>
                              </m:r>
                            </m:den>
                          </m:f>
                        </m:sup>
                      </m:sSup>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𝜖</m:t>
                      </m:r>
                      <m:r>
                        <a:rPr lang="en-US" sz="2000" b="0" i="1" smtClean="0">
                          <a:latin typeface="Cambria Math" panose="02040503050406030204" pitchFamily="18" charset="0"/>
                          <a:ea typeface="Cambria Math" panose="02040503050406030204" pitchFamily="18" charset="0"/>
                        </a:rPr>
                        <m:t>&gt;0,        </m:t>
                      </m:r>
                      <m:r>
                        <a:rPr lang="en-US" sz="2000" b="0" i="1" smtClean="0">
                          <a:latin typeface="Cambria Math" panose="02040503050406030204" pitchFamily="18" charset="0"/>
                          <a:ea typeface="Cambria Math" panose="02040503050406030204" pitchFamily="18" charset="0"/>
                        </a:rPr>
                        <m:t>𝜖</m:t>
                      </m:r>
                      <m:r>
                        <a:rPr lang="en-US" sz="2000" b="0" i="1" smtClean="0">
                          <a:latin typeface="Cambria Math" panose="02040503050406030204" pitchFamily="18" charset="0"/>
                          <a:ea typeface="Cambria Math" panose="02040503050406030204" pitchFamily="18" charset="0"/>
                        </a:rPr>
                        <m:t>≠1.</m:t>
                      </m:r>
                    </m:oMath>
                  </m:oMathPara>
                </a14:m>
                <a:endParaRPr lang="en-US" sz="2000" dirty="0"/>
              </a:p>
            </p:txBody>
          </p:sp>
        </mc:Choice>
        <mc:Fallback xmlns="">
          <p:sp>
            <p:nvSpPr>
              <p:cNvPr id="6" name="TextBox 5">
                <a:extLst>
                  <a:ext uri="{FF2B5EF4-FFF2-40B4-BE49-F238E27FC236}">
                    <a16:creationId xmlns:a16="http://schemas.microsoft.com/office/drawing/2014/main" id="{03155E21-0B5D-5D38-1B09-0155221E1777}"/>
                  </a:ext>
                </a:extLst>
              </p:cNvPr>
              <p:cNvSpPr txBox="1">
                <a:spLocks noRot="1" noChangeAspect="1" noMove="1" noResize="1" noEditPoints="1" noAdjustHandles="1" noChangeArrowheads="1" noChangeShapeType="1" noTextEdit="1"/>
              </p:cNvSpPr>
              <p:nvPr/>
            </p:nvSpPr>
            <p:spPr>
              <a:xfrm>
                <a:off x="508409" y="1051323"/>
                <a:ext cx="8046629" cy="3912610"/>
              </a:xfrm>
              <a:prstGeom prst="rect">
                <a:avLst/>
              </a:prstGeom>
              <a:blipFill>
                <a:blip r:embed="rId3"/>
                <a:stretch>
                  <a:fillRect l="-758" t="-779"/>
                </a:stretch>
              </a:blipFill>
            </p:spPr>
            <p:txBody>
              <a:bodyPr/>
              <a:lstStyle/>
              <a:p>
                <a:r>
                  <a:rPr lang="en-GB">
                    <a:noFill/>
                  </a:rPr>
                  <a:t> </a:t>
                </a:r>
              </a:p>
            </p:txBody>
          </p:sp>
        </mc:Fallback>
      </mc:AlternateContent>
    </p:spTree>
    <p:extLst>
      <p:ext uri="{BB962C8B-B14F-4D97-AF65-F5344CB8AC3E}">
        <p14:creationId xmlns:p14="http://schemas.microsoft.com/office/powerpoint/2010/main" val="25354768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300E-5743-FAF3-6AC8-8E697652053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2C4404F-B33C-2DEC-39C9-DBDCCF86EDDF}"/>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C0CB6C6F-455D-B7A8-C721-C207D7EE711B}"/>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B3248BA7-8FA1-A519-D05D-261A4A697929}"/>
              </a:ext>
            </a:extLst>
          </p:cNvPr>
          <p:cNvSpPr>
            <a:spLocks noGrp="1"/>
          </p:cNvSpPr>
          <p:nvPr>
            <p:ph type="sldNum" sz="quarter" idx="12"/>
          </p:nvPr>
        </p:nvSpPr>
        <p:spPr/>
        <p:txBody>
          <a:bodyPr/>
          <a:lstStyle/>
          <a:p>
            <a:fld id="{091A926C-488A-4E3E-9C21-57CAA120E114}" type="slidenum">
              <a:rPr lang="en-US" smtClean="0"/>
              <a:t>33</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0957701-768C-4D52-867B-85B7BE20EB17}"/>
                  </a:ext>
                </a:extLst>
              </p:cNvPr>
              <p:cNvSpPr txBox="1"/>
              <p:nvPr/>
            </p:nvSpPr>
            <p:spPr>
              <a:xfrm>
                <a:off x="508409" y="1051323"/>
                <a:ext cx="8046629" cy="2608727"/>
              </a:xfrm>
              <a:prstGeom prst="rect">
                <a:avLst/>
              </a:prstGeom>
              <a:noFill/>
            </p:spPr>
            <p:txBody>
              <a:bodyPr wrap="square" rtlCol="0">
                <a:spAutoFit/>
              </a:bodyPr>
              <a:lstStyle/>
              <a:p>
                <a:r>
                  <a:rPr lang="en-US" sz="2000" b="1" noProof="0" dirty="0"/>
                  <a:t>Proposition 1:</a:t>
                </a:r>
              </a:p>
              <a:p>
                <a:r>
                  <a:rPr lang="en-US" sz="2000" dirty="0"/>
                  <a:t>Improving the recycling possibilities in sector </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oMath>
                </a14:m>
                <a:r>
                  <a:rPr lang="en-US" sz="2000" dirty="0"/>
                  <a:t> increases aggregate virgin material use of the domestic economy:</a:t>
                </a:r>
              </a:p>
              <a:p>
                <a:endParaRPr lang="en-US" sz="2000" noProof="0" dirty="0"/>
              </a:p>
              <a:p>
                <a:pPr/>
                <a14:m>
                  <m:oMathPara xmlns:m="http://schemas.openxmlformats.org/officeDocument/2006/math">
                    <m:oMathParaPr>
                      <m:jc m:val="centerGroup"/>
                    </m:oMathParaPr>
                    <m:oMath xmlns:m="http://schemas.openxmlformats.org/officeDocument/2006/math">
                      <m:f>
                        <m:fPr>
                          <m:ctrlPr>
                            <a:rPr lang="en-US" sz="2000" i="1" noProof="0" smtClean="0">
                              <a:latin typeface="Cambria Math" panose="02040503050406030204" pitchFamily="18" charset="0"/>
                            </a:rPr>
                          </m:ctrlPr>
                        </m:fPr>
                        <m:num>
                          <m:r>
                            <a:rPr lang="en-US" sz="2000" b="0" i="1" noProof="0" smtClean="0">
                              <a:latin typeface="Cambria Math" panose="02040503050406030204" pitchFamily="18" charset="0"/>
                            </a:rPr>
                            <m:t>𝑑</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𝑅</m:t>
                              </m:r>
                            </m:e>
                            <m:sup>
                              <m:r>
                                <a:rPr lang="en-US" sz="2000" b="0" i="1" noProof="0" smtClean="0">
                                  <a:latin typeface="Cambria Math" panose="02040503050406030204" pitchFamily="18" charset="0"/>
                                </a:rPr>
                                <m:t>𝑉</m:t>
                              </m:r>
                            </m:sup>
                          </m:sSup>
                        </m:num>
                        <m:den>
                          <m:r>
                            <a:rPr lang="en-US" sz="2000" b="0" i="1" noProof="0" smtClean="0">
                              <a:latin typeface="Cambria Math" panose="02040503050406030204" pitchFamily="18" charset="0"/>
                            </a:rPr>
                            <m:t>𝑑</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den>
                      </m:f>
                      <m:r>
                        <a:rPr lang="en-US" sz="2000" b="0" i="1" noProof="0" smtClean="0">
                          <a:latin typeface="Cambria Math" panose="02040503050406030204" pitchFamily="18" charset="0"/>
                        </a:rPr>
                        <m:t>&gt;0.</m:t>
                      </m:r>
                    </m:oMath>
                  </m:oMathPara>
                </a14:m>
                <a:endParaRPr lang="en-US" sz="2000" noProof="0" dirty="0"/>
              </a:p>
              <a:p>
                <a:endParaRPr lang="en-US" sz="2000" dirty="0"/>
              </a:p>
              <a:p>
                <a:endParaRPr lang="en-US" sz="2000" dirty="0"/>
              </a:p>
            </p:txBody>
          </p:sp>
        </mc:Choice>
        <mc:Fallback xmlns="">
          <p:sp>
            <p:nvSpPr>
              <p:cNvPr id="6" name="TextBox 5">
                <a:extLst>
                  <a:ext uri="{FF2B5EF4-FFF2-40B4-BE49-F238E27FC236}">
                    <a16:creationId xmlns:a16="http://schemas.microsoft.com/office/drawing/2014/main" id="{60957701-768C-4D52-867B-85B7BE20EB17}"/>
                  </a:ext>
                </a:extLst>
              </p:cNvPr>
              <p:cNvSpPr txBox="1">
                <a:spLocks noRot="1" noChangeAspect="1" noMove="1" noResize="1" noEditPoints="1" noAdjustHandles="1" noChangeArrowheads="1" noChangeShapeType="1" noTextEdit="1"/>
              </p:cNvSpPr>
              <p:nvPr/>
            </p:nvSpPr>
            <p:spPr>
              <a:xfrm>
                <a:off x="508409" y="1051323"/>
                <a:ext cx="8046629" cy="2608727"/>
              </a:xfrm>
              <a:prstGeom prst="rect">
                <a:avLst/>
              </a:prstGeom>
              <a:blipFill>
                <a:blip r:embed="rId3"/>
                <a:stretch>
                  <a:fillRect l="-758" t="-1168"/>
                </a:stretch>
              </a:blipFill>
            </p:spPr>
            <p:txBody>
              <a:bodyPr/>
              <a:lstStyle/>
              <a:p>
                <a:r>
                  <a:rPr lang="en-GB">
                    <a:noFill/>
                  </a:rPr>
                  <a:t> </a:t>
                </a:r>
              </a:p>
            </p:txBody>
          </p:sp>
        </mc:Fallback>
      </mc:AlternateContent>
    </p:spTree>
    <p:extLst>
      <p:ext uri="{BB962C8B-B14F-4D97-AF65-F5344CB8AC3E}">
        <p14:creationId xmlns:p14="http://schemas.microsoft.com/office/powerpoint/2010/main" val="3346983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5844F-A8FC-5379-00F3-01448F4546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DF85C6-0847-1D63-910F-61DACA9B2BA2}"/>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23569346-155E-7EBB-8990-8126D8B5B8B1}"/>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45BDAEA4-D7C7-9570-ED71-C92F95073AB4}"/>
              </a:ext>
            </a:extLst>
          </p:cNvPr>
          <p:cNvSpPr>
            <a:spLocks noGrp="1"/>
          </p:cNvSpPr>
          <p:nvPr>
            <p:ph type="sldNum" sz="quarter" idx="12"/>
          </p:nvPr>
        </p:nvSpPr>
        <p:spPr/>
        <p:txBody>
          <a:bodyPr/>
          <a:lstStyle/>
          <a:p>
            <a:fld id="{091A926C-488A-4E3E-9C21-57CAA120E114}" type="slidenum">
              <a:rPr lang="en-US" smtClean="0"/>
              <a:t>34</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37030E7-E2B4-C2BD-1157-41D537AFFA9F}"/>
                  </a:ext>
                </a:extLst>
              </p:cNvPr>
              <p:cNvSpPr txBox="1"/>
              <p:nvPr/>
            </p:nvSpPr>
            <p:spPr>
              <a:xfrm>
                <a:off x="508409" y="1051323"/>
                <a:ext cx="8046629" cy="4509568"/>
              </a:xfrm>
              <a:prstGeom prst="rect">
                <a:avLst/>
              </a:prstGeom>
              <a:noFill/>
            </p:spPr>
            <p:txBody>
              <a:bodyPr wrap="square" rtlCol="0">
                <a:spAutoFit/>
              </a:bodyPr>
              <a:lstStyle/>
              <a:p>
                <a:r>
                  <a:rPr lang="en-US" sz="2000" b="1" noProof="0" dirty="0"/>
                  <a:t>Proposition 1:</a:t>
                </a:r>
              </a:p>
              <a:p>
                <a:r>
                  <a:rPr lang="en-US" sz="2000" dirty="0"/>
                  <a:t>Improving the recycling possibilities in sector </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oMath>
                </a14:m>
                <a:r>
                  <a:rPr lang="en-US" sz="2000" dirty="0"/>
                  <a:t> increases aggregate virgin material use of the domestic economy:</a:t>
                </a:r>
              </a:p>
              <a:p>
                <a:endParaRPr lang="en-US" sz="2000" noProof="0" dirty="0"/>
              </a:p>
              <a:p>
                <a:pPr/>
                <a14:m>
                  <m:oMathPara xmlns:m="http://schemas.openxmlformats.org/officeDocument/2006/math">
                    <m:oMathParaPr>
                      <m:jc m:val="centerGroup"/>
                    </m:oMathParaPr>
                    <m:oMath xmlns:m="http://schemas.openxmlformats.org/officeDocument/2006/math">
                      <m:f>
                        <m:fPr>
                          <m:ctrlPr>
                            <a:rPr lang="en-US" sz="2000" i="1" noProof="0" smtClean="0">
                              <a:latin typeface="Cambria Math" panose="02040503050406030204" pitchFamily="18" charset="0"/>
                            </a:rPr>
                          </m:ctrlPr>
                        </m:fPr>
                        <m:num>
                          <m:r>
                            <a:rPr lang="en-US" sz="2000" b="0" i="1" noProof="0" smtClean="0">
                              <a:latin typeface="Cambria Math" panose="02040503050406030204" pitchFamily="18" charset="0"/>
                            </a:rPr>
                            <m:t>𝑑</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𝑅</m:t>
                              </m:r>
                            </m:e>
                            <m:sup>
                              <m:r>
                                <a:rPr lang="en-US" sz="2000" b="0" i="1" noProof="0" smtClean="0">
                                  <a:latin typeface="Cambria Math" panose="02040503050406030204" pitchFamily="18" charset="0"/>
                                </a:rPr>
                                <m:t>𝑉</m:t>
                              </m:r>
                            </m:sup>
                          </m:sSup>
                        </m:num>
                        <m:den>
                          <m:r>
                            <a:rPr lang="en-US" sz="2000" b="0" i="1" noProof="0" smtClean="0">
                              <a:latin typeface="Cambria Math" panose="02040503050406030204" pitchFamily="18" charset="0"/>
                            </a:rPr>
                            <m:t>𝑑</m:t>
                          </m:r>
                          <m:sSub>
                            <m:sSubPr>
                              <m:ctrlPr>
                                <a:rPr lang="en-US" sz="2000" b="0" i="1" noProof="0" smtClean="0">
                                  <a:latin typeface="Cambria Math" panose="02040503050406030204" pitchFamily="18" charset="0"/>
                                </a:rPr>
                              </m:ctrlPr>
                            </m:sSubPr>
                            <m:e>
                              <m:r>
                                <a:rPr lang="en-US" sz="2000" b="0" i="1" noProof="0" smtClean="0">
                                  <a:latin typeface="Cambria Math" panose="02040503050406030204" pitchFamily="18" charset="0"/>
                                </a:rPr>
                                <m:t>𝛽</m:t>
                              </m:r>
                            </m:e>
                            <m:sub>
                              <m:r>
                                <a:rPr lang="en-US" sz="2000" b="0" i="1" noProof="0" smtClean="0">
                                  <a:latin typeface="Cambria Math" panose="02040503050406030204" pitchFamily="18" charset="0"/>
                                </a:rPr>
                                <m:t>𝑖</m:t>
                              </m:r>
                            </m:sub>
                          </m:sSub>
                        </m:den>
                      </m:f>
                      <m:r>
                        <a:rPr lang="en-US" sz="2000" b="0" i="1" noProof="0" smtClean="0">
                          <a:latin typeface="Cambria Math" panose="02040503050406030204" pitchFamily="18" charset="0"/>
                        </a:rPr>
                        <m:t>&gt;0.</m:t>
                      </m:r>
                    </m:oMath>
                  </m:oMathPara>
                </a14:m>
                <a:endParaRPr lang="en-US" sz="2000" noProof="0" dirty="0"/>
              </a:p>
              <a:p>
                <a:endParaRPr lang="en-US" sz="2000" dirty="0"/>
              </a:p>
              <a:p>
                <a:r>
                  <a:rPr lang="en-US" sz="2000" noProof="0" dirty="0"/>
                  <a:t>Hence, we have a strong material rebound effect! </a:t>
                </a:r>
              </a:p>
              <a:p>
                <a:endParaRPr lang="en-US" sz="200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𝑟</m:t>
                      </m:r>
                      <m:r>
                        <a:rPr lang="en-US" sz="2000" b="0" i="1" noProof="0" smtClean="0">
                          <a:latin typeface="Cambria Math" panose="02040503050406030204" pitchFamily="18" charset="0"/>
                        </a:rPr>
                        <m:t>=1+</m:t>
                      </m:r>
                      <m:f>
                        <m:fPr>
                          <m:ctrlPr>
                            <a:rPr lang="en-US" sz="2000" i="1">
                              <a:latin typeface="Cambria Math" panose="02040503050406030204" pitchFamily="18" charset="0"/>
                            </a:rPr>
                          </m:ctrlPr>
                        </m:fPr>
                        <m:num>
                          <m:r>
                            <a:rPr lang="en-US" sz="2000" i="1" smtClean="0">
                              <a:latin typeface="Cambria Math" panose="02040503050406030204" pitchFamily="18" charset="0"/>
                            </a:rPr>
                            <m:t>𝑑</m:t>
                          </m:r>
                          <m:sSup>
                            <m:sSupPr>
                              <m:ctrlPr>
                                <a:rPr lang="en-US" sz="2000" i="1" smtClean="0">
                                  <a:latin typeface="Cambria Math" panose="02040503050406030204" pitchFamily="18" charset="0"/>
                                </a:rPr>
                              </m:ctrlPr>
                            </m:sSupPr>
                            <m:e>
                              <m:r>
                                <a:rPr lang="en-US" sz="2000" i="1" smtClean="0">
                                  <a:latin typeface="Cambria Math" panose="02040503050406030204" pitchFamily="18" charset="0"/>
                                </a:rPr>
                                <m:t>𝑅</m:t>
                              </m:r>
                            </m:e>
                            <m:sup>
                              <m:r>
                                <a:rPr lang="en-US" sz="2000" i="1" smtClean="0">
                                  <a:latin typeface="Cambria Math" panose="02040503050406030204" pitchFamily="18" charset="0"/>
                                </a:rPr>
                                <m:t>𝑉</m:t>
                              </m:r>
                            </m:sup>
                          </m:sSup>
                        </m:num>
                        <m:den>
                          <m:r>
                            <a:rPr lang="en-US" sz="2000" i="1" smtClean="0">
                              <a:latin typeface="Cambria Math" panose="02040503050406030204" pitchFamily="18" charset="0"/>
                            </a:rPr>
                            <m:t>𝑑</m:t>
                          </m:r>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𝛽</m:t>
                              </m:r>
                            </m:e>
                            <m:sub>
                              <m:r>
                                <a:rPr lang="en-US" sz="2000" i="1" smtClean="0">
                                  <a:latin typeface="Cambria Math" panose="02040503050406030204" pitchFamily="18" charset="0"/>
                                </a:rPr>
                                <m:t>𝑖</m:t>
                              </m:r>
                            </m:sub>
                          </m:sSub>
                        </m:den>
                      </m:f>
                      <m:f>
                        <m:fPr>
                          <m:ctrlPr>
                            <a:rPr lang="en-US" sz="2000" i="1" smtClean="0">
                              <a:latin typeface="Cambria Math" panose="02040503050406030204" pitchFamily="18" charset="0"/>
                            </a:rPr>
                          </m:ctrlPr>
                        </m:fPr>
                        <m:num>
                          <m:sSub>
                            <m:sSubPr>
                              <m:ctrlPr>
                                <a:rPr lang="en-US" sz="2000" i="1" smtClean="0">
                                  <a:latin typeface="Cambria Math" panose="02040503050406030204" pitchFamily="18" charset="0"/>
                                </a:rPr>
                              </m:ctrlPr>
                            </m:sSubPr>
                            <m:e>
                              <m:r>
                                <a:rPr lang="en-US" sz="2000" i="1" smtClean="0">
                                  <a:latin typeface="Cambria Math" panose="02040503050406030204" pitchFamily="18" charset="0"/>
                                </a:rPr>
                                <m:t>𝛽</m:t>
                              </m:r>
                            </m:e>
                            <m:sub>
                              <m:r>
                                <a:rPr lang="en-US" sz="2000" i="1" smtClean="0">
                                  <a:latin typeface="Cambria Math" panose="02040503050406030204" pitchFamily="18" charset="0"/>
                                </a:rPr>
                                <m:t>𝑖</m:t>
                              </m:r>
                            </m:sub>
                          </m:sSub>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𝑉</m:t>
                              </m:r>
                            </m:sup>
                          </m:sSup>
                        </m:den>
                      </m:f>
                      <m:r>
                        <a:rPr lang="en-US" sz="2000" b="0" i="1" smtClean="0">
                          <a:latin typeface="Cambria Math" panose="02040503050406030204" pitchFamily="18" charset="0"/>
                        </a:rPr>
                        <m:t>&gt;1.</m:t>
                      </m:r>
                    </m:oMath>
                  </m:oMathPara>
                </a14:m>
                <a:endParaRPr lang="en-US" sz="2000" noProof="0" dirty="0"/>
              </a:p>
              <a:p>
                <a:endParaRPr lang="en-US" sz="2000" dirty="0"/>
              </a:p>
              <a:p>
                <a:r>
                  <a:rPr lang="en-US" sz="2000" noProof="0" dirty="0"/>
                  <a:t>Intuition? </a:t>
                </a:r>
              </a:p>
              <a:p>
                <a:endParaRPr lang="en-US" sz="2000" dirty="0"/>
              </a:p>
            </p:txBody>
          </p:sp>
        </mc:Choice>
        <mc:Fallback xmlns="">
          <p:sp>
            <p:nvSpPr>
              <p:cNvPr id="6" name="TextBox 5">
                <a:extLst>
                  <a:ext uri="{FF2B5EF4-FFF2-40B4-BE49-F238E27FC236}">
                    <a16:creationId xmlns:a16="http://schemas.microsoft.com/office/drawing/2014/main" id="{037030E7-E2B4-C2BD-1157-41D537AFFA9F}"/>
                  </a:ext>
                </a:extLst>
              </p:cNvPr>
              <p:cNvSpPr txBox="1">
                <a:spLocks noRot="1" noChangeAspect="1" noMove="1" noResize="1" noEditPoints="1" noAdjustHandles="1" noChangeArrowheads="1" noChangeShapeType="1" noTextEdit="1"/>
              </p:cNvSpPr>
              <p:nvPr/>
            </p:nvSpPr>
            <p:spPr>
              <a:xfrm>
                <a:off x="508409" y="1051323"/>
                <a:ext cx="8046629" cy="4509568"/>
              </a:xfrm>
              <a:prstGeom prst="rect">
                <a:avLst/>
              </a:prstGeom>
              <a:blipFill>
                <a:blip r:embed="rId3"/>
                <a:stretch>
                  <a:fillRect l="-758" t="-676"/>
                </a:stretch>
              </a:blipFill>
            </p:spPr>
            <p:txBody>
              <a:bodyPr/>
              <a:lstStyle/>
              <a:p>
                <a:r>
                  <a:rPr lang="en-GB">
                    <a:noFill/>
                  </a:rPr>
                  <a:t> </a:t>
                </a:r>
              </a:p>
            </p:txBody>
          </p:sp>
        </mc:Fallback>
      </mc:AlternateContent>
    </p:spTree>
    <p:extLst>
      <p:ext uri="{BB962C8B-B14F-4D97-AF65-F5344CB8AC3E}">
        <p14:creationId xmlns:p14="http://schemas.microsoft.com/office/powerpoint/2010/main" val="41024097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015DA-A86B-5098-E182-D5B4054A125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A3C8B07-4414-D8BF-12AD-E16AC217DB5C}"/>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693F45C7-CD75-4DBE-EBFA-A48829D5E4ED}"/>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DBC5F495-11CD-CF21-9A2B-FDC781EB691A}"/>
              </a:ext>
            </a:extLst>
          </p:cNvPr>
          <p:cNvSpPr>
            <a:spLocks noGrp="1"/>
          </p:cNvSpPr>
          <p:nvPr>
            <p:ph type="sldNum" sz="quarter" idx="12"/>
          </p:nvPr>
        </p:nvSpPr>
        <p:spPr/>
        <p:txBody>
          <a:bodyPr/>
          <a:lstStyle/>
          <a:p>
            <a:fld id="{091A926C-488A-4E3E-9C21-57CAA120E114}" type="slidenum">
              <a:rPr lang="en-US" smtClean="0"/>
              <a:t>35</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36F43B8-104B-1596-0747-AC42962C0C61}"/>
                  </a:ext>
                </a:extLst>
              </p:cNvPr>
              <p:cNvSpPr txBox="1"/>
              <p:nvPr/>
            </p:nvSpPr>
            <p:spPr>
              <a:xfrm>
                <a:off x="508409" y="1051323"/>
                <a:ext cx="8046629" cy="3785652"/>
              </a:xfrm>
              <a:prstGeom prst="rect">
                <a:avLst/>
              </a:prstGeom>
              <a:noFill/>
            </p:spPr>
            <p:txBody>
              <a:bodyPr wrap="square" rtlCol="0">
                <a:spAutoFit/>
              </a:bodyPr>
              <a:lstStyle/>
              <a:p>
                <a:r>
                  <a:rPr lang="en-US" sz="2000" b="1" noProof="0" dirty="0"/>
                  <a:t>Intuition</a:t>
                </a:r>
              </a:p>
              <a:p>
                <a:endParaRPr lang="en-US" sz="2000" noProof="0" dirty="0"/>
              </a:p>
              <a:p>
                <a:pPr marL="342900" indent="-342900">
                  <a:buFont typeface="Arial" panose="020B0604020202020204" pitchFamily="34" charset="0"/>
                  <a:buChar char="•"/>
                </a:pPr>
                <a:r>
                  <a:rPr lang="en-US" sz="2000" dirty="0"/>
                  <a:t>More valuable waste per unit of input </a:t>
                </a:r>
                <a14:m>
                  <m:oMath xmlns:m="http://schemas.openxmlformats.org/officeDocument/2006/math">
                    <m:r>
                      <a:rPr lang="en-US" sz="2000" b="0" i="1" smtClean="0">
                        <a:latin typeface="Cambria Math" panose="02040503050406030204" pitchFamily="18" charset="0"/>
                      </a:rPr>
                      <m:t>⇒</m:t>
                    </m:r>
                  </m:oMath>
                </a14:m>
                <a:r>
                  <a:rPr lang="en-US" sz="2000" dirty="0"/>
                  <a:t> </a:t>
                </a:r>
                <a:r>
                  <a:rPr lang="en-US" sz="2000" noProof="0" dirty="0"/>
                  <a:t>Cheaper to use </a:t>
                </a:r>
                <a:r>
                  <a:rPr lang="en-US" sz="2000" dirty="0"/>
                  <a:t>natural resources </a:t>
                </a:r>
                <a14:m>
                  <m:oMath xmlns:m="http://schemas.openxmlformats.org/officeDocument/2006/math">
                    <m:r>
                      <a:rPr lang="en-US" sz="2000" i="1" smtClean="0">
                        <a:latin typeface="Cambria Math" panose="02040503050406030204" pitchFamily="18" charset="0"/>
                      </a:rPr>
                      <m:t>⇒ </m:t>
                    </m:r>
                  </m:oMath>
                </a14:m>
                <a:r>
                  <a:rPr lang="en-US" sz="2000" dirty="0"/>
                  <a:t>Increases demand for all materials.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Increased supply of recycled materials </a:t>
                </a:r>
                <a14:m>
                  <m:oMath xmlns:m="http://schemas.openxmlformats.org/officeDocument/2006/math">
                    <m:r>
                      <a:rPr lang="en-US" sz="2000" i="1" smtClean="0">
                        <a:latin typeface="Cambria Math" panose="02040503050406030204" pitchFamily="18" charset="0"/>
                      </a:rPr>
                      <m:t>⇒</m:t>
                    </m:r>
                  </m:oMath>
                </a14:m>
                <a:r>
                  <a:rPr lang="en-US" sz="2000" dirty="0"/>
                  <a:t> Reduces demand for virgin materials.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first effect dominates under the assumed functional forms </a:t>
                </a:r>
                <a14:m>
                  <m:oMath xmlns:m="http://schemas.openxmlformats.org/officeDocument/2006/math">
                    <m:r>
                      <a:rPr lang="en-US" sz="2000" i="1" smtClean="0">
                        <a:latin typeface="Cambria Math" panose="02040503050406030204" pitchFamily="18" charset="0"/>
                      </a:rPr>
                      <m:t>⇒</m:t>
                    </m:r>
                  </m:oMath>
                </a14:m>
                <a:r>
                  <a:rPr lang="en-US" sz="2000" dirty="0"/>
                  <a:t> Increased demand for virgin materials. </a:t>
                </a:r>
              </a:p>
              <a:p>
                <a:pPr marL="342900" indent="-342900">
                  <a:buFont typeface="Arial" panose="020B0604020202020204" pitchFamily="34" charset="0"/>
                  <a:buChar char="•"/>
                </a:pPr>
                <a:endParaRPr lang="en-US" sz="2000" noProof="0" dirty="0"/>
              </a:p>
              <a:p>
                <a:endParaRPr lang="en-US" sz="2000" dirty="0"/>
              </a:p>
            </p:txBody>
          </p:sp>
        </mc:Choice>
        <mc:Fallback xmlns="">
          <p:sp>
            <p:nvSpPr>
              <p:cNvPr id="6" name="TextBox 5">
                <a:extLst>
                  <a:ext uri="{FF2B5EF4-FFF2-40B4-BE49-F238E27FC236}">
                    <a16:creationId xmlns:a16="http://schemas.microsoft.com/office/drawing/2014/main" id="{536F43B8-104B-1596-0747-AC42962C0C61}"/>
                  </a:ext>
                </a:extLst>
              </p:cNvPr>
              <p:cNvSpPr txBox="1">
                <a:spLocks noRot="1" noChangeAspect="1" noMove="1" noResize="1" noEditPoints="1" noAdjustHandles="1" noChangeArrowheads="1" noChangeShapeType="1" noTextEdit="1"/>
              </p:cNvSpPr>
              <p:nvPr/>
            </p:nvSpPr>
            <p:spPr>
              <a:xfrm>
                <a:off x="508409" y="1051323"/>
                <a:ext cx="8046629" cy="3785652"/>
              </a:xfrm>
              <a:prstGeom prst="rect">
                <a:avLst/>
              </a:prstGeom>
              <a:blipFill>
                <a:blip r:embed="rId3"/>
                <a:stretch>
                  <a:fillRect l="-758" t="-805"/>
                </a:stretch>
              </a:blipFill>
            </p:spPr>
            <p:txBody>
              <a:bodyPr/>
              <a:lstStyle/>
              <a:p>
                <a:r>
                  <a:rPr lang="en-GB">
                    <a:noFill/>
                  </a:rPr>
                  <a:t> </a:t>
                </a:r>
              </a:p>
            </p:txBody>
          </p:sp>
        </mc:Fallback>
      </mc:AlternateContent>
      <p:sp>
        <p:nvSpPr>
          <p:cNvPr id="5" name="Arrow: Down 4">
            <a:extLst>
              <a:ext uri="{FF2B5EF4-FFF2-40B4-BE49-F238E27FC236}">
                <a16:creationId xmlns:a16="http://schemas.microsoft.com/office/drawing/2014/main" id="{35C3CBC9-5B1B-F81D-3326-37844F1CFD5D}"/>
              </a:ext>
            </a:extLst>
          </p:cNvPr>
          <p:cNvSpPr/>
          <p:nvPr/>
        </p:nvSpPr>
        <p:spPr>
          <a:xfrm>
            <a:off x="8393464" y="2716642"/>
            <a:ext cx="344481" cy="46692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Down 6">
            <a:extLst>
              <a:ext uri="{FF2B5EF4-FFF2-40B4-BE49-F238E27FC236}">
                <a16:creationId xmlns:a16="http://schemas.microsoft.com/office/drawing/2014/main" id="{FF14F8C0-86B5-BCA6-987D-8C61B5195CC1}"/>
              </a:ext>
            </a:extLst>
          </p:cNvPr>
          <p:cNvSpPr/>
          <p:nvPr/>
        </p:nvSpPr>
        <p:spPr>
          <a:xfrm rot="10800000">
            <a:off x="8393464" y="1728336"/>
            <a:ext cx="344481" cy="466928"/>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453363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6086D-2007-379F-EAEB-A766005124C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FC677E-755F-C954-7036-A0D706AC24C0}"/>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1DC223B2-6994-E650-463F-C5C4959FE2ED}"/>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7FD392D0-F94C-3135-7F1C-00060C2F8810}"/>
              </a:ext>
            </a:extLst>
          </p:cNvPr>
          <p:cNvSpPr>
            <a:spLocks noGrp="1"/>
          </p:cNvSpPr>
          <p:nvPr>
            <p:ph type="sldNum" sz="quarter" idx="12"/>
          </p:nvPr>
        </p:nvSpPr>
        <p:spPr/>
        <p:txBody>
          <a:bodyPr/>
          <a:lstStyle/>
          <a:p>
            <a:fld id="{091A926C-488A-4E3E-9C21-57CAA120E114}" type="slidenum">
              <a:rPr lang="en-US" smtClean="0"/>
              <a:t>36</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99CED1B-D476-64F7-5F12-21D2137EC91A}"/>
                  </a:ext>
                </a:extLst>
              </p:cNvPr>
              <p:cNvSpPr txBox="1"/>
              <p:nvPr/>
            </p:nvSpPr>
            <p:spPr>
              <a:xfrm>
                <a:off x="508409" y="1051323"/>
                <a:ext cx="8046629" cy="4713470"/>
              </a:xfrm>
              <a:prstGeom prst="rect">
                <a:avLst/>
              </a:prstGeom>
              <a:noFill/>
            </p:spPr>
            <p:txBody>
              <a:bodyPr wrap="square" rtlCol="0">
                <a:spAutoFit/>
              </a:bodyPr>
              <a:lstStyle/>
              <a:p>
                <a:r>
                  <a:rPr lang="en-US" sz="2000" b="1" noProof="0" dirty="0"/>
                  <a:t>Proposition 2:</a:t>
                </a:r>
              </a:p>
              <a:p>
                <a:r>
                  <a:rPr lang="en-US" sz="2000" dirty="0"/>
                  <a:t>Improving the recycling possibilities in sector </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𝕀</m:t>
                    </m:r>
                  </m:oMath>
                </a14:m>
                <a:r>
                  <a:rPr lang="en-US" sz="2000" dirty="0"/>
                  <a:t> increases aggregate virgin material use of the domestic economy:</a:t>
                </a:r>
              </a:p>
              <a:p>
                <a:endParaRPr lang="en-US" sz="2000" noProof="0" dirty="0"/>
              </a:p>
              <a:p>
                <a:pPr/>
                <a14:m>
                  <m:oMathPara xmlns:m="http://schemas.openxmlformats.org/officeDocument/2006/math">
                    <m:oMathParaPr>
                      <m:jc m:val="centerGroup"/>
                    </m:oMathParaPr>
                    <m:oMath xmlns:m="http://schemas.openxmlformats.org/officeDocument/2006/math">
                      <m:f>
                        <m:fPr>
                          <m:ctrlPr>
                            <a:rPr lang="en-US" sz="2000" i="1" noProof="0" smtClean="0">
                              <a:latin typeface="Cambria Math" panose="02040503050406030204" pitchFamily="18" charset="0"/>
                            </a:rPr>
                          </m:ctrlPr>
                        </m:fPr>
                        <m:num>
                          <m:r>
                            <a:rPr lang="en-US" sz="2000" b="0" i="1" noProof="0" smtClean="0">
                              <a:latin typeface="Cambria Math" panose="02040503050406030204" pitchFamily="18" charset="0"/>
                            </a:rPr>
                            <m:t>𝑑</m:t>
                          </m:r>
                          <m:sSup>
                            <m:sSupPr>
                              <m:ctrlPr>
                                <a:rPr lang="en-US" sz="2000" b="0" i="1" noProof="0" smtClean="0">
                                  <a:latin typeface="Cambria Math" panose="02040503050406030204" pitchFamily="18" charset="0"/>
                                </a:rPr>
                              </m:ctrlPr>
                            </m:sSupPr>
                            <m:e>
                              <m:r>
                                <a:rPr lang="en-US" sz="2000" b="0" i="1" noProof="0" smtClean="0">
                                  <a:latin typeface="Cambria Math" panose="02040503050406030204" pitchFamily="18" charset="0"/>
                                </a:rPr>
                                <m:t>𝑅</m:t>
                              </m:r>
                            </m:e>
                            <m:sup>
                              <m:r>
                                <a:rPr lang="en-US" sz="2000" b="0" i="1" noProof="0" smtClean="0">
                                  <a:latin typeface="Cambria Math" panose="02040503050406030204" pitchFamily="18" charset="0"/>
                                </a:rPr>
                                <m:t>𝑉</m:t>
                              </m:r>
                            </m:sup>
                          </m:sSup>
                        </m:num>
                        <m:den>
                          <m:r>
                            <a:rPr lang="en-US" sz="2000" b="0" i="1" noProof="0" smtClean="0">
                              <a:latin typeface="Cambria Math" panose="02040503050406030204" pitchFamily="18" charset="0"/>
                            </a:rPr>
                            <m:t>𝑑</m:t>
                          </m:r>
                          <m:r>
                            <a:rPr lang="en-US" sz="2000" b="0" i="1" noProof="0" smtClean="0">
                              <a:latin typeface="Cambria Math" panose="02040503050406030204" pitchFamily="18" charset="0"/>
                            </a:rPr>
                            <m:t>𝛼</m:t>
                          </m:r>
                        </m:den>
                      </m:f>
                      <m:r>
                        <a:rPr lang="en-US" sz="2000" b="0" i="1" noProof="0" smtClean="0">
                          <a:latin typeface="Cambria Math" panose="02040503050406030204" pitchFamily="18" charset="0"/>
                        </a:rPr>
                        <m:t>&gt;0.</m:t>
                      </m:r>
                    </m:oMath>
                  </m:oMathPara>
                </a14:m>
                <a:endParaRPr lang="en-US" sz="2000" noProof="0" dirty="0"/>
              </a:p>
              <a:p>
                <a:endParaRPr lang="en-US" sz="2000" dirty="0"/>
              </a:p>
              <a:p>
                <a:r>
                  <a:rPr lang="en-US" sz="2000" noProof="0" dirty="0"/>
                  <a:t>Again, we have a material rebound effect! </a:t>
                </a:r>
              </a:p>
              <a:p>
                <a:endParaRPr lang="en-US" sz="2000" dirty="0"/>
              </a:p>
              <a:p>
                <a:pPr/>
                <a14:m>
                  <m:oMathPara xmlns:m="http://schemas.openxmlformats.org/officeDocument/2006/math">
                    <m:oMathParaPr>
                      <m:jc m:val="centerGroup"/>
                    </m:oMathParaPr>
                    <m:oMath xmlns:m="http://schemas.openxmlformats.org/officeDocument/2006/math">
                      <m:r>
                        <a:rPr lang="en-US" sz="2000" b="0" i="1" noProof="0" smtClean="0">
                          <a:latin typeface="Cambria Math" panose="02040503050406030204" pitchFamily="18" charset="0"/>
                        </a:rPr>
                        <m:t>𝑟</m:t>
                      </m:r>
                      <m:r>
                        <a:rPr lang="en-US" sz="2000" b="0" i="1" noProof="0" smtClean="0">
                          <a:latin typeface="Cambria Math" panose="02040503050406030204" pitchFamily="18" charset="0"/>
                        </a:rPr>
                        <m:t>=1+</m:t>
                      </m:r>
                      <m:f>
                        <m:fPr>
                          <m:ctrlPr>
                            <a:rPr lang="en-US" sz="2000" i="1">
                              <a:latin typeface="Cambria Math" panose="02040503050406030204" pitchFamily="18" charset="0"/>
                            </a:rPr>
                          </m:ctrlPr>
                        </m:fPr>
                        <m:num>
                          <m:r>
                            <a:rPr lang="en-US" sz="2000" i="1" smtClean="0">
                              <a:latin typeface="Cambria Math" panose="02040503050406030204" pitchFamily="18" charset="0"/>
                            </a:rPr>
                            <m:t>𝑑</m:t>
                          </m:r>
                          <m:sSup>
                            <m:sSupPr>
                              <m:ctrlPr>
                                <a:rPr lang="en-US" sz="2000" i="1" smtClean="0">
                                  <a:latin typeface="Cambria Math" panose="02040503050406030204" pitchFamily="18" charset="0"/>
                                </a:rPr>
                              </m:ctrlPr>
                            </m:sSupPr>
                            <m:e>
                              <m:r>
                                <a:rPr lang="en-US" sz="2000" i="1" smtClean="0">
                                  <a:latin typeface="Cambria Math" panose="02040503050406030204" pitchFamily="18" charset="0"/>
                                </a:rPr>
                                <m:t>𝑅</m:t>
                              </m:r>
                            </m:e>
                            <m:sup>
                              <m:r>
                                <a:rPr lang="en-US" sz="2000" i="1" smtClean="0">
                                  <a:latin typeface="Cambria Math" panose="02040503050406030204" pitchFamily="18" charset="0"/>
                                </a:rPr>
                                <m:t>𝑉</m:t>
                              </m:r>
                            </m:sup>
                          </m:sSup>
                        </m:num>
                        <m:den>
                          <m:r>
                            <a:rPr lang="en-US" sz="2000" i="1" smtClean="0">
                              <a:latin typeface="Cambria Math" panose="02040503050406030204" pitchFamily="18" charset="0"/>
                            </a:rPr>
                            <m:t>𝑑</m:t>
                          </m:r>
                          <m:r>
                            <a:rPr lang="en-US" sz="2000" b="0" i="1" smtClean="0">
                              <a:latin typeface="Cambria Math" panose="02040503050406030204" pitchFamily="18" charset="0"/>
                            </a:rPr>
                            <m:t>𝛼</m:t>
                          </m:r>
                        </m:den>
                      </m:f>
                      <m:f>
                        <m:fPr>
                          <m:ctrlPr>
                            <a:rPr lang="en-US" sz="2000" i="1" smtClean="0">
                              <a:latin typeface="Cambria Math" panose="02040503050406030204" pitchFamily="18" charset="0"/>
                            </a:rPr>
                          </m:ctrlPr>
                        </m:fPr>
                        <m:num>
                          <m:r>
                            <a:rPr lang="en-US" sz="2000" b="0" i="1" smtClean="0">
                              <a:latin typeface="Cambria Math" panose="02040503050406030204" pitchFamily="18" charset="0"/>
                            </a:rPr>
                            <m:t>𝛼</m:t>
                          </m:r>
                        </m:num>
                        <m:den>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𝑅</m:t>
                              </m:r>
                            </m:e>
                            <m:sup>
                              <m:r>
                                <a:rPr lang="en-US" sz="2000" b="0" i="1" smtClean="0">
                                  <a:latin typeface="Cambria Math" panose="02040503050406030204" pitchFamily="18" charset="0"/>
                                </a:rPr>
                                <m:t>𝑉</m:t>
                              </m:r>
                            </m:sup>
                          </m:sSup>
                        </m:den>
                      </m:f>
                      <m:r>
                        <a:rPr lang="en-US" sz="2000" b="0" i="1" smtClean="0">
                          <a:latin typeface="Cambria Math" panose="02040503050406030204" pitchFamily="18" charset="0"/>
                        </a:rPr>
                        <m:t>&gt;1.</m:t>
                      </m:r>
                    </m:oMath>
                  </m:oMathPara>
                </a14:m>
                <a:endParaRPr lang="en-US" sz="2000" noProof="0" dirty="0"/>
              </a:p>
              <a:p>
                <a:endParaRPr lang="en-US" sz="2000" dirty="0"/>
              </a:p>
              <a:p>
                <a:r>
                  <a:rPr lang="en-US" sz="2000" noProof="0" dirty="0"/>
                  <a:t>Intuition? </a:t>
                </a:r>
              </a:p>
              <a:p>
                <a:pPr marL="342900" indent="-342900">
                  <a:buFont typeface="Arial" panose="020B0604020202020204" pitchFamily="34" charset="0"/>
                  <a:buChar char="•"/>
                </a:pPr>
                <a:r>
                  <a:rPr lang="en-US" sz="2000" dirty="0"/>
                  <a:t>Basically, the same as before. </a:t>
                </a:r>
                <a:endParaRPr lang="en-US" sz="2000" noProof="0" dirty="0"/>
              </a:p>
              <a:p>
                <a:endParaRPr lang="en-US" sz="2000" dirty="0"/>
              </a:p>
            </p:txBody>
          </p:sp>
        </mc:Choice>
        <mc:Fallback xmlns="">
          <p:sp>
            <p:nvSpPr>
              <p:cNvPr id="6" name="TextBox 5">
                <a:extLst>
                  <a:ext uri="{FF2B5EF4-FFF2-40B4-BE49-F238E27FC236}">
                    <a16:creationId xmlns:a16="http://schemas.microsoft.com/office/drawing/2014/main" id="{A99CED1B-D476-64F7-5F12-21D2137EC91A}"/>
                  </a:ext>
                </a:extLst>
              </p:cNvPr>
              <p:cNvSpPr txBox="1">
                <a:spLocks noRot="1" noChangeAspect="1" noMove="1" noResize="1" noEditPoints="1" noAdjustHandles="1" noChangeArrowheads="1" noChangeShapeType="1" noTextEdit="1"/>
              </p:cNvSpPr>
              <p:nvPr/>
            </p:nvSpPr>
            <p:spPr>
              <a:xfrm>
                <a:off x="508409" y="1051323"/>
                <a:ext cx="8046629" cy="4713470"/>
              </a:xfrm>
              <a:prstGeom prst="rect">
                <a:avLst/>
              </a:prstGeom>
              <a:blipFill>
                <a:blip r:embed="rId3"/>
                <a:stretch>
                  <a:fillRect l="-758" t="-646"/>
                </a:stretch>
              </a:blipFill>
            </p:spPr>
            <p:txBody>
              <a:bodyPr/>
              <a:lstStyle/>
              <a:p>
                <a:r>
                  <a:rPr lang="en-GB">
                    <a:noFill/>
                  </a:rPr>
                  <a:t> </a:t>
                </a:r>
              </a:p>
            </p:txBody>
          </p:sp>
        </mc:Fallback>
      </mc:AlternateContent>
    </p:spTree>
    <p:extLst>
      <p:ext uri="{BB962C8B-B14F-4D97-AF65-F5344CB8AC3E}">
        <p14:creationId xmlns:p14="http://schemas.microsoft.com/office/powerpoint/2010/main" val="3846992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E1835-E783-5711-50C9-957C81B2ECB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7CD2C4-EB3B-9C4E-CB5A-B84D1E4BB2F1}"/>
              </a:ext>
            </a:extLst>
          </p:cNvPr>
          <p:cNvSpPr>
            <a:spLocks noGrp="1"/>
          </p:cNvSpPr>
          <p:nvPr>
            <p:ph type="title"/>
          </p:nvPr>
        </p:nvSpPr>
        <p:spPr/>
        <p:txBody>
          <a:bodyPr/>
          <a:lstStyle/>
          <a:p>
            <a:r>
              <a:rPr lang="en-US" dirty="0"/>
              <a:t>Small macro model</a:t>
            </a:r>
          </a:p>
        </p:txBody>
      </p:sp>
      <p:sp>
        <p:nvSpPr>
          <p:cNvPr id="2" name="Date Placeholder 1">
            <a:extLst>
              <a:ext uri="{FF2B5EF4-FFF2-40B4-BE49-F238E27FC236}">
                <a16:creationId xmlns:a16="http://schemas.microsoft.com/office/drawing/2014/main" id="{E33297F6-9117-3756-42D8-45041EFE9CDC}"/>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DBF4EAF3-779E-6820-5E25-B74AF4423F19}"/>
              </a:ext>
            </a:extLst>
          </p:cNvPr>
          <p:cNvSpPr>
            <a:spLocks noGrp="1"/>
          </p:cNvSpPr>
          <p:nvPr>
            <p:ph type="sldNum" sz="quarter" idx="12"/>
          </p:nvPr>
        </p:nvSpPr>
        <p:spPr/>
        <p:txBody>
          <a:bodyPr/>
          <a:lstStyle/>
          <a:p>
            <a:fld id="{091A926C-488A-4E3E-9C21-57CAA120E114}" type="slidenum">
              <a:rPr lang="en-US" smtClean="0"/>
              <a:t>37</a:t>
            </a:fld>
            <a:endParaRPr lang="en-US" dirty="0"/>
          </a:p>
        </p:txBody>
      </p:sp>
      <p:sp>
        <p:nvSpPr>
          <p:cNvPr id="6" name="TextBox 5">
            <a:extLst>
              <a:ext uri="{FF2B5EF4-FFF2-40B4-BE49-F238E27FC236}">
                <a16:creationId xmlns:a16="http://schemas.microsoft.com/office/drawing/2014/main" id="{51639002-1F99-225A-EA32-8DDE17F738CD}"/>
              </a:ext>
            </a:extLst>
          </p:cNvPr>
          <p:cNvSpPr txBox="1"/>
          <p:nvPr/>
        </p:nvSpPr>
        <p:spPr>
          <a:xfrm>
            <a:off x="508409" y="1051323"/>
            <a:ext cx="8046629" cy="2862322"/>
          </a:xfrm>
          <a:prstGeom prst="rect">
            <a:avLst/>
          </a:prstGeom>
          <a:noFill/>
        </p:spPr>
        <p:txBody>
          <a:bodyPr wrap="square" rtlCol="0">
            <a:spAutoFit/>
          </a:bodyPr>
          <a:lstStyle/>
          <a:p>
            <a:r>
              <a:rPr lang="en-US" sz="2000" b="1" noProof="0" dirty="0"/>
              <a:t>What did we learn and where to go?</a:t>
            </a:r>
          </a:p>
          <a:p>
            <a:endParaRPr lang="en-US" sz="2000" dirty="0"/>
          </a:p>
          <a:p>
            <a:pPr marL="342900" indent="-342900">
              <a:buFont typeface="Arial" panose="020B0604020202020204" pitchFamily="34" charset="0"/>
              <a:buChar char="•"/>
            </a:pPr>
            <a:r>
              <a:rPr lang="en-US" sz="2000" dirty="0"/>
              <a:t>We learned that </a:t>
            </a:r>
            <a:r>
              <a:rPr lang="en-US" sz="2000" u="sng" dirty="0"/>
              <a:t>we can get a strong rebound effect</a:t>
            </a:r>
            <a:r>
              <a:rPr lang="en-US" sz="2000" dirty="0"/>
              <a:t> in a small macroeconomic model without imposing controversial assumptions.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Next, we want to </a:t>
            </a:r>
            <a:r>
              <a:rPr lang="en-US" sz="2000" u="sng" dirty="0"/>
              <a:t>develop an advanced numerical model</a:t>
            </a:r>
            <a:r>
              <a:rPr lang="en-US" sz="2000" dirty="0"/>
              <a:t> calibrated to national accounts and material flow account data to compute likely rebound effects for a real-world economy.</a:t>
            </a:r>
          </a:p>
        </p:txBody>
      </p:sp>
    </p:spTree>
    <p:extLst>
      <p:ext uri="{BB962C8B-B14F-4D97-AF65-F5344CB8AC3E}">
        <p14:creationId xmlns:p14="http://schemas.microsoft.com/office/powerpoint/2010/main" val="34401754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13247-0E0B-0FE3-C053-378E167D7B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99098A-E78E-63D3-8EF2-E5BF1A68F5C4}"/>
              </a:ext>
            </a:extLst>
          </p:cNvPr>
          <p:cNvSpPr>
            <a:spLocks noGrp="1"/>
          </p:cNvSpPr>
          <p:nvPr>
            <p:ph type="title"/>
          </p:nvPr>
        </p:nvSpPr>
        <p:spPr/>
        <p:txBody>
          <a:bodyPr/>
          <a:lstStyle/>
          <a:p>
            <a:r>
              <a:rPr lang="en-US" dirty="0"/>
              <a:t>Data</a:t>
            </a:r>
          </a:p>
        </p:txBody>
      </p:sp>
      <p:sp>
        <p:nvSpPr>
          <p:cNvPr id="2" name="Date Placeholder 1">
            <a:extLst>
              <a:ext uri="{FF2B5EF4-FFF2-40B4-BE49-F238E27FC236}">
                <a16:creationId xmlns:a16="http://schemas.microsoft.com/office/drawing/2014/main" id="{18C294FA-755F-B4EB-44F3-5EF5106684C2}"/>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40054398-1BCF-A957-F1AA-165348090519}"/>
              </a:ext>
            </a:extLst>
          </p:cNvPr>
          <p:cNvSpPr>
            <a:spLocks noGrp="1"/>
          </p:cNvSpPr>
          <p:nvPr>
            <p:ph type="sldNum" sz="quarter" idx="12"/>
          </p:nvPr>
        </p:nvSpPr>
        <p:spPr/>
        <p:txBody>
          <a:bodyPr/>
          <a:lstStyle/>
          <a:p>
            <a:fld id="{091A926C-488A-4E3E-9C21-57CAA120E114}" type="slidenum">
              <a:rPr lang="en-US" smtClean="0"/>
              <a:t>38</a:t>
            </a:fld>
            <a:endParaRPr lang="en-US" dirty="0"/>
          </a:p>
        </p:txBody>
      </p:sp>
      <p:sp>
        <p:nvSpPr>
          <p:cNvPr id="6" name="TextBox 5">
            <a:extLst>
              <a:ext uri="{FF2B5EF4-FFF2-40B4-BE49-F238E27FC236}">
                <a16:creationId xmlns:a16="http://schemas.microsoft.com/office/drawing/2014/main" id="{32B45B8E-062E-3580-6447-2AE22490B61C}"/>
              </a:ext>
            </a:extLst>
          </p:cNvPr>
          <p:cNvSpPr txBox="1"/>
          <p:nvPr/>
        </p:nvSpPr>
        <p:spPr>
          <a:xfrm>
            <a:off x="508409" y="1051323"/>
            <a:ext cx="8046629" cy="1015663"/>
          </a:xfrm>
          <a:prstGeom prst="rect">
            <a:avLst/>
          </a:prstGeom>
          <a:noFill/>
        </p:spPr>
        <p:txBody>
          <a:bodyPr wrap="square" rtlCol="0">
            <a:spAutoFit/>
          </a:bodyPr>
          <a:lstStyle/>
          <a:p>
            <a:r>
              <a:rPr lang="en-US" sz="2000" b="1" dirty="0"/>
              <a:t>Material Flow Accounts</a:t>
            </a:r>
          </a:p>
          <a:p>
            <a:r>
              <a:rPr lang="en-US" sz="2000" i="1" dirty="0"/>
              <a:t>Physical supply-use tables</a:t>
            </a:r>
            <a:r>
              <a:rPr lang="en-US" sz="2000" dirty="0"/>
              <a:t> (PSUTs) for 2020 cover 1,947 commodities used by 120 industries, for final consumption, and for export.</a:t>
            </a:r>
          </a:p>
        </p:txBody>
      </p:sp>
      <p:pic>
        <p:nvPicPr>
          <p:cNvPr id="7" name="Picture 6">
            <a:extLst>
              <a:ext uri="{FF2B5EF4-FFF2-40B4-BE49-F238E27FC236}">
                <a16:creationId xmlns:a16="http://schemas.microsoft.com/office/drawing/2014/main" id="{9DC20AF9-95C7-6735-1D9F-9B40D84D5A15}"/>
              </a:ext>
            </a:extLst>
          </p:cNvPr>
          <p:cNvPicPr>
            <a:picLocks noChangeAspect="1"/>
          </p:cNvPicPr>
          <p:nvPr/>
        </p:nvPicPr>
        <p:blipFill>
          <a:blip r:embed="rId3"/>
          <a:stretch>
            <a:fillRect/>
          </a:stretch>
        </p:blipFill>
        <p:spPr>
          <a:xfrm>
            <a:off x="1702931" y="2375688"/>
            <a:ext cx="5738137" cy="4148051"/>
          </a:xfrm>
          <a:prstGeom prst="rect">
            <a:avLst/>
          </a:prstGeom>
        </p:spPr>
      </p:pic>
    </p:spTree>
    <p:extLst>
      <p:ext uri="{BB962C8B-B14F-4D97-AF65-F5344CB8AC3E}">
        <p14:creationId xmlns:p14="http://schemas.microsoft.com/office/powerpoint/2010/main" val="2655235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CA870-F86F-4FA8-EEB5-840CA638B2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33A243-25F0-130D-6BD4-0F53E9ED9ED9}"/>
              </a:ext>
            </a:extLst>
          </p:cNvPr>
          <p:cNvSpPr>
            <a:spLocks noGrp="1"/>
          </p:cNvSpPr>
          <p:nvPr>
            <p:ph type="title"/>
          </p:nvPr>
        </p:nvSpPr>
        <p:spPr/>
        <p:txBody>
          <a:bodyPr/>
          <a:lstStyle/>
          <a:p>
            <a:r>
              <a:rPr lang="en-US" dirty="0"/>
              <a:t>Data</a:t>
            </a:r>
          </a:p>
        </p:txBody>
      </p:sp>
      <p:sp>
        <p:nvSpPr>
          <p:cNvPr id="2" name="Date Placeholder 1">
            <a:extLst>
              <a:ext uri="{FF2B5EF4-FFF2-40B4-BE49-F238E27FC236}">
                <a16:creationId xmlns:a16="http://schemas.microsoft.com/office/drawing/2014/main" id="{312C97F5-7E23-092A-D5F8-273472EEDEC6}"/>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5523B7BC-B4A3-F132-8AE8-1BE3B0266672}"/>
              </a:ext>
            </a:extLst>
          </p:cNvPr>
          <p:cNvSpPr>
            <a:spLocks noGrp="1"/>
          </p:cNvSpPr>
          <p:nvPr>
            <p:ph type="sldNum" sz="quarter" idx="12"/>
          </p:nvPr>
        </p:nvSpPr>
        <p:spPr/>
        <p:txBody>
          <a:bodyPr/>
          <a:lstStyle/>
          <a:p>
            <a:fld id="{091A926C-488A-4E3E-9C21-57CAA120E114}" type="slidenum">
              <a:rPr lang="en-US" smtClean="0"/>
              <a:t>39</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49B362A-91EB-0023-9797-3625039DC215}"/>
                  </a:ext>
                </a:extLst>
              </p:cNvPr>
              <p:cNvSpPr txBox="1"/>
              <p:nvPr/>
            </p:nvSpPr>
            <p:spPr>
              <a:xfrm>
                <a:off x="508409" y="1051323"/>
                <a:ext cx="8046629" cy="3491277"/>
              </a:xfrm>
              <a:prstGeom prst="rect">
                <a:avLst/>
              </a:prstGeom>
              <a:noFill/>
            </p:spPr>
            <p:txBody>
              <a:bodyPr wrap="square" rtlCol="0">
                <a:spAutoFit/>
              </a:bodyPr>
              <a:lstStyle/>
              <a:p>
                <a:r>
                  <a:rPr lang="en-US" sz="2000" b="1" dirty="0"/>
                  <a:t>Material Flow Accounts</a:t>
                </a:r>
              </a:p>
              <a:p>
                <a:r>
                  <a:rPr lang="en-US" sz="2000" i="1" dirty="0"/>
                  <a:t>Physical supply-use tables</a:t>
                </a:r>
                <a:r>
                  <a:rPr lang="en-US" sz="2000" dirty="0"/>
                  <a:t> (PSUTs) for 2020 cover 1,947 commodities used by 120 industries, for final consumption, and for export.</a:t>
                </a:r>
              </a:p>
              <a:p>
                <a:endParaRPr lang="en-US" sz="2000" dirty="0"/>
              </a:p>
              <a:p>
                <a:r>
                  <a:rPr lang="en-US" sz="2000" b="1" dirty="0"/>
                  <a:t>Subset</a:t>
                </a:r>
                <a:endParaRPr lang="en-US" sz="2000" dirty="0"/>
              </a:p>
              <a:p>
                <a:r>
                  <a:rPr lang="en-US" sz="2000" dirty="0"/>
                  <a:t>We use the subset of 134 commodities </a:t>
                </a:r>
                <a14:m>
                  <m:oMath xmlns:m="http://schemas.openxmlformats.org/officeDocument/2006/math">
                    <m:r>
                      <a:rPr lang="en-US" sz="2000" b="0" i="1" smtClean="0">
                        <a:latin typeface="Cambria Math" panose="02040503050406030204" pitchFamily="18" charset="0"/>
                        <a:ea typeface="Cambria Math" panose="02040503050406030204" pitchFamily="18" charset="0"/>
                      </a:rPr>
                      <m:t>h</m:t>
                    </m:r>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𝐻</m:t>
                        </m:r>
                      </m:e>
                      <m:sub>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sub>
                    </m:sSub>
                  </m:oMath>
                </a14:m>
                <a:r>
                  <a:rPr lang="en-US" sz="2000" dirty="0"/>
                  <a:t> where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is the set of commodities in the intersection of material groups </a:t>
                </a:r>
                <a14:m>
                  <m:oMath xmlns:m="http://schemas.openxmlformats.org/officeDocument/2006/math">
                    <m:r>
                      <a:rPr lang="en-US" sz="2000" i="1">
                        <a:latin typeface="Cambria Math" panose="02040503050406030204" pitchFamily="18" charset="0"/>
                        <a:ea typeface="Cambria Math" panose="02040503050406030204" pitchFamily="18" charset="0"/>
                      </a:rPr>
                      <m:t>𝑀</m:t>
                    </m:r>
                  </m:oMath>
                </a14:m>
                <a:r>
                  <a:rPr lang="en-US" sz="2000" dirty="0"/>
                  <a:t> </a:t>
                </a:r>
                <a14:m>
                  <m:oMath xmlns:m="http://schemas.openxmlformats.org/officeDocument/2006/math">
                    <m:r>
                      <a:rPr lang="en-US" sz="2000" b="0" i="1" smtClean="0">
                        <a:latin typeface="Cambria Math" panose="02040503050406030204" pitchFamily="18" charset="0"/>
                        <a:ea typeface="Cambria Math" panose="02040503050406030204" pitchFamily="18" charset="0"/>
                      </a:rPr>
                      <m:t>∩</m:t>
                    </m:r>
                  </m:oMath>
                </a14:m>
                <a:r>
                  <a:rPr lang="en-US" sz="2000" dirty="0"/>
                  <a:t> sources </a:t>
                </a:r>
                <a14:m>
                  <m:oMath xmlns:m="http://schemas.openxmlformats.org/officeDocument/2006/math">
                    <m:r>
                      <a:rPr lang="en-US" sz="2000" b="0" i="1" smtClean="0">
                        <a:latin typeface="Cambria Math" panose="02040503050406030204" pitchFamily="18" charset="0"/>
                        <a:ea typeface="Cambria Math" panose="02040503050406030204" pitchFamily="18" charset="0"/>
                      </a:rPr>
                      <m:t>𝑆</m:t>
                    </m:r>
                  </m:oMath>
                </a14:m>
                <a:endParaRPr lang="en-US" sz="2000" dirty="0"/>
              </a:p>
              <a:p>
                <a:endParaRPr lang="en-US" sz="2000" dirty="0"/>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𝑀</m:t>
                      </m:r>
                      <m:r>
                        <a:rPr lang="en-US" sz="2000" i="1">
                          <a:latin typeface="Cambria Math" panose="02040503050406030204" pitchFamily="18" charset="0"/>
                          <a:ea typeface="Cambria Math" panose="02040503050406030204" pitchFamily="18" charset="0"/>
                        </a:rPr>
                        <m:t>={</m:t>
                      </m:r>
                      <m:r>
                        <m:rPr>
                          <m:nor/>
                        </m:rPr>
                        <a:rPr lang="en-US" sz="2000"/>
                        <m:t>Metal</m:t>
                      </m:r>
                      <m:r>
                        <m:rPr>
                          <m:nor/>
                        </m:rPr>
                        <a:rPr lang="en-US" sz="2000"/>
                        <m:t>, </m:t>
                      </m:r>
                      <m:r>
                        <m:rPr>
                          <m:nor/>
                        </m:rPr>
                        <a:rPr lang="en-US" sz="2000"/>
                        <m:t>Paper</m:t>
                      </m:r>
                      <m:r>
                        <m:rPr>
                          <m:nor/>
                        </m:rPr>
                        <a:rPr lang="en-US" sz="2000"/>
                        <m:t>, </m:t>
                      </m:r>
                      <m:r>
                        <m:rPr>
                          <m:nor/>
                        </m:rPr>
                        <a:rPr lang="en-US" sz="2000"/>
                        <m:t>Plastic</m:t>
                      </m:r>
                      <m:r>
                        <m:rPr>
                          <m:nor/>
                        </m:rPr>
                        <a:rPr lang="en-US" sz="2000"/>
                        <m:t>, </m:t>
                      </m:r>
                      <m:r>
                        <m:rPr>
                          <m:nor/>
                        </m:rPr>
                        <a:rPr lang="en-US" sz="2000"/>
                        <m:t>Rubber</m:t>
                      </m:r>
                      <m:r>
                        <m:rPr>
                          <m:nor/>
                        </m:rPr>
                        <a:rPr lang="en-US" sz="2000"/>
                        <m:t>, </m:t>
                      </m:r>
                      <m:r>
                        <m:rPr>
                          <m:nor/>
                        </m:rPr>
                        <a:rPr lang="en-US" sz="2000"/>
                        <m:t>Textile</m:t>
                      </m:r>
                      <m:r>
                        <m:rPr>
                          <m:nor/>
                        </m:rPr>
                        <a:rPr lang="en-US" sz="2000"/>
                        <m:t>}</m:t>
                      </m:r>
                    </m:oMath>
                  </m:oMathPara>
                </a14:m>
                <a:endParaRPr lang="da-DK" sz="2000" dirty="0"/>
              </a:p>
              <a:p>
                <a:endParaRPr lang="en-US" sz="2000" dirty="0"/>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𝑆</m:t>
                      </m:r>
                      <m:r>
                        <a:rPr lang="en-US" sz="2000" i="1">
                          <a:latin typeface="Cambria Math" panose="02040503050406030204" pitchFamily="18" charset="0"/>
                          <a:ea typeface="Cambria Math" panose="02040503050406030204" pitchFamily="18" charset="0"/>
                        </a:rPr>
                        <m:t>={</m:t>
                      </m:r>
                      <m:r>
                        <m:rPr>
                          <m:nor/>
                        </m:rPr>
                        <a:rPr lang="da-DK" sz="2000" b="0" i="0" smtClean="0">
                          <a:latin typeface="Cambria Math" panose="02040503050406030204" pitchFamily="18" charset="0"/>
                          <a:ea typeface="Cambria Math" panose="02040503050406030204" pitchFamily="18" charset="0"/>
                        </a:rPr>
                        <m:t>V</m:t>
                      </m:r>
                      <m:r>
                        <m:rPr>
                          <m:nor/>
                        </m:rPr>
                        <a:rPr lang="en-US" sz="2000"/>
                        <m:t>irgin</m:t>
                      </m:r>
                      <m:r>
                        <m:rPr>
                          <m:nor/>
                        </m:rPr>
                        <a:rPr lang="en-US" sz="2000"/>
                        <m:t> </m:t>
                      </m:r>
                      <m:r>
                        <m:rPr>
                          <m:nor/>
                        </m:rPr>
                        <a:rPr lang="en-US" sz="2000" i="1"/>
                        <m:t>(</m:t>
                      </m:r>
                      <m:r>
                        <m:rPr>
                          <m:nor/>
                        </m:rPr>
                        <a:rPr lang="en-US" sz="2000" i="1"/>
                        <m:t>V</m:t>
                      </m:r>
                      <m:r>
                        <m:rPr>
                          <m:nor/>
                        </m:rPr>
                        <a:rPr lang="en-US" sz="2000" i="1"/>
                        <m:t>)</m:t>
                      </m:r>
                      <m:r>
                        <m:rPr>
                          <m:nor/>
                        </m:rPr>
                        <a:rPr lang="en-US" sz="2000" b="0" i="0" smtClean="0"/>
                        <m:t> </m:t>
                      </m:r>
                      <m:r>
                        <m:rPr>
                          <m:nor/>
                        </m:rPr>
                        <a:rPr lang="en-US" sz="2000"/>
                        <m:t>, </m:t>
                      </m:r>
                      <m:r>
                        <m:rPr>
                          <m:nor/>
                        </m:rPr>
                        <a:rPr lang="da-DK" sz="2000" b="0" i="0" smtClean="0"/>
                        <m:t>R</m:t>
                      </m:r>
                      <m:r>
                        <m:rPr>
                          <m:nor/>
                        </m:rPr>
                        <a:rPr lang="en-US" sz="2000"/>
                        <m:t>ecycled</m:t>
                      </m:r>
                      <m:r>
                        <m:rPr>
                          <m:nor/>
                        </m:rPr>
                        <a:rPr lang="en-US" sz="2000" i="1"/>
                        <m:t> (</m:t>
                      </m:r>
                      <m:r>
                        <m:rPr>
                          <m:nor/>
                        </m:rPr>
                        <a:rPr lang="en-US" sz="2000" i="1"/>
                        <m:t>R</m:t>
                      </m:r>
                      <m:r>
                        <m:rPr>
                          <m:nor/>
                        </m:rPr>
                        <a:rPr lang="en-US" sz="2000" i="1"/>
                        <m:t>) </m:t>
                      </m:r>
                      <m:r>
                        <m:rPr>
                          <m:nor/>
                        </m:rPr>
                        <a:rPr lang="en-US" sz="2000"/>
                        <m:t>, </m:t>
                      </m:r>
                      <m:r>
                        <m:rPr>
                          <m:nor/>
                        </m:rPr>
                        <a:rPr lang="da-DK" sz="2000" b="0" i="0" smtClean="0"/>
                        <m:t>W</m:t>
                      </m:r>
                      <m:r>
                        <m:rPr>
                          <m:nor/>
                        </m:rPr>
                        <a:rPr lang="en-US" sz="2000"/>
                        <m:t>aste</m:t>
                      </m:r>
                      <m:r>
                        <m:rPr>
                          <m:nor/>
                        </m:rPr>
                        <a:rPr lang="en-US" sz="2000"/>
                        <m:t> </m:t>
                      </m:r>
                      <m:r>
                        <m:rPr>
                          <m:nor/>
                        </m:rPr>
                        <a:rPr lang="en-US" sz="2000" i="1"/>
                        <m:t>(</m:t>
                      </m:r>
                      <m:r>
                        <m:rPr>
                          <m:nor/>
                        </m:rPr>
                        <a:rPr lang="en-US" sz="2000" i="1"/>
                        <m:t>W</m:t>
                      </m:r>
                      <m:r>
                        <m:rPr>
                          <m:nor/>
                        </m:rPr>
                        <a:rPr lang="en-US" sz="2000" i="1"/>
                        <m:t>)</m:t>
                      </m:r>
                      <m:r>
                        <m:rPr>
                          <m:nor/>
                        </m:rPr>
                        <a:rPr lang="en-US" sz="2000" b="0" i="0" smtClean="0"/>
                        <m:t> </m:t>
                      </m:r>
                      <m:r>
                        <m:rPr>
                          <m:nor/>
                        </m:rPr>
                        <a:rPr lang="en-US" sz="2000"/>
                        <m:t>}</m:t>
                      </m:r>
                    </m:oMath>
                  </m:oMathPara>
                </a14:m>
                <a:endParaRPr lang="en-US" sz="2000" dirty="0"/>
              </a:p>
            </p:txBody>
          </p:sp>
        </mc:Choice>
        <mc:Fallback xmlns="">
          <p:sp>
            <p:nvSpPr>
              <p:cNvPr id="6" name="TextBox 5">
                <a:extLst>
                  <a:ext uri="{FF2B5EF4-FFF2-40B4-BE49-F238E27FC236}">
                    <a16:creationId xmlns:a16="http://schemas.microsoft.com/office/drawing/2014/main" id="{849B362A-91EB-0023-9797-3625039DC215}"/>
                  </a:ext>
                </a:extLst>
              </p:cNvPr>
              <p:cNvSpPr txBox="1">
                <a:spLocks noRot="1" noChangeAspect="1" noMove="1" noResize="1" noEditPoints="1" noAdjustHandles="1" noChangeArrowheads="1" noChangeShapeType="1" noTextEdit="1"/>
              </p:cNvSpPr>
              <p:nvPr/>
            </p:nvSpPr>
            <p:spPr>
              <a:xfrm>
                <a:off x="508409" y="1051323"/>
                <a:ext cx="8046629" cy="3491277"/>
              </a:xfrm>
              <a:prstGeom prst="rect">
                <a:avLst/>
              </a:prstGeom>
              <a:blipFill>
                <a:blip r:embed="rId3"/>
                <a:stretch>
                  <a:fillRect l="-758" t="-873" r="-227" b="-873"/>
                </a:stretch>
              </a:blipFill>
            </p:spPr>
            <p:txBody>
              <a:bodyPr/>
              <a:lstStyle/>
              <a:p>
                <a:r>
                  <a:rPr lang="en-GB">
                    <a:noFill/>
                  </a:rPr>
                  <a:t> </a:t>
                </a:r>
              </a:p>
            </p:txBody>
          </p:sp>
        </mc:Fallback>
      </mc:AlternateContent>
    </p:spTree>
    <p:extLst>
      <p:ext uri="{BB962C8B-B14F-4D97-AF65-F5344CB8AC3E}">
        <p14:creationId xmlns:p14="http://schemas.microsoft.com/office/powerpoint/2010/main" val="1446951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1170B-694E-6B48-0981-FFC4EE6D25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561EB3-A08C-F15F-6ECB-F55C4DE04E38}"/>
              </a:ext>
            </a:extLst>
          </p:cNvPr>
          <p:cNvSpPr>
            <a:spLocks noGrp="1"/>
          </p:cNvSpPr>
          <p:nvPr>
            <p:ph type="title"/>
          </p:nvPr>
        </p:nvSpPr>
        <p:spPr>
          <a:xfrm>
            <a:off x="587374" y="618729"/>
            <a:ext cx="7967664" cy="865188"/>
          </a:xfrm>
        </p:spPr>
        <p:txBody>
          <a:bodyPr/>
          <a:lstStyle/>
          <a:p>
            <a:r>
              <a:rPr lang="en-US" dirty="0"/>
              <a:t>Data</a:t>
            </a:r>
          </a:p>
        </p:txBody>
      </p:sp>
      <p:sp>
        <p:nvSpPr>
          <p:cNvPr id="2" name="Date Placeholder 1">
            <a:extLst>
              <a:ext uri="{FF2B5EF4-FFF2-40B4-BE49-F238E27FC236}">
                <a16:creationId xmlns:a16="http://schemas.microsoft.com/office/drawing/2014/main" id="{964123BA-BDA0-7F88-58A0-8206F9AE276D}"/>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9FA2492B-9BF8-A44C-3FCD-593810405B57}"/>
              </a:ext>
            </a:extLst>
          </p:cNvPr>
          <p:cNvSpPr>
            <a:spLocks noGrp="1"/>
          </p:cNvSpPr>
          <p:nvPr>
            <p:ph type="sldNum" sz="quarter" idx="12"/>
          </p:nvPr>
        </p:nvSpPr>
        <p:spPr/>
        <p:txBody>
          <a:bodyPr/>
          <a:lstStyle/>
          <a:p>
            <a:fld id="{091A926C-488A-4E3E-9C21-57CAA120E114}" type="slidenum">
              <a:rPr lang="en-US" smtClean="0"/>
              <a:t>40</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3C3D739-15F3-501F-8740-B7B375127749}"/>
                  </a:ext>
                </a:extLst>
              </p:cNvPr>
              <p:cNvSpPr txBox="1"/>
              <p:nvPr/>
            </p:nvSpPr>
            <p:spPr>
              <a:xfrm>
                <a:off x="508409" y="1051323"/>
                <a:ext cx="8046629" cy="707886"/>
              </a:xfrm>
              <a:prstGeom prst="rect">
                <a:avLst/>
              </a:prstGeom>
              <a:noFill/>
            </p:spPr>
            <p:txBody>
              <a:bodyPr wrap="square" rtlCol="0">
                <a:spAutoFit/>
              </a:bodyPr>
              <a:lstStyle/>
              <a:p>
                <a:r>
                  <a:rPr lang="en-US" sz="2000" b="1"/>
                  <a:t>Aggregate </a:t>
                </a:r>
                <a:r>
                  <a:rPr lang="en-US" sz="2000" b="1" dirty="0"/>
                  <a:t>quantities</a:t>
                </a:r>
                <a:endParaRPr lang="en-US" sz="2000" dirty="0"/>
              </a:p>
              <a:p>
                <a:r>
                  <a:rPr lang="en-US" sz="2000" dirty="0"/>
                  <a:t>We then aggregate </a:t>
                </a:r>
                <a14:m>
                  <m:oMath xmlns:m="http://schemas.openxmlformats.org/officeDocument/2006/math">
                    <m:r>
                      <a:rPr lang="en-US" sz="2000" b="0" i="1" smtClean="0">
                        <a:latin typeface="Cambria Math" panose="02040503050406030204" pitchFamily="18" charset="0"/>
                        <a:ea typeface="Cambria Math" panose="02040503050406030204" pitchFamily="18" charset="0"/>
                      </a:rPr>
                      <m:t>h</m:t>
                    </m:r>
                  </m:oMath>
                </a14:m>
                <a:r>
                  <a:rPr lang="en-US" sz="2000" dirty="0"/>
                  <a:t> by source </a:t>
                </a:r>
                <a14:m>
                  <m:oMath xmlns:m="http://schemas.openxmlformats.org/officeDocument/2006/math">
                    <m:r>
                      <a:rPr lang="en-US" sz="2000" i="1">
                        <a:latin typeface="Cambria Math" panose="02040503050406030204" pitchFamily="18" charset="0"/>
                        <a:ea typeface="Cambria Math" panose="02040503050406030204" pitchFamily="18" charset="0"/>
                      </a:rPr>
                      <m:t>𝑠</m:t>
                    </m:r>
                    <m:r>
                      <a:rPr lang="en-US" sz="2000" i="1">
                        <a:latin typeface="Cambria Math" panose="02040503050406030204" pitchFamily="18" charset="0"/>
                        <a:ea typeface="Cambria Math" panose="02040503050406030204" pitchFamily="18" charset="0"/>
                      </a:rPr>
                      <m:t> </m:t>
                    </m:r>
                  </m:oMath>
                </a14:m>
                <a:r>
                  <a:rPr lang="en-US" sz="2000" dirty="0"/>
                  <a:t>and material group </a:t>
                </a:r>
                <a14:m>
                  <m:oMath xmlns:m="http://schemas.openxmlformats.org/officeDocument/2006/math">
                    <m:r>
                      <a:rPr lang="en-US" sz="2000" b="0" i="1" smtClean="0">
                        <a:latin typeface="Cambria Math" panose="02040503050406030204" pitchFamily="18" charset="0"/>
                        <a:ea typeface="Cambria Math" panose="02040503050406030204" pitchFamily="18" charset="0"/>
                      </a:rPr>
                      <m:t>𝑚</m:t>
                    </m:r>
                  </m:oMath>
                </a14:m>
                <a:r>
                  <a:rPr lang="en-US" sz="2000" dirty="0"/>
                  <a:t>, e.g., plastics:</a:t>
                </a:r>
              </a:p>
            </p:txBody>
          </p:sp>
        </mc:Choice>
        <mc:Fallback xmlns="">
          <p:sp>
            <p:nvSpPr>
              <p:cNvPr id="6" name="TextBox 5">
                <a:extLst>
                  <a:ext uri="{FF2B5EF4-FFF2-40B4-BE49-F238E27FC236}">
                    <a16:creationId xmlns:a16="http://schemas.microsoft.com/office/drawing/2014/main" id="{93C3D739-15F3-501F-8740-B7B375127749}"/>
                  </a:ext>
                </a:extLst>
              </p:cNvPr>
              <p:cNvSpPr txBox="1">
                <a:spLocks noRot="1" noChangeAspect="1" noMove="1" noResize="1" noEditPoints="1" noAdjustHandles="1" noChangeArrowheads="1" noChangeShapeType="1" noTextEdit="1"/>
              </p:cNvSpPr>
              <p:nvPr/>
            </p:nvSpPr>
            <p:spPr>
              <a:xfrm>
                <a:off x="508409" y="1051323"/>
                <a:ext cx="8046629" cy="707886"/>
              </a:xfrm>
              <a:prstGeom prst="rect">
                <a:avLst/>
              </a:prstGeom>
              <a:blipFill>
                <a:blip r:embed="rId4"/>
                <a:stretch>
                  <a:fillRect l="-758" t="-4274" b="-15385"/>
                </a:stretch>
              </a:blipFill>
            </p:spPr>
            <p:txBody>
              <a:bodyPr/>
              <a:lstStyle/>
              <a:p>
                <a:r>
                  <a:rPr lang="en-GB">
                    <a:noFill/>
                  </a:rPr>
                  <a:t> </a:t>
                </a:r>
              </a:p>
            </p:txBody>
          </p:sp>
        </mc:Fallback>
      </mc:AlternateContent>
      <p:graphicFrame>
        <p:nvGraphicFramePr>
          <p:cNvPr id="5" name="Table 4">
            <a:extLst>
              <a:ext uri="{FF2B5EF4-FFF2-40B4-BE49-F238E27FC236}">
                <a16:creationId xmlns:a16="http://schemas.microsoft.com/office/drawing/2014/main" id="{3138F487-7C53-C4D2-8EC3-C7A469F34757}"/>
              </a:ext>
            </a:extLst>
          </p:cNvPr>
          <p:cNvGraphicFramePr>
            <a:graphicFrameLocks noGrp="1"/>
          </p:cNvGraphicFramePr>
          <p:nvPr>
            <p:extLst>
              <p:ext uri="{D42A27DB-BD31-4B8C-83A1-F6EECF244321}">
                <p14:modId xmlns:p14="http://schemas.microsoft.com/office/powerpoint/2010/main" val="1415810040"/>
              </p:ext>
            </p:extLst>
          </p:nvPr>
        </p:nvGraphicFramePr>
        <p:xfrm>
          <a:off x="508409" y="2596997"/>
          <a:ext cx="7858069" cy="1981200"/>
        </p:xfrm>
        <a:graphic>
          <a:graphicData uri="http://schemas.openxmlformats.org/drawingml/2006/table">
            <a:tbl>
              <a:tblPr bandRow="1">
                <a:tableStyleId>{21E4AEA4-8DFA-4A89-87EB-49C32662AFE0}</a:tableStyleId>
              </a:tblPr>
              <a:tblGrid>
                <a:gridCol w="1061901">
                  <a:extLst>
                    <a:ext uri="{9D8B030D-6E8A-4147-A177-3AD203B41FA5}">
                      <a16:colId xmlns:a16="http://schemas.microsoft.com/office/drawing/2014/main" val="375088698"/>
                    </a:ext>
                  </a:extLst>
                </a:gridCol>
                <a:gridCol w="849521">
                  <a:extLst>
                    <a:ext uri="{9D8B030D-6E8A-4147-A177-3AD203B41FA5}">
                      <a16:colId xmlns:a16="http://schemas.microsoft.com/office/drawing/2014/main" val="3471822456"/>
                    </a:ext>
                  </a:extLst>
                </a:gridCol>
                <a:gridCol w="849521">
                  <a:extLst>
                    <a:ext uri="{9D8B030D-6E8A-4147-A177-3AD203B41FA5}">
                      <a16:colId xmlns:a16="http://schemas.microsoft.com/office/drawing/2014/main" val="811776981"/>
                    </a:ext>
                  </a:extLst>
                </a:gridCol>
                <a:gridCol w="849521">
                  <a:extLst>
                    <a:ext uri="{9D8B030D-6E8A-4147-A177-3AD203B41FA5}">
                      <a16:colId xmlns:a16="http://schemas.microsoft.com/office/drawing/2014/main" val="2488264986"/>
                    </a:ext>
                  </a:extLst>
                </a:gridCol>
                <a:gridCol w="849521">
                  <a:extLst>
                    <a:ext uri="{9D8B030D-6E8A-4147-A177-3AD203B41FA5}">
                      <a16:colId xmlns:a16="http://schemas.microsoft.com/office/drawing/2014/main" val="3216588186"/>
                    </a:ext>
                  </a:extLst>
                </a:gridCol>
                <a:gridCol w="849521">
                  <a:extLst>
                    <a:ext uri="{9D8B030D-6E8A-4147-A177-3AD203B41FA5}">
                      <a16:colId xmlns:a16="http://schemas.microsoft.com/office/drawing/2014/main" val="1843328194"/>
                    </a:ext>
                  </a:extLst>
                </a:gridCol>
                <a:gridCol w="849521">
                  <a:extLst>
                    <a:ext uri="{9D8B030D-6E8A-4147-A177-3AD203B41FA5}">
                      <a16:colId xmlns:a16="http://schemas.microsoft.com/office/drawing/2014/main" val="916226820"/>
                    </a:ext>
                  </a:extLst>
                </a:gridCol>
                <a:gridCol w="849521">
                  <a:extLst>
                    <a:ext uri="{9D8B030D-6E8A-4147-A177-3AD203B41FA5}">
                      <a16:colId xmlns:a16="http://schemas.microsoft.com/office/drawing/2014/main" val="269278154"/>
                    </a:ext>
                  </a:extLst>
                </a:gridCol>
                <a:gridCol w="849521">
                  <a:extLst>
                    <a:ext uri="{9D8B030D-6E8A-4147-A177-3AD203B41FA5}">
                      <a16:colId xmlns:a16="http://schemas.microsoft.com/office/drawing/2014/main" val="2754849822"/>
                    </a:ext>
                  </a:extLst>
                </a:gridCol>
              </a:tblGrid>
              <a:tr h="350751">
                <a:tc>
                  <a:txBody>
                    <a:bodyPr/>
                    <a:lstStyle/>
                    <a:p>
                      <a:pPr algn="ctr" fontAlgn="t"/>
                      <a:r>
                        <a:rPr lang="en-US" sz="2000" u="none" strike="noStrike" noProof="0" dirty="0">
                          <a:effectLst/>
                        </a:rPr>
                        <a:t> </a:t>
                      </a:r>
                      <a:endParaRPr lang="en-US" sz="2000" b="1" i="0" u="none" strike="noStrike" noProof="0" dirty="0">
                        <a:solidFill>
                          <a:srgbClr val="000000"/>
                        </a:solidFill>
                        <a:effectLst/>
                        <a:latin typeface="Calibri" panose="020F0502020204030204" pitchFamily="34" charset="0"/>
                      </a:endParaRPr>
                    </a:p>
                  </a:txBody>
                  <a:tcPr/>
                </a:tc>
                <a:tc gridSpan="4">
                  <a:txBody>
                    <a:bodyPr/>
                    <a:lstStyle/>
                    <a:p>
                      <a:pPr algn="ctr" fontAlgn="t"/>
                      <a:r>
                        <a:rPr lang="en-US" sz="2000" b="1" u="none" strike="noStrike" noProof="0" dirty="0">
                          <a:effectLst/>
                        </a:rPr>
                        <a:t>Supply of plastics (kt)</a:t>
                      </a:r>
                      <a:endParaRPr lang="en-US" sz="2000" b="1" i="0" u="none" strike="noStrike" noProof="0" dirty="0">
                        <a:solidFill>
                          <a:srgbClr val="000000"/>
                        </a:solidFill>
                        <a:effectLst/>
                        <a:latin typeface="Calibri" panose="020F0502020204030204" pitchFamily="34" charset="0"/>
                      </a:endParaRPr>
                    </a:p>
                  </a:txBody>
                  <a:tcPr/>
                </a:tc>
                <a:tc hMerge="1">
                  <a:txBody>
                    <a:bodyPr/>
                    <a:lstStyle/>
                    <a:p>
                      <a:endParaRPr lang="da-DK"/>
                    </a:p>
                  </a:txBody>
                  <a:tcPr/>
                </a:tc>
                <a:tc hMerge="1">
                  <a:txBody>
                    <a:bodyPr/>
                    <a:lstStyle/>
                    <a:p>
                      <a:endParaRPr lang="da-DK"/>
                    </a:p>
                  </a:txBody>
                  <a:tcPr/>
                </a:tc>
                <a:tc hMerge="1">
                  <a:txBody>
                    <a:bodyPr/>
                    <a:lstStyle/>
                    <a:p>
                      <a:endParaRPr lang="da-DK"/>
                    </a:p>
                  </a:txBody>
                  <a:tcPr/>
                </a:tc>
                <a:tc gridSpan="4">
                  <a:txBody>
                    <a:bodyPr/>
                    <a:lstStyle/>
                    <a:p>
                      <a:pPr algn="ctr" fontAlgn="t"/>
                      <a:r>
                        <a:rPr lang="en-US" sz="2000" b="1" u="none" strike="noStrike" noProof="0" dirty="0">
                          <a:effectLst/>
                        </a:rPr>
                        <a:t>Use of plastics (kt)</a:t>
                      </a:r>
                      <a:endParaRPr lang="en-US" sz="2000" b="1" i="0" u="none" strike="noStrike" noProof="0" dirty="0">
                        <a:solidFill>
                          <a:srgbClr val="000000"/>
                        </a:solidFill>
                        <a:effectLst/>
                        <a:latin typeface="Calibri" panose="020F0502020204030204" pitchFamily="34" charset="0"/>
                      </a:endParaRPr>
                    </a:p>
                  </a:txBody>
                  <a:tcPr/>
                </a:tc>
                <a:tc hMerge="1">
                  <a:txBody>
                    <a:bodyPr/>
                    <a:lstStyle/>
                    <a:p>
                      <a:endParaRPr lang="da-DK"/>
                    </a:p>
                  </a:txBody>
                  <a:tcPr/>
                </a:tc>
                <a:tc hMerge="1">
                  <a:txBody>
                    <a:bodyPr/>
                    <a:lstStyle/>
                    <a:p>
                      <a:endParaRPr lang="da-DK"/>
                    </a:p>
                  </a:txBody>
                  <a:tcPr/>
                </a:tc>
                <a:tc hMerge="1">
                  <a:txBody>
                    <a:bodyPr/>
                    <a:lstStyle/>
                    <a:p>
                      <a:endParaRPr lang="da-DK"/>
                    </a:p>
                  </a:txBody>
                  <a:tcPr/>
                </a:tc>
                <a:extLst>
                  <a:ext uri="{0D108BD9-81ED-4DB2-BD59-A6C34878D82A}">
                    <a16:rowId xmlns:a16="http://schemas.microsoft.com/office/drawing/2014/main" val="3603955948"/>
                  </a:ext>
                </a:extLst>
              </a:tr>
              <a:tr h="350751">
                <a:tc>
                  <a:txBody>
                    <a:bodyPr/>
                    <a:lstStyle/>
                    <a:p>
                      <a:pPr algn="ctr" fontAlgn="t"/>
                      <a:r>
                        <a:rPr lang="en-US" sz="2000" u="none" strike="noStrike" noProof="0" dirty="0">
                          <a:effectLst/>
                        </a:rPr>
                        <a:t> </a:t>
                      </a:r>
                      <a:endParaRPr lang="en-US" sz="2000" b="1" i="0" u="none" strike="noStrike" noProof="0" dirty="0">
                        <a:solidFill>
                          <a:srgbClr val="000000"/>
                        </a:solidFill>
                        <a:effectLst/>
                        <a:latin typeface="Calibri" panose="020F0502020204030204" pitchFamily="34" charset="0"/>
                      </a:endParaRPr>
                    </a:p>
                  </a:txBody>
                  <a:tcPr/>
                </a:tc>
                <a:tc>
                  <a:txBody>
                    <a:bodyPr/>
                    <a:lstStyle/>
                    <a:p>
                      <a:pPr algn="ctr" fontAlgn="t"/>
                      <a:r>
                        <a:rPr lang="en-US" sz="2000" u="none" strike="noStrike" noProof="0" dirty="0">
                          <a:effectLst/>
                        </a:rPr>
                        <a:t>Prod</a:t>
                      </a:r>
                      <a:endParaRPr lang="en-US" sz="2000" b="1" i="0" u="none" strike="noStrike" noProof="0" dirty="0">
                        <a:solidFill>
                          <a:srgbClr val="000000"/>
                        </a:solidFill>
                        <a:effectLst/>
                        <a:latin typeface="Calibri" panose="020F0502020204030204" pitchFamily="34" charset="0"/>
                      </a:endParaRPr>
                    </a:p>
                  </a:txBody>
                  <a:tcPr/>
                </a:tc>
                <a:tc>
                  <a:txBody>
                    <a:bodyPr/>
                    <a:lstStyle/>
                    <a:p>
                      <a:pPr algn="ctr" fontAlgn="t"/>
                      <a:r>
                        <a:rPr lang="en-US" sz="2000" u="none" strike="noStrike" noProof="0" dirty="0">
                          <a:effectLst/>
                        </a:rPr>
                        <a:t>Cons</a:t>
                      </a:r>
                      <a:endParaRPr lang="en-US" sz="2000" b="1" i="0" u="none" strike="noStrike" noProof="0" dirty="0">
                        <a:solidFill>
                          <a:srgbClr val="000000"/>
                        </a:solidFill>
                        <a:effectLst/>
                        <a:latin typeface="Calibri" panose="020F0502020204030204" pitchFamily="34" charset="0"/>
                      </a:endParaRPr>
                    </a:p>
                  </a:txBody>
                  <a:tcPr/>
                </a:tc>
                <a:tc>
                  <a:txBody>
                    <a:bodyPr/>
                    <a:lstStyle/>
                    <a:p>
                      <a:pPr algn="ctr" fontAlgn="t"/>
                      <a:r>
                        <a:rPr lang="en-US" sz="2000" u="none" strike="noStrike" noProof="0" dirty="0">
                          <a:effectLst/>
                        </a:rPr>
                        <a:t>SWM</a:t>
                      </a:r>
                      <a:endParaRPr lang="en-US" sz="2000" b="1" i="0" u="none" strike="noStrike" noProof="0" dirty="0">
                        <a:solidFill>
                          <a:srgbClr val="000000"/>
                        </a:solidFill>
                        <a:effectLst/>
                        <a:latin typeface="Calibri" panose="020F0502020204030204" pitchFamily="34" charset="0"/>
                      </a:endParaRPr>
                    </a:p>
                  </a:txBody>
                  <a:tcPr/>
                </a:tc>
                <a:tc>
                  <a:txBody>
                    <a:bodyPr/>
                    <a:lstStyle/>
                    <a:p>
                      <a:pPr algn="ctr" fontAlgn="t"/>
                      <a:r>
                        <a:rPr lang="en-US" sz="2000" u="none" strike="noStrike" noProof="0" dirty="0">
                          <a:effectLst/>
                        </a:rPr>
                        <a:t>Imp</a:t>
                      </a:r>
                      <a:endParaRPr lang="en-US" sz="2000" b="1" i="0" u="none" strike="noStrike" noProof="0" dirty="0">
                        <a:solidFill>
                          <a:srgbClr val="000000"/>
                        </a:solidFill>
                        <a:effectLst/>
                        <a:latin typeface="Calibri" panose="020F0502020204030204" pitchFamily="34" charset="0"/>
                      </a:endParaRPr>
                    </a:p>
                  </a:txBody>
                  <a:tcPr/>
                </a:tc>
                <a:tc>
                  <a:txBody>
                    <a:bodyPr/>
                    <a:lstStyle/>
                    <a:p>
                      <a:pPr algn="ctr" fontAlgn="t"/>
                      <a:r>
                        <a:rPr lang="en-US" sz="2000" u="none" strike="noStrike" noProof="0" dirty="0">
                          <a:effectLst/>
                        </a:rPr>
                        <a:t>Prod</a:t>
                      </a:r>
                      <a:endParaRPr lang="en-US" sz="2000" b="1" i="0" u="none" strike="noStrike" noProof="0" dirty="0">
                        <a:solidFill>
                          <a:srgbClr val="000000"/>
                        </a:solidFill>
                        <a:effectLst/>
                        <a:latin typeface="Calibri" panose="020F0502020204030204" pitchFamily="34" charset="0"/>
                      </a:endParaRPr>
                    </a:p>
                  </a:txBody>
                  <a:tcPr/>
                </a:tc>
                <a:tc>
                  <a:txBody>
                    <a:bodyPr/>
                    <a:lstStyle/>
                    <a:p>
                      <a:pPr algn="ctr" fontAlgn="t"/>
                      <a:r>
                        <a:rPr lang="en-US" sz="2000" u="none" strike="noStrike" noProof="0" dirty="0">
                          <a:effectLst/>
                        </a:rPr>
                        <a:t>Cons</a:t>
                      </a:r>
                      <a:endParaRPr lang="en-US" sz="2000" b="1" i="0" u="none" strike="noStrike" noProof="0" dirty="0">
                        <a:solidFill>
                          <a:srgbClr val="000000"/>
                        </a:solidFill>
                        <a:effectLst/>
                        <a:latin typeface="Calibri" panose="020F0502020204030204" pitchFamily="34" charset="0"/>
                      </a:endParaRPr>
                    </a:p>
                  </a:txBody>
                  <a:tcPr/>
                </a:tc>
                <a:tc>
                  <a:txBody>
                    <a:bodyPr/>
                    <a:lstStyle/>
                    <a:p>
                      <a:pPr algn="ctr" fontAlgn="t"/>
                      <a:r>
                        <a:rPr lang="en-US" sz="2000" u="none" strike="noStrike" noProof="0" dirty="0">
                          <a:effectLst/>
                        </a:rPr>
                        <a:t>SWM</a:t>
                      </a:r>
                      <a:endParaRPr lang="en-US" sz="2000" b="1" i="0" u="none" strike="noStrike" noProof="0" dirty="0">
                        <a:solidFill>
                          <a:srgbClr val="000000"/>
                        </a:solidFill>
                        <a:effectLst/>
                        <a:latin typeface="Calibri" panose="020F0502020204030204" pitchFamily="34" charset="0"/>
                      </a:endParaRPr>
                    </a:p>
                  </a:txBody>
                  <a:tcPr/>
                </a:tc>
                <a:tc>
                  <a:txBody>
                    <a:bodyPr/>
                    <a:lstStyle/>
                    <a:p>
                      <a:pPr algn="ctr" fontAlgn="t"/>
                      <a:r>
                        <a:rPr lang="en-US" sz="2000" u="none" strike="noStrike" noProof="0" dirty="0">
                          <a:effectLst/>
                        </a:rPr>
                        <a:t>Exp</a:t>
                      </a:r>
                      <a:endParaRPr lang="en-US" sz="2000" b="1" i="0" u="none" strike="noStrike" noProof="0" dirty="0">
                        <a:solidFill>
                          <a:srgbClr val="000000"/>
                        </a:solidFill>
                        <a:effectLst/>
                        <a:latin typeface="Calibri" panose="020F0502020204030204" pitchFamily="34" charset="0"/>
                      </a:endParaRPr>
                    </a:p>
                  </a:txBody>
                  <a:tcPr/>
                </a:tc>
                <a:extLst>
                  <a:ext uri="{0D108BD9-81ED-4DB2-BD59-A6C34878D82A}">
                    <a16:rowId xmlns:a16="http://schemas.microsoft.com/office/drawing/2014/main" val="3959257533"/>
                  </a:ext>
                </a:extLst>
              </a:tr>
              <a:tr h="350751">
                <a:tc>
                  <a:txBody>
                    <a:bodyPr/>
                    <a:lstStyle/>
                    <a:p>
                      <a:pPr algn="ctr" fontAlgn="t"/>
                      <a:r>
                        <a:rPr lang="en-US" sz="2000" b="1" u="none" strike="noStrike" noProof="0" dirty="0">
                          <a:effectLst/>
                        </a:rPr>
                        <a:t>V</a:t>
                      </a:r>
                      <a:endParaRPr lang="en-US" sz="2000" b="1" i="0" u="none" strike="noStrike" noProof="0" dirty="0">
                        <a:solidFill>
                          <a:srgbClr val="000000"/>
                        </a:solidFill>
                        <a:effectLst/>
                        <a:latin typeface="Calibri" panose="020F0502020204030204" pitchFamily="34" charset="0"/>
                      </a:endParaRPr>
                    </a:p>
                  </a:txBody>
                  <a:tcPr/>
                </a:tc>
                <a:tc>
                  <a:txBody>
                    <a:bodyPr/>
                    <a:lstStyle/>
                    <a:p>
                      <a:pPr algn="r" fontAlgn="b"/>
                      <a:r>
                        <a:rPr lang="en-US" sz="2000" u="none" strike="noStrike" noProof="0" dirty="0">
                          <a:effectLst/>
                        </a:rPr>
                        <a:t>104</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l" fontAlgn="b"/>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l" fontAlgn="b"/>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734</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729</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0</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l" fontAlgn="b"/>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109</a:t>
                      </a:r>
                      <a:endParaRPr lang="en-US" sz="2000" b="0" i="0" u="none" strike="noStrike" noProof="0"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164419209"/>
                  </a:ext>
                </a:extLst>
              </a:tr>
              <a:tr h="350751">
                <a:tc>
                  <a:txBody>
                    <a:bodyPr/>
                    <a:lstStyle/>
                    <a:p>
                      <a:pPr algn="ctr" fontAlgn="t"/>
                      <a:r>
                        <a:rPr lang="en-US" sz="2000" b="1" u="none" strike="noStrike" noProof="0" dirty="0">
                          <a:effectLst/>
                        </a:rPr>
                        <a:t>R</a:t>
                      </a:r>
                      <a:endParaRPr lang="en-US" sz="2000" b="1" i="0" u="none" strike="noStrike" noProof="0" dirty="0">
                        <a:solidFill>
                          <a:srgbClr val="000000"/>
                        </a:solidFill>
                        <a:effectLst/>
                        <a:latin typeface="Calibri" panose="020F0502020204030204" pitchFamily="34" charset="0"/>
                      </a:endParaRPr>
                    </a:p>
                  </a:txBody>
                  <a:tcPr/>
                </a:tc>
                <a:tc>
                  <a:txBody>
                    <a:bodyPr/>
                    <a:lstStyle/>
                    <a:p>
                      <a:pPr algn="r" fontAlgn="b"/>
                      <a:r>
                        <a:rPr lang="en-US" sz="2000" u="none" strike="noStrike" noProof="0" dirty="0">
                          <a:effectLst/>
                        </a:rPr>
                        <a:t>3</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l" fontAlgn="b"/>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43</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15</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54</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l" fontAlgn="b"/>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l" fontAlgn="b"/>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6</a:t>
                      </a:r>
                      <a:endParaRPr lang="en-US" sz="2000" b="0" i="0" u="none" strike="noStrike" noProof="0"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35077982"/>
                  </a:ext>
                </a:extLst>
              </a:tr>
              <a:tr h="350751">
                <a:tc>
                  <a:txBody>
                    <a:bodyPr/>
                    <a:lstStyle/>
                    <a:p>
                      <a:pPr algn="ctr" fontAlgn="t"/>
                      <a:r>
                        <a:rPr lang="en-US" sz="2000" b="1" u="none" strike="noStrike" noProof="0" dirty="0">
                          <a:effectLst/>
                        </a:rPr>
                        <a:t>W</a:t>
                      </a:r>
                      <a:endParaRPr lang="en-US" sz="2000" b="1" i="0" u="none" strike="noStrike" noProof="0" dirty="0">
                        <a:solidFill>
                          <a:srgbClr val="000000"/>
                        </a:solidFill>
                        <a:effectLst/>
                        <a:latin typeface="Calibri" panose="020F0502020204030204" pitchFamily="34" charset="0"/>
                      </a:endParaRPr>
                    </a:p>
                  </a:txBody>
                  <a:tcPr/>
                </a:tc>
                <a:tc>
                  <a:txBody>
                    <a:bodyPr/>
                    <a:lstStyle/>
                    <a:p>
                      <a:pPr algn="r" fontAlgn="b"/>
                      <a:r>
                        <a:rPr lang="en-US" sz="2000" u="none" strike="noStrike" noProof="0" dirty="0">
                          <a:effectLst/>
                        </a:rPr>
                        <a:t>53</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76</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1</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16</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l" fontAlgn="b"/>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l" fontAlgn="b"/>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78</a:t>
                      </a:r>
                      <a:endParaRPr lang="en-US" sz="2000" b="0" i="0" u="none" strike="noStrike" noProof="0" dirty="0">
                        <a:solidFill>
                          <a:srgbClr val="000000"/>
                        </a:solidFill>
                        <a:effectLst/>
                        <a:latin typeface="Calibri" panose="020F0502020204030204" pitchFamily="34" charset="0"/>
                      </a:endParaRPr>
                    </a:p>
                  </a:txBody>
                  <a:tcPr anchor="b"/>
                </a:tc>
                <a:tc>
                  <a:txBody>
                    <a:bodyPr/>
                    <a:lstStyle/>
                    <a:p>
                      <a:pPr algn="r" fontAlgn="b"/>
                      <a:r>
                        <a:rPr lang="en-US" sz="2000" u="none" strike="noStrike" noProof="0" dirty="0">
                          <a:effectLst/>
                        </a:rPr>
                        <a:t>68</a:t>
                      </a:r>
                      <a:endParaRPr lang="en-US" sz="2000" b="0" i="0" u="none" strike="noStrike" noProof="0" dirty="0">
                        <a:solidFill>
                          <a:srgbClr val="000000"/>
                        </a:solidFill>
                        <a:effectLst/>
                        <a:latin typeface="Calibri" panose="020F0502020204030204" pitchFamily="34" charset="0"/>
                      </a:endParaRPr>
                    </a:p>
                  </a:txBody>
                  <a:tcPr anchor="b"/>
                </a:tc>
                <a:extLst>
                  <a:ext uri="{0D108BD9-81ED-4DB2-BD59-A6C34878D82A}">
                    <a16:rowId xmlns:a16="http://schemas.microsoft.com/office/drawing/2014/main" val="2252455564"/>
                  </a:ext>
                </a:extLst>
              </a:tr>
            </a:tbl>
          </a:graphicData>
        </a:graphic>
      </p:graphicFrame>
    </p:spTree>
    <p:extLst>
      <p:ext uri="{BB962C8B-B14F-4D97-AF65-F5344CB8AC3E}">
        <p14:creationId xmlns:p14="http://schemas.microsoft.com/office/powerpoint/2010/main" val="2709324761"/>
      </p:ext>
    </p:extLst>
  </p:cSld>
  <p:clrMapOvr>
    <a:masterClrMapping/>
  </p:clrMapOvr>
  <p:extLst>
    <p:ext uri="{6950BFC3-D8DA-4A85-94F7-54DA5524770B}">
      <p188:commentRel xmlns:p188="http://schemas.microsoft.com/office/powerpoint/2018/8/main" r:id="rId3"/>
    </p:ext>
  </p:extLs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7A9F-3C78-33A7-D0D9-D6F7631C47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516AE5-9DE1-374D-7328-BAB61D8DBD28}"/>
              </a:ext>
            </a:extLst>
          </p:cNvPr>
          <p:cNvSpPr>
            <a:spLocks noGrp="1"/>
          </p:cNvSpPr>
          <p:nvPr>
            <p:ph type="title"/>
          </p:nvPr>
        </p:nvSpPr>
        <p:spPr/>
        <p:txBody>
          <a:bodyPr/>
          <a:lstStyle/>
          <a:p>
            <a:r>
              <a:rPr lang="en-US" dirty="0"/>
              <a:t>Data</a:t>
            </a:r>
          </a:p>
        </p:txBody>
      </p:sp>
      <p:sp>
        <p:nvSpPr>
          <p:cNvPr id="2" name="Date Placeholder 1">
            <a:extLst>
              <a:ext uri="{FF2B5EF4-FFF2-40B4-BE49-F238E27FC236}">
                <a16:creationId xmlns:a16="http://schemas.microsoft.com/office/drawing/2014/main" id="{9B32C9A6-3763-92F3-2ACE-BB9F9E1B96D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99D3A2CB-AED2-0308-4E0B-0C08CA22C6D2}"/>
              </a:ext>
            </a:extLst>
          </p:cNvPr>
          <p:cNvSpPr>
            <a:spLocks noGrp="1"/>
          </p:cNvSpPr>
          <p:nvPr>
            <p:ph type="sldNum" sz="quarter" idx="12"/>
          </p:nvPr>
        </p:nvSpPr>
        <p:spPr/>
        <p:txBody>
          <a:bodyPr/>
          <a:lstStyle/>
          <a:p>
            <a:fld id="{091A926C-488A-4E3E-9C21-57CAA120E114}" type="slidenum">
              <a:rPr lang="en-US" smtClean="0"/>
              <a:t>41</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0AA558B-B2D8-66E6-42CD-F69DE4A8B4D6}"/>
                  </a:ext>
                </a:extLst>
              </p:cNvPr>
              <p:cNvSpPr txBox="1"/>
              <p:nvPr/>
            </p:nvSpPr>
            <p:spPr>
              <a:xfrm>
                <a:off x="508409" y="1051323"/>
                <a:ext cx="8148411" cy="5701304"/>
              </a:xfrm>
              <a:prstGeom prst="rect">
                <a:avLst/>
              </a:prstGeom>
              <a:noFill/>
            </p:spPr>
            <p:txBody>
              <a:bodyPr wrap="square" rtlCol="0">
                <a:spAutoFit/>
              </a:bodyPr>
              <a:lstStyle/>
              <a:p>
                <a:r>
                  <a:rPr lang="en-US" sz="2000" b="1" dirty="0"/>
                  <a:t>Price data</a:t>
                </a:r>
              </a:p>
              <a:p>
                <a:r>
                  <a:rPr lang="en-US" sz="2000" dirty="0"/>
                  <a:t>We use data on commodity trade between Denmark and abroad to approximate monetary transactions related to material flows.</a:t>
                </a:r>
              </a:p>
              <a:p>
                <a:endParaRPr lang="en-US" sz="2000" dirty="0"/>
              </a:p>
              <a:p>
                <a:r>
                  <a:rPr lang="en-US" sz="2000" b="1" dirty="0"/>
                  <a:t>Bridge accounts</a:t>
                </a:r>
              </a:p>
              <a:p>
                <a:r>
                  <a:rPr lang="en-US" sz="2000" dirty="0"/>
                  <a:t>Price estimates allows us to bridge the value based national accounts and the mass based physical flow accounts.</a:t>
                </a:r>
              </a:p>
              <a:p>
                <a:endParaRPr lang="en-US" sz="2000" dirty="0"/>
              </a:p>
              <a:p>
                <a:r>
                  <a:rPr lang="en-US" sz="2000" b="1" dirty="0"/>
                  <a:t>Aggregate prices</a:t>
                </a:r>
              </a:p>
              <a:p>
                <a:r>
                  <a:rPr lang="en-US" sz="2000" dirty="0"/>
                  <a:t>We assume a common price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in </a:t>
                </a:r>
                <a:r>
                  <a:rPr lang="da-DK" dirty="0"/>
                  <a:t>DKK/kg</a:t>
                </a:r>
                <a:r>
                  <a:rPr lang="en-US" sz="2000" dirty="0"/>
                  <a:t> for all commodities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h</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of the same material group </a:t>
                </a:r>
                <a14:m>
                  <m:oMath xmlns:m="http://schemas.openxmlformats.org/officeDocument/2006/math">
                    <m:r>
                      <a:rPr lang="en-US" sz="2000" i="1">
                        <a:latin typeface="Cambria Math" panose="02040503050406030204" pitchFamily="18" charset="0"/>
                        <a:ea typeface="Cambria Math" panose="02040503050406030204" pitchFamily="18" charset="0"/>
                      </a:rPr>
                      <m:t>𝑚</m:t>
                    </m:r>
                  </m:oMath>
                </a14:m>
                <a:r>
                  <a:rPr lang="en-US" sz="2000" dirty="0"/>
                  <a:t> and source </a:t>
                </a:r>
                <a14:m>
                  <m:oMath xmlns:m="http://schemas.openxmlformats.org/officeDocument/2006/math">
                    <m:r>
                      <a:rPr lang="en-US" sz="2000" i="1">
                        <a:latin typeface="Cambria Math" panose="02040503050406030204" pitchFamily="18" charset="0"/>
                        <a:ea typeface="Cambria Math" panose="02040503050406030204" pitchFamily="18" charset="0"/>
                      </a:rPr>
                      <m:t>𝑠</m:t>
                    </m:r>
                  </m:oMath>
                </a14:m>
                <a:r>
                  <a:rPr lang="en-US" sz="2000" dirty="0"/>
                  <a:t> based on the value of trade averaged over the quantity of trade</a:t>
                </a:r>
              </a:p>
              <a:p>
                <a:endParaRPr lang="en-US" sz="2000" dirty="0"/>
              </a:p>
              <a:p>
                <a:pPr algn="ct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r>
                        <a:rPr lang="en-US" sz="2000" i="1">
                          <a:latin typeface="Cambria Math" panose="02040503050406030204" pitchFamily="18" charset="0"/>
                          <a:ea typeface="Cambria Math" panose="02040503050406030204" pitchFamily="18" charset="0"/>
                        </a:rPr>
                        <m:t>=</m:t>
                      </m:r>
                      <m:nary>
                        <m:naryPr>
                          <m:chr m:val="∑"/>
                          <m:supHide m:val="on"/>
                          <m:ctrlPr>
                            <a:rPr lang="en-US"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sub>
                        <m:sup/>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f>
                            <m:fPr>
                              <m:ctrlPr>
                                <a:rPr lang="en-US" sz="2000" i="1">
                                  <a:latin typeface="Cambria Math" panose="02040503050406030204" pitchFamily="18" charset="0"/>
                                  <a:ea typeface="Cambria Math" panose="02040503050406030204" pitchFamily="18" charset="0"/>
                                </a:rPr>
                              </m:ctrlPr>
                            </m:fPr>
                            <m:num>
                              <m:d>
                                <m:dPr>
                                  <m:ctrlPr>
                                    <a:rPr lang="en-US" sz="2000" i="1">
                                      <a:latin typeface="Cambria Math" panose="02040503050406030204" pitchFamily="18" charset="0"/>
                                      <a:ea typeface="Cambria Math" panose="02040503050406030204" pitchFamily="18" charset="0"/>
                                    </a:rPr>
                                  </m:ctrlPr>
                                </m:dPr>
                                <m:e>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h</m:t>
                                      </m:r>
                                    </m:sub>
                                    <m:sup>
                                      <m:r>
                                        <m:rPr>
                                          <m:sty m:val="p"/>
                                        </m:rPr>
                                        <a:rPr lang="en-US" sz="2000">
                                          <a:latin typeface="Cambria Math" panose="02040503050406030204" pitchFamily="18" charset="0"/>
                                          <a:ea typeface="Cambria Math" panose="02040503050406030204" pitchFamily="18" charset="0"/>
                                        </a:rPr>
                                        <m:t>imp</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h</m:t>
                                      </m:r>
                                    </m:sub>
                                    <m:sup>
                                      <m:r>
                                        <m:rPr>
                                          <m:sty m:val="p"/>
                                        </m:rPr>
                                        <a:rPr lang="en-US" sz="2000">
                                          <a:latin typeface="Cambria Math" panose="02040503050406030204" pitchFamily="18" charset="0"/>
                                          <a:ea typeface="Cambria Math" panose="02040503050406030204" pitchFamily="18" charset="0"/>
                                        </a:rPr>
                                        <m:t>exp</m:t>
                                      </m:r>
                                    </m:sup>
                                  </m:sSubSup>
                                </m:e>
                              </m:d>
                            </m:num>
                            <m:den>
                              <m:d>
                                <m:dPr>
                                  <m:ctrlPr>
                                    <a:rPr lang="en-US" sz="2000" i="1">
                                      <a:latin typeface="Cambria Math" panose="02040503050406030204" pitchFamily="18" charset="0"/>
                                      <a:ea typeface="Cambria Math" panose="02040503050406030204" pitchFamily="18" charset="0"/>
                                    </a:rPr>
                                  </m:ctrlPr>
                                </m:dPr>
                                <m:e>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up>
                                      <m:r>
                                        <m:rPr>
                                          <m:sty m:val="p"/>
                                        </m:rPr>
                                        <a:rPr lang="en-US" sz="2000">
                                          <a:latin typeface="Cambria Math" panose="02040503050406030204" pitchFamily="18" charset="0"/>
                                          <a:ea typeface="Cambria Math" panose="02040503050406030204" pitchFamily="18" charset="0"/>
                                        </a:rPr>
                                        <m:t>imp</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up>
                                      <m:r>
                                        <m:rPr>
                                          <m:sty m:val="p"/>
                                        </m:rPr>
                                        <a:rPr lang="en-US" sz="2000">
                                          <a:latin typeface="Cambria Math" panose="02040503050406030204" pitchFamily="18" charset="0"/>
                                          <a:ea typeface="Cambria Math" panose="02040503050406030204" pitchFamily="18" charset="0"/>
                                        </a:rPr>
                                        <m:t>exp</m:t>
                                      </m:r>
                                    </m:sup>
                                  </m:sSubSup>
                                </m:e>
                              </m:d>
                            </m:den>
                          </m:f>
                        </m:e>
                      </m:nary>
                      <m:r>
                        <a:rPr lang="en-US" sz="2000" i="1">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Sub>
                        </m:num>
                        <m:den>
                          <m:nary>
                            <m:naryPr>
                              <m:chr m:val="∑"/>
                              <m:supHide m:val="on"/>
                              <m:ctrlPr>
                                <a:rPr lang="en-US"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sub>
                            <m:sup/>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Sub>
                            </m:e>
                          </m:nary>
                        </m:den>
                      </m:f>
                    </m:oMath>
                  </m:oMathPara>
                </a14:m>
                <a:endParaRPr lang="en-US" sz="2000" dirty="0"/>
              </a:p>
              <a:p>
                <a:endParaRPr lang="en-US" sz="2000" dirty="0"/>
              </a:p>
              <a:p>
                <a:r>
                  <a:rPr lang="en-US" sz="2000" dirty="0"/>
                  <a:t>with weights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oMath>
                </a14:m>
                <a:r>
                  <a:rPr lang="en-US" sz="2000" dirty="0"/>
                  <a:t> as share of total supply of </a:t>
                </a:r>
                <a14:m>
                  <m:oMath xmlns:m="http://schemas.openxmlformats.org/officeDocument/2006/math">
                    <m:r>
                      <m:rPr>
                        <m:brk m:alnAt="7"/>
                      </m:rP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according to PSUTs</a:t>
                </a:r>
                <a:endParaRPr lang="en-US" sz="2000" b="1" dirty="0"/>
              </a:p>
            </p:txBody>
          </p:sp>
        </mc:Choice>
        <mc:Fallback xmlns="">
          <p:sp>
            <p:nvSpPr>
              <p:cNvPr id="6" name="TextBox 5">
                <a:extLst>
                  <a:ext uri="{FF2B5EF4-FFF2-40B4-BE49-F238E27FC236}">
                    <a16:creationId xmlns:a16="http://schemas.microsoft.com/office/drawing/2014/main" id="{40AA558B-B2D8-66E6-42CD-F69DE4A8B4D6}"/>
                  </a:ext>
                </a:extLst>
              </p:cNvPr>
              <p:cNvSpPr txBox="1">
                <a:spLocks noRot="1" noChangeAspect="1" noMove="1" noResize="1" noEditPoints="1" noAdjustHandles="1" noChangeArrowheads="1" noChangeShapeType="1" noTextEdit="1"/>
              </p:cNvSpPr>
              <p:nvPr/>
            </p:nvSpPr>
            <p:spPr>
              <a:xfrm>
                <a:off x="508409" y="1051323"/>
                <a:ext cx="8148411" cy="5701304"/>
              </a:xfrm>
              <a:prstGeom prst="rect">
                <a:avLst/>
              </a:prstGeom>
              <a:blipFill>
                <a:blip r:embed="rId3"/>
                <a:stretch>
                  <a:fillRect l="-748" t="-534" r="-823" b="-962"/>
                </a:stretch>
              </a:blipFill>
            </p:spPr>
            <p:txBody>
              <a:bodyPr/>
              <a:lstStyle/>
              <a:p>
                <a:r>
                  <a:rPr lang="en-GB">
                    <a:noFill/>
                  </a:rPr>
                  <a:t> </a:t>
                </a:r>
              </a:p>
            </p:txBody>
          </p:sp>
        </mc:Fallback>
      </mc:AlternateContent>
    </p:spTree>
    <p:extLst>
      <p:ext uri="{BB962C8B-B14F-4D97-AF65-F5344CB8AC3E}">
        <p14:creationId xmlns:p14="http://schemas.microsoft.com/office/powerpoint/2010/main" val="33606946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B265B-CC6A-E828-D9EB-3EE54CC83E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D3EAFE-7834-AFED-CEC9-55120F407DCD}"/>
              </a:ext>
            </a:extLst>
          </p:cNvPr>
          <p:cNvSpPr>
            <a:spLocks noGrp="1"/>
          </p:cNvSpPr>
          <p:nvPr>
            <p:ph type="title"/>
          </p:nvPr>
        </p:nvSpPr>
        <p:spPr>
          <a:xfrm>
            <a:off x="587375" y="619125"/>
            <a:ext cx="7967664" cy="865188"/>
          </a:xfrm>
        </p:spPr>
        <p:txBody>
          <a:bodyPr anchor="t">
            <a:normAutofit/>
          </a:bodyPr>
          <a:lstStyle/>
          <a:p>
            <a:r>
              <a:rPr lang="en-US" dirty="0"/>
              <a:t>Data</a:t>
            </a:r>
          </a:p>
        </p:txBody>
      </p:sp>
      <p:pic>
        <p:nvPicPr>
          <p:cNvPr id="9" name="Picture 8" descr="A graph of a line graph&#10;&#10;AI-generated content may be incorrect.">
            <a:extLst>
              <a:ext uri="{FF2B5EF4-FFF2-40B4-BE49-F238E27FC236}">
                <a16:creationId xmlns:a16="http://schemas.microsoft.com/office/drawing/2014/main" id="{DD6D215A-4950-C470-D6ED-A982D7239DFC}"/>
              </a:ext>
            </a:extLst>
          </p:cNvPr>
          <p:cNvPicPr>
            <a:picLocks noChangeAspect="1"/>
          </p:cNvPicPr>
          <p:nvPr/>
        </p:nvPicPr>
        <p:blipFill>
          <a:blip r:embed="rId3"/>
          <a:stretch>
            <a:fillRect/>
          </a:stretch>
        </p:blipFill>
        <p:spPr>
          <a:xfrm>
            <a:off x="895477" y="1484313"/>
            <a:ext cx="7351459" cy="4668178"/>
          </a:xfrm>
          <a:prstGeom prst="rect">
            <a:avLst/>
          </a:prstGeom>
          <a:noFill/>
        </p:spPr>
      </p:pic>
      <p:sp>
        <p:nvSpPr>
          <p:cNvPr id="2" name="Date Placeholder 1">
            <a:extLst>
              <a:ext uri="{FF2B5EF4-FFF2-40B4-BE49-F238E27FC236}">
                <a16:creationId xmlns:a16="http://schemas.microsoft.com/office/drawing/2014/main" id="{7A43F1CE-55EF-55D4-2F49-DC5FA4BA25C7}"/>
              </a:ext>
            </a:extLst>
          </p:cNvPr>
          <p:cNvSpPr>
            <a:spLocks noGrp="1"/>
          </p:cNvSpPr>
          <p:nvPr>
            <p:ph type="dt" sz="half" idx="10"/>
          </p:nvPr>
        </p:nvSpPr>
        <p:spPr>
          <a:xfrm>
            <a:off x="7272722" y="85746"/>
            <a:ext cx="814976" cy="176797"/>
          </a:xfrm>
        </p:spPr>
        <p:txBody>
          <a:bodyPr anchor="b">
            <a:normAutofit/>
          </a:bodyPr>
          <a:lstStyle/>
          <a:p>
            <a:pPr>
              <a:spcAft>
                <a:spcPts val="600"/>
              </a:spcAft>
            </a:pPr>
            <a:fld id="{D47CA900-C54E-46DA-9750-FC525BA50C3D}" type="datetime1">
              <a:rPr lang="en-US" smtClean="0"/>
              <a:pPr>
                <a:spcAft>
                  <a:spcPts val="600"/>
                </a:spcAft>
              </a:pPr>
              <a:t>6/30/2025</a:t>
            </a:fld>
            <a:endParaRPr lang="en-US"/>
          </a:p>
        </p:txBody>
      </p:sp>
      <p:sp>
        <p:nvSpPr>
          <p:cNvPr id="4" name="Slide Number Placeholder 3">
            <a:extLst>
              <a:ext uri="{FF2B5EF4-FFF2-40B4-BE49-F238E27FC236}">
                <a16:creationId xmlns:a16="http://schemas.microsoft.com/office/drawing/2014/main" id="{51CDE6BF-D561-FD0E-0FB8-2A343A1635DA}"/>
              </a:ext>
            </a:extLst>
          </p:cNvPr>
          <p:cNvSpPr>
            <a:spLocks noGrp="1"/>
          </p:cNvSpPr>
          <p:nvPr>
            <p:ph type="sldNum" sz="quarter" idx="12"/>
          </p:nvPr>
        </p:nvSpPr>
        <p:spPr>
          <a:xfrm>
            <a:off x="8177914" y="85746"/>
            <a:ext cx="377124" cy="176797"/>
          </a:xfrm>
        </p:spPr>
        <p:txBody>
          <a:bodyPr anchor="b">
            <a:normAutofit/>
          </a:bodyPr>
          <a:lstStyle/>
          <a:p>
            <a:pPr>
              <a:spcAft>
                <a:spcPts val="600"/>
              </a:spcAft>
            </a:pPr>
            <a:fld id="{091A926C-488A-4E3E-9C21-57CAA120E114}" type="slidenum">
              <a:rPr lang="en-US" smtClean="0"/>
              <a:pPr>
                <a:spcAft>
                  <a:spcPts val="600"/>
                </a:spcAft>
              </a:pPr>
              <a:t>42</a:t>
            </a:fld>
            <a:endParaRPr lang="en-US"/>
          </a:p>
        </p:txBody>
      </p:sp>
    </p:spTree>
    <p:extLst>
      <p:ext uri="{BB962C8B-B14F-4D97-AF65-F5344CB8AC3E}">
        <p14:creationId xmlns:p14="http://schemas.microsoft.com/office/powerpoint/2010/main" val="19859546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049DF-15E3-F06E-AAE2-D9AC4F3747E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22EDB0F-6452-40E2-E43E-FAC06DE74EA8}"/>
              </a:ext>
            </a:extLst>
          </p:cNvPr>
          <p:cNvSpPr>
            <a:spLocks noGrp="1"/>
          </p:cNvSpPr>
          <p:nvPr>
            <p:ph type="title"/>
          </p:nvPr>
        </p:nvSpPr>
        <p:spPr>
          <a:xfrm>
            <a:off x="587375" y="619125"/>
            <a:ext cx="7967664" cy="865188"/>
          </a:xfrm>
        </p:spPr>
        <p:txBody>
          <a:bodyPr anchor="t">
            <a:normAutofit/>
          </a:bodyPr>
          <a:lstStyle/>
          <a:p>
            <a:r>
              <a:rPr lang="en-US" dirty="0"/>
              <a:t>Data</a:t>
            </a:r>
          </a:p>
        </p:txBody>
      </p:sp>
      <p:pic>
        <p:nvPicPr>
          <p:cNvPr id="5" name="Picture 4" descr="A graph with a line&#10;&#10;AI-generated content may be incorrect.">
            <a:extLst>
              <a:ext uri="{FF2B5EF4-FFF2-40B4-BE49-F238E27FC236}">
                <a16:creationId xmlns:a16="http://schemas.microsoft.com/office/drawing/2014/main" id="{AC53D3AD-2331-B086-7756-CE13D11D72E2}"/>
              </a:ext>
            </a:extLst>
          </p:cNvPr>
          <p:cNvPicPr>
            <a:picLocks noChangeAspect="1"/>
          </p:cNvPicPr>
          <p:nvPr/>
        </p:nvPicPr>
        <p:blipFill>
          <a:blip r:embed="rId3"/>
          <a:stretch>
            <a:fillRect/>
          </a:stretch>
        </p:blipFill>
        <p:spPr>
          <a:xfrm>
            <a:off x="587375" y="1778432"/>
            <a:ext cx="7967663" cy="3665125"/>
          </a:xfrm>
          <a:prstGeom prst="rect">
            <a:avLst/>
          </a:prstGeom>
          <a:noFill/>
        </p:spPr>
      </p:pic>
      <p:sp>
        <p:nvSpPr>
          <p:cNvPr id="2" name="Date Placeholder 1">
            <a:extLst>
              <a:ext uri="{FF2B5EF4-FFF2-40B4-BE49-F238E27FC236}">
                <a16:creationId xmlns:a16="http://schemas.microsoft.com/office/drawing/2014/main" id="{81090653-D30B-B498-6650-F2D670DBA55C}"/>
              </a:ext>
            </a:extLst>
          </p:cNvPr>
          <p:cNvSpPr>
            <a:spLocks noGrp="1"/>
          </p:cNvSpPr>
          <p:nvPr>
            <p:ph type="dt" sz="half" idx="10"/>
          </p:nvPr>
        </p:nvSpPr>
        <p:spPr>
          <a:xfrm>
            <a:off x="7272722" y="85746"/>
            <a:ext cx="814976" cy="176797"/>
          </a:xfrm>
        </p:spPr>
        <p:txBody>
          <a:bodyPr anchor="b">
            <a:normAutofit/>
          </a:bodyPr>
          <a:lstStyle/>
          <a:p>
            <a:pPr>
              <a:spcAft>
                <a:spcPts val="600"/>
              </a:spcAft>
            </a:pPr>
            <a:fld id="{D47CA900-C54E-46DA-9750-FC525BA50C3D}" type="datetime1">
              <a:rPr lang="en-US" smtClean="0"/>
              <a:pPr>
                <a:spcAft>
                  <a:spcPts val="600"/>
                </a:spcAft>
              </a:pPr>
              <a:t>6/30/2025</a:t>
            </a:fld>
            <a:endParaRPr lang="en-US" dirty="0"/>
          </a:p>
        </p:txBody>
      </p:sp>
      <p:sp>
        <p:nvSpPr>
          <p:cNvPr id="4" name="Slide Number Placeholder 3">
            <a:extLst>
              <a:ext uri="{FF2B5EF4-FFF2-40B4-BE49-F238E27FC236}">
                <a16:creationId xmlns:a16="http://schemas.microsoft.com/office/drawing/2014/main" id="{43460637-C4D8-63A7-868D-FFCE9D7EADCD}"/>
              </a:ext>
            </a:extLst>
          </p:cNvPr>
          <p:cNvSpPr>
            <a:spLocks noGrp="1"/>
          </p:cNvSpPr>
          <p:nvPr>
            <p:ph type="sldNum" sz="quarter" idx="12"/>
          </p:nvPr>
        </p:nvSpPr>
        <p:spPr>
          <a:xfrm>
            <a:off x="8177914" y="85746"/>
            <a:ext cx="377124" cy="176797"/>
          </a:xfrm>
        </p:spPr>
        <p:txBody>
          <a:bodyPr anchor="b">
            <a:normAutofit/>
          </a:bodyPr>
          <a:lstStyle/>
          <a:p>
            <a:pPr>
              <a:spcAft>
                <a:spcPts val="600"/>
              </a:spcAft>
            </a:pPr>
            <a:fld id="{091A926C-488A-4E3E-9C21-57CAA120E114}" type="slidenum">
              <a:rPr lang="en-US" smtClean="0"/>
              <a:pPr>
                <a:spcAft>
                  <a:spcPts val="600"/>
                </a:spcAft>
              </a:pPr>
              <a:t>43</a:t>
            </a:fld>
            <a:endParaRPr lang="en-US" dirty="0"/>
          </a:p>
        </p:txBody>
      </p:sp>
      <p:sp>
        <p:nvSpPr>
          <p:cNvPr id="7" name="TextBox 6">
            <a:extLst>
              <a:ext uri="{FF2B5EF4-FFF2-40B4-BE49-F238E27FC236}">
                <a16:creationId xmlns:a16="http://schemas.microsoft.com/office/drawing/2014/main" id="{4F9686D2-2E59-D809-DF4F-61776B57C752}"/>
              </a:ext>
            </a:extLst>
          </p:cNvPr>
          <p:cNvSpPr txBox="1"/>
          <p:nvPr/>
        </p:nvSpPr>
        <p:spPr>
          <a:xfrm>
            <a:off x="717550" y="5350431"/>
            <a:ext cx="736099" cy="215444"/>
          </a:xfrm>
          <a:prstGeom prst="rect">
            <a:avLst/>
          </a:prstGeom>
          <a:noFill/>
        </p:spPr>
        <p:txBody>
          <a:bodyPr wrap="none" rtlCol="0">
            <a:spAutoFit/>
          </a:bodyPr>
          <a:lstStyle/>
          <a:p>
            <a:r>
              <a:rPr lang="en-US" sz="800" dirty="0"/>
              <a:t>Source: </a:t>
            </a:r>
            <a:r>
              <a:rPr lang="en-US" sz="800" dirty="0">
                <a:hlinkClick r:id="rId4"/>
              </a:rPr>
              <a:t>EEA.</a:t>
            </a:r>
            <a:endParaRPr lang="en-US" sz="800" dirty="0"/>
          </a:p>
        </p:txBody>
      </p:sp>
    </p:spTree>
    <p:extLst>
      <p:ext uri="{BB962C8B-B14F-4D97-AF65-F5344CB8AC3E}">
        <p14:creationId xmlns:p14="http://schemas.microsoft.com/office/powerpoint/2010/main" val="9557913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99A9-4F99-7303-44E4-34C98A27B0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1149AE-8D5F-384B-7B47-107D5C30E600}"/>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BEFE0DFF-21D7-96F0-DE6E-3C219B323941}"/>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70CAE4BA-B409-E0DF-69B2-02639AEECE62}"/>
              </a:ext>
            </a:extLst>
          </p:cNvPr>
          <p:cNvSpPr>
            <a:spLocks noGrp="1"/>
          </p:cNvSpPr>
          <p:nvPr>
            <p:ph type="sldNum" sz="quarter" idx="12"/>
          </p:nvPr>
        </p:nvSpPr>
        <p:spPr/>
        <p:txBody>
          <a:bodyPr/>
          <a:lstStyle/>
          <a:p>
            <a:fld id="{091A926C-488A-4E3E-9C21-57CAA120E114}" type="slidenum">
              <a:rPr lang="en-US" smtClean="0"/>
              <a:t>44</a:t>
            </a:fld>
            <a:endParaRPr lang="en-US" dirty="0"/>
          </a:p>
        </p:txBody>
      </p:sp>
      <p:sp>
        <p:nvSpPr>
          <p:cNvPr id="6" name="TextBox 5">
            <a:extLst>
              <a:ext uri="{FF2B5EF4-FFF2-40B4-BE49-F238E27FC236}">
                <a16:creationId xmlns:a16="http://schemas.microsoft.com/office/drawing/2014/main" id="{DDFAAEF5-BB17-AE0E-A23C-F84D8B3F9A3E}"/>
              </a:ext>
            </a:extLst>
          </p:cNvPr>
          <p:cNvSpPr txBox="1"/>
          <p:nvPr/>
        </p:nvSpPr>
        <p:spPr>
          <a:xfrm>
            <a:off x="508409" y="1051323"/>
            <a:ext cx="8046629" cy="707886"/>
          </a:xfrm>
          <a:prstGeom prst="rect">
            <a:avLst/>
          </a:prstGeom>
          <a:noFill/>
        </p:spPr>
        <p:txBody>
          <a:bodyPr wrap="square" rtlCol="0">
            <a:spAutoFit/>
          </a:bodyPr>
          <a:lstStyle/>
          <a:p>
            <a:r>
              <a:rPr lang="en-US" sz="2000" b="1" dirty="0"/>
              <a:t>Production structure</a:t>
            </a:r>
            <a:endParaRPr lang="en-US" sz="2000" noProof="0" dirty="0"/>
          </a:p>
          <a:p>
            <a:endParaRPr lang="en-US" sz="2000" dirty="0"/>
          </a:p>
        </p:txBody>
      </p:sp>
      <p:pic>
        <p:nvPicPr>
          <p:cNvPr id="7" name="Picture 6">
            <a:extLst>
              <a:ext uri="{FF2B5EF4-FFF2-40B4-BE49-F238E27FC236}">
                <a16:creationId xmlns:a16="http://schemas.microsoft.com/office/drawing/2014/main" id="{986360C5-8438-BEE6-2064-74F4BE1440CC}"/>
              </a:ext>
            </a:extLst>
          </p:cNvPr>
          <p:cNvPicPr>
            <a:picLocks noChangeAspect="1"/>
          </p:cNvPicPr>
          <p:nvPr/>
        </p:nvPicPr>
        <p:blipFill>
          <a:blip r:embed="rId3"/>
          <a:stretch>
            <a:fillRect/>
          </a:stretch>
        </p:blipFill>
        <p:spPr>
          <a:xfrm>
            <a:off x="1921872" y="1551291"/>
            <a:ext cx="5219701" cy="4740830"/>
          </a:xfrm>
          <a:prstGeom prst="rect">
            <a:avLst/>
          </a:prstGeom>
        </p:spPr>
      </p:pic>
    </p:spTree>
    <p:extLst>
      <p:ext uri="{BB962C8B-B14F-4D97-AF65-F5344CB8AC3E}">
        <p14:creationId xmlns:p14="http://schemas.microsoft.com/office/powerpoint/2010/main" val="1119200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9061C-ACA9-044D-B7F1-733B5F3706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873890C-4F02-92BE-5255-6127E286DB83}"/>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897D80BF-E154-77E7-BD8F-20103193792A}"/>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487BC2B4-A82A-083E-AF11-2A6760762904}"/>
              </a:ext>
            </a:extLst>
          </p:cNvPr>
          <p:cNvSpPr>
            <a:spLocks noGrp="1"/>
          </p:cNvSpPr>
          <p:nvPr>
            <p:ph type="sldNum" sz="quarter" idx="12"/>
          </p:nvPr>
        </p:nvSpPr>
        <p:spPr/>
        <p:txBody>
          <a:bodyPr/>
          <a:lstStyle/>
          <a:p>
            <a:fld id="{091A926C-488A-4E3E-9C21-57CAA120E114}" type="slidenum">
              <a:rPr lang="en-US" smtClean="0"/>
              <a:t>45</a:t>
            </a:fld>
            <a:endParaRPr lang="en-US" dirty="0"/>
          </a:p>
        </p:txBody>
      </p:sp>
      <p:sp>
        <p:nvSpPr>
          <p:cNvPr id="6" name="TextBox 5">
            <a:extLst>
              <a:ext uri="{FF2B5EF4-FFF2-40B4-BE49-F238E27FC236}">
                <a16:creationId xmlns:a16="http://schemas.microsoft.com/office/drawing/2014/main" id="{380CC94E-05FE-9281-AF4E-1DCF4A8BE466}"/>
              </a:ext>
            </a:extLst>
          </p:cNvPr>
          <p:cNvSpPr txBox="1"/>
          <p:nvPr/>
        </p:nvSpPr>
        <p:spPr>
          <a:xfrm>
            <a:off x="508409" y="1051323"/>
            <a:ext cx="8046629" cy="1015663"/>
          </a:xfrm>
          <a:prstGeom prst="rect">
            <a:avLst/>
          </a:prstGeom>
          <a:noFill/>
        </p:spPr>
        <p:txBody>
          <a:bodyPr wrap="square" rtlCol="0">
            <a:spAutoFit/>
          </a:bodyPr>
          <a:lstStyle/>
          <a:p>
            <a:r>
              <a:rPr lang="en-US" sz="2000" b="1" dirty="0"/>
              <a:t>Production of materials</a:t>
            </a:r>
            <a:endParaRPr lang="en-US" sz="2000" dirty="0"/>
          </a:p>
          <a:p>
            <a:pPr marL="342900" indent="-342900">
              <a:buFont typeface="Arial" panose="020B0604020202020204" pitchFamily="34" charset="0"/>
              <a:buChar char="•"/>
            </a:pPr>
            <a:endParaRPr lang="en-US" sz="2000" noProof="0" dirty="0"/>
          </a:p>
          <a:p>
            <a:endParaRPr lang="en-US" sz="2000" dirty="0"/>
          </a:p>
        </p:txBody>
      </p:sp>
      <p:pic>
        <p:nvPicPr>
          <p:cNvPr id="8" name="Picture 7">
            <a:extLst>
              <a:ext uri="{FF2B5EF4-FFF2-40B4-BE49-F238E27FC236}">
                <a16:creationId xmlns:a16="http://schemas.microsoft.com/office/drawing/2014/main" id="{B4B706CD-B96F-F9B5-EC4F-557AB6563D44}"/>
              </a:ext>
            </a:extLst>
          </p:cNvPr>
          <p:cNvPicPr>
            <a:picLocks noChangeAspect="1"/>
          </p:cNvPicPr>
          <p:nvPr/>
        </p:nvPicPr>
        <p:blipFill>
          <a:blip r:embed="rId3"/>
          <a:stretch>
            <a:fillRect/>
          </a:stretch>
        </p:blipFill>
        <p:spPr>
          <a:xfrm>
            <a:off x="1313480" y="2066986"/>
            <a:ext cx="6515453" cy="3866647"/>
          </a:xfrm>
          <a:prstGeom prst="rect">
            <a:avLst/>
          </a:prstGeom>
        </p:spPr>
      </p:pic>
    </p:spTree>
    <p:extLst>
      <p:ext uri="{BB962C8B-B14F-4D97-AF65-F5344CB8AC3E}">
        <p14:creationId xmlns:p14="http://schemas.microsoft.com/office/powerpoint/2010/main" val="15911230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269959-10ED-A9A3-4F37-376F145FB4C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E16A62-D427-7F7F-3A77-BC57755295BA}"/>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6CC78657-C618-784F-7DB2-B460AE0E4FE4}"/>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83251DBC-F70C-6C28-44A0-F933309C175A}"/>
              </a:ext>
            </a:extLst>
          </p:cNvPr>
          <p:cNvSpPr>
            <a:spLocks noGrp="1"/>
          </p:cNvSpPr>
          <p:nvPr>
            <p:ph type="sldNum" sz="quarter" idx="12"/>
          </p:nvPr>
        </p:nvSpPr>
        <p:spPr/>
        <p:txBody>
          <a:bodyPr/>
          <a:lstStyle/>
          <a:p>
            <a:fld id="{091A926C-488A-4E3E-9C21-57CAA120E114}" type="slidenum">
              <a:rPr lang="en-US" smtClean="0"/>
              <a:t>46</a:t>
            </a:fld>
            <a:endParaRPr lang="en-US" dirty="0"/>
          </a:p>
        </p:txBody>
      </p:sp>
      <p:sp>
        <p:nvSpPr>
          <p:cNvPr id="6" name="TextBox 5">
            <a:extLst>
              <a:ext uri="{FF2B5EF4-FFF2-40B4-BE49-F238E27FC236}">
                <a16:creationId xmlns:a16="http://schemas.microsoft.com/office/drawing/2014/main" id="{1A6B7B84-9949-94CE-0785-A4EFF6CD8832}"/>
              </a:ext>
            </a:extLst>
          </p:cNvPr>
          <p:cNvSpPr txBox="1"/>
          <p:nvPr/>
        </p:nvSpPr>
        <p:spPr>
          <a:xfrm>
            <a:off x="508409" y="1051323"/>
            <a:ext cx="8046629" cy="4093428"/>
          </a:xfrm>
          <a:prstGeom prst="rect">
            <a:avLst/>
          </a:prstGeom>
          <a:noFill/>
        </p:spPr>
        <p:txBody>
          <a:bodyPr wrap="square" rtlCol="0">
            <a:spAutoFit/>
          </a:bodyPr>
          <a:lstStyle/>
          <a:p>
            <a:r>
              <a:rPr lang="en-US" sz="2000" b="1" dirty="0"/>
              <a:t>Waste generation</a:t>
            </a:r>
            <a:endParaRPr lang="en-US" sz="2000" b="1" noProof="0" dirty="0"/>
          </a:p>
          <a:p>
            <a:endParaRPr lang="en-US" sz="2000" dirty="0"/>
          </a:p>
          <a:p>
            <a:pPr marL="342900" indent="-342900">
              <a:buFont typeface="Arial" panose="020B0604020202020204" pitchFamily="34" charset="0"/>
              <a:buChar char="•"/>
            </a:pPr>
            <a:r>
              <a:rPr lang="en-US" sz="2000" dirty="0"/>
              <a:t>Waste generation depends on production inputs.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 fraction is “internal recycling” meaning that the sector ensures that it can be sold on the international market.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The remaining fraction is sent to the waste management sector for further treatment.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Waste intensities vary over time, industry, goods, and waste types. </a:t>
            </a:r>
          </a:p>
          <a:p>
            <a:pPr marL="342900" indent="-342900">
              <a:buFont typeface="Arial" panose="020B0604020202020204" pitchFamily="34" charset="0"/>
              <a:buChar char="•"/>
            </a:pPr>
            <a:endParaRPr lang="en-US" sz="2000" noProof="0" dirty="0"/>
          </a:p>
          <a:p>
            <a:endParaRPr lang="en-US" sz="2000" dirty="0"/>
          </a:p>
        </p:txBody>
      </p:sp>
    </p:spTree>
    <p:extLst>
      <p:ext uri="{BB962C8B-B14F-4D97-AF65-F5344CB8AC3E}">
        <p14:creationId xmlns:p14="http://schemas.microsoft.com/office/powerpoint/2010/main" val="29526310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573A6-F84A-DB07-6EFB-C6FF1607A51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513368-082F-B8BB-C179-7A9582F4DCFF}"/>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DA440D6F-17CF-4F94-031B-36C3133D84E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FA42C97D-46DD-855D-2028-2639631C5A87}"/>
              </a:ext>
            </a:extLst>
          </p:cNvPr>
          <p:cNvSpPr>
            <a:spLocks noGrp="1"/>
          </p:cNvSpPr>
          <p:nvPr>
            <p:ph type="sldNum" sz="quarter" idx="12"/>
          </p:nvPr>
        </p:nvSpPr>
        <p:spPr/>
        <p:txBody>
          <a:bodyPr/>
          <a:lstStyle/>
          <a:p>
            <a:fld id="{091A926C-488A-4E3E-9C21-57CAA120E114}" type="slidenum">
              <a:rPr lang="en-US" smtClean="0"/>
              <a:t>47</a:t>
            </a:fld>
            <a:endParaRPr lang="en-US" dirty="0"/>
          </a:p>
        </p:txBody>
      </p:sp>
      <p:sp>
        <p:nvSpPr>
          <p:cNvPr id="6" name="TextBox 5">
            <a:extLst>
              <a:ext uri="{FF2B5EF4-FFF2-40B4-BE49-F238E27FC236}">
                <a16:creationId xmlns:a16="http://schemas.microsoft.com/office/drawing/2014/main" id="{8FF86C1F-F0C5-2AB0-389A-C773B1C4BA72}"/>
              </a:ext>
            </a:extLst>
          </p:cNvPr>
          <p:cNvSpPr txBox="1"/>
          <p:nvPr/>
        </p:nvSpPr>
        <p:spPr>
          <a:xfrm>
            <a:off x="488978" y="1060272"/>
            <a:ext cx="8046629" cy="1015663"/>
          </a:xfrm>
          <a:prstGeom prst="rect">
            <a:avLst/>
          </a:prstGeom>
          <a:noFill/>
        </p:spPr>
        <p:txBody>
          <a:bodyPr wrap="square" rtlCol="0">
            <a:spAutoFit/>
          </a:bodyPr>
          <a:lstStyle/>
          <a:p>
            <a:r>
              <a:rPr lang="en-US" sz="2000" b="1" dirty="0"/>
              <a:t>Waste treatment sector</a:t>
            </a:r>
            <a:endParaRPr lang="en-US" sz="2000" dirty="0"/>
          </a:p>
          <a:p>
            <a:pPr marL="342900" indent="-342900">
              <a:buFont typeface="Arial" panose="020B0604020202020204" pitchFamily="34" charset="0"/>
              <a:buChar char="•"/>
            </a:pPr>
            <a:endParaRPr lang="en-US" sz="2000" noProof="0" dirty="0"/>
          </a:p>
          <a:p>
            <a:endParaRPr lang="en-US" sz="2000" dirty="0"/>
          </a:p>
        </p:txBody>
      </p:sp>
      <p:pic>
        <p:nvPicPr>
          <p:cNvPr id="5" name="Picture 4">
            <a:extLst>
              <a:ext uri="{FF2B5EF4-FFF2-40B4-BE49-F238E27FC236}">
                <a16:creationId xmlns:a16="http://schemas.microsoft.com/office/drawing/2014/main" id="{7FB62ED6-0471-1985-6857-011F94E30D5F}"/>
              </a:ext>
            </a:extLst>
          </p:cNvPr>
          <p:cNvPicPr>
            <a:picLocks noChangeAspect="1"/>
          </p:cNvPicPr>
          <p:nvPr/>
        </p:nvPicPr>
        <p:blipFill>
          <a:blip r:embed="rId3"/>
          <a:stretch>
            <a:fillRect/>
          </a:stretch>
        </p:blipFill>
        <p:spPr>
          <a:xfrm>
            <a:off x="3530224" y="1465093"/>
            <a:ext cx="866429" cy="780372"/>
          </a:xfrm>
          <a:prstGeom prst="rect">
            <a:avLst/>
          </a:prstGeom>
        </p:spPr>
      </p:pic>
      <p:pic>
        <p:nvPicPr>
          <p:cNvPr id="7" name="Picture 6">
            <a:extLst>
              <a:ext uri="{FF2B5EF4-FFF2-40B4-BE49-F238E27FC236}">
                <a16:creationId xmlns:a16="http://schemas.microsoft.com/office/drawing/2014/main" id="{25A00D5C-FD9F-0504-A714-78707C5EA189}"/>
              </a:ext>
            </a:extLst>
          </p:cNvPr>
          <p:cNvPicPr>
            <a:picLocks noChangeAspect="1"/>
          </p:cNvPicPr>
          <p:nvPr/>
        </p:nvPicPr>
        <p:blipFill>
          <a:blip r:embed="rId4"/>
          <a:stretch>
            <a:fillRect/>
          </a:stretch>
        </p:blipFill>
        <p:spPr>
          <a:xfrm>
            <a:off x="2152844" y="2080010"/>
            <a:ext cx="1516168" cy="1010778"/>
          </a:xfrm>
          <a:prstGeom prst="rect">
            <a:avLst/>
          </a:prstGeom>
        </p:spPr>
      </p:pic>
      <p:pic>
        <p:nvPicPr>
          <p:cNvPr id="8" name="Picture 7">
            <a:extLst>
              <a:ext uri="{FF2B5EF4-FFF2-40B4-BE49-F238E27FC236}">
                <a16:creationId xmlns:a16="http://schemas.microsoft.com/office/drawing/2014/main" id="{9C0AADF3-5EE3-D3AD-E477-BCFA02ABF116}"/>
              </a:ext>
            </a:extLst>
          </p:cNvPr>
          <p:cNvPicPr>
            <a:picLocks noChangeAspect="1"/>
          </p:cNvPicPr>
          <p:nvPr/>
        </p:nvPicPr>
        <p:blipFill>
          <a:blip r:embed="rId5"/>
          <a:stretch>
            <a:fillRect/>
          </a:stretch>
        </p:blipFill>
        <p:spPr>
          <a:xfrm>
            <a:off x="5056587" y="2902327"/>
            <a:ext cx="1795804" cy="853313"/>
          </a:xfrm>
          <a:prstGeom prst="rect">
            <a:avLst/>
          </a:prstGeom>
        </p:spPr>
      </p:pic>
      <p:sp>
        <p:nvSpPr>
          <p:cNvPr id="9" name="Freeform 12">
            <a:extLst>
              <a:ext uri="{FF2B5EF4-FFF2-40B4-BE49-F238E27FC236}">
                <a16:creationId xmlns:a16="http://schemas.microsoft.com/office/drawing/2014/main" id="{29C8CF80-991E-E57C-57EE-AF8FEFE46ABA}"/>
              </a:ext>
            </a:extLst>
          </p:cNvPr>
          <p:cNvSpPr/>
          <p:nvPr/>
        </p:nvSpPr>
        <p:spPr>
          <a:xfrm>
            <a:off x="4512293" y="2147771"/>
            <a:ext cx="1382820" cy="51763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b="1" dirty="0"/>
          </a:p>
        </p:txBody>
      </p:sp>
      <p:pic>
        <p:nvPicPr>
          <p:cNvPr id="12" name="Picture 11">
            <a:extLst>
              <a:ext uri="{FF2B5EF4-FFF2-40B4-BE49-F238E27FC236}">
                <a16:creationId xmlns:a16="http://schemas.microsoft.com/office/drawing/2014/main" id="{C970F8C7-A624-5CF4-0471-DAA1CB6250A0}"/>
              </a:ext>
            </a:extLst>
          </p:cNvPr>
          <p:cNvPicPr>
            <a:picLocks noChangeAspect="1"/>
          </p:cNvPicPr>
          <p:nvPr/>
        </p:nvPicPr>
        <p:blipFill>
          <a:blip r:embed="rId6"/>
          <a:stretch>
            <a:fillRect/>
          </a:stretch>
        </p:blipFill>
        <p:spPr>
          <a:xfrm>
            <a:off x="5174689" y="4364392"/>
            <a:ext cx="1330037" cy="773184"/>
          </a:xfrm>
          <a:prstGeom prst="rect">
            <a:avLst/>
          </a:prstGeom>
        </p:spPr>
      </p:pic>
      <p:cxnSp>
        <p:nvCxnSpPr>
          <p:cNvPr id="27" name="Straight Arrow Connector 26">
            <a:extLst>
              <a:ext uri="{FF2B5EF4-FFF2-40B4-BE49-F238E27FC236}">
                <a16:creationId xmlns:a16="http://schemas.microsoft.com/office/drawing/2014/main" id="{760E35C5-7F7F-5B3B-4AC5-7D2EAB1D7B03}"/>
              </a:ext>
            </a:extLst>
          </p:cNvPr>
          <p:cNvCxnSpPr/>
          <p:nvPr/>
        </p:nvCxnSpPr>
        <p:spPr>
          <a:xfrm flipH="1">
            <a:off x="6668645" y="4719874"/>
            <a:ext cx="690098"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8">
            <a:extLst>
              <a:ext uri="{FF2B5EF4-FFF2-40B4-BE49-F238E27FC236}">
                <a16:creationId xmlns:a16="http://schemas.microsoft.com/office/drawing/2014/main" id="{C1FE681D-7D19-2A83-59E0-319AAD2C1C1B}"/>
              </a:ext>
            </a:extLst>
          </p:cNvPr>
          <p:cNvSpPr/>
          <p:nvPr/>
        </p:nvSpPr>
        <p:spPr>
          <a:xfrm>
            <a:off x="7531687" y="4496379"/>
            <a:ext cx="1112021" cy="41931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Import</a:t>
            </a:r>
          </a:p>
        </p:txBody>
      </p:sp>
      <p:cxnSp>
        <p:nvCxnSpPr>
          <p:cNvPr id="30" name="Straight Arrow Connector 29">
            <a:extLst>
              <a:ext uri="{FF2B5EF4-FFF2-40B4-BE49-F238E27FC236}">
                <a16:creationId xmlns:a16="http://schemas.microsoft.com/office/drawing/2014/main" id="{2046B9AC-AD39-53BE-C858-CD23D0B6FFB0}"/>
              </a:ext>
            </a:extLst>
          </p:cNvPr>
          <p:cNvCxnSpPr>
            <a:cxnSpLocks/>
          </p:cNvCxnSpPr>
          <p:nvPr/>
        </p:nvCxnSpPr>
        <p:spPr>
          <a:xfrm>
            <a:off x="3817662" y="2815654"/>
            <a:ext cx="1140837" cy="375679"/>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28">
            <a:extLst>
              <a:ext uri="{FF2B5EF4-FFF2-40B4-BE49-F238E27FC236}">
                <a16:creationId xmlns:a16="http://schemas.microsoft.com/office/drawing/2014/main" id="{C9C3B47B-4AF9-1655-4CBC-8785DC3A383F}"/>
              </a:ext>
            </a:extLst>
          </p:cNvPr>
          <p:cNvSpPr/>
          <p:nvPr/>
        </p:nvSpPr>
        <p:spPr>
          <a:xfrm>
            <a:off x="7173798" y="1564850"/>
            <a:ext cx="1112021" cy="45926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Export</a:t>
            </a:r>
          </a:p>
        </p:txBody>
      </p:sp>
      <p:cxnSp>
        <p:nvCxnSpPr>
          <p:cNvPr id="33" name="Straight Arrow Connector 32">
            <a:extLst>
              <a:ext uri="{FF2B5EF4-FFF2-40B4-BE49-F238E27FC236}">
                <a16:creationId xmlns:a16="http://schemas.microsoft.com/office/drawing/2014/main" id="{E5BFC5FD-2489-F9A8-D796-0EB4FFCBC35A}"/>
              </a:ext>
            </a:extLst>
          </p:cNvPr>
          <p:cNvCxnSpPr>
            <a:cxnSpLocks/>
          </p:cNvCxnSpPr>
          <p:nvPr/>
        </p:nvCxnSpPr>
        <p:spPr>
          <a:xfrm flipV="1">
            <a:off x="6560328" y="2080010"/>
            <a:ext cx="613470" cy="66930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E9EC151D-1FA9-AB4F-3069-CB81144DD088}"/>
              </a:ext>
            </a:extLst>
          </p:cNvPr>
          <p:cNvCxnSpPr>
            <a:cxnSpLocks/>
          </p:cNvCxnSpPr>
          <p:nvPr/>
        </p:nvCxnSpPr>
        <p:spPr>
          <a:xfrm>
            <a:off x="5895111" y="3822569"/>
            <a:ext cx="0" cy="452487"/>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7752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1B8AF-D414-C4D6-59F5-D7A76ED9026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C62D26-73DB-3327-2F85-04262CD766BC}"/>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7B4D884D-C116-3559-5FD1-8C343598BF4A}"/>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AC7EFBC4-9042-7F4A-9F07-2B9C276CA6C9}"/>
              </a:ext>
            </a:extLst>
          </p:cNvPr>
          <p:cNvSpPr>
            <a:spLocks noGrp="1"/>
          </p:cNvSpPr>
          <p:nvPr>
            <p:ph type="sldNum" sz="quarter" idx="12"/>
          </p:nvPr>
        </p:nvSpPr>
        <p:spPr/>
        <p:txBody>
          <a:bodyPr/>
          <a:lstStyle/>
          <a:p>
            <a:fld id="{091A926C-488A-4E3E-9C21-57CAA120E114}" type="slidenum">
              <a:rPr lang="en-US" smtClean="0"/>
              <a:t>48</a:t>
            </a:fld>
            <a:endParaRPr lang="en-US" dirty="0"/>
          </a:p>
        </p:txBody>
      </p:sp>
      <p:sp>
        <p:nvSpPr>
          <p:cNvPr id="6" name="TextBox 5">
            <a:extLst>
              <a:ext uri="{FF2B5EF4-FFF2-40B4-BE49-F238E27FC236}">
                <a16:creationId xmlns:a16="http://schemas.microsoft.com/office/drawing/2014/main" id="{BF5F3075-364F-6F00-CB3A-294AC089824F}"/>
              </a:ext>
            </a:extLst>
          </p:cNvPr>
          <p:cNvSpPr txBox="1"/>
          <p:nvPr/>
        </p:nvSpPr>
        <p:spPr>
          <a:xfrm>
            <a:off x="488978" y="1060272"/>
            <a:ext cx="8046629" cy="1015663"/>
          </a:xfrm>
          <a:prstGeom prst="rect">
            <a:avLst/>
          </a:prstGeom>
          <a:noFill/>
        </p:spPr>
        <p:txBody>
          <a:bodyPr wrap="square" rtlCol="0">
            <a:spAutoFit/>
          </a:bodyPr>
          <a:lstStyle/>
          <a:p>
            <a:r>
              <a:rPr lang="en-US" sz="2000" b="1" dirty="0"/>
              <a:t>Waste treatment sector</a:t>
            </a:r>
            <a:endParaRPr lang="en-US" sz="2000" dirty="0"/>
          </a:p>
          <a:p>
            <a:pPr marL="342900" indent="-342900">
              <a:buFont typeface="Arial" panose="020B0604020202020204" pitchFamily="34" charset="0"/>
              <a:buChar char="•"/>
            </a:pPr>
            <a:endParaRPr lang="en-US" sz="2000" noProof="0" dirty="0"/>
          </a:p>
          <a:p>
            <a:endParaRPr lang="en-US" sz="2000" dirty="0"/>
          </a:p>
        </p:txBody>
      </p:sp>
      <p:pic>
        <p:nvPicPr>
          <p:cNvPr id="5" name="Picture 4">
            <a:extLst>
              <a:ext uri="{FF2B5EF4-FFF2-40B4-BE49-F238E27FC236}">
                <a16:creationId xmlns:a16="http://schemas.microsoft.com/office/drawing/2014/main" id="{44E99348-C670-7D69-1A4A-32B0CAB964A6}"/>
              </a:ext>
            </a:extLst>
          </p:cNvPr>
          <p:cNvPicPr>
            <a:picLocks noChangeAspect="1"/>
          </p:cNvPicPr>
          <p:nvPr/>
        </p:nvPicPr>
        <p:blipFill>
          <a:blip r:embed="rId3"/>
          <a:stretch>
            <a:fillRect/>
          </a:stretch>
        </p:blipFill>
        <p:spPr>
          <a:xfrm>
            <a:off x="3530224" y="1465093"/>
            <a:ext cx="866429" cy="780372"/>
          </a:xfrm>
          <a:prstGeom prst="rect">
            <a:avLst/>
          </a:prstGeom>
        </p:spPr>
      </p:pic>
      <p:pic>
        <p:nvPicPr>
          <p:cNvPr id="7" name="Picture 6">
            <a:extLst>
              <a:ext uri="{FF2B5EF4-FFF2-40B4-BE49-F238E27FC236}">
                <a16:creationId xmlns:a16="http://schemas.microsoft.com/office/drawing/2014/main" id="{F56B7A05-E048-539D-D57A-8C98B61C2C15}"/>
              </a:ext>
            </a:extLst>
          </p:cNvPr>
          <p:cNvPicPr>
            <a:picLocks noChangeAspect="1"/>
          </p:cNvPicPr>
          <p:nvPr/>
        </p:nvPicPr>
        <p:blipFill>
          <a:blip r:embed="rId4"/>
          <a:stretch>
            <a:fillRect/>
          </a:stretch>
        </p:blipFill>
        <p:spPr>
          <a:xfrm>
            <a:off x="2152844" y="2080010"/>
            <a:ext cx="1516168" cy="1010778"/>
          </a:xfrm>
          <a:prstGeom prst="rect">
            <a:avLst/>
          </a:prstGeom>
        </p:spPr>
      </p:pic>
      <p:pic>
        <p:nvPicPr>
          <p:cNvPr id="8" name="Picture 7">
            <a:extLst>
              <a:ext uri="{FF2B5EF4-FFF2-40B4-BE49-F238E27FC236}">
                <a16:creationId xmlns:a16="http://schemas.microsoft.com/office/drawing/2014/main" id="{B2CFDF74-6AC7-9681-E9E8-39742E9F2DDE}"/>
              </a:ext>
            </a:extLst>
          </p:cNvPr>
          <p:cNvPicPr>
            <a:picLocks noChangeAspect="1"/>
          </p:cNvPicPr>
          <p:nvPr/>
        </p:nvPicPr>
        <p:blipFill>
          <a:blip r:embed="rId5"/>
          <a:stretch>
            <a:fillRect/>
          </a:stretch>
        </p:blipFill>
        <p:spPr>
          <a:xfrm>
            <a:off x="5056587" y="2902327"/>
            <a:ext cx="1795804" cy="853313"/>
          </a:xfrm>
          <a:prstGeom prst="rect">
            <a:avLst/>
          </a:prstGeom>
        </p:spPr>
      </p:pic>
      <p:sp>
        <p:nvSpPr>
          <p:cNvPr id="9" name="Freeform 12">
            <a:extLst>
              <a:ext uri="{FF2B5EF4-FFF2-40B4-BE49-F238E27FC236}">
                <a16:creationId xmlns:a16="http://schemas.microsoft.com/office/drawing/2014/main" id="{E14FBCA3-CA51-B453-C658-EBAF22E4FF5E}"/>
              </a:ext>
            </a:extLst>
          </p:cNvPr>
          <p:cNvSpPr/>
          <p:nvPr/>
        </p:nvSpPr>
        <p:spPr>
          <a:xfrm>
            <a:off x="4512293" y="2147771"/>
            <a:ext cx="1382820" cy="51763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b="1" dirty="0"/>
          </a:p>
        </p:txBody>
      </p:sp>
      <p:pic>
        <p:nvPicPr>
          <p:cNvPr id="12" name="Picture 11">
            <a:extLst>
              <a:ext uri="{FF2B5EF4-FFF2-40B4-BE49-F238E27FC236}">
                <a16:creationId xmlns:a16="http://schemas.microsoft.com/office/drawing/2014/main" id="{29D21D15-6CB5-5A5E-0C4E-F0E01E359662}"/>
              </a:ext>
            </a:extLst>
          </p:cNvPr>
          <p:cNvPicPr>
            <a:picLocks noChangeAspect="1"/>
          </p:cNvPicPr>
          <p:nvPr/>
        </p:nvPicPr>
        <p:blipFill>
          <a:blip r:embed="rId6"/>
          <a:stretch>
            <a:fillRect/>
          </a:stretch>
        </p:blipFill>
        <p:spPr>
          <a:xfrm>
            <a:off x="5174689" y="4364392"/>
            <a:ext cx="1330037" cy="773184"/>
          </a:xfrm>
          <a:prstGeom prst="rect">
            <a:avLst/>
          </a:prstGeom>
        </p:spPr>
      </p:pic>
      <p:cxnSp>
        <p:nvCxnSpPr>
          <p:cNvPr id="27" name="Straight Arrow Connector 26">
            <a:extLst>
              <a:ext uri="{FF2B5EF4-FFF2-40B4-BE49-F238E27FC236}">
                <a16:creationId xmlns:a16="http://schemas.microsoft.com/office/drawing/2014/main" id="{5955ED2B-F2AA-5CD2-9B79-80CA4B4A35F6}"/>
              </a:ext>
            </a:extLst>
          </p:cNvPr>
          <p:cNvCxnSpPr/>
          <p:nvPr/>
        </p:nvCxnSpPr>
        <p:spPr>
          <a:xfrm flipH="1">
            <a:off x="6668645" y="4719874"/>
            <a:ext cx="690098"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8">
            <a:extLst>
              <a:ext uri="{FF2B5EF4-FFF2-40B4-BE49-F238E27FC236}">
                <a16:creationId xmlns:a16="http://schemas.microsoft.com/office/drawing/2014/main" id="{ADC4EC1B-C558-3BEC-B19F-41C0C6D936AD}"/>
              </a:ext>
            </a:extLst>
          </p:cNvPr>
          <p:cNvSpPr/>
          <p:nvPr/>
        </p:nvSpPr>
        <p:spPr>
          <a:xfrm>
            <a:off x="7531687" y="4496379"/>
            <a:ext cx="1112021" cy="41931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Import</a:t>
            </a:r>
          </a:p>
        </p:txBody>
      </p:sp>
      <p:cxnSp>
        <p:nvCxnSpPr>
          <p:cNvPr id="30" name="Straight Arrow Connector 29">
            <a:extLst>
              <a:ext uri="{FF2B5EF4-FFF2-40B4-BE49-F238E27FC236}">
                <a16:creationId xmlns:a16="http://schemas.microsoft.com/office/drawing/2014/main" id="{80726B5E-9B40-49A9-491C-FABCD17733FE}"/>
              </a:ext>
            </a:extLst>
          </p:cNvPr>
          <p:cNvCxnSpPr>
            <a:cxnSpLocks/>
          </p:cNvCxnSpPr>
          <p:nvPr/>
        </p:nvCxnSpPr>
        <p:spPr>
          <a:xfrm>
            <a:off x="3817662" y="2815654"/>
            <a:ext cx="1140837" cy="375679"/>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28">
            <a:extLst>
              <a:ext uri="{FF2B5EF4-FFF2-40B4-BE49-F238E27FC236}">
                <a16:creationId xmlns:a16="http://schemas.microsoft.com/office/drawing/2014/main" id="{BC275DD6-D562-F74E-74FB-8E92595DF3FA}"/>
              </a:ext>
            </a:extLst>
          </p:cNvPr>
          <p:cNvSpPr/>
          <p:nvPr/>
        </p:nvSpPr>
        <p:spPr>
          <a:xfrm>
            <a:off x="7173798" y="1564850"/>
            <a:ext cx="1112021" cy="45926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Export</a:t>
            </a:r>
          </a:p>
        </p:txBody>
      </p:sp>
      <p:cxnSp>
        <p:nvCxnSpPr>
          <p:cNvPr id="33" name="Straight Arrow Connector 32">
            <a:extLst>
              <a:ext uri="{FF2B5EF4-FFF2-40B4-BE49-F238E27FC236}">
                <a16:creationId xmlns:a16="http://schemas.microsoft.com/office/drawing/2014/main" id="{25C489C6-9EC1-F96B-7285-61725384E40E}"/>
              </a:ext>
            </a:extLst>
          </p:cNvPr>
          <p:cNvCxnSpPr>
            <a:cxnSpLocks/>
          </p:cNvCxnSpPr>
          <p:nvPr/>
        </p:nvCxnSpPr>
        <p:spPr>
          <a:xfrm flipV="1">
            <a:off x="6560328" y="2080010"/>
            <a:ext cx="613470" cy="66930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1BCFBA2D-E621-9608-8BBB-6DE0570B9E12}"/>
              </a:ext>
            </a:extLst>
          </p:cNvPr>
          <p:cNvPicPr>
            <a:picLocks noChangeAspect="1"/>
          </p:cNvPicPr>
          <p:nvPr/>
        </p:nvPicPr>
        <p:blipFill>
          <a:blip r:embed="rId7"/>
          <a:stretch>
            <a:fillRect/>
          </a:stretch>
        </p:blipFill>
        <p:spPr>
          <a:xfrm>
            <a:off x="3060101" y="5440042"/>
            <a:ext cx="1101498" cy="1147734"/>
          </a:xfrm>
          <a:prstGeom prst="rect">
            <a:avLst/>
          </a:prstGeom>
        </p:spPr>
      </p:pic>
      <p:sp>
        <p:nvSpPr>
          <p:cNvPr id="39" name="Freeform 14">
            <a:extLst>
              <a:ext uri="{FF2B5EF4-FFF2-40B4-BE49-F238E27FC236}">
                <a16:creationId xmlns:a16="http://schemas.microsoft.com/office/drawing/2014/main" id="{2150976C-C341-235A-5385-DE6FF7673A22}"/>
              </a:ext>
            </a:extLst>
          </p:cNvPr>
          <p:cNvSpPr/>
          <p:nvPr/>
        </p:nvSpPr>
        <p:spPr>
          <a:xfrm rot="5054862">
            <a:off x="4609207" y="4905507"/>
            <a:ext cx="757875" cy="138980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40" name="Picture 39">
            <a:extLst>
              <a:ext uri="{FF2B5EF4-FFF2-40B4-BE49-F238E27FC236}">
                <a16:creationId xmlns:a16="http://schemas.microsoft.com/office/drawing/2014/main" id="{D8694BCF-EDEA-A525-6CAA-444B194488FF}"/>
              </a:ext>
            </a:extLst>
          </p:cNvPr>
          <p:cNvPicPr>
            <a:picLocks noChangeAspect="1"/>
          </p:cNvPicPr>
          <p:nvPr/>
        </p:nvPicPr>
        <p:blipFill>
          <a:blip r:embed="rId8"/>
          <a:stretch>
            <a:fillRect/>
          </a:stretch>
        </p:blipFill>
        <p:spPr>
          <a:xfrm>
            <a:off x="3383234" y="3696592"/>
            <a:ext cx="671318" cy="1202629"/>
          </a:xfrm>
          <a:prstGeom prst="rect">
            <a:avLst/>
          </a:prstGeom>
        </p:spPr>
      </p:pic>
      <p:cxnSp>
        <p:nvCxnSpPr>
          <p:cNvPr id="41" name="Straight Arrow Connector 40">
            <a:extLst>
              <a:ext uri="{FF2B5EF4-FFF2-40B4-BE49-F238E27FC236}">
                <a16:creationId xmlns:a16="http://schemas.microsoft.com/office/drawing/2014/main" id="{D15A2B12-AE00-7241-B4C8-589F57F7CD95}"/>
              </a:ext>
            </a:extLst>
          </p:cNvPr>
          <p:cNvCxnSpPr/>
          <p:nvPr/>
        </p:nvCxnSpPr>
        <p:spPr>
          <a:xfrm flipH="1" flipV="1">
            <a:off x="4055483" y="4459462"/>
            <a:ext cx="971518" cy="3148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620E3E6C-96FB-2A2C-4418-3E0301C3A405}"/>
              </a:ext>
            </a:extLst>
          </p:cNvPr>
          <p:cNvPicPr>
            <a:picLocks noChangeAspect="1"/>
          </p:cNvPicPr>
          <p:nvPr/>
        </p:nvPicPr>
        <p:blipFill>
          <a:blip r:embed="rId9"/>
          <a:stretch>
            <a:fillRect/>
          </a:stretch>
        </p:blipFill>
        <p:spPr>
          <a:xfrm>
            <a:off x="6000882" y="5495593"/>
            <a:ext cx="1740493" cy="1147729"/>
          </a:xfrm>
          <a:prstGeom prst="rect">
            <a:avLst/>
          </a:prstGeom>
        </p:spPr>
      </p:pic>
      <p:cxnSp>
        <p:nvCxnSpPr>
          <p:cNvPr id="43" name="Straight Arrow Connector 42">
            <a:extLst>
              <a:ext uri="{FF2B5EF4-FFF2-40B4-BE49-F238E27FC236}">
                <a16:creationId xmlns:a16="http://schemas.microsoft.com/office/drawing/2014/main" id="{A30E4E73-A892-6231-5B6C-1539CEB5C0F8}"/>
              </a:ext>
            </a:extLst>
          </p:cNvPr>
          <p:cNvCxnSpPr>
            <a:cxnSpLocks/>
          </p:cNvCxnSpPr>
          <p:nvPr/>
        </p:nvCxnSpPr>
        <p:spPr>
          <a:xfrm>
            <a:off x="6060165" y="5153730"/>
            <a:ext cx="213373" cy="54658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6205A1A9-AF4E-0AD2-BF97-65F19A979FC3}"/>
              </a:ext>
            </a:extLst>
          </p:cNvPr>
          <p:cNvCxnSpPr>
            <a:cxnSpLocks/>
          </p:cNvCxnSpPr>
          <p:nvPr/>
        </p:nvCxnSpPr>
        <p:spPr>
          <a:xfrm>
            <a:off x="5895111" y="3822569"/>
            <a:ext cx="0" cy="452487"/>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76836FE-4C9F-C066-BEC8-813E28F62D31}"/>
                  </a:ext>
                </a:extLst>
              </p:cNvPr>
              <p:cNvSpPr txBox="1"/>
              <p:nvPr/>
            </p:nvSpPr>
            <p:spPr>
              <a:xfrm>
                <a:off x="488978" y="4408263"/>
                <a:ext cx="2499327" cy="595548"/>
              </a:xfrm>
              <a:prstGeom prst="rect">
                <a:avLst/>
              </a:prstGeom>
              <a:noFill/>
              <a:ln>
                <a:solidFill>
                  <a:schemeClr val="tx1"/>
                </a:solidFill>
              </a:ln>
            </p:spPr>
            <p:txBody>
              <a:bodyPr wrap="square" rtlCol="0">
                <a:spAutoFit/>
              </a:bodyPr>
              <a:lstStyle/>
              <a:p>
                <a:r>
                  <a:rPr lang="en-US" sz="1600" dirty="0"/>
                  <a:t>Waste mass balance:</a:t>
                </a:r>
                <a14:m>
                  <m:oMath xmlns:m="http://schemas.openxmlformats.org/officeDocument/2006/math">
                    <m:r>
                      <a:rPr lang="da-DK" sz="1600" b="0" i="0" smtClean="0">
                        <a:latin typeface="Cambria Math" panose="02040503050406030204" pitchFamily="18" charset="0"/>
                      </a:rPr>
                      <m:t> </m:t>
                    </m:r>
                  </m:oMath>
                </a14:m>
                <a:endParaRPr lang="da-DK" sz="160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b>
                        <m:sSubPr>
                          <m:ctrlPr>
                            <a:rPr lang="da-DK" sz="1600" i="1">
                              <a:latin typeface="Cambria Math" panose="02040503050406030204" pitchFamily="18" charset="0"/>
                            </a:rPr>
                          </m:ctrlPr>
                        </m:sSubPr>
                        <m:e>
                          <m:r>
                            <a:rPr lang="da-DK" sz="1600" i="1">
                              <a:latin typeface="Cambria Math" panose="02040503050406030204" pitchFamily="18" charset="0"/>
                            </a:rPr>
                            <m:t>𝑊</m:t>
                          </m:r>
                        </m:e>
                        <m:sub>
                          <m:r>
                            <a:rPr lang="da-DK" sz="1600" i="1">
                              <a:latin typeface="Cambria Math" panose="02040503050406030204" pitchFamily="18" charset="0"/>
                            </a:rPr>
                            <m:t>𝑡</m:t>
                          </m:r>
                          <m:r>
                            <a:rPr lang="da-DK" sz="1600" i="1">
                              <a:latin typeface="Cambria Math" panose="02040503050406030204" pitchFamily="18" charset="0"/>
                            </a:rPr>
                            <m:t>,</m:t>
                          </m:r>
                          <m:r>
                            <a:rPr lang="da-DK" sz="1600" i="1">
                              <a:latin typeface="Cambria Math" panose="02040503050406030204" pitchFamily="18" charset="0"/>
                            </a:rPr>
                            <m:t>𝑚</m:t>
                          </m:r>
                        </m:sub>
                      </m:sSub>
                      <m:r>
                        <a:rPr lang="da-DK" sz="1600" i="1">
                          <a:latin typeface="Cambria Math" panose="02040503050406030204" pitchFamily="18" charset="0"/>
                        </a:rPr>
                        <m:t>=</m:t>
                      </m:r>
                      <m:sSub>
                        <m:sSubPr>
                          <m:ctrlPr>
                            <a:rPr lang="da-DK" sz="1600" i="1">
                              <a:latin typeface="Cambria Math" panose="02040503050406030204" pitchFamily="18" charset="0"/>
                            </a:rPr>
                          </m:ctrlPr>
                        </m:sSubPr>
                        <m:e>
                          <m:r>
                            <a:rPr lang="da-DK" sz="1600" i="1">
                              <a:latin typeface="Cambria Math" panose="02040503050406030204" pitchFamily="18" charset="0"/>
                            </a:rPr>
                            <m:t>𝐷</m:t>
                          </m:r>
                        </m:e>
                        <m:sub>
                          <m:r>
                            <a:rPr lang="da-DK" sz="1600" i="1">
                              <a:latin typeface="Cambria Math" panose="02040503050406030204" pitchFamily="18" charset="0"/>
                            </a:rPr>
                            <m:t>𝑡</m:t>
                          </m:r>
                          <m:r>
                            <a:rPr lang="da-DK" sz="1600" i="1">
                              <a:latin typeface="Cambria Math" panose="02040503050406030204" pitchFamily="18" charset="0"/>
                            </a:rPr>
                            <m:t>,</m:t>
                          </m:r>
                          <m:r>
                            <a:rPr lang="da-DK" sz="1600" i="1">
                              <a:latin typeface="Cambria Math" panose="02040503050406030204" pitchFamily="18" charset="0"/>
                            </a:rPr>
                            <m:t>𝑚</m:t>
                          </m:r>
                        </m:sub>
                      </m:sSub>
                      <m:r>
                        <a:rPr lang="da-DK" sz="1600" i="1">
                          <a:latin typeface="Cambria Math" panose="02040503050406030204" pitchFamily="18" charset="0"/>
                        </a:rPr>
                        <m:t>+</m:t>
                      </m:r>
                      <m:sSub>
                        <m:sSubPr>
                          <m:ctrlPr>
                            <a:rPr lang="da-DK" sz="1600" i="1">
                              <a:latin typeface="Cambria Math" panose="02040503050406030204" pitchFamily="18" charset="0"/>
                            </a:rPr>
                          </m:ctrlPr>
                        </m:sSubPr>
                        <m:e>
                          <m:r>
                            <a:rPr lang="da-DK" sz="1600" i="1">
                              <a:latin typeface="Cambria Math" panose="02040503050406030204" pitchFamily="18" charset="0"/>
                            </a:rPr>
                            <m:t>𝑅</m:t>
                          </m:r>
                        </m:e>
                        <m:sub>
                          <m:r>
                            <a:rPr lang="da-DK" sz="1600" i="1">
                              <a:latin typeface="Cambria Math" panose="02040503050406030204" pitchFamily="18" charset="0"/>
                            </a:rPr>
                            <m:t>𝑡</m:t>
                          </m:r>
                          <m:r>
                            <a:rPr lang="da-DK" sz="1600" i="1">
                              <a:latin typeface="Cambria Math" panose="02040503050406030204" pitchFamily="18" charset="0"/>
                            </a:rPr>
                            <m:t>,</m:t>
                          </m:r>
                          <m:r>
                            <a:rPr lang="da-DK" sz="1600" i="1">
                              <a:latin typeface="Cambria Math" panose="02040503050406030204" pitchFamily="18" charset="0"/>
                            </a:rPr>
                            <m:t>𝑚</m:t>
                          </m:r>
                        </m:sub>
                      </m:sSub>
                      <m:r>
                        <a:rPr lang="da-DK" sz="1600" i="1">
                          <a:latin typeface="Cambria Math" panose="02040503050406030204" pitchFamily="18" charset="0"/>
                        </a:rPr>
                        <m:t>+</m:t>
                      </m:r>
                      <m:sSub>
                        <m:sSubPr>
                          <m:ctrlPr>
                            <a:rPr lang="da-DK" sz="1600" i="1">
                              <a:latin typeface="Cambria Math" panose="02040503050406030204" pitchFamily="18" charset="0"/>
                            </a:rPr>
                          </m:ctrlPr>
                        </m:sSubPr>
                        <m:e>
                          <m:r>
                            <a:rPr lang="da-DK" sz="1600" i="1">
                              <a:latin typeface="Cambria Math" panose="02040503050406030204" pitchFamily="18" charset="0"/>
                            </a:rPr>
                            <m:t>𝐸</m:t>
                          </m:r>
                        </m:e>
                        <m:sub>
                          <m:r>
                            <a:rPr lang="da-DK" sz="1600" i="1">
                              <a:latin typeface="Cambria Math" panose="02040503050406030204" pitchFamily="18" charset="0"/>
                            </a:rPr>
                            <m:t>𝑡</m:t>
                          </m:r>
                          <m:r>
                            <a:rPr lang="da-DK" sz="1600" i="1">
                              <a:latin typeface="Cambria Math" panose="02040503050406030204" pitchFamily="18" charset="0"/>
                            </a:rPr>
                            <m:t>,</m:t>
                          </m:r>
                          <m:r>
                            <a:rPr lang="da-DK" sz="1600" i="1">
                              <a:latin typeface="Cambria Math" panose="02040503050406030204" pitchFamily="18" charset="0"/>
                            </a:rPr>
                            <m:t>𝑚</m:t>
                          </m:r>
                        </m:sub>
                      </m:sSub>
                    </m:oMath>
                  </m:oMathPara>
                </a14:m>
                <a:endParaRPr lang="en-GB" sz="1600" dirty="0"/>
              </a:p>
            </p:txBody>
          </p:sp>
        </mc:Choice>
        <mc:Fallback xmlns="">
          <p:sp>
            <p:nvSpPr>
              <p:cNvPr id="10" name="TextBox 9">
                <a:extLst>
                  <a:ext uri="{FF2B5EF4-FFF2-40B4-BE49-F238E27FC236}">
                    <a16:creationId xmlns:a16="http://schemas.microsoft.com/office/drawing/2014/main" id="{476836FE-4C9F-C066-BEC8-813E28F62D31}"/>
                  </a:ext>
                </a:extLst>
              </p:cNvPr>
              <p:cNvSpPr txBox="1">
                <a:spLocks noRot="1" noChangeAspect="1" noMove="1" noResize="1" noEditPoints="1" noAdjustHandles="1" noChangeArrowheads="1" noChangeShapeType="1" noTextEdit="1"/>
              </p:cNvSpPr>
              <p:nvPr/>
            </p:nvSpPr>
            <p:spPr>
              <a:xfrm>
                <a:off x="488978" y="4408263"/>
                <a:ext cx="2499327" cy="595548"/>
              </a:xfrm>
              <a:prstGeom prst="rect">
                <a:avLst/>
              </a:prstGeom>
              <a:blipFill>
                <a:blip r:embed="rId10"/>
                <a:stretch>
                  <a:fillRect l="-971" t="-1000"/>
                </a:stretch>
              </a:blipFill>
              <a:ln>
                <a:solidFill>
                  <a:schemeClr val="tx1"/>
                </a:solidFill>
              </a:ln>
            </p:spPr>
            <p:txBody>
              <a:bodyPr/>
              <a:lstStyle/>
              <a:p>
                <a:r>
                  <a:rPr lang="en-GB">
                    <a:noFill/>
                  </a:rPr>
                  <a:t> </a:t>
                </a:r>
              </a:p>
            </p:txBody>
          </p:sp>
        </mc:Fallback>
      </mc:AlternateContent>
    </p:spTree>
    <p:extLst>
      <p:ext uri="{BB962C8B-B14F-4D97-AF65-F5344CB8AC3E}">
        <p14:creationId xmlns:p14="http://schemas.microsoft.com/office/powerpoint/2010/main" val="2536295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70304-D955-06B7-6B24-20D6681D99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77B1E1-76F6-11DE-BBBE-5291B39E5A61}"/>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CB41C7E3-F2F4-15CB-6D1C-012C53809936}"/>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EC1627D4-DCF6-9839-AF77-750E3E5C2429}"/>
              </a:ext>
            </a:extLst>
          </p:cNvPr>
          <p:cNvSpPr>
            <a:spLocks noGrp="1"/>
          </p:cNvSpPr>
          <p:nvPr>
            <p:ph type="sldNum" sz="quarter" idx="12"/>
          </p:nvPr>
        </p:nvSpPr>
        <p:spPr/>
        <p:txBody>
          <a:bodyPr/>
          <a:lstStyle/>
          <a:p>
            <a:fld id="{091A926C-488A-4E3E-9C21-57CAA120E114}" type="slidenum">
              <a:rPr lang="en-US" smtClean="0"/>
              <a:t>49</a:t>
            </a:fld>
            <a:endParaRPr lang="en-US" dirty="0"/>
          </a:p>
        </p:txBody>
      </p:sp>
      <p:sp>
        <p:nvSpPr>
          <p:cNvPr id="6" name="TextBox 5">
            <a:extLst>
              <a:ext uri="{FF2B5EF4-FFF2-40B4-BE49-F238E27FC236}">
                <a16:creationId xmlns:a16="http://schemas.microsoft.com/office/drawing/2014/main" id="{0F40586F-7134-AABF-65F5-1BAA33E45D1D}"/>
              </a:ext>
            </a:extLst>
          </p:cNvPr>
          <p:cNvSpPr txBox="1"/>
          <p:nvPr/>
        </p:nvSpPr>
        <p:spPr>
          <a:xfrm>
            <a:off x="488978" y="1060272"/>
            <a:ext cx="8046629" cy="1015663"/>
          </a:xfrm>
          <a:prstGeom prst="rect">
            <a:avLst/>
          </a:prstGeom>
          <a:noFill/>
        </p:spPr>
        <p:txBody>
          <a:bodyPr wrap="square" rtlCol="0">
            <a:spAutoFit/>
          </a:bodyPr>
          <a:lstStyle/>
          <a:p>
            <a:r>
              <a:rPr lang="en-US" sz="2000" b="1" dirty="0"/>
              <a:t>Waste treatment sector</a:t>
            </a:r>
            <a:endParaRPr lang="en-US" sz="2000" dirty="0"/>
          </a:p>
          <a:p>
            <a:pPr marL="342900" indent="-342900">
              <a:buFont typeface="Arial" panose="020B0604020202020204" pitchFamily="34" charset="0"/>
              <a:buChar char="•"/>
            </a:pPr>
            <a:endParaRPr lang="en-US" sz="2000" noProof="0" dirty="0"/>
          </a:p>
          <a:p>
            <a:endParaRPr lang="en-US" sz="2000" dirty="0"/>
          </a:p>
        </p:txBody>
      </p:sp>
      <p:pic>
        <p:nvPicPr>
          <p:cNvPr id="5" name="Picture 4">
            <a:extLst>
              <a:ext uri="{FF2B5EF4-FFF2-40B4-BE49-F238E27FC236}">
                <a16:creationId xmlns:a16="http://schemas.microsoft.com/office/drawing/2014/main" id="{7CA9257D-CD04-D3E7-78B3-5AEFB7E4D70B}"/>
              </a:ext>
            </a:extLst>
          </p:cNvPr>
          <p:cNvPicPr>
            <a:picLocks noChangeAspect="1"/>
          </p:cNvPicPr>
          <p:nvPr/>
        </p:nvPicPr>
        <p:blipFill>
          <a:blip r:embed="rId3"/>
          <a:stretch>
            <a:fillRect/>
          </a:stretch>
        </p:blipFill>
        <p:spPr>
          <a:xfrm>
            <a:off x="3530224" y="1465093"/>
            <a:ext cx="866429" cy="780372"/>
          </a:xfrm>
          <a:prstGeom prst="rect">
            <a:avLst/>
          </a:prstGeom>
        </p:spPr>
      </p:pic>
      <p:pic>
        <p:nvPicPr>
          <p:cNvPr id="7" name="Picture 6">
            <a:extLst>
              <a:ext uri="{FF2B5EF4-FFF2-40B4-BE49-F238E27FC236}">
                <a16:creationId xmlns:a16="http://schemas.microsoft.com/office/drawing/2014/main" id="{D2BBDCC6-8FA8-EA59-28D9-C8FE3F3DD1CB}"/>
              </a:ext>
            </a:extLst>
          </p:cNvPr>
          <p:cNvPicPr>
            <a:picLocks noChangeAspect="1"/>
          </p:cNvPicPr>
          <p:nvPr/>
        </p:nvPicPr>
        <p:blipFill>
          <a:blip r:embed="rId4"/>
          <a:stretch>
            <a:fillRect/>
          </a:stretch>
        </p:blipFill>
        <p:spPr>
          <a:xfrm>
            <a:off x="2152844" y="2080010"/>
            <a:ext cx="1516168" cy="1010778"/>
          </a:xfrm>
          <a:prstGeom prst="rect">
            <a:avLst/>
          </a:prstGeom>
        </p:spPr>
      </p:pic>
      <p:pic>
        <p:nvPicPr>
          <p:cNvPr id="8" name="Picture 7">
            <a:extLst>
              <a:ext uri="{FF2B5EF4-FFF2-40B4-BE49-F238E27FC236}">
                <a16:creationId xmlns:a16="http://schemas.microsoft.com/office/drawing/2014/main" id="{B9253028-6B40-8439-8268-65F2F933FE29}"/>
              </a:ext>
            </a:extLst>
          </p:cNvPr>
          <p:cNvPicPr>
            <a:picLocks noChangeAspect="1"/>
          </p:cNvPicPr>
          <p:nvPr/>
        </p:nvPicPr>
        <p:blipFill>
          <a:blip r:embed="rId5"/>
          <a:stretch>
            <a:fillRect/>
          </a:stretch>
        </p:blipFill>
        <p:spPr>
          <a:xfrm>
            <a:off x="5056587" y="2902327"/>
            <a:ext cx="1795804" cy="853313"/>
          </a:xfrm>
          <a:prstGeom prst="rect">
            <a:avLst/>
          </a:prstGeom>
        </p:spPr>
      </p:pic>
      <p:sp>
        <p:nvSpPr>
          <p:cNvPr id="9" name="Freeform 12">
            <a:extLst>
              <a:ext uri="{FF2B5EF4-FFF2-40B4-BE49-F238E27FC236}">
                <a16:creationId xmlns:a16="http://schemas.microsoft.com/office/drawing/2014/main" id="{2A770ADE-CA0E-BA0C-8E80-886928AAF7AB}"/>
              </a:ext>
            </a:extLst>
          </p:cNvPr>
          <p:cNvSpPr/>
          <p:nvPr/>
        </p:nvSpPr>
        <p:spPr>
          <a:xfrm>
            <a:off x="4512293" y="2147771"/>
            <a:ext cx="1382820" cy="51763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b="1" dirty="0"/>
          </a:p>
        </p:txBody>
      </p:sp>
      <p:pic>
        <p:nvPicPr>
          <p:cNvPr id="12" name="Picture 11">
            <a:extLst>
              <a:ext uri="{FF2B5EF4-FFF2-40B4-BE49-F238E27FC236}">
                <a16:creationId xmlns:a16="http://schemas.microsoft.com/office/drawing/2014/main" id="{A882AB54-3AED-A257-E536-C81D5B4E3F7B}"/>
              </a:ext>
            </a:extLst>
          </p:cNvPr>
          <p:cNvPicPr>
            <a:picLocks noChangeAspect="1"/>
          </p:cNvPicPr>
          <p:nvPr/>
        </p:nvPicPr>
        <p:blipFill>
          <a:blip r:embed="rId6"/>
          <a:stretch>
            <a:fillRect/>
          </a:stretch>
        </p:blipFill>
        <p:spPr>
          <a:xfrm>
            <a:off x="5174689" y="4364392"/>
            <a:ext cx="1330037" cy="773184"/>
          </a:xfrm>
          <a:prstGeom prst="rect">
            <a:avLst/>
          </a:prstGeom>
        </p:spPr>
      </p:pic>
      <p:cxnSp>
        <p:nvCxnSpPr>
          <p:cNvPr id="27" name="Straight Arrow Connector 26">
            <a:extLst>
              <a:ext uri="{FF2B5EF4-FFF2-40B4-BE49-F238E27FC236}">
                <a16:creationId xmlns:a16="http://schemas.microsoft.com/office/drawing/2014/main" id="{273DBCB7-B6F1-B349-BBF5-1699D6C1EEA9}"/>
              </a:ext>
            </a:extLst>
          </p:cNvPr>
          <p:cNvCxnSpPr/>
          <p:nvPr/>
        </p:nvCxnSpPr>
        <p:spPr>
          <a:xfrm flipH="1">
            <a:off x="6668645" y="4719874"/>
            <a:ext cx="690098"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8">
            <a:extLst>
              <a:ext uri="{FF2B5EF4-FFF2-40B4-BE49-F238E27FC236}">
                <a16:creationId xmlns:a16="http://schemas.microsoft.com/office/drawing/2014/main" id="{780E22C2-6B4D-03E7-FD1A-27ED76BB03C1}"/>
              </a:ext>
            </a:extLst>
          </p:cNvPr>
          <p:cNvSpPr/>
          <p:nvPr/>
        </p:nvSpPr>
        <p:spPr>
          <a:xfrm>
            <a:off x="7531687" y="4496379"/>
            <a:ext cx="1112021" cy="41931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Import</a:t>
            </a:r>
          </a:p>
        </p:txBody>
      </p:sp>
      <p:cxnSp>
        <p:nvCxnSpPr>
          <p:cNvPr id="30" name="Straight Arrow Connector 29">
            <a:extLst>
              <a:ext uri="{FF2B5EF4-FFF2-40B4-BE49-F238E27FC236}">
                <a16:creationId xmlns:a16="http://schemas.microsoft.com/office/drawing/2014/main" id="{2E0BC80C-51AD-7A26-9C34-F76530488F4D}"/>
              </a:ext>
            </a:extLst>
          </p:cNvPr>
          <p:cNvCxnSpPr>
            <a:cxnSpLocks/>
          </p:cNvCxnSpPr>
          <p:nvPr/>
        </p:nvCxnSpPr>
        <p:spPr>
          <a:xfrm>
            <a:off x="3817662" y="2815654"/>
            <a:ext cx="1140837" cy="375679"/>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28">
            <a:extLst>
              <a:ext uri="{FF2B5EF4-FFF2-40B4-BE49-F238E27FC236}">
                <a16:creationId xmlns:a16="http://schemas.microsoft.com/office/drawing/2014/main" id="{162B4E75-1D1A-7703-C155-9EECA3FB123F}"/>
              </a:ext>
            </a:extLst>
          </p:cNvPr>
          <p:cNvSpPr/>
          <p:nvPr/>
        </p:nvSpPr>
        <p:spPr>
          <a:xfrm>
            <a:off x="7173798" y="1564850"/>
            <a:ext cx="1112021" cy="45926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Export</a:t>
            </a:r>
          </a:p>
        </p:txBody>
      </p:sp>
      <p:cxnSp>
        <p:nvCxnSpPr>
          <p:cNvPr id="33" name="Straight Arrow Connector 32">
            <a:extLst>
              <a:ext uri="{FF2B5EF4-FFF2-40B4-BE49-F238E27FC236}">
                <a16:creationId xmlns:a16="http://schemas.microsoft.com/office/drawing/2014/main" id="{EA0AD4D3-632D-D969-9B9A-46F8D40FEC5B}"/>
              </a:ext>
            </a:extLst>
          </p:cNvPr>
          <p:cNvCxnSpPr>
            <a:cxnSpLocks/>
          </p:cNvCxnSpPr>
          <p:nvPr/>
        </p:nvCxnSpPr>
        <p:spPr>
          <a:xfrm flipV="1">
            <a:off x="6560328" y="2080010"/>
            <a:ext cx="613470" cy="66930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1EC34207-A923-FE1A-9FAF-FF9001BF52E7}"/>
              </a:ext>
            </a:extLst>
          </p:cNvPr>
          <p:cNvPicPr>
            <a:picLocks noChangeAspect="1"/>
          </p:cNvPicPr>
          <p:nvPr/>
        </p:nvPicPr>
        <p:blipFill>
          <a:blip r:embed="rId7"/>
          <a:stretch>
            <a:fillRect/>
          </a:stretch>
        </p:blipFill>
        <p:spPr>
          <a:xfrm>
            <a:off x="3060101" y="5440042"/>
            <a:ext cx="1101498" cy="1147734"/>
          </a:xfrm>
          <a:prstGeom prst="rect">
            <a:avLst/>
          </a:prstGeom>
        </p:spPr>
      </p:pic>
      <p:sp>
        <p:nvSpPr>
          <p:cNvPr id="39" name="Freeform 14">
            <a:extLst>
              <a:ext uri="{FF2B5EF4-FFF2-40B4-BE49-F238E27FC236}">
                <a16:creationId xmlns:a16="http://schemas.microsoft.com/office/drawing/2014/main" id="{B4D4179A-8A19-848E-D208-DCA702B983DA}"/>
              </a:ext>
            </a:extLst>
          </p:cNvPr>
          <p:cNvSpPr/>
          <p:nvPr/>
        </p:nvSpPr>
        <p:spPr>
          <a:xfrm rot="5054862">
            <a:off x="4609207" y="4905507"/>
            <a:ext cx="757875" cy="138980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40" name="Picture 39">
            <a:extLst>
              <a:ext uri="{FF2B5EF4-FFF2-40B4-BE49-F238E27FC236}">
                <a16:creationId xmlns:a16="http://schemas.microsoft.com/office/drawing/2014/main" id="{B7F5A6F7-D7C2-F960-5495-24B72B8D32B7}"/>
              </a:ext>
            </a:extLst>
          </p:cNvPr>
          <p:cNvPicPr>
            <a:picLocks noChangeAspect="1"/>
          </p:cNvPicPr>
          <p:nvPr/>
        </p:nvPicPr>
        <p:blipFill>
          <a:blip r:embed="rId8"/>
          <a:stretch>
            <a:fillRect/>
          </a:stretch>
        </p:blipFill>
        <p:spPr>
          <a:xfrm>
            <a:off x="3383234" y="3696592"/>
            <a:ext cx="671318" cy="1202629"/>
          </a:xfrm>
          <a:prstGeom prst="rect">
            <a:avLst/>
          </a:prstGeom>
        </p:spPr>
      </p:pic>
      <p:cxnSp>
        <p:nvCxnSpPr>
          <p:cNvPr id="41" name="Straight Arrow Connector 40">
            <a:extLst>
              <a:ext uri="{FF2B5EF4-FFF2-40B4-BE49-F238E27FC236}">
                <a16:creationId xmlns:a16="http://schemas.microsoft.com/office/drawing/2014/main" id="{6D4489A7-9CFF-6E3A-4BD7-FD90D92C23BB}"/>
              </a:ext>
            </a:extLst>
          </p:cNvPr>
          <p:cNvCxnSpPr/>
          <p:nvPr/>
        </p:nvCxnSpPr>
        <p:spPr>
          <a:xfrm flipH="1" flipV="1">
            <a:off x="4055483" y="4459462"/>
            <a:ext cx="971518" cy="3148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C3BE2734-E1AF-1FC3-5FDE-91C3E68989B4}"/>
              </a:ext>
            </a:extLst>
          </p:cNvPr>
          <p:cNvPicPr>
            <a:picLocks noChangeAspect="1"/>
          </p:cNvPicPr>
          <p:nvPr/>
        </p:nvPicPr>
        <p:blipFill>
          <a:blip r:embed="rId9"/>
          <a:stretch>
            <a:fillRect/>
          </a:stretch>
        </p:blipFill>
        <p:spPr>
          <a:xfrm>
            <a:off x="6000882" y="5495593"/>
            <a:ext cx="1740493" cy="1147729"/>
          </a:xfrm>
          <a:prstGeom prst="rect">
            <a:avLst/>
          </a:prstGeom>
        </p:spPr>
      </p:pic>
      <p:cxnSp>
        <p:nvCxnSpPr>
          <p:cNvPr id="43" name="Straight Arrow Connector 42">
            <a:extLst>
              <a:ext uri="{FF2B5EF4-FFF2-40B4-BE49-F238E27FC236}">
                <a16:creationId xmlns:a16="http://schemas.microsoft.com/office/drawing/2014/main" id="{663DA413-B115-33CD-91DA-30CDFF10099A}"/>
              </a:ext>
            </a:extLst>
          </p:cNvPr>
          <p:cNvCxnSpPr>
            <a:cxnSpLocks/>
          </p:cNvCxnSpPr>
          <p:nvPr/>
        </p:nvCxnSpPr>
        <p:spPr>
          <a:xfrm>
            <a:off x="6060165" y="5153730"/>
            <a:ext cx="213373" cy="54658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A6C72859-AECF-37AB-6015-CC189F1B4FCD}"/>
              </a:ext>
            </a:extLst>
          </p:cNvPr>
          <p:cNvCxnSpPr/>
          <p:nvPr/>
        </p:nvCxnSpPr>
        <p:spPr>
          <a:xfrm flipH="1">
            <a:off x="1961906" y="6019660"/>
            <a:ext cx="959026" cy="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8" name="Picture 47">
            <a:extLst>
              <a:ext uri="{FF2B5EF4-FFF2-40B4-BE49-F238E27FC236}">
                <a16:creationId xmlns:a16="http://schemas.microsoft.com/office/drawing/2014/main" id="{CB6B71A1-F009-675D-EE8A-7E38EE765299}"/>
              </a:ext>
            </a:extLst>
          </p:cNvPr>
          <p:cNvPicPr>
            <a:picLocks noChangeAspect="1"/>
          </p:cNvPicPr>
          <p:nvPr/>
        </p:nvPicPr>
        <p:blipFill>
          <a:blip r:embed="rId10"/>
          <a:stretch>
            <a:fillRect/>
          </a:stretch>
        </p:blipFill>
        <p:spPr>
          <a:xfrm>
            <a:off x="931390" y="5927254"/>
            <a:ext cx="1043564" cy="516781"/>
          </a:xfrm>
          <a:prstGeom prst="rect">
            <a:avLst/>
          </a:prstGeom>
        </p:spPr>
      </p:pic>
      <p:pic>
        <p:nvPicPr>
          <p:cNvPr id="49" name="Picture 48">
            <a:extLst>
              <a:ext uri="{FF2B5EF4-FFF2-40B4-BE49-F238E27FC236}">
                <a16:creationId xmlns:a16="http://schemas.microsoft.com/office/drawing/2014/main" id="{B6567ADF-C856-5CB3-587E-6D9F32492D05}"/>
              </a:ext>
            </a:extLst>
          </p:cNvPr>
          <p:cNvPicPr>
            <a:picLocks noChangeAspect="1"/>
          </p:cNvPicPr>
          <p:nvPr/>
        </p:nvPicPr>
        <p:blipFill>
          <a:blip r:embed="rId11"/>
          <a:stretch>
            <a:fillRect/>
          </a:stretch>
        </p:blipFill>
        <p:spPr>
          <a:xfrm>
            <a:off x="1155442" y="5440042"/>
            <a:ext cx="744013" cy="570677"/>
          </a:xfrm>
          <a:prstGeom prst="rect">
            <a:avLst/>
          </a:prstGeom>
        </p:spPr>
      </p:pic>
      <p:sp>
        <p:nvSpPr>
          <p:cNvPr id="50" name="Freeform 27">
            <a:extLst>
              <a:ext uri="{FF2B5EF4-FFF2-40B4-BE49-F238E27FC236}">
                <a16:creationId xmlns:a16="http://schemas.microsoft.com/office/drawing/2014/main" id="{FFFAC3FF-0A4C-A514-0901-8FE9DA372ABC}"/>
              </a:ext>
            </a:extLst>
          </p:cNvPr>
          <p:cNvSpPr/>
          <p:nvPr/>
        </p:nvSpPr>
        <p:spPr>
          <a:xfrm>
            <a:off x="1105561" y="3090787"/>
            <a:ext cx="1047283" cy="2291917"/>
          </a:xfrm>
          <a:custGeom>
            <a:avLst/>
            <a:gdLst>
              <a:gd name="connsiteX0" fmla="*/ 155681 w 2320383"/>
              <a:gd name="connsiteY0" fmla="*/ 2575249 h 2575249"/>
              <a:gd name="connsiteX1" fmla="*/ 18832 w 2320383"/>
              <a:gd name="connsiteY1" fmla="*/ 1878563 h 2575249"/>
              <a:gd name="connsiteX2" fmla="*/ 522685 w 2320383"/>
              <a:gd name="connsiteY2" fmla="*/ 1119674 h 2575249"/>
              <a:gd name="connsiteX3" fmla="*/ 2320383 w 2320383"/>
              <a:gd name="connsiteY3" fmla="*/ 0 h 2575249"/>
            </a:gdLst>
            <a:ahLst/>
            <a:cxnLst>
              <a:cxn ang="0">
                <a:pos x="connsiteX0" y="connsiteY0"/>
              </a:cxn>
              <a:cxn ang="0">
                <a:pos x="connsiteX1" y="connsiteY1"/>
              </a:cxn>
              <a:cxn ang="0">
                <a:pos x="connsiteX2" y="connsiteY2"/>
              </a:cxn>
              <a:cxn ang="0">
                <a:pos x="connsiteX3" y="connsiteY3"/>
              </a:cxn>
            </a:cxnLst>
            <a:rect l="l" t="t" r="r" b="b"/>
            <a:pathLst>
              <a:path w="2320383" h="2575249">
                <a:moveTo>
                  <a:pt x="155681" y="2575249"/>
                </a:moveTo>
                <a:cubicBezTo>
                  <a:pt x="56673" y="2348204"/>
                  <a:pt x="-42335" y="2121159"/>
                  <a:pt x="18832" y="1878563"/>
                </a:cubicBezTo>
                <a:cubicBezTo>
                  <a:pt x="79999" y="1635967"/>
                  <a:pt x="139093" y="1432768"/>
                  <a:pt x="522685" y="1119674"/>
                </a:cubicBezTo>
                <a:cubicBezTo>
                  <a:pt x="906277" y="806580"/>
                  <a:pt x="1613330" y="403290"/>
                  <a:pt x="2320383" y="0"/>
                </a:cubicBezTo>
              </a:path>
            </a:pathLst>
          </a:custGeom>
          <a:noFill/>
          <a:ln w="381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52" name="Straight Arrow Connector 51">
            <a:extLst>
              <a:ext uri="{FF2B5EF4-FFF2-40B4-BE49-F238E27FC236}">
                <a16:creationId xmlns:a16="http://schemas.microsoft.com/office/drawing/2014/main" id="{44E8ADCB-7462-FBF6-C709-DB681451A301}"/>
              </a:ext>
            </a:extLst>
          </p:cNvPr>
          <p:cNvCxnSpPr>
            <a:cxnSpLocks/>
          </p:cNvCxnSpPr>
          <p:nvPr/>
        </p:nvCxnSpPr>
        <p:spPr>
          <a:xfrm>
            <a:off x="5895111" y="3822569"/>
            <a:ext cx="0" cy="452487"/>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8E6E64D-7956-38E0-5638-5D604A8364A3}"/>
              </a:ext>
            </a:extLst>
          </p:cNvPr>
          <p:cNvCxnSpPr>
            <a:cxnSpLocks/>
          </p:cNvCxnSpPr>
          <p:nvPr/>
        </p:nvCxnSpPr>
        <p:spPr>
          <a:xfrm flipH="1" flipV="1">
            <a:off x="3144823" y="3090788"/>
            <a:ext cx="255582" cy="835961"/>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07324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EF85-ACE8-93EC-56DA-4A1DCB985A8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33D195-6CA9-BDBB-E544-F7317ACDE83E}"/>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7E45B4DF-8F85-8EB4-DA94-CC41FD4C9DE7}"/>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B169A208-2028-2ADD-0632-BA7070EA8BFD}"/>
              </a:ext>
            </a:extLst>
          </p:cNvPr>
          <p:cNvSpPr>
            <a:spLocks noGrp="1"/>
          </p:cNvSpPr>
          <p:nvPr>
            <p:ph type="sldNum" sz="quarter" idx="12"/>
          </p:nvPr>
        </p:nvSpPr>
        <p:spPr/>
        <p:txBody>
          <a:bodyPr/>
          <a:lstStyle/>
          <a:p>
            <a:fld id="{091A926C-488A-4E3E-9C21-57CAA120E114}" type="slidenum">
              <a:rPr lang="en-US" smtClean="0"/>
              <a:t>50</a:t>
            </a:fld>
            <a:endParaRPr lang="en-US" dirty="0"/>
          </a:p>
        </p:txBody>
      </p:sp>
      <p:sp>
        <p:nvSpPr>
          <p:cNvPr id="6" name="TextBox 5">
            <a:extLst>
              <a:ext uri="{FF2B5EF4-FFF2-40B4-BE49-F238E27FC236}">
                <a16:creationId xmlns:a16="http://schemas.microsoft.com/office/drawing/2014/main" id="{FF8D1825-9F86-CAD5-897A-0856BF0F77D8}"/>
              </a:ext>
            </a:extLst>
          </p:cNvPr>
          <p:cNvSpPr txBox="1"/>
          <p:nvPr/>
        </p:nvSpPr>
        <p:spPr>
          <a:xfrm>
            <a:off x="488978" y="1060272"/>
            <a:ext cx="8046629" cy="1015663"/>
          </a:xfrm>
          <a:prstGeom prst="rect">
            <a:avLst/>
          </a:prstGeom>
          <a:noFill/>
        </p:spPr>
        <p:txBody>
          <a:bodyPr wrap="square" rtlCol="0">
            <a:spAutoFit/>
          </a:bodyPr>
          <a:lstStyle/>
          <a:p>
            <a:r>
              <a:rPr lang="en-US" sz="2000" b="1" dirty="0"/>
              <a:t>Waste treatment sector</a:t>
            </a:r>
            <a:endParaRPr lang="en-US" sz="2000" dirty="0"/>
          </a:p>
          <a:p>
            <a:pPr marL="342900" indent="-342900">
              <a:buFont typeface="Arial" panose="020B0604020202020204" pitchFamily="34" charset="0"/>
              <a:buChar char="•"/>
            </a:pPr>
            <a:endParaRPr lang="en-US" sz="2000" noProof="0" dirty="0"/>
          </a:p>
          <a:p>
            <a:endParaRPr lang="en-US" sz="2000" dirty="0"/>
          </a:p>
        </p:txBody>
      </p:sp>
      <p:pic>
        <p:nvPicPr>
          <p:cNvPr id="5" name="Picture 4">
            <a:extLst>
              <a:ext uri="{FF2B5EF4-FFF2-40B4-BE49-F238E27FC236}">
                <a16:creationId xmlns:a16="http://schemas.microsoft.com/office/drawing/2014/main" id="{8AFCDE0D-A702-4332-2858-FF0ADF1899C2}"/>
              </a:ext>
            </a:extLst>
          </p:cNvPr>
          <p:cNvPicPr>
            <a:picLocks noChangeAspect="1"/>
          </p:cNvPicPr>
          <p:nvPr/>
        </p:nvPicPr>
        <p:blipFill>
          <a:blip r:embed="rId3"/>
          <a:stretch>
            <a:fillRect/>
          </a:stretch>
        </p:blipFill>
        <p:spPr>
          <a:xfrm>
            <a:off x="3530224" y="1465093"/>
            <a:ext cx="866429" cy="780372"/>
          </a:xfrm>
          <a:prstGeom prst="rect">
            <a:avLst/>
          </a:prstGeom>
        </p:spPr>
      </p:pic>
      <p:pic>
        <p:nvPicPr>
          <p:cNvPr id="7" name="Picture 6">
            <a:extLst>
              <a:ext uri="{FF2B5EF4-FFF2-40B4-BE49-F238E27FC236}">
                <a16:creationId xmlns:a16="http://schemas.microsoft.com/office/drawing/2014/main" id="{96D68B5B-E43B-F2C8-15F2-FCF52B32AFC5}"/>
              </a:ext>
            </a:extLst>
          </p:cNvPr>
          <p:cNvPicPr>
            <a:picLocks noChangeAspect="1"/>
          </p:cNvPicPr>
          <p:nvPr/>
        </p:nvPicPr>
        <p:blipFill>
          <a:blip r:embed="rId4"/>
          <a:stretch>
            <a:fillRect/>
          </a:stretch>
        </p:blipFill>
        <p:spPr>
          <a:xfrm>
            <a:off x="2152844" y="2080010"/>
            <a:ext cx="1516168" cy="1010778"/>
          </a:xfrm>
          <a:prstGeom prst="rect">
            <a:avLst/>
          </a:prstGeom>
        </p:spPr>
      </p:pic>
      <p:pic>
        <p:nvPicPr>
          <p:cNvPr id="8" name="Picture 7">
            <a:extLst>
              <a:ext uri="{FF2B5EF4-FFF2-40B4-BE49-F238E27FC236}">
                <a16:creationId xmlns:a16="http://schemas.microsoft.com/office/drawing/2014/main" id="{26042803-2E2A-03BE-5296-FE0BE46189BF}"/>
              </a:ext>
            </a:extLst>
          </p:cNvPr>
          <p:cNvPicPr>
            <a:picLocks noChangeAspect="1"/>
          </p:cNvPicPr>
          <p:nvPr/>
        </p:nvPicPr>
        <p:blipFill>
          <a:blip r:embed="rId5"/>
          <a:stretch>
            <a:fillRect/>
          </a:stretch>
        </p:blipFill>
        <p:spPr>
          <a:xfrm>
            <a:off x="5056587" y="2902327"/>
            <a:ext cx="1795804" cy="853313"/>
          </a:xfrm>
          <a:prstGeom prst="rect">
            <a:avLst/>
          </a:prstGeom>
        </p:spPr>
      </p:pic>
      <p:sp>
        <p:nvSpPr>
          <p:cNvPr id="9" name="Freeform 12">
            <a:extLst>
              <a:ext uri="{FF2B5EF4-FFF2-40B4-BE49-F238E27FC236}">
                <a16:creationId xmlns:a16="http://schemas.microsoft.com/office/drawing/2014/main" id="{260D3C2B-BCB6-D94F-8FF5-5A088547EDAF}"/>
              </a:ext>
            </a:extLst>
          </p:cNvPr>
          <p:cNvSpPr/>
          <p:nvPr/>
        </p:nvSpPr>
        <p:spPr>
          <a:xfrm>
            <a:off x="4512293" y="2147771"/>
            <a:ext cx="1382820" cy="51763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rgbClr val="7030A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b="1" dirty="0"/>
          </a:p>
        </p:txBody>
      </p:sp>
      <p:pic>
        <p:nvPicPr>
          <p:cNvPr id="12" name="Picture 11">
            <a:extLst>
              <a:ext uri="{FF2B5EF4-FFF2-40B4-BE49-F238E27FC236}">
                <a16:creationId xmlns:a16="http://schemas.microsoft.com/office/drawing/2014/main" id="{B03AC8DA-C246-AD64-550C-65AEF213A944}"/>
              </a:ext>
            </a:extLst>
          </p:cNvPr>
          <p:cNvPicPr>
            <a:picLocks noChangeAspect="1"/>
          </p:cNvPicPr>
          <p:nvPr/>
        </p:nvPicPr>
        <p:blipFill>
          <a:blip r:embed="rId6"/>
          <a:stretch>
            <a:fillRect/>
          </a:stretch>
        </p:blipFill>
        <p:spPr>
          <a:xfrm>
            <a:off x="5174689" y="4364392"/>
            <a:ext cx="1330037" cy="773184"/>
          </a:xfrm>
          <a:prstGeom prst="rect">
            <a:avLst/>
          </a:prstGeom>
        </p:spPr>
      </p:pic>
      <p:cxnSp>
        <p:nvCxnSpPr>
          <p:cNvPr id="27" name="Straight Arrow Connector 26">
            <a:extLst>
              <a:ext uri="{FF2B5EF4-FFF2-40B4-BE49-F238E27FC236}">
                <a16:creationId xmlns:a16="http://schemas.microsoft.com/office/drawing/2014/main" id="{43DCA0EE-039F-DB34-58C9-43A132ECAFCA}"/>
              </a:ext>
            </a:extLst>
          </p:cNvPr>
          <p:cNvCxnSpPr/>
          <p:nvPr/>
        </p:nvCxnSpPr>
        <p:spPr>
          <a:xfrm flipH="1">
            <a:off x="6668645" y="4719874"/>
            <a:ext cx="690098"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8">
            <a:extLst>
              <a:ext uri="{FF2B5EF4-FFF2-40B4-BE49-F238E27FC236}">
                <a16:creationId xmlns:a16="http://schemas.microsoft.com/office/drawing/2014/main" id="{158C4B89-14AE-AD08-A8CD-243BFE2A8B41}"/>
              </a:ext>
            </a:extLst>
          </p:cNvPr>
          <p:cNvSpPr/>
          <p:nvPr/>
        </p:nvSpPr>
        <p:spPr>
          <a:xfrm>
            <a:off x="7531687" y="4496379"/>
            <a:ext cx="1112021" cy="41931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Import</a:t>
            </a:r>
          </a:p>
        </p:txBody>
      </p:sp>
      <p:cxnSp>
        <p:nvCxnSpPr>
          <p:cNvPr id="30" name="Straight Arrow Connector 29">
            <a:extLst>
              <a:ext uri="{FF2B5EF4-FFF2-40B4-BE49-F238E27FC236}">
                <a16:creationId xmlns:a16="http://schemas.microsoft.com/office/drawing/2014/main" id="{A24BA84A-4439-D886-EA3C-314F16986EEF}"/>
              </a:ext>
            </a:extLst>
          </p:cNvPr>
          <p:cNvCxnSpPr>
            <a:cxnSpLocks/>
          </p:cNvCxnSpPr>
          <p:nvPr/>
        </p:nvCxnSpPr>
        <p:spPr>
          <a:xfrm>
            <a:off x="3817662" y="2815654"/>
            <a:ext cx="1140837" cy="375679"/>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28">
            <a:extLst>
              <a:ext uri="{FF2B5EF4-FFF2-40B4-BE49-F238E27FC236}">
                <a16:creationId xmlns:a16="http://schemas.microsoft.com/office/drawing/2014/main" id="{2FDFD949-355E-0FBD-4BC0-45AD727D587C}"/>
              </a:ext>
            </a:extLst>
          </p:cNvPr>
          <p:cNvSpPr/>
          <p:nvPr/>
        </p:nvSpPr>
        <p:spPr>
          <a:xfrm>
            <a:off x="7173798" y="1564850"/>
            <a:ext cx="1112021" cy="459267"/>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Export</a:t>
            </a:r>
          </a:p>
        </p:txBody>
      </p:sp>
      <p:cxnSp>
        <p:nvCxnSpPr>
          <p:cNvPr id="33" name="Straight Arrow Connector 32">
            <a:extLst>
              <a:ext uri="{FF2B5EF4-FFF2-40B4-BE49-F238E27FC236}">
                <a16:creationId xmlns:a16="http://schemas.microsoft.com/office/drawing/2014/main" id="{6DB4E302-1FF8-A45C-79E9-9BCF6F5D3C8B}"/>
              </a:ext>
            </a:extLst>
          </p:cNvPr>
          <p:cNvCxnSpPr>
            <a:cxnSpLocks/>
          </p:cNvCxnSpPr>
          <p:nvPr/>
        </p:nvCxnSpPr>
        <p:spPr>
          <a:xfrm flipV="1">
            <a:off x="6560328" y="2080010"/>
            <a:ext cx="613470" cy="669302"/>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7B39B646-7336-C35C-5E53-E9E23561E252}"/>
              </a:ext>
            </a:extLst>
          </p:cNvPr>
          <p:cNvPicPr>
            <a:picLocks noChangeAspect="1"/>
          </p:cNvPicPr>
          <p:nvPr/>
        </p:nvPicPr>
        <p:blipFill>
          <a:blip r:embed="rId7"/>
          <a:stretch>
            <a:fillRect/>
          </a:stretch>
        </p:blipFill>
        <p:spPr>
          <a:xfrm>
            <a:off x="3060101" y="5440042"/>
            <a:ext cx="1101498" cy="1147734"/>
          </a:xfrm>
          <a:prstGeom prst="rect">
            <a:avLst/>
          </a:prstGeom>
        </p:spPr>
      </p:pic>
      <p:sp>
        <p:nvSpPr>
          <p:cNvPr id="39" name="Freeform 14">
            <a:extLst>
              <a:ext uri="{FF2B5EF4-FFF2-40B4-BE49-F238E27FC236}">
                <a16:creationId xmlns:a16="http://schemas.microsoft.com/office/drawing/2014/main" id="{D7119055-3E18-9965-3206-70D45E4A4DCB}"/>
              </a:ext>
            </a:extLst>
          </p:cNvPr>
          <p:cNvSpPr/>
          <p:nvPr/>
        </p:nvSpPr>
        <p:spPr>
          <a:xfrm rot="5054862">
            <a:off x="4609207" y="4905507"/>
            <a:ext cx="757875" cy="138980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40" name="Picture 39">
            <a:extLst>
              <a:ext uri="{FF2B5EF4-FFF2-40B4-BE49-F238E27FC236}">
                <a16:creationId xmlns:a16="http://schemas.microsoft.com/office/drawing/2014/main" id="{B9073ABA-FDF2-9D44-D246-27DE1CE73A63}"/>
              </a:ext>
            </a:extLst>
          </p:cNvPr>
          <p:cNvPicPr>
            <a:picLocks noChangeAspect="1"/>
          </p:cNvPicPr>
          <p:nvPr/>
        </p:nvPicPr>
        <p:blipFill>
          <a:blip r:embed="rId8"/>
          <a:stretch>
            <a:fillRect/>
          </a:stretch>
        </p:blipFill>
        <p:spPr>
          <a:xfrm>
            <a:off x="3383234" y="3696592"/>
            <a:ext cx="671318" cy="1202629"/>
          </a:xfrm>
          <a:prstGeom prst="rect">
            <a:avLst/>
          </a:prstGeom>
        </p:spPr>
      </p:pic>
      <p:cxnSp>
        <p:nvCxnSpPr>
          <p:cNvPr id="41" name="Straight Arrow Connector 40">
            <a:extLst>
              <a:ext uri="{FF2B5EF4-FFF2-40B4-BE49-F238E27FC236}">
                <a16:creationId xmlns:a16="http://schemas.microsoft.com/office/drawing/2014/main" id="{A0F4ADC2-EBBA-A74B-71FA-3943D5C3C3BF}"/>
              </a:ext>
            </a:extLst>
          </p:cNvPr>
          <p:cNvCxnSpPr/>
          <p:nvPr/>
        </p:nvCxnSpPr>
        <p:spPr>
          <a:xfrm flipH="1" flipV="1">
            <a:off x="4055483" y="4459462"/>
            <a:ext cx="971518" cy="31485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A8315A2F-FCCF-3B7F-B619-4B0E7093962B}"/>
              </a:ext>
            </a:extLst>
          </p:cNvPr>
          <p:cNvPicPr>
            <a:picLocks noChangeAspect="1"/>
          </p:cNvPicPr>
          <p:nvPr/>
        </p:nvPicPr>
        <p:blipFill>
          <a:blip r:embed="rId9"/>
          <a:stretch>
            <a:fillRect/>
          </a:stretch>
        </p:blipFill>
        <p:spPr>
          <a:xfrm>
            <a:off x="6000882" y="5495593"/>
            <a:ext cx="1740493" cy="1147729"/>
          </a:xfrm>
          <a:prstGeom prst="rect">
            <a:avLst/>
          </a:prstGeom>
        </p:spPr>
      </p:pic>
      <p:cxnSp>
        <p:nvCxnSpPr>
          <p:cNvPr id="43" name="Straight Arrow Connector 42">
            <a:extLst>
              <a:ext uri="{FF2B5EF4-FFF2-40B4-BE49-F238E27FC236}">
                <a16:creationId xmlns:a16="http://schemas.microsoft.com/office/drawing/2014/main" id="{CC1D240A-21FA-5FA9-3CC5-6333F820A2D1}"/>
              </a:ext>
            </a:extLst>
          </p:cNvPr>
          <p:cNvCxnSpPr>
            <a:cxnSpLocks/>
          </p:cNvCxnSpPr>
          <p:nvPr/>
        </p:nvCxnSpPr>
        <p:spPr>
          <a:xfrm>
            <a:off x="6060165" y="5153730"/>
            <a:ext cx="213373" cy="54658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B46B8725-42FF-6B3D-BC0B-2E9BDDFB4B7A}"/>
              </a:ext>
            </a:extLst>
          </p:cNvPr>
          <p:cNvCxnSpPr/>
          <p:nvPr/>
        </p:nvCxnSpPr>
        <p:spPr>
          <a:xfrm flipH="1">
            <a:off x="1961906" y="6019660"/>
            <a:ext cx="959026" cy="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8" name="Picture 47">
            <a:extLst>
              <a:ext uri="{FF2B5EF4-FFF2-40B4-BE49-F238E27FC236}">
                <a16:creationId xmlns:a16="http://schemas.microsoft.com/office/drawing/2014/main" id="{89F6FF84-0312-BD8B-46A4-8D192CD0F2C8}"/>
              </a:ext>
            </a:extLst>
          </p:cNvPr>
          <p:cNvPicPr>
            <a:picLocks noChangeAspect="1"/>
          </p:cNvPicPr>
          <p:nvPr/>
        </p:nvPicPr>
        <p:blipFill>
          <a:blip r:embed="rId10"/>
          <a:stretch>
            <a:fillRect/>
          </a:stretch>
        </p:blipFill>
        <p:spPr>
          <a:xfrm>
            <a:off x="931390" y="5927254"/>
            <a:ext cx="1043564" cy="516781"/>
          </a:xfrm>
          <a:prstGeom prst="rect">
            <a:avLst/>
          </a:prstGeom>
        </p:spPr>
      </p:pic>
      <p:pic>
        <p:nvPicPr>
          <p:cNvPr id="49" name="Picture 48">
            <a:extLst>
              <a:ext uri="{FF2B5EF4-FFF2-40B4-BE49-F238E27FC236}">
                <a16:creationId xmlns:a16="http://schemas.microsoft.com/office/drawing/2014/main" id="{C337ED28-5443-ED14-88AC-727A1B4C68CA}"/>
              </a:ext>
            </a:extLst>
          </p:cNvPr>
          <p:cNvPicPr>
            <a:picLocks noChangeAspect="1"/>
          </p:cNvPicPr>
          <p:nvPr/>
        </p:nvPicPr>
        <p:blipFill>
          <a:blip r:embed="rId11"/>
          <a:stretch>
            <a:fillRect/>
          </a:stretch>
        </p:blipFill>
        <p:spPr>
          <a:xfrm>
            <a:off x="1155442" y="5440042"/>
            <a:ext cx="744013" cy="570677"/>
          </a:xfrm>
          <a:prstGeom prst="rect">
            <a:avLst/>
          </a:prstGeom>
        </p:spPr>
      </p:pic>
      <p:sp>
        <p:nvSpPr>
          <p:cNvPr id="50" name="Freeform 27">
            <a:extLst>
              <a:ext uri="{FF2B5EF4-FFF2-40B4-BE49-F238E27FC236}">
                <a16:creationId xmlns:a16="http://schemas.microsoft.com/office/drawing/2014/main" id="{5B98C42C-BF04-7578-B3B5-48F760A8D75E}"/>
              </a:ext>
            </a:extLst>
          </p:cNvPr>
          <p:cNvSpPr/>
          <p:nvPr/>
        </p:nvSpPr>
        <p:spPr>
          <a:xfrm>
            <a:off x="1105561" y="3090787"/>
            <a:ext cx="1047283" cy="2291917"/>
          </a:xfrm>
          <a:custGeom>
            <a:avLst/>
            <a:gdLst>
              <a:gd name="connsiteX0" fmla="*/ 155681 w 2320383"/>
              <a:gd name="connsiteY0" fmla="*/ 2575249 h 2575249"/>
              <a:gd name="connsiteX1" fmla="*/ 18832 w 2320383"/>
              <a:gd name="connsiteY1" fmla="*/ 1878563 h 2575249"/>
              <a:gd name="connsiteX2" fmla="*/ 522685 w 2320383"/>
              <a:gd name="connsiteY2" fmla="*/ 1119674 h 2575249"/>
              <a:gd name="connsiteX3" fmla="*/ 2320383 w 2320383"/>
              <a:gd name="connsiteY3" fmla="*/ 0 h 2575249"/>
            </a:gdLst>
            <a:ahLst/>
            <a:cxnLst>
              <a:cxn ang="0">
                <a:pos x="connsiteX0" y="connsiteY0"/>
              </a:cxn>
              <a:cxn ang="0">
                <a:pos x="connsiteX1" y="connsiteY1"/>
              </a:cxn>
              <a:cxn ang="0">
                <a:pos x="connsiteX2" y="connsiteY2"/>
              </a:cxn>
              <a:cxn ang="0">
                <a:pos x="connsiteX3" y="connsiteY3"/>
              </a:cxn>
            </a:cxnLst>
            <a:rect l="l" t="t" r="r" b="b"/>
            <a:pathLst>
              <a:path w="2320383" h="2575249">
                <a:moveTo>
                  <a:pt x="155681" y="2575249"/>
                </a:moveTo>
                <a:cubicBezTo>
                  <a:pt x="56673" y="2348204"/>
                  <a:pt x="-42335" y="2121159"/>
                  <a:pt x="18832" y="1878563"/>
                </a:cubicBezTo>
                <a:cubicBezTo>
                  <a:pt x="79999" y="1635967"/>
                  <a:pt x="139093" y="1432768"/>
                  <a:pt x="522685" y="1119674"/>
                </a:cubicBezTo>
                <a:cubicBezTo>
                  <a:pt x="906277" y="806580"/>
                  <a:pt x="1613330" y="403290"/>
                  <a:pt x="2320383" y="0"/>
                </a:cubicBezTo>
              </a:path>
            </a:pathLst>
          </a:custGeom>
          <a:noFill/>
          <a:ln w="381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52" name="Straight Arrow Connector 51">
            <a:extLst>
              <a:ext uri="{FF2B5EF4-FFF2-40B4-BE49-F238E27FC236}">
                <a16:creationId xmlns:a16="http://schemas.microsoft.com/office/drawing/2014/main" id="{0E714F26-5DBA-9F09-F9DC-D7838AA228A8}"/>
              </a:ext>
            </a:extLst>
          </p:cNvPr>
          <p:cNvCxnSpPr>
            <a:cxnSpLocks/>
          </p:cNvCxnSpPr>
          <p:nvPr/>
        </p:nvCxnSpPr>
        <p:spPr>
          <a:xfrm>
            <a:off x="5895111" y="3822569"/>
            <a:ext cx="0" cy="452487"/>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68A17AA-2BD6-29DA-7132-D4CC1F87DAC2}"/>
              </a:ext>
            </a:extLst>
          </p:cNvPr>
          <p:cNvCxnSpPr>
            <a:cxnSpLocks/>
          </p:cNvCxnSpPr>
          <p:nvPr/>
        </p:nvCxnSpPr>
        <p:spPr>
          <a:xfrm flipH="1" flipV="1">
            <a:off x="3144823" y="3090788"/>
            <a:ext cx="255582" cy="835961"/>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ADFE5AF-1DEF-A699-70F4-628B2E2653F3}"/>
              </a:ext>
            </a:extLst>
          </p:cNvPr>
          <p:cNvCxnSpPr>
            <a:cxnSpLocks/>
          </p:cNvCxnSpPr>
          <p:nvPr/>
        </p:nvCxnSpPr>
        <p:spPr>
          <a:xfrm>
            <a:off x="2718995" y="3159463"/>
            <a:ext cx="664239" cy="2280579"/>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24512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74530-021A-6FEF-300C-886DE212FC0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6761E71-E0CA-2998-86D3-6C4464B79FD5}"/>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A281EEDF-C3F4-7961-01C5-B90D1DC3E11D}"/>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8346686D-6E29-D286-C76B-472A27F148D4}"/>
              </a:ext>
            </a:extLst>
          </p:cNvPr>
          <p:cNvSpPr>
            <a:spLocks noGrp="1"/>
          </p:cNvSpPr>
          <p:nvPr>
            <p:ph type="sldNum" sz="quarter" idx="12"/>
          </p:nvPr>
        </p:nvSpPr>
        <p:spPr/>
        <p:txBody>
          <a:bodyPr/>
          <a:lstStyle/>
          <a:p>
            <a:fld id="{091A926C-488A-4E3E-9C21-57CAA120E114}" type="slidenum">
              <a:rPr lang="en-US" smtClean="0"/>
              <a:t>51</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9ABBA4E-98D8-B90E-E0CA-833958D4C7DF}"/>
                  </a:ext>
                </a:extLst>
              </p:cNvPr>
              <p:cNvSpPr txBox="1"/>
              <p:nvPr/>
            </p:nvSpPr>
            <p:spPr>
              <a:xfrm>
                <a:off x="508409" y="1051323"/>
                <a:ext cx="8046629" cy="2949077"/>
              </a:xfrm>
              <a:prstGeom prst="rect">
                <a:avLst/>
              </a:prstGeom>
              <a:noFill/>
            </p:spPr>
            <p:txBody>
              <a:bodyPr wrap="square" rtlCol="0">
                <a:spAutoFit/>
              </a:bodyPr>
              <a:lstStyle/>
              <a:p>
                <a:r>
                  <a:rPr lang="en-US" sz="2000" b="1" dirty="0"/>
                  <a:t>Waste treatment</a:t>
                </a:r>
                <a:endParaRPr lang="en-US" sz="2000" b="1" noProof="0" dirty="0"/>
              </a:p>
              <a:p>
                <a:endParaRPr lang="en-US" sz="2000" dirty="0"/>
              </a:p>
              <a:p>
                <a:pPr marL="342900" indent="-342900">
                  <a:buFont typeface="Arial" panose="020B0604020202020204" pitchFamily="34" charset="0"/>
                  <a:buChar char="•"/>
                </a:pPr>
                <a:r>
                  <a:rPr lang="en-US" sz="2000" noProof="0" dirty="0"/>
                  <a:t>The recycling possibilities are modelled as</a:t>
                </a:r>
              </a:p>
              <a:p>
                <a:pPr marL="342900" indent="-342900">
                  <a:buFont typeface="Arial" panose="020B0604020202020204" pitchFamily="34" charset="0"/>
                  <a:buChar char="•"/>
                </a:pPr>
                <a:endParaRPr lang="en-US" sz="2000" dirty="0"/>
              </a:p>
              <a:p>
                <a:pPr/>
                <a14:m>
                  <m:oMathPara xmlns:m="http://schemas.openxmlformats.org/officeDocument/2006/math">
                    <m:oMathParaPr>
                      <m:jc m:val="centerGroup"/>
                    </m:oMathParaPr>
                    <m:oMath xmlns:m="http://schemas.openxmlformats.org/officeDocument/2006/math">
                      <m:sSub>
                        <m:sSubPr>
                          <m:ctrlPr>
                            <a:rPr lang="da-DK" sz="2000" b="0" i="1" noProof="0" smtClean="0">
                              <a:latin typeface="Cambria Math" panose="02040503050406030204" pitchFamily="18" charset="0"/>
                            </a:rPr>
                          </m:ctrlPr>
                        </m:sSubPr>
                        <m:e>
                          <m:r>
                            <a:rPr lang="da-DK" sz="2000" b="0" i="1" noProof="0" smtClean="0">
                              <a:latin typeface="Cambria Math" panose="02040503050406030204" pitchFamily="18" charset="0"/>
                            </a:rPr>
                            <m:t>𝐴</m:t>
                          </m:r>
                        </m:e>
                        <m:sub>
                          <m:r>
                            <a:rPr lang="da-DK" sz="2000" b="0" i="1" noProof="0" smtClean="0">
                              <a:latin typeface="Cambria Math" panose="02040503050406030204" pitchFamily="18" charset="0"/>
                            </a:rPr>
                            <m:t>𝑡</m:t>
                          </m:r>
                          <m:r>
                            <a:rPr lang="da-DK" sz="2000" b="0" i="1" noProof="0" smtClean="0">
                              <a:latin typeface="Cambria Math" panose="02040503050406030204" pitchFamily="18" charset="0"/>
                            </a:rPr>
                            <m:t>,</m:t>
                          </m:r>
                          <m:r>
                            <a:rPr lang="da-DK" sz="2000" b="0" i="1" noProof="0" smtClean="0">
                              <a:latin typeface="Cambria Math" panose="02040503050406030204" pitchFamily="18" charset="0"/>
                            </a:rPr>
                            <m:t>𝑚</m:t>
                          </m:r>
                        </m:sub>
                      </m:sSub>
                      <m:r>
                        <a:rPr lang="da-DK" sz="2000" b="0" i="1" noProof="0" smtClean="0">
                          <a:latin typeface="Cambria Math" panose="02040503050406030204" pitchFamily="18" charset="0"/>
                        </a:rPr>
                        <m:t>=</m:t>
                      </m:r>
                      <m:d>
                        <m:dPr>
                          <m:begChr m:val="["/>
                          <m:endChr m:val="]"/>
                          <m:ctrlPr>
                            <a:rPr lang="da-DK" sz="2000" b="0" i="1" noProof="0" smtClean="0">
                              <a:latin typeface="Cambria Math" panose="02040503050406030204" pitchFamily="18" charset="0"/>
                            </a:rPr>
                          </m:ctrlPr>
                        </m:dPr>
                        <m:e>
                          <m:sSub>
                            <m:sSubPr>
                              <m:ctrlPr>
                                <a:rPr lang="da-DK" sz="2000" b="0" i="1" noProof="0" smtClean="0">
                                  <a:latin typeface="Cambria Math" panose="02040503050406030204" pitchFamily="18" charset="0"/>
                                </a:rPr>
                              </m:ctrlPr>
                            </m:sSubPr>
                            <m:e>
                              <m:bar>
                                <m:barPr>
                                  <m:ctrlPr>
                                    <a:rPr lang="da-DK" sz="2000" b="0" i="1" noProof="0" smtClean="0">
                                      <a:latin typeface="Cambria Math" panose="02040503050406030204" pitchFamily="18" charset="0"/>
                                    </a:rPr>
                                  </m:ctrlPr>
                                </m:barPr>
                                <m:e>
                                  <m:r>
                                    <a:rPr lang="da-DK" sz="2000" b="0" i="1" noProof="0" smtClean="0">
                                      <a:latin typeface="Cambria Math" panose="02040503050406030204" pitchFamily="18" charset="0"/>
                                    </a:rPr>
                                    <m:t>𝛼</m:t>
                                  </m:r>
                                </m:e>
                              </m:bar>
                            </m:e>
                            <m:sub>
                              <m:r>
                                <a:rPr lang="da-DK" sz="2000" b="0" i="1" noProof="0" smtClean="0">
                                  <a:latin typeface="Cambria Math" panose="02040503050406030204" pitchFamily="18" charset="0"/>
                                </a:rPr>
                                <m:t>𝑡</m:t>
                              </m:r>
                              <m:r>
                                <a:rPr lang="da-DK" sz="2000" b="0" i="1" noProof="0" smtClean="0">
                                  <a:latin typeface="Cambria Math" panose="02040503050406030204" pitchFamily="18" charset="0"/>
                                </a:rPr>
                                <m:t>,</m:t>
                              </m:r>
                              <m:r>
                                <a:rPr lang="da-DK" sz="2000" b="0" i="1" noProof="0" smtClean="0">
                                  <a:latin typeface="Cambria Math" panose="02040503050406030204" pitchFamily="18" charset="0"/>
                                </a:rPr>
                                <m:t>𝑚</m:t>
                              </m:r>
                            </m:sub>
                          </m:sSub>
                          <m:r>
                            <a:rPr lang="da-DK" sz="2000" b="0" i="1" noProof="0" smtClean="0">
                              <a:latin typeface="Cambria Math" panose="02040503050406030204" pitchFamily="18" charset="0"/>
                            </a:rPr>
                            <m:t>+</m:t>
                          </m:r>
                          <m:d>
                            <m:dPr>
                              <m:ctrlPr>
                                <a:rPr lang="da-DK" sz="2000" b="0" i="1" noProof="0" smtClean="0">
                                  <a:latin typeface="Cambria Math" panose="02040503050406030204" pitchFamily="18" charset="0"/>
                                </a:rPr>
                              </m:ctrlPr>
                            </m:dPr>
                            <m:e>
                              <m:sSub>
                                <m:sSubPr>
                                  <m:ctrlPr>
                                    <a:rPr lang="da-DK" sz="2000" b="0" i="1" noProof="0" smtClean="0">
                                      <a:latin typeface="Cambria Math" panose="02040503050406030204" pitchFamily="18" charset="0"/>
                                    </a:rPr>
                                  </m:ctrlPr>
                                </m:sSubPr>
                                <m:e>
                                  <m:acc>
                                    <m:accPr>
                                      <m:chr m:val="̅"/>
                                      <m:ctrlPr>
                                        <a:rPr lang="da-DK" sz="2000" b="0" i="1" noProof="0" smtClean="0">
                                          <a:latin typeface="Cambria Math" panose="02040503050406030204" pitchFamily="18" charset="0"/>
                                        </a:rPr>
                                      </m:ctrlPr>
                                    </m:accPr>
                                    <m:e>
                                      <m:r>
                                        <a:rPr lang="da-DK" sz="2000" b="0" i="1" noProof="0" smtClean="0">
                                          <a:latin typeface="Cambria Math" panose="02040503050406030204" pitchFamily="18" charset="0"/>
                                        </a:rPr>
                                        <m:t>𝛼</m:t>
                                      </m:r>
                                    </m:e>
                                  </m:acc>
                                </m:e>
                                <m:sub>
                                  <m:r>
                                    <a:rPr lang="da-DK" sz="2000" b="0" i="1" noProof="0" smtClean="0">
                                      <a:latin typeface="Cambria Math" panose="02040503050406030204" pitchFamily="18" charset="0"/>
                                    </a:rPr>
                                    <m:t>𝑡</m:t>
                                  </m:r>
                                  <m:r>
                                    <a:rPr lang="da-DK" sz="2000" b="0" i="1" noProof="0" smtClean="0">
                                      <a:latin typeface="Cambria Math" panose="02040503050406030204" pitchFamily="18" charset="0"/>
                                    </a:rPr>
                                    <m:t>,</m:t>
                                  </m:r>
                                  <m:r>
                                    <a:rPr lang="da-DK" sz="2000" b="0" i="1" noProof="0" smtClean="0">
                                      <a:latin typeface="Cambria Math" panose="02040503050406030204" pitchFamily="18" charset="0"/>
                                    </a:rPr>
                                    <m:t>𝑚</m:t>
                                  </m:r>
                                </m:sub>
                              </m:sSub>
                              <m:r>
                                <a:rPr lang="da-DK" sz="2000" b="0" i="1" noProof="0" smtClean="0">
                                  <a:latin typeface="Cambria Math" panose="02040503050406030204" pitchFamily="18" charset="0"/>
                                </a:rPr>
                                <m:t>−</m:t>
                              </m:r>
                              <m:sSub>
                                <m:sSubPr>
                                  <m:ctrlPr>
                                    <a:rPr lang="da-DK" sz="2000" i="1">
                                      <a:latin typeface="Cambria Math" panose="02040503050406030204" pitchFamily="18" charset="0"/>
                                    </a:rPr>
                                  </m:ctrlPr>
                                </m:sSubPr>
                                <m:e>
                                  <m:bar>
                                    <m:barPr>
                                      <m:ctrlPr>
                                        <a:rPr lang="da-DK" sz="2000" i="1">
                                          <a:latin typeface="Cambria Math" panose="02040503050406030204" pitchFamily="18" charset="0"/>
                                        </a:rPr>
                                      </m:ctrlPr>
                                    </m:barPr>
                                    <m:e>
                                      <m:r>
                                        <a:rPr lang="da-DK" sz="2000" i="1">
                                          <a:latin typeface="Cambria Math" panose="02040503050406030204" pitchFamily="18" charset="0"/>
                                        </a:rPr>
                                        <m:t>𝛼</m:t>
                                      </m:r>
                                    </m:e>
                                  </m:bar>
                                </m:e>
                                <m:sub>
                                  <m:r>
                                    <a:rPr lang="da-DK" sz="2000" i="1">
                                      <a:latin typeface="Cambria Math" panose="02040503050406030204" pitchFamily="18" charset="0"/>
                                    </a:rPr>
                                    <m:t>𝑡</m:t>
                                  </m:r>
                                  <m:r>
                                    <a:rPr lang="da-DK" sz="2000" i="1">
                                      <a:latin typeface="Cambria Math" panose="02040503050406030204" pitchFamily="18" charset="0"/>
                                    </a:rPr>
                                    <m:t>,</m:t>
                                  </m:r>
                                  <m:r>
                                    <a:rPr lang="da-DK" sz="2000" i="1">
                                      <a:latin typeface="Cambria Math" panose="02040503050406030204" pitchFamily="18" charset="0"/>
                                    </a:rPr>
                                    <m:t>𝑚</m:t>
                                  </m:r>
                                </m:sub>
                              </m:sSub>
                            </m:e>
                          </m:d>
                          <m:d>
                            <m:dPr>
                              <m:ctrlPr>
                                <a:rPr lang="da-DK" sz="2000" b="0" i="1" noProof="0" smtClean="0">
                                  <a:latin typeface="Cambria Math" panose="02040503050406030204" pitchFamily="18" charset="0"/>
                                </a:rPr>
                              </m:ctrlPr>
                            </m:dPr>
                            <m:e>
                              <m:r>
                                <a:rPr lang="da-DK" sz="2000" b="0" i="1" noProof="0" smtClean="0">
                                  <a:latin typeface="Cambria Math" panose="02040503050406030204" pitchFamily="18" charset="0"/>
                                </a:rPr>
                                <m:t>1−</m:t>
                              </m:r>
                              <m:f>
                                <m:fPr>
                                  <m:ctrlPr>
                                    <a:rPr lang="da-DK" sz="2000" b="0" i="1" noProof="0" smtClean="0">
                                      <a:latin typeface="Cambria Math" panose="02040503050406030204" pitchFamily="18" charset="0"/>
                                    </a:rPr>
                                  </m:ctrlPr>
                                </m:fPr>
                                <m:num>
                                  <m:r>
                                    <a:rPr lang="da-DK" sz="2000" b="0" i="1" noProof="0" smtClean="0">
                                      <a:latin typeface="Cambria Math" panose="02040503050406030204" pitchFamily="18" charset="0"/>
                                    </a:rPr>
                                    <m:t>1</m:t>
                                  </m:r>
                                </m:num>
                                <m:den>
                                  <m:r>
                                    <a:rPr lang="da-DK" sz="2000" b="0" i="1" noProof="0" smtClean="0">
                                      <a:latin typeface="Cambria Math" panose="02040503050406030204" pitchFamily="18" charset="0"/>
                                    </a:rPr>
                                    <m:t>1+</m:t>
                                  </m:r>
                                  <m:sSub>
                                    <m:sSubPr>
                                      <m:ctrlPr>
                                        <a:rPr lang="da-DK" sz="2000" b="0" i="1" noProof="0" smtClean="0">
                                          <a:latin typeface="Cambria Math" panose="02040503050406030204" pitchFamily="18" charset="0"/>
                                        </a:rPr>
                                      </m:ctrlPr>
                                    </m:sSubPr>
                                    <m:e>
                                      <m:r>
                                        <a:rPr lang="da-DK" sz="2000" b="0" i="1" noProof="0" smtClean="0">
                                          <a:latin typeface="Cambria Math" panose="02040503050406030204" pitchFamily="18" charset="0"/>
                                        </a:rPr>
                                        <m:t>𝛽</m:t>
                                      </m:r>
                                    </m:e>
                                    <m:sub>
                                      <m:r>
                                        <a:rPr lang="da-DK" sz="2000" b="0" i="1" noProof="0" smtClean="0">
                                          <a:latin typeface="Cambria Math" panose="02040503050406030204" pitchFamily="18" charset="0"/>
                                        </a:rPr>
                                        <m:t>𝑡</m:t>
                                      </m:r>
                                      <m:r>
                                        <a:rPr lang="da-DK" sz="2000" b="0" i="1" noProof="0" smtClean="0">
                                          <a:latin typeface="Cambria Math" panose="02040503050406030204" pitchFamily="18" charset="0"/>
                                        </a:rPr>
                                        <m:t>,</m:t>
                                      </m:r>
                                      <m:r>
                                        <a:rPr lang="da-DK" sz="2000" b="0" i="1" noProof="0" smtClean="0">
                                          <a:latin typeface="Cambria Math" panose="02040503050406030204" pitchFamily="18" charset="0"/>
                                        </a:rPr>
                                        <m:t>𝑚</m:t>
                                      </m:r>
                                    </m:sub>
                                  </m:sSub>
                                </m:den>
                              </m:f>
                              <m:sSup>
                                <m:sSupPr>
                                  <m:ctrlPr>
                                    <a:rPr lang="da-DK" sz="2000" b="0" i="1" noProof="0" smtClean="0">
                                      <a:latin typeface="Cambria Math" panose="02040503050406030204" pitchFamily="18" charset="0"/>
                                    </a:rPr>
                                  </m:ctrlPr>
                                </m:sSupPr>
                                <m:e>
                                  <m:d>
                                    <m:dPr>
                                      <m:ctrlPr>
                                        <a:rPr lang="da-DK" sz="2000" b="0" i="1" noProof="0" smtClean="0">
                                          <a:latin typeface="Cambria Math" panose="02040503050406030204" pitchFamily="18" charset="0"/>
                                        </a:rPr>
                                      </m:ctrlPr>
                                    </m:dPr>
                                    <m:e>
                                      <m:f>
                                        <m:fPr>
                                          <m:ctrlPr>
                                            <a:rPr lang="da-DK" sz="2000" b="0" i="1" noProof="0" smtClean="0">
                                              <a:latin typeface="Cambria Math" panose="02040503050406030204" pitchFamily="18" charset="0"/>
                                            </a:rPr>
                                          </m:ctrlPr>
                                        </m:fPr>
                                        <m:num>
                                          <m:sSub>
                                            <m:sSubPr>
                                              <m:ctrlPr>
                                                <a:rPr lang="da-DK" sz="2000" b="0" i="1" noProof="0" smtClean="0">
                                                  <a:latin typeface="Cambria Math" panose="02040503050406030204" pitchFamily="18" charset="0"/>
                                                </a:rPr>
                                              </m:ctrlPr>
                                            </m:sSubPr>
                                            <m:e>
                                              <m:r>
                                                <a:rPr lang="da-DK" sz="2000" b="0" i="1" noProof="0" smtClean="0">
                                                  <a:latin typeface="Cambria Math" panose="02040503050406030204" pitchFamily="18" charset="0"/>
                                                </a:rPr>
                                                <m:t>𝑅</m:t>
                                              </m:r>
                                            </m:e>
                                            <m:sub>
                                              <m:r>
                                                <a:rPr lang="da-DK" sz="2000" b="0" i="1" noProof="0" smtClean="0">
                                                  <a:latin typeface="Cambria Math" panose="02040503050406030204" pitchFamily="18" charset="0"/>
                                                </a:rPr>
                                                <m:t>𝑡</m:t>
                                              </m:r>
                                              <m:r>
                                                <a:rPr lang="da-DK" sz="2000" b="0" i="1" noProof="0" smtClean="0">
                                                  <a:latin typeface="Cambria Math" panose="02040503050406030204" pitchFamily="18" charset="0"/>
                                                </a:rPr>
                                                <m:t>,</m:t>
                                              </m:r>
                                              <m:r>
                                                <a:rPr lang="da-DK" sz="2000" b="0" i="1" noProof="0" smtClean="0">
                                                  <a:latin typeface="Cambria Math" panose="02040503050406030204" pitchFamily="18" charset="0"/>
                                                </a:rPr>
                                                <m:t>𝑚</m:t>
                                              </m:r>
                                            </m:sub>
                                          </m:sSub>
                                        </m:num>
                                        <m:den>
                                          <m:sSub>
                                            <m:sSubPr>
                                              <m:ctrlPr>
                                                <a:rPr lang="da-DK" sz="2000" b="0" i="1" noProof="0" dirty="0" smtClean="0">
                                                  <a:latin typeface="Cambria Math" panose="02040503050406030204" pitchFamily="18" charset="0"/>
                                                </a:rPr>
                                              </m:ctrlPr>
                                            </m:sSubPr>
                                            <m:e>
                                              <m:acc>
                                                <m:accPr>
                                                  <m:chr m:val="̅"/>
                                                  <m:ctrlPr>
                                                    <a:rPr lang="da-DK" sz="2000" b="0" i="1" noProof="0" smtClean="0">
                                                      <a:latin typeface="Cambria Math" panose="02040503050406030204" pitchFamily="18" charset="0"/>
                                                    </a:rPr>
                                                  </m:ctrlPr>
                                                </m:accPr>
                                                <m:e>
                                                  <m:r>
                                                    <a:rPr lang="da-DK" sz="2000" b="0" i="1" noProof="0" smtClean="0">
                                                      <a:latin typeface="Cambria Math" panose="02040503050406030204" pitchFamily="18" charset="0"/>
                                                    </a:rPr>
                                                    <m:t>𝑅</m:t>
                                                  </m:r>
                                                </m:e>
                                              </m:acc>
                                            </m:e>
                                            <m:sub>
                                              <m:r>
                                                <a:rPr lang="da-DK" sz="2000" b="0" i="1" noProof="0" dirty="0" smtClean="0">
                                                  <a:latin typeface="Cambria Math" panose="02040503050406030204" pitchFamily="18" charset="0"/>
                                                </a:rPr>
                                                <m:t>𝑡</m:t>
                                              </m:r>
                                              <m:r>
                                                <a:rPr lang="da-DK" sz="2000" b="0" i="1" noProof="0" dirty="0" smtClean="0">
                                                  <a:latin typeface="Cambria Math" panose="02040503050406030204" pitchFamily="18" charset="0"/>
                                                </a:rPr>
                                                <m:t>,</m:t>
                                              </m:r>
                                              <m:r>
                                                <a:rPr lang="da-DK" sz="2000" b="0" i="1" noProof="0" dirty="0" smtClean="0">
                                                  <a:latin typeface="Cambria Math" panose="02040503050406030204" pitchFamily="18" charset="0"/>
                                                </a:rPr>
                                                <m:t>𝑚</m:t>
                                              </m:r>
                                            </m:sub>
                                          </m:sSub>
                                        </m:den>
                                      </m:f>
                                    </m:e>
                                  </m:d>
                                </m:e>
                                <m:sup>
                                  <m:sSub>
                                    <m:sSubPr>
                                      <m:ctrlPr>
                                        <a:rPr lang="da-DK" sz="2000" b="0" i="1" noProof="0" smtClean="0">
                                          <a:latin typeface="Cambria Math" panose="02040503050406030204" pitchFamily="18" charset="0"/>
                                        </a:rPr>
                                      </m:ctrlPr>
                                    </m:sSubPr>
                                    <m:e>
                                      <m:r>
                                        <a:rPr lang="da-DK" sz="2000" b="0" i="1" noProof="0" smtClean="0">
                                          <a:latin typeface="Cambria Math" panose="02040503050406030204" pitchFamily="18" charset="0"/>
                                        </a:rPr>
                                        <m:t>𝛽</m:t>
                                      </m:r>
                                    </m:e>
                                    <m:sub>
                                      <m:r>
                                        <a:rPr lang="da-DK" sz="2000" b="0" i="1" noProof="0" smtClean="0">
                                          <a:latin typeface="Cambria Math" panose="02040503050406030204" pitchFamily="18" charset="0"/>
                                        </a:rPr>
                                        <m:t>𝑡</m:t>
                                      </m:r>
                                      <m:r>
                                        <a:rPr lang="da-DK" sz="2000" b="0" i="1" noProof="0" smtClean="0">
                                          <a:latin typeface="Cambria Math" panose="02040503050406030204" pitchFamily="18" charset="0"/>
                                        </a:rPr>
                                        <m:t>,</m:t>
                                      </m:r>
                                      <m:r>
                                        <a:rPr lang="da-DK" sz="2000" b="0" i="1" noProof="0" smtClean="0">
                                          <a:latin typeface="Cambria Math" panose="02040503050406030204" pitchFamily="18" charset="0"/>
                                        </a:rPr>
                                        <m:t>𝑚</m:t>
                                      </m:r>
                                    </m:sub>
                                  </m:sSub>
                                </m:sup>
                              </m:sSup>
                            </m:e>
                          </m:d>
                        </m:e>
                      </m:d>
                      <m:sSub>
                        <m:sSubPr>
                          <m:ctrlPr>
                            <a:rPr lang="da-DK" sz="2000" b="0" i="1" noProof="0" smtClean="0">
                              <a:latin typeface="Cambria Math" panose="02040503050406030204" pitchFamily="18" charset="0"/>
                            </a:rPr>
                          </m:ctrlPr>
                        </m:sSubPr>
                        <m:e>
                          <m:r>
                            <a:rPr lang="da-DK" sz="2000" b="0" i="1" noProof="0" smtClean="0">
                              <a:latin typeface="Cambria Math" panose="02040503050406030204" pitchFamily="18" charset="0"/>
                            </a:rPr>
                            <m:t>𝑅</m:t>
                          </m:r>
                        </m:e>
                        <m:sub>
                          <m:r>
                            <a:rPr lang="da-DK" sz="2000" b="0" i="1" noProof="0" smtClean="0">
                              <a:latin typeface="Cambria Math" panose="02040503050406030204" pitchFamily="18" charset="0"/>
                            </a:rPr>
                            <m:t>𝑡</m:t>
                          </m:r>
                          <m:r>
                            <a:rPr lang="da-DK" sz="2000" b="0" i="1" noProof="0" smtClean="0">
                              <a:latin typeface="Cambria Math" panose="02040503050406030204" pitchFamily="18" charset="0"/>
                            </a:rPr>
                            <m:t>,</m:t>
                          </m:r>
                          <m:r>
                            <a:rPr lang="da-DK" sz="2000" b="0" i="1" noProof="0" smtClean="0">
                              <a:latin typeface="Cambria Math" panose="02040503050406030204" pitchFamily="18" charset="0"/>
                            </a:rPr>
                            <m:t>𝑚</m:t>
                          </m:r>
                        </m:sub>
                      </m:sSub>
                      <m:r>
                        <a:rPr lang="da-DK" sz="2000" b="0" i="1" noProof="0" smtClean="0">
                          <a:latin typeface="Cambria Math" panose="02040503050406030204" pitchFamily="18" charset="0"/>
                        </a:rPr>
                        <m:t>.</m:t>
                      </m:r>
                    </m:oMath>
                  </m:oMathPara>
                </a14:m>
                <a:endParaRPr lang="en-US" sz="2000" noProof="0" dirty="0"/>
              </a:p>
              <a:p>
                <a:endParaRPr lang="en-US" sz="2000" dirty="0"/>
              </a:p>
              <a:p>
                <a:pPr marL="342900" indent="-342900">
                  <a:buFont typeface="Arial" panose="020B0604020202020204" pitchFamily="34" charset="0"/>
                  <a:buChar char="•"/>
                </a:pPr>
                <a:r>
                  <a:rPr lang="en-US" sz="2000" dirty="0"/>
                  <a:t>Share of waste going to </a:t>
                </a:r>
                <a:r>
                  <a:rPr lang="en-GB" sz="2000" dirty="0"/>
                  <a:t>recycling: </a:t>
                </a:r>
                <a14:m>
                  <m:oMath xmlns:m="http://schemas.openxmlformats.org/officeDocument/2006/math">
                    <m:sSub>
                      <m:sSubPr>
                        <m:ctrlPr>
                          <a:rPr lang="da-DK" sz="2000" b="0" i="1" smtClean="0">
                            <a:latin typeface="Cambria Math" panose="02040503050406030204" pitchFamily="18" charset="0"/>
                          </a:rPr>
                        </m:ctrlPr>
                      </m:sSubPr>
                      <m:e>
                        <m:r>
                          <a:rPr lang="da-DK" sz="2000" b="0" i="1" smtClean="0">
                            <a:latin typeface="Cambria Math" panose="02040503050406030204" pitchFamily="18" charset="0"/>
                          </a:rPr>
                          <m:t>𝑟</m:t>
                        </m:r>
                      </m:e>
                      <m:sub>
                        <m:r>
                          <a:rPr lang="da-DK" sz="2000" b="0" i="1" smtClean="0">
                            <a:latin typeface="Cambria Math" panose="02040503050406030204" pitchFamily="18" charset="0"/>
                          </a:rPr>
                          <m:t>𝑡</m:t>
                        </m:r>
                        <m:r>
                          <a:rPr lang="da-DK" sz="2000" b="0" i="1" smtClean="0">
                            <a:latin typeface="Cambria Math" panose="02040503050406030204" pitchFamily="18" charset="0"/>
                          </a:rPr>
                          <m:t>,</m:t>
                        </m:r>
                        <m:r>
                          <a:rPr lang="da-DK" sz="2000" b="0" i="1" smtClean="0">
                            <a:latin typeface="Cambria Math" panose="02040503050406030204" pitchFamily="18" charset="0"/>
                          </a:rPr>
                          <m:t>𝑚</m:t>
                        </m:r>
                      </m:sub>
                    </m:sSub>
                    <m:r>
                      <a:rPr lang="da-DK" sz="2000" i="1">
                        <a:latin typeface="Cambria Math" panose="02040503050406030204" pitchFamily="18" charset="0"/>
                        <a:ea typeface="Cambria Math" panose="02040503050406030204" pitchFamily="18" charset="0"/>
                      </a:rPr>
                      <m:t>≡</m:t>
                    </m:r>
                    <m:f>
                      <m:fPr>
                        <m:type m:val="lin"/>
                        <m:ctrlPr>
                          <a:rPr lang="da-DK" sz="2000" b="0" i="1" smtClean="0">
                            <a:latin typeface="Cambria Math" panose="02040503050406030204" pitchFamily="18" charset="0"/>
                          </a:rPr>
                        </m:ctrlPr>
                      </m:fPr>
                      <m:num>
                        <m:sSub>
                          <m:sSubPr>
                            <m:ctrlPr>
                              <a:rPr lang="da-DK" sz="2000" i="1">
                                <a:latin typeface="Cambria Math" panose="02040503050406030204" pitchFamily="18" charset="0"/>
                              </a:rPr>
                            </m:ctrlPr>
                          </m:sSubPr>
                          <m:e>
                            <m:r>
                              <a:rPr lang="da-DK" sz="2000" i="1">
                                <a:latin typeface="Cambria Math" panose="02040503050406030204" pitchFamily="18" charset="0"/>
                              </a:rPr>
                              <m:t>𝑅</m:t>
                            </m:r>
                          </m:e>
                          <m:sub>
                            <m:r>
                              <a:rPr lang="da-DK" sz="2000" i="1">
                                <a:latin typeface="Cambria Math" panose="02040503050406030204" pitchFamily="18" charset="0"/>
                              </a:rPr>
                              <m:t>𝑡</m:t>
                            </m:r>
                            <m:r>
                              <a:rPr lang="da-DK" sz="2000" i="1">
                                <a:latin typeface="Cambria Math" panose="02040503050406030204" pitchFamily="18" charset="0"/>
                              </a:rPr>
                              <m:t>,</m:t>
                            </m:r>
                            <m:r>
                              <a:rPr lang="da-DK" sz="2000" i="1">
                                <a:latin typeface="Cambria Math" panose="02040503050406030204" pitchFamily="18" charset="0"/>
                              </a:rPr>
                              <m:t>𝑚</m:t>
                            </m:r>
                          </m:sub>
                        </m:sSub>
                      </m:num>
                      <m:den>
                        <m:sSub>
                          <m:sSubPr>
                            <m:ctrlPr>
                              <a:rPr lang="da-DK" sz="2000" i="1" dirty="0">
                                <a:latin typeface="Cambria Math" panose="02040503050406030204" pitchFamily="18" charset="0"/>
                              </a:rPr>
                            </m:ctrlPr>
                          </m:sSubPr>
                          <m:e>
                            <m:acc>
                              <m:accPr>
                                <m:chr m:val="̅"/>
                                <m:ctrlPr>
                                  <a:rPr lang="da-DK" sz="2000" i="1">
                                    <a:latin typeface="Cambria Math" panose="02040503050406030204" pitchFamily="18" charset="0"/>
                                  </a:rPr>
                                </m:ctrlPr>
                              </m:accPr>
                              <m:e>
                                <m:r>
                                  <a:rPr lang="da-DK" sz="2000" i="1">
                                    <a:latin typeface="Cambria Math" panose="02040503050406030204" pitchFamily="18" charset="0"/>
                                  </a:rPr>
                                  <m:t>𝑅</m:t>
                                </m:r>
                              </m:e>
                            </m:acc>
                          </m:e>
                          <m:sub>
                            <m:r>
                              <a:rPr lang="da-DK" sz="2000" i="1" dirty="0">
                                <a:latin typeface="Cambria Math" panose="02040503050406030204" pitchFamily="18" charset="0"/>
                              </a:rPr>
                              <m:t>𝑡</m:t>
                            </m:r>
                            <m:r>
                              <a:rPr lang="da-DK" sz="2000" i="1" dirty="0">
                                <a:latin typeface="Cambria Math" panose="02040503050406030204" pitchFamily="18" charset="0"/>
                              </a:rPr>
                              <m:t>,</m:t>
                            </m:r>
                            <m:r>
                              <a:rPr lang="da-DK" sz="2000" i="1" dirty="0">
                                <a:latin typeface="Cambria Math" panose="02040503050406030204" pitchFamily="18" charset="0"/>
                              </a:rPr>
                              <m:t>𝑚</m:t>
                            </m:r>
                          </m:sub>
                        </m:sSub>
                      </m:den>
                    </m:f>
                    <m:r>
                      <a:rPr lang="da-DK" sz="2000" b="0" i="1" dirty="0" smtClean="0">
                        <a:latin typeface="Cambria Math" panose="02040503050406030204" pitchFamily="18" charset="0"/>
                      </a:rPr>
                      <m:t>.</m:t>
                    </m:r>
                  </m:oMath>
                </a14:m>
                <a:endParaRPr lang="en-US" sz="2000" dirty="0"/>
              </a:p>
            </p:txBody>
          </p:sp>
        </mc:Choice>
        <mc:Fallback xmlns="">
          <p:sp>
            <p:nvSpPr>
              <p:cNvPr id="6" name="TextBox 5">
                <a:extLst>
                  <a:ext uri="{FF2B5EF4-FFF2-40B4-BE49-F238E27FC236}">
                    <a16:creationId xmlns:a16="http://schemas.microsoft.com/office/drawing/2014/main" id="{39ABBA4E-98D8-B90E-E0CA-833958D4C7DF}"/>
                  </a:ext>
                </a:extLst>
              </p:cNvPr>
              <p:cNvSpPr txBox="1">
                <a:spLocks noRot="1" noChangeAspect="1" noMove="1" noResize="1" noEditPoints="1" noAdjustHandles="1" noChangeArrowheads="1" noChangeShapeType="1" noTextEdit="1"/>
              </p:cNvSpPr>
              <p:nvPr/>
            </p:nvSpPr>
            <p:spPr>
              <a:xfrm>
                <a:off x="508409" y="1051323"/>
                <a:ext cx="8046629" cy="2949077"/>
              </a:xfrm>
              <a:prstGeom prst="rect">
                <a:avLst/>
              </a:prstGeom>
              <a:blipFill>
                <a:blip r:embed="rId3"/>
                <a:stretch>
                  <a:fillRect l="-758" t="-1033" b="-22727"/>
                </a:stretch>
              </a:blipFill>
            </p:spPr>
            <p:txBody>
              <a:bodyPr/>
              <a:lstStyle/>
              <a:p>
                <a:r>
                  <a:rPr lang="en-GB">
                    <a:noFill/>
                  </a:rPr>
                  <a:t> </a:t>
                </a:r>
              </a:p>
            </p:txBody>
          </p:sp>
        </mc:Fallback>
      </mc:AlternateContent>
      <p:pic>
        <p:nvPicPr>
          <p:cNvPr id="9" name="Picture 8">
            <a:extLst>
              <a:ext uri="{FF2B5EF4-FFF2-40B4-BE49-F238E27FC236}">
                <a16:creationId xmlns:a16="http://schemas.microsoft.com/office/drawing/2014/main" id="{14DB9972-8273-088E-EA60-12D6F561DE54}"/>
              </a:ext>
            </a:extLst>
          </p:cNvPr>
          <p:cNvPicPr>
            <a:picLocks noChangeAspect="1"/>
          </p:cNvPicPr>
          <p:nvPr/>
        </p:nvPicPr>
        <p:blipFill>
          <a:blip r:embed="rId4"/>
          <a:stretch>
            <a:fillRect/>
          </a:stretch>
        </p:blipFill>
        <p:spPr>
          <a:xfrm>
            <a:off x="679060" y="4138368"/>
            <a:ext cx="7986187" cy="2208162"/>
          </a:xfrm>
          <a:prstGeom prst="rect">
            <a:avLst/>
          </a:prstGeom>
        </p:spPr>
      </p:pic>
    </p:spTree>
    <p:extLst>
      <p:ext uri="{BB962C8B-B14F-4D97-AF65-F5344CB8AC3E}">
        <p14:creationId xmlns:p14="http://schemas.microsoft.com/office/powerpoint/2010/main" val="4547179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51261-1B61-EEEB-06A1-6E317440CB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0FE89B-0FD8-F779-97AE-267DC5C93BA1}"/>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89503767-2EA1-78B5-B1AD-9FEABE67CFDE}"/>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4907575A-20EB-240C-CF30-A8A47E11CF61}"/>
              </a:ext>
            </a:extLst>
          </p:cNvPr>
          <p:cNvSpPr>
            <a:spLocks noGrp="1"/>
          </p:cNvSpPr>
          <p:nvPr>
            <p:ph type="sldNum" sz="quarter" idx="12"/>
          </p:nvPr>
        </p:nvSpPr>
        <p:spPr/>
        <p:txBody>
          <a:bodyPr/>
          <a:lstStyle/>
          <a:p>
            <a:fld id="{091A926C-488A-4E3E-9C21-57CAA120E114}" type="slidenum">
              <a:rPr lang="en-US" smtClean="0"/>
              <a:t>52</a:t>
            </a:fld>
            <a:endParaRPr lang="en-US" dirty="0"/>
          </a:p>
        </p:txBody>
      </p:sp>
      <p:sp>
        <p:nvSpPr>
          <p:cNvPr id="6" name="TextBox 5">
            <a:extLst>
              <a:ext uri="{FF2B5EF4-FFF2-40B4-BE49-F238E27FC236}">
                <a16:creationId xmlns:a16="http://schemas.microsoft.com/office/drawing/2014/main" id="{6E68CDCD-DC39-3CBC-328D-212782F6882F}"/>
              </a:ext>
            </a:extLst>
          </p:cNvPr>
          <p:cNvSpPr txBox="1"/>
          <p:nvPr/>
        </p:nvSpPr>
        <p:spPr>
          <a:xfrm>
            <a:off x="508409" y="1051323"/>
            <a:ext cx="8046629" cy="400110"/>
          </a:xfrm>
          <a:prstGeom prst="rect">
            <a:avLst/>
          </a:prstGeom>
          <a:noFill/>
        </p:spPr>
        <p:txBody>
          <a:bodyPr wrap="square" rtlCol="0">
            <a:spAutoFit/>
          </a:bodyPr>
          <a:lstStyle/>
          <a:p>
            <a:r>
              <a:rPr lang="en-US" sz="2000" b="1" dirty="0"/>
              <a:t>Waste treatment</a:t>
            </a:r>
            <a:endParaRPr lang="en-US" sz="2000" b="1" noProof="0" dirty="0"/>
          </a:p>
        </p:txBody>
      </p:sp>
      <p:pic>
        <p:nvPicPr>
          <p:cNvPr id="7" name="Picture 6">
            <a:extLst>
              <a:ext uri="{FF2B5EF4-FFF2-40B4-BE49-F238E27FC236}">
                <a16:creationId xmlns:a16="http://schemas.microsoft.com/office/drawing/2014/main" id="{92997F5F-6E51-A899-C3D9-E55B05FF75D4}"/>
              </a:ext>
            </a:extLst>
          </p:cNvPr>
          <p:cNvPicPr>
            <a:picLocks noChangeAspect="1"/>
          </p:cNvPicPr>
          <p:nvPr/>
        </p:nvPicPr>
        <p:blipFill>
          <a:blip r:embed="rId3"/>
          <a:stretch>
            <a:fillRect/>
          </a:stretch>
        </p:blipFill>
        <p:spPr>
          <a:xfrm>
            <a:off x="1143219" y="1624622"/>
            <a:ext cx="6129503" cy="4245686"/>
          </a:xfrm>
          <a:prstGeom prst="rect">
            <a:avLst/>
          </a:prstGeom>
        </p:spPr>
      </p:pic>
      <p:pic>
        <p:nvPicPr>
          <p:cNvPr id="10" name="Picture 9">
            <a:extLst>
              <a:ext uri="{FF2B5EF4-FFF2-40B4-BE49-F238E27FC236}">
                <a16:creationId xmlns:a16="http://schemas.microsoft.com/office/drawing/2014/main" id="{B0EC88A9-5FC4-E110-3F5A-74618FB09D93}"/>
              </a:ext>
            </a:extLst>
          </p:cNvPr>
          <p:cNvPicPr>
            <a:picLocks noChangeAspect="1"/>
          </p:cNvPicPr>
          <p:nvPr/>
        </p:nvPicPr>
        <p:blipFill>
          <a:blip r:embed="rId4"/>
          <a:stretch>
            <a:fillRect/>
          </a:stretch>
        </p:blipFill>
        <p:spPr>
          <a:xfrm>
            <a:off x="3541822" y="5800687"/>
            <a:ext cx="2324301" cy="876376"/>
          </a:xfrm>
          <a:prstGeom prst="rect">
            <a:avLst/>
          </a:prstGeom>
        </p:spPr>
      </p:pic>
    </p:spTree>
    <p:extLst>
      <p:ext uri="{BB962C8B-B14F-4D97-AF65-F5344CB8AC3E}">
        <p14:creationId xmlns:p14="http://schemas.microsoft.com/office/powerpoint/2010/main" val="18440615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EC7CD-E581-7604-3788-2301D98DA6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7C9F6F-AC57-01ED-8CCD-82614C408FDA}"/>
              </a:ext>
            </a:extLst>
          </p:cNvPr>
          <p:cNvSpPr>
            <a:spLocks noGrp="1"/>
          </p:cNvSpPr>
          <p:nvPr>
            <p:ph type="title"/>
          </p:nvPr>
        </p:nvSpPr>
        <p:spPr/>
        <p:txBody>
          <a:bodyPr/>
          <a:lstStyle/>
          <a:p>
            <a:r>
              <a:rPr lang="en-US" dirty="0"/>
              <a:t>Numerical model</a:t>
            </a:r>
          </a:p>
        </p:txBody>
      </p:sp>
      <p:sp>
        <p:nvSpPr>
          <p:cNvPr id="2" name="Date Placeholder 1">
            <a:extLst>
              <a:ext uri="{FF2B5EF4-FFF2-40B4-BE49-F238E27FC236}">
                <a16:creationId xmlns:a16="http://schemas.microsoft.com/office/drawing/2014/main" id="{6CF2454D-B82D-55F8-F276-DCD902F225D9}"/>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D0A3E675-F10D-31BE-7152-21152D216717}"/>
              </a:ext>
            </a:extLst>
          </p:cNvPr>
          <p:cNvSpPr>
            <a:spLocks noGrp="1"/>
          </p:cNvSpPr>
          <p:nvPr>
            <p:ph type="sldNum" sz="quarter" idx="12"/>
          </p:nvPr>
        </p:nvSpPr>
        <p:spPr/>
        <p:txBody>
          <a:bodyPr/>
          <a:lstStyle/>
          <a:p>
            <a:fld id="{091A926C-488A-4E3E-9C21-57CAA120E114}" type="slidenum">
              <a:rPr lang="en-US" smtClean="0"/>
              <a:t>53</a:t>
            </a:fld>
            <a:endParaRPr lang="en-US" dirty="0"/>
          </a:p>
        </p:txBody>
      </p:sp>
      <p:sp>
        <p:nvSpPr>
          <p:cNvPr id="6" name="TextBox 5">
            <a:extLst>
              <a:ext uri="{FF2B5EF4-FFF2-40B4-BE49-F238E27FC236}">
                <a16:creationId xmlns:a16="http://schemas.microsoft.com/office/drawing/2014/main" id="{B77A4384-6ACE-8290-C3D9-F6C0167E40FE}"/>
              </a:ext>
            </a:extLst>
          </p:cNvPr>
          <p:cNvSpPr txBox="1"/>
          <p:nvPr/>
        </p:nvSpPr>
        <p:spPr>
          <a:xfrm>
            <a:off x="508409" y="1051323"/>
            <a:ext cx="8046629" cy="5909310"/>
          </a:xfrm>
          <a:prstGeom prst="rect">
            <a:avLst/>
          </a:prstGeom>
          <a:noFill/>
        </p:spPr>
        <p:txBody>
          <a:bodyPr wrap="square" rtlCol="0">
            <a:spAutoFit/>
          </a:bodyPr>
          <a:lstStyle/>
          <a:p>
            <a:r>
              <a:rPr lang="en-US" sz="2000" b="1" noProof="0" dirty="0"/>
              <a:t>Current calibration</a:t>
            </a:r>
          </a:p>
          <a:p>
            <a:endParaRPr lang="en-US" sz="2000" b="1" dirty="0"/>
          </a:p>
          <a:p>
            <a:pPr marL="342900" indent="-342900">
              <a:buFont typeface="Arial" panose="020B0604020202020204" pitchFamily="34" charset="0"/>
              <a:buChar char="•"/>
            </a:pPr>
            <a:r>
              <a:rPr lang="en-US" dirty="0"/>
              <a:t>We consider the Danish economy from 2020 (base year) and forward. </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The Danish economy has excellent material flow account data, that we can exploit, but our model could, in principle, be calibrated to any economy.</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 have 11 production sectors:</a:t>
            </a:r>
          </a:p>
          <a:p>
            <a:pPr lvl="1"/>
            <a:endParaRPr lang="en-US" dirty="0"/>
          </a:p>
          <a:p>
            <a:pPr marL="800100" lvl="1" indent="-342900">
              <a:buFont typeface="+mj-lt"/>
              <a:buAutoNum type="arabicPeriod"/>
            </a:pPr>
            <a:r>
              <a:rPr lang="en-US" dirty="0"/>
              <a:t>Four resource-intensive manufacturing sectors (metals, paper, rubber and plastics, and textiles).</a:t>
            </a:r>
          </a:p>
          <a:p>
            <a:pPr marL="800100" lvl="1" indent="-342900">
              <a:buFont typeface="+mj-lt"/>
              <a:buAutoNum type="arabicPeriod"/>
            </a:pPr>
            <a:endParaRPr lang="en-US" sz="1000" dirty="0"/>
          </a:p>
          <a:p>
            <a:pPr marL="800100" lvl="1" indent="-342900">
              <a:buFont typeface="+mj-lt"/>
              <a:buAutoNum type="arabicPeriod"/>
            </a:pPr>
            <a:r>
              <a:rPr lang="en-US" dirty="0"/>
              <a:t>Other manufacturing [relatively low resource use]</a:t>
            </a:r>
          </a:p>
          <a:p>
            <a:pPr marL="800100" lvl="1" indent="-342900">
              <a:buFont typeface="+mj-lt"/>
              <a:buAutoNum type="arabicPeriod"/>
            </a:pPr>
            <a:endParaRPr lang="en-US" sz="1000" dirty="0"/>
          </a:p>
          <a:p>
            <a:pPr marL="800100" lvl="1" indent="-342900">
              <a:buFont typeface="+mj-lt"/>
              <a:buAutoNum type="arabicPeriod"/>
            </a:pPr>
            <a:r>
              <a:rPr lang="en-US" dirty="0"/>
              <a:t>Three other production sectors [high waste production].</a:t>
            </a:r>
          </a:p>
          <a:p>
            <a:pPr marL="800100" lvl="1" indent="-342900">
              <a:buFont typeface="+mj-lt"/>
              <a:buAutoNum type="arabicPeriod"/>
            </a:pPr>
            <a:endParaRPr lang="en-US" sz="1000" dirty="0"/>
          </a:p>
          <a:p>
            <a:pPr marL="800100" lvl="1" indent="-342900">
              <a:buFont typeface="+mj-lt"/>
              <a:buAutoNum type="arabicPeriod"/>
            </a:pPr>
            <a:r>
              <a:rPr lang="en-US" dirty="0"/>
              <a:t>Energy sector.</a:t>
            </a:r>
          </a:p>
          <a:p>
            <a:pPr marL="800100" lvl="1" indent="-342900">
              <a:buFont typeface="+mj-lt"/>
              <a:buAutoNum type="arabicPeriod"/>
            </a:pPr>
            <a:endParaRPr lang="en-US" sz="1000" dirty="0"/>
          </a:p>
          <a:p>
            <a:pPr marL="800100" lvl="1" indent="-342900">
              <a:buFont typeface="+mj-lt"/>
              <a:buAutoNum type="arabicPeriod"/>
            </a:pPr>
            <a:r>
              <a:rPr lang="en-US" dirty="0"/>
              <a:t>The recycling sector.</a:t>
            </a:r>
          </a:p>
          <a:p>
            <a:pPr marL="800100" lvl="1" indent="-342900">
              <a:buFont typeface="+mj-lt"/>
              <a:buAutoNum type="arabicPeriod"/>
            </a:pPr>
            <a:endParaRPr lang="en-US" sz="1000" dirty="0"/>
          </a:p>
          <a:p>
            <a:pPr marL="800100" lvl="1" indent="-342900">
              <a:buFont typeface="+mj-lt"/>
              <a:buAutoNum type="arabicPeriod"/>
            </a:pPr>
            <a:r>
              <a:rPr lang="en-US" dirty="0"/>
              <a:t>The Government.</a:t>
            </a:r>
          </a:p>
          <a:p>
            <a:pPr marL="800100" lvl="1"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20023650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93596-18C5-174B-6298-E7417A70531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A65390-8297-6ED5-510A-010D8EAFBA71}"/>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7CE6F697-8707-57EE-D32B-3CD9AF50A85B}"/>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7C83AFFF-B572-1ED8-3D34-BC688A7B109A}"/>
              </a:ext>
            </a:extLst>
          </p:cNvPr>
          <p:cNvSpPr>
            <a:spLocks noGrp="1"/>
          </p:cNvSpPr>
          <p:nvPr>
            <p:ph type="sldNum" sz="quarter" idx="12"/>
          </p:nvPr>
        </p:nvSpPr>
        <p:spPr/>
        <p:txBody>
          <a:bodyPr/>
          <a:lstStyle/>
          <a:p>
            <a:fld id="{091A926C-488A-4E3E-9C21-57CAA120E114}" type="slidenum">
              <a:rPr lang="en-US" smtClean="0"/>
              <a:t>54</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27A2A21-1599-794E-9AC4-52E5A97B4267}"/>
                  </a:ext>
                </a:extLst>
              </p:cNvPr>
              <p:cNvSpPr txBox="1"/>
              <p:nvPr/>
            </p:nvSpPr>
            <p:spPr>
              <a:xfrm>
                <a:off x="508409" y="1051323"/>
                <a:ext cx="8046629" cy="4175310"/>
              </a:xfrm>
              <a:prstGeom prst="rect">
                <a:avLst/>
              </a:prstGeom>
              <a:noFill/>
            </p:spPr>
            <p:txBody>
              <a:bodyPr wrap="square" rtlCol="0">
                <a:spAutoFit/>
              </a:bodyPr>
              <a:lstStyle/>
              <a:p>
                <a:r>
                  <a:rPr lang="en-US" sz="2000" b="1" noProof="0" dirty="0"/>
                  <a:t>Experiment 1: </a:t>
                </a:r>
              </a:p>
              <a:p>
                <a:r>
                  <a:rPr lang="en-US" noProof="0" dirty="0"/>
                  <a:t>An increase in internal recycling efficiency of </a:t>
                </a:r>
                <a:r>
                  <a:rPr lang="en-US" u="sng" noProof="0" dirty="0"/>
                  <a:t>all materials</a:t>
                </a:r>
                <a:r>
                  <a:rPr lang="en-US" noProof="0" dirty="0"/>
                  <a:t>, 10 p.p.</a:t>
                </a:r>
                <a:endParaRPr lang="en-US" sz="2000" noProof="0" dirty="0"/>
              </a:p>
              <a:p>
                <a:endParaRPr lang="en-US" sz="2000" dirty="0"/>
              </a:p>
              <a:p>
                <a:r>
                  <a:rPr lang="en-US" u="sng" dirty="0"/>
                  <a:t>Expected effect</a:t>
                </a:r>
                <a:r>
                  <a:rPr lang="en-US" dirty="0"/>
                  <a:t> takes as given:</a:t>
                </a:r>
              </a:p>
              <a:p>
                <a:pPr marL="342900" indent="-342900">
                  <a:lnSpc>
                    <a:spcPct val="150000"/>
                  </a:lnSpc>
                  <a:buFont typeface="Arial" panose="020B0604020202020204" pitchFamily="34" charset="0"/>
                  <a:buChar char="•"/>
                </a:pPr>
                <a:r>
                  <a:rPr lang="en-US" dirty="0"/>
                  <a:t>Input shares (except virgin/recycled materials).</a:t>
                </a:r>
              </a:p>
              <a:p>
                <a:pPr marL="342900" indent="-342900">
                  <a:lnSpc>
                    <a:spcPct val="150000"/>
                  </a:lnSpc>
                  <a:buFont typeface="Arial" panose="020B0604020202020204" pitchFamily="34" charset="0"/>
                  <a:buChar char="•"/>
                </a:pPr>
                <a:r>
                  <a:rPr lang="en-US" dirty="0"/>
                  <a:t>Scale of output.</a:t>
                </a:r>
              </a:p>
              <a:p>
                <a:pPr marL="342900" indent="-342900">
                  <a:lnSpc>
                    <a:spcPct val="150000"/>
                  </a:lnSpc>
                  <a:buFont typeface="Arial" panose="020B0604020202020204" pitchFamily="34" charset="0"/>
                  <a:buChar char="•"/>
                </a:pPr>
                <a:r>
                  <a:rPr lang="en-US" dirty="0"/>
                  <a:t>Waste generation.</a:t>
                </a:r>
              </a:p>
              <a:p>
                <a:endParaRPr lang="en-US" dirty="0"/>
              </a:p>
              <a:p>
                <a:r>
                  <a:rPr lang="en-US" dirty="0"/>
                  <a:t>Given this, increase in recycled materials:</a:t>
                </a:r>
              </a:p>
              <a:p>
                <a:endParaRPr lang="en-US" dirty="0"/>
              </a:p>
              <a:p>
                <a:pPr/>
                <a14:m>
                  <m:oMathPara xmlns:m="http://schemas.openxmlformats.org/officeDocument/2006/math">
                    <m:oMathParaPr>
                      <m:jc m:val="centerGroup"/>
                    </m:oMathParaPr>
                    <m:oMath xmlns:m="http://schemas.openxmlformats.org/officeDocument/2006/math">
                      <m:r>
                        <m:rPr>
                          <m:sty m:val="p"/>
                        </m:rPr>
                        <a:rPr lang="da-DK" b="0" i="0" noProof="0" smtClean="0">
                          <a:latin typeface="Cambria Math" panose="02040503050406030204" pitchFamily="18" charset="0"/>
                        </a:rPr>
                        <m:t>Δ</m:t>
                      </m:r>
                      <m:sSup>
                        <m:sSupPr>
                          <m:ctrlPr>
                            <a:rPr lang="da-DK" b="0" i="1" noProof="0" smtClean="0">
                              <a:latin typeface="Cambria Math" panose="02040503050406030204" pitchFamily="18" charset="0"/>
                            </a:rPr>
                          </m:ctrlPr>
                        </m:sSupPr>
                        <m:e>
                          <m:r>
                            <m:rPr>
                              <m:sty m:val="p"/>
                            </m:rPr>
                            <a:rPr lang="da-DK" b="0" i="0" noProof="0" smtClean="0">
                              <a:latin typeface="Cambria Math" panose="02040503050406030204" pitchFamily="18" charset="0"/>
                            </a:rPr>
                            <m:t>q</m:t>
                          </m:r>
                        </m:e>
                        <m:sup>
                          <m:r>
                            <m:rPr>
                              <m:sty m:val="p"/>
                            </m:rPr>
                            <a:rPr lang="da-DK" b="0" i="0" noProof="0" smtClean="0">
                              <a:latin typeface="Cambria Math" panose="02040503050406030204" pitchFamily="18" charset="0"/>
                            </a:rPr>
                            <m:t>R</m:t>
                          </m:r>
                        </m:sup>
                      </m:sSup>
                      <m:r>
                        <a:rPr lang="da-DK" b="0" i="0" noProof="0" smtClean="0">
                          <a:latin typeface="Cambria Math" panose="02040503050406030204" pitchFamily="18" charset="0"/>
                        </a:rPr>
                        <m:t>=</m:t>
                      </m:r>
                      <m:r>
                        <m:rPr>
                          <m:sty m:val="p"/>
                        </m:rPr>
                        <a:rPr lang="da-DK" b="0" i="0" noProof="0" smtClean="0">
                          <a:latin typeface="Cambria Math" panose="02040503050406030204" pitchFamily="18" charset="0"/>
                        </a:rPr>
                        <m:t>Δ</m:t>
                      </m:r>
                      <m:r>
                        <a:rPr lang="da-DK" b="0" i="1" noProof="0" smtClean="0">
                          <a:latin typeface="Cambria Math" panose="02040503050406030204" pitchFamily="18" charset="0"/>
                        </a:rPr>
                        <m:t>𝜉</m:t>
                      </m:r>
                      <m:r>
                        <a:rPr lang="da-DK" b="0" i="1" noProof="0" smtClean="0">
                          <a:latin typeface="Cambria Math" panose="02040503050406030204" pitchFamily="18" charset="0"/>
                        </a:rPr>
                        <m:t> </m:t>
                      </m:r>
                      <m:sSup>
                        <m:sSupPr>
                          <m:ctrlPr>
                            <a:rPr lang="da-DK" b="0" i="1" noProof="0" smtClean="0">
                              <a:latin typeface="Cambria Math" panose="02040503050406030204" pitchFamily="18" charset="0"/>
                            </a:rPr>
                          </m:ctrlPr>
                        </m:sSupPr>
                        <m:e>
                          <m:r>
                            <a:rPr lang="da-DK" b="0" i="1" noProof="0" smtClean="0">
                              <a:latin typeface="Cambria Math" panose="02040503050406030204" pitchFamily="18" charset="0"/>
                            </a:rPr>
                            <m:t>𝜇</m:t>
                          </m:r>
                        </m:e>
                        <m:sup>
                          <m:r>
                            <a:rPr lang="da-DK" b="0" i="1" noProof="0" smtClean="0">
                              <a:latin typeface="Cambria Math" panose="02040503050406030204" pitchFamily="18" charset="0"/>
                            </a:rPr>
                            <m:t>𝑊</m:t>
                          </m:r>
                        </m:sup>
                      </m:sSup>
                      <m:r>
                        <a:rPr lang="da-DK" b="0" i="1" noProof="0" smtClean="0">
                          <a:latin typeface="Cambria Math" panose="02040503050406030204" pitchFamily="18" charset="0"/>
                        </a:rPr>
                        <m:t>𝑊</m:t>
                      </m:r>
                    </m:oMath>
                  </m:oMathPara>
                </a14:m>
                <a:endParaRPr lang="en-US" noProof="0" dirty="0"/>
              </a:p>
              <a:p>
                <a:endParaRPr lang="en-US" dirty="0"/>
              </a:p>
              <a:p>
                <a:r>
                  <a:rPr lang="en-US" dirty="0"/>
                  <a:t>“Expected” saving: </a:t>
                </a:r>
                <a14:m>
                  <m:oMath xmlns:m="http://schemas.openxmlformats.org/officeDocument/2006/math">
                    <m:r>
                      <m:rPr>
                        <m:sty m:val="p"/>
                      </m:rPr>
                      <a:rPr lang="da-DK" b="0" i="0" smtClean="0">
                        <a:latin typeface="Cambria Math" panose="02040503050406030204" pitchFamily="18" charset="0"/>
                      </a:rPr>
                      <m:t>Δ</m:t>
                    </m:r>
                    <m:sSup>
                      <m:sSupPr>
                        <m:ctrlPr>
                          <a:rPr lang="da-DK" b="0" i="1" smtClean="0">
                            <a:latin typeface="Cambria Math" panose="02040503050406030204" pitchFamily="18" charset="0"/>
                          </a:rPr>
                        </m:ctrlPr>
                      </m:sSupPr>
                      <m:e>
                        <m:r>
                          <a:rPr lang="da-DK" b="0" i="1" smtClean="0">
                            <a:latin typeface="Cambria Math" panose="02040503050406030204" pitchFamily="18" charset="0"/>
                          </a:rPr>
                          <m:t>𝑞</m:t>
                        </m:r>
                      </m:e>
                      <m:sup>
                        <m:r>
                          <a:rPr lang="da-DK" b="0" i="1" smtClean="0">
                            <a:latin typeface="Cambria Math" panose="02040503050406030204" pitchFamily="18" charset="0"/>
                          </a:rPr>
                          <m:t>𝑉</m:t>
                        </m:r>
                      </m:sup>
                    </m:sSup>
                    <m:r>
                      <a:rPr lang="da-DK" b="0" i="1" smtClean="0">
                        <a:latin typeface="Cambria Math" panose="02040503050406030204" pitchFamily="18" charset="0"/>
                      </a:rPr>
                      <m:t>=−</m:t>
                    </m:r>
                    <m:r>
                      <m:rPr>
                        <m:sty m:val="p"/>
                      </m:rPr>
                      <a:rPr lang="da-DK" b="0" i="0" smtClean="0">
                        <a:latin typeface="Cambria Math" panose="02040503050406030204" pitchFamily="18" charset="0"/>
                      </a:rPr>
                      <m:t>Δ</m:t>
                    </m:r>
                    <m:sSup>
                      <m:sSupPr>
                        <m:ctrlPr>
                          <a:rPr lang="da-DK" b="0" i="1" smtClean="0">
                            <a:latin typeface="Cambria Math" panose="02040503050406030204" pitchFamily="18" charset="0"/>
                          </a:rPr>
                        </m:ctrlPr>
                      </m:sSupPr>
                      <m:e>
                        <m:r>
                          <a:rPr lang="da-DK" b="0" i="1" smtClean="0">
                            <a:latin typeface="Cambria Math" panose="02040503050406030204" pitchFamily="18" charset="0"/>
                          </a:rPr>
                          <m:t>𝑞</m:t>
                        </m:r>
                      </m:e>
                      <m:sup>
                        <m:r>
                          <a:rPr lang="da-DK" b="0" i="1" smtClean="0">
                            <a:latin typeface="Cambria Math" panose="02040503050406030204" pitchFamily="18" charset="0"/>
                          </a:rPr>
                          <m:t>𝑅</m:t>
                        </m:r>
                      </m:sup>
                    </m:sSup>
                  </m:oMath>
                </a14:m>
                <a:r>
                  <a:rPr lang="en-US" dirty="0"/>
                  <a:t>, i.e. recycled materials replace virgin 1-to-1. </a:t>
                </a:r>
              </a:p>
            </p:txBody>
          </p:sp>
        </mc:Choice>
        <mc:Fallback xmlns="">
          <p:sp>
            <p:nvSpPr>
              <p:cNvPr id="6" name="TextBox 5">
                <a:extLst>
                  <a:ext uri="{FF2B5EF4-FFF2-40B4-BE49-F238E27FC236}">
                    <a16:creationId xmlns:a16="http://schemas.microsoft.com/office/drawing/2014/main" id="{227A2A21-1599-794E-9AC4-52E5A97B4267}"/>
                  </a:ext>
                </a:extLst>
              </p:cNvPr>
              <p:cNvSpPr txBox="1">
                <a:spLocks noRot="1" noChangeAspect="1" noMove="1" noResize="1" noEditPoints="1" noAdjustHandles="1" noChangeArrowheads="1" noChangeShapeType="1" noTextEdit="1"/>
              </p:cNvSpPr>
              <p:nvPr/>
            </p:nvSpPr>
            <p:spPr>
              <a:xfrm>
                <a:off x="508409" y="1051323"/>
                <a:ext cx="8046629" cy="4175310"/>
              </a:xfrm>
              <a:prstGeom prst="rect">
                <a:avLst/>
              </a:prstGeom>
              <a:blipFill>
                <a:blip r:embed="rId3"/>
                <a:stretch>
                  <a:fillRect l="-758" t="-730" b="-1460"/>
                </a:stretch>
              </a:blipFill>
            </p:spPr>
            <p:txBody>
              <a:bodyPr/>
              <a:lstStyle/>
              <a:p>
                <a:r>
                  <a:rPr lang="en-GB">
                    <a:noFill/>
                  </a:rPr>
                  <a:t> </a:t>
                </a:r>
              </a:p>
            </p:txBody>
          </p:sp>
        </mc:Fallback>
      </mc:AlternateContent>
    </p:spTree>
    <p:extLst>
      <p:ext uri="{BB962C8B-B14F-4D97-AF65-F5344CB8AC3E}">
        <p14:creationId xmlns:p14="http://schemas.microsoft.com/office/powerpoint/2010/main" val="27612952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A7781-0630-2ABE-ECBE-10D652C317E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DA13884-7A82-BF63-8547-86ABF0640A9B}"/>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BA240851-6973-DE34-85D4-21DD37D8C5A9}"/>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F9849FBC-A7CF-B782-E4F9-F8CFFF78E48F}"/>
              </a:ext>
            </a:extLst>
          </p:cNvPr>
          <p:cNvSpPr>
            <a:spLocks noGrp="1"/>
          </p:cNvSpPr>
          <p:nvPr>
            <p:ph type="sldNum" sz="quarter" idx="12"/>
          </p:nvPr>
        </p:nvSpPr>
        <p:spPr/>
        <p:txBody>
          <a:bodyPr/>
          <a:lstStyle/>
          <a:p>
            <a:fld id="{091A926C-488A-4E3E-9C21-57CAA120E114}" type="slidenum">
              <a:rPr lang="en-US" smtClean="0"/>
              <a:t>55</a:t>
            </a:fld>
            <a:endParaRPr lang="en-US" dirty="0"/>
          </a:p>
        </p:txBody>
      </p:sp>
      <p:sp>
        <p:nvSpPr>
          <p:cNvPr id="6" name="TextBox 5">
            <a:extLst>
              <a:ext uri="{FF2B5EF4-FFF2-40B4-BE49-F238E27FC236}">
                <a16:creationId xmlns:a16="http://schemas.microsoft.com/office/drawing/2014/main" id="{F81592D7-D0DB-5603-5CA3-4D442B95D27B}"/>
              </a:ext>
            </a:extLst>
          </p:cNvPr>
          <p:cNvSpPr txBox="1"/>
          <p:nvPr/>
        </p:nvSpPr>
        <p:spPr>
          <a:xfrm>
            <a:off x="488978" y="1060272"/>
            <a:ext cx="8046629" cy="400110"/>
          </a:xfrm>
          <a:prstGeom prst="rect">
            <a:avLst/>
          </a:prstGeom>
          <a:noFill/>
        </p:spPr>
        <p:txBody>
          <a:bodyPr wrap="square" rtlCol="0">
            <a:spAutoFit/>
          </a:bodyPr>
          <a:lstStyle/>
          <a:p>
            <a:r>
              <a:rPr lang="en-US" sz="2000" b="1" dirty="0"/>
              <a:t>Experiment 1:</a:t>
            </a:r>
            <a:endParaRPr lang="en-US" sz="2000" dirty="0"/>
          </a:p>
        </p:txBody>
      </p:sp>
      <p:pic>
        <p:nvPicPr>
          <p:cNvPr id="5" name="Picture 4">
            <a:extLst>
              <a:ext uri="{FF2B5EF4-FFF2-40B4-BE49-F238E27FC236}">
                <a16:creationId xmlns:a16="http://schemas.microsoft.com/office/drawing/2014/main" id="{547FB411-B3A8-4997-5F77-36D621E6C34A}"/>
              </a:ext>
            </a:extLst>
          </p:cNvPr>
          <p:cNvPicPr>
            <a:picLocks noChangeAspect="1"/>
          </p:cNvPicPr>
          <p:nvPr/>
        </p:nvPicPr>
        <p:blipFill>
          <a:blip r:embed="rId3">
            <a:alphaModFix amt="35000"/>
          </a:blip>
          <a:stretch>
            <a:fillRect/>
          </a:stretch>
        </p:blipFill>
        <p:spPr>
          <a:xfrm>
            <a:off x="3530224" y="1465093"/>
            <a:ext cx="866429" cy="780372"/>
          </a:xfrm>
          <a:prstGeom prst="rect">
            <a:avLst/>
          </a:prstGeom>
        </p:spPr>
      </p:pic>
      <p:pic>
        <p:nvPicPr>
          <p:cNvPr id="7" name="Picture 6">
            <a:extLst>
              <a:ext uri="{FF2B5EF4-FFF2-40B4-BE49-F238E27FC236}">
                <a16:creationId xmlns:a16="http://schemas.microsoft.com/office/drawing/2014/main" id="{13FC8674-8D5A-2A06-87F0-20FCE2349E3C}"/>
              </a:ext>
            </a:extLst>
          </p:cNvPr>
          <p:cNvPicPr>
            <a:picLocks noChangeAspect="1"/>
          </p:cNvPicPr>
          <p:nvPr/>
        </p:nvPicPr>
        <p:blipFill>
          <a:blip r:embed="rId4"/>
          <a:stretch>
            <a:fillRect/>
          </a:stretch>
        </p:blipFill>
        <p:spPr>
          <a:xfrm>
            <a:off x="2152844" y="2080010"/>
            <a:ext cx="1516168" cy="1010778"/>
          </a:xfrm>
          <a:prstGeom prst="rect">
            <a:avLst/>
          </a:prstGeom>
        </p:spPr>
      </p:pic>
      <p:pic>
        <p:nvPicPr>
          <p:cNvPr id="8" name="Picture 7">
            <a:extLst>
              <a:ext uri="{FF2B5EF4-FFF2-40B4-BE49-F238E27FC236}">
                <a16:creationId xmlns:a16="http://schemas.microsoft.com/office/drawing/2014/main" id="{29679D0F-83AF-BE93-DBBF-4946FF208E72}"/>
              </a:ext>
            </a:extLst>
          </p:cNvPr>
          <p:cNvPicPr>
            <a:picLocks noChangeAspect="1"/>
          </p:cNvPicPr>
          <p:nvPr/>
        </p:nvPicPr>
        <p:blipFill>
          <a:blip r:embed="rId5">
            <a:alphaModFix amt="35000"/>
          </a:blip>
          <a:stretch>
            <a:fillRect/>
          </a:stretch>
        </p:blipFill>
        <p:spPr>
          <a:xfrm>
            <a:off x="5056587" y="2902327"/>
            <a:ext cx="1795804" cy="853313"/>
          </a:xfrm>
          <a:prstGeom prst="rect">
            <a:avLst/>
          </a:prstGeom>
        </p:spPr>
      </p:pic>
      <p:sp>
        <p:nvSpPr>
          <p:cNvPr id="9" name="Freeform 12">
            <a:extLst>
              <a:ext uri="{FF2B5EF4-FFF2-40B4-BE49-F238E27FC236}">
                <a16:creationId xmlns:a16="http://schemas.microsoft.com/office/drawing/2014/main" id="{B9F1BFC1-4A1F-DD30-A031-A65D4E06D73A}"/>
              </a:ext>
            </a:extLst>
          </p:cNvPr>
          <p:cNvSpPr/>
          <p:nvPr/>
        </p:nvSpPr>
        <p:spPr>
          <a:xfrm>
            <a:off x="4512293" y="2147771"/>
            <a:ext cx="1382820" cy="51763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chemeClr val="bg1">
                <a:lumMod val="8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b="1" dirty="0"/>
          </a:p>
        </p:txBody>
      </p:sp>
      <p:pic>
        <p:nvPicPr>
          <p:cNvPr id="12" name="Picture 11">
            <a:extLst>
              <a:ext uri="{FF2B5EF4-FFF2-40B4-BE49-F238E27FC236}">
                <a16:creationId xmlns:a16="http://schemas.microsoft.com/office/drawing/2014/main" id="{51021643-E510-C61B-0FF4-03D793D02DBA}"/>
              </a:ext>
            </a:extLst>
          </p:cNvPr>
          <p:cNvPicPr>
            <a:picLocks noChangeAspect="1"/>
          </p:cNvPicPr>
          <p:nvPr/>
        </p:nvPicPr>
        <p:blipFill>
          <a:blip r:embed="rId6">
            <a:alphaModFix amt="35000"/>
          </a:blip>
          <a:stretch>
            <a:fillRect/>
          </a:stretch>
        </p:blipFill>
        <p:spPr>
          <a:xfrm>
            <a:off x="5174689" y="4364392"/>
            <a:ext cx="1330037" cy="773184"/>
          </a:xfrm>
          <a:prstGeom prst="rect">
            <a:avLst/>
          </a:prstGeom>
        </p:spPr>
      </p:pic>
      <p:cxnSp>
        <p:nvCxnSpPr>
          <p:cNvPr id="27" name="Straight Arrow Connector 26">
            <a:extLst>
              <a:ext uri="{FF2B5EF4-FFF2-40B4-BE49-F238E27FC236}">
                <a16:creationId xmlns:a16="http://schemas.microsoft.com/office/drawing/2014/main" id="{0769C3AD-ADBC-6F07-60BA-51B910761CB5}"/>
              </a:ext>
            </a:extLst>
          </p:cNvPr>
          <p:cNvCxnSpPr/>
          <p:nvPr/>
        </p:nvCxnSpPr>
        <p:spPr>
          <a:xfrm flipH="1">
            <a:off x="6668645" y="4719874"/>
            <a:ext cx="690098" cy="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Rounded Rectangle 28">
            <a:extLst>
              <a:ext uri="{FF2B5EF4-FFF2-40B4-BE49-F238E27FC236}">
                <a16:creationId xmlns:a16="http://schemas.microsoft.com/office/drawing/2014/main" id="{ED387416-660A-FD0D-0EDC-10BF014E70A7}"/>
              </a:ext>
            </a:extLst>
          </p:cNvPr>
          <p:cNvSpPr/>
          <p:nvPr/>
        </p:nvSpPr>
        <p:spPr>
          <a:xfrm>
            <a:off x="7531687" y="4496379"/>
            <a:ext cx="1112021" cy="419317"/>
          </a:xfrm>
          <a:prstGeom prst="roundRect">
            <a:avLst/>
          </a:prstGeom>
          <a:solidFill>
            <a:schemeClr val="accent2">
              <a:alpha val="2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Import</a:t>
            </a:r>
          </a:p>
        </p:txBody>
      </p:sp>
      <p:cxnSp>
        <p:nvCxnSpPr>
          <p:cNvPr id="30" name="Straight Arrow Connector 29">
            <a:extLst>
              <a:ext uri="{FF2B5EF4-FFF2-40B4-BE49-F238E27FC236}">
                <a16:creationId xmlns:a16="http://schemas.microsoft.com/office/drawing/2014/main" id="{52C4A012-7AD1-AC3C-E57C-20B05206790E}"/>
              </a:ext>
            </a:extLst>
          </p:cNvPr>
          <p:cNvCxnSpPr>
            <a:cxnSpLocks/>
          </p:cNvCxnSpPr>
          <p:nvPr/>
        </p:nvCxnSpPr>
        <p:spPr>
          <a:xfrm>
            <a:off x="3817662" y="2815654"/>
            <a:ext cx="1140837" cy="375679"/>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Rounded Rectangle 28">
            <a:extLst>
              <a:ext uri="{FF2B5EF4-FFF2-40B4-BE49-F238E27FC236}">
                <a16:creationId xmlns:a16="http://schemas.microsoft.com/office/drawing/2014/main" id="{22E31629-28D1-AF95-4E30-C1B5787B2134}"/>
              </a:ext>
            </a:extLst>
          </p:cNvPr>
          <p:cNvSpPr/>
          <p:nvPr/>
        </p:nvSpPr>
        <p:spPr>
          <a:xfrm>
            <a:off x="7173798" y="1564850"/>
            <a:ext cx="1112021" cy="459267"/>
          </a:xfrm>
          <a:prstGeom prst="roundRect">
            <a:avLst/>
          </a:prstGeom>
          <a:solidFill>
            <a:schemeClr val="accent2">
              <a:alpha val="20000"/>
            </a:schemeClr>
          </a:solidFill>
          <a:ln>
            <a:solidFill>
              <a:schemeClr val="accent2">
                <a:shade val="50000"/>
                <a:alpha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Export</a:t>
            </a:r>
          </a:p>
        </p:txBody>
      </p:sp>
      <p:cxnSp>
        <p:nvCxnSpPr>
          <p:cNvPr id="33" name="Straight Arrow Connector 32">
            <a:extLst>
              <a:ext uri="{FF2B5EF4-FFF2-40B4-BE49-F238E27FC236}">
                <a16:creationId xmlns:a16="http://schemas.microsoft.com/office/drawing/2014/main" id="{29AAD465-E4BA-3A81-7E14-10B123BDF45A}"/>
              </a:ext>
            </a:extLst>
          </p:cNvPr>
          <p:cNvCxnSpPr>
            <a:cxnSpLocks/>
          </p:cNvCxnSpPr>
          <p:nvPr/>
        </p:nvCxnSpPr>
        <p:spPr>
          <a:xfrm flipV="1">
            <a:off x="6560328" y="2080010"/>
            <a:ext cx="613470" cy="669302"/>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7A012C30-4EC7-CB9A-A4E4-BB5B73B5BCFF}"/>
              </a:ext>
            </a:extLst>
          </p:cNvPr>
          <p:cNvPicPr>
            <a:picLocks noChangeAspect="1"/>
          </p:cNvPicPr>
          <p:nvPr/>
        </p:nvPicPr>
        <p:blipFill>
          <a:blip r:embed="rId7"/>
          <a:stretch>
            <a:fillRect/>
          </a:stretch>
        </p:blipFill>
        <p:spPr>
          <a:xfrm>
            <a:off x="3060101" y="5440042"/>
            <a:ext cx="1101498" cy="1147734"/>
          </a:xfrm>
          <a:prstGeom prst="rect">
            <a:avLst/>
          </a:prstGeom>
        </p:spPr>
      </p:pic>
      <p:sp>
        <p:nvSpPr>
          <p:cNvPr id="39" name="Freeform 14">
            <a:extLst>
              <a:ext uri="{FF2B5EF4-FFF2-40B4-BE49-F238E27FC236}">
                <a16:creationId xmlns:a16="http://schemas.microsoft.com/office/drawing/2014/main" id="{CF5D7394-ABB3-7EB8-274F-7A61E99206F4}"/>
              </a:ext>
            </a:extLst>
          </p:cNvPr>
          <p:cNvSpPr/>
          <p:nvPr/>
        </p:nvSpPr>
        <p:spPr>
          <a:xfrm rot="5054862">
            <a:off x="4609207" y="4905507"/>
            <a:ext cx="757875" cy="138980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chemeClr val="bg1">
                <a:lumMod val="8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40" name="Picture 39">
            <a:extLst>
              <a:ext uri="{FF2B5EF4-FFF2-40B4-BE49-F238E27FC236}">
                <a16:creationId xmlns:a16="http://schemas.microsoft.com/office/drawing/2014/main" id="{FCEA9E6C-F39C-3742-5034-13086C2C3872}"/>
              </a:ext>
            </a:extLst>
          </p:cNvPr>
          <p:cNvPicPr>
            <a:picLocks noChangeAspect="1"/>
          </p:cNvPicPr>
          <p:nvPr/>
        </p:nvPicPr>
        <p:blipFill>
          <a:blip r:embed="rId8">
            <a:alphaModFix amt="35000"/>
          </a:blip>
          <a:stretch>
            <a:fillRect/>
          </a:stretch>
        </p:blipFill>
        <p:spPr>
          <a:xfrm>
            <a:off x="3383234" y="3696592"/>
            <a:ext cx="671318" cy="1202629"/>
          </a:xfrm>
          <a:prstGeom prst="rect">
            <a:avLst/>
          </a:prstGeom>
        </p:spPr>
      </p:pic>
      <p:cxnSp>
        <p:nvCxnSpPr>
          <p:cNvPr id="41" name="Straight Arrow Connector 40">
            <a:extLst>
              <a:ext uri="{FF2B5EF4-FFF2-40B4-BE49-F238E27FC236}">
                <a16:creationId xmlns:a16="http://schemas.microsoft.com/office/drawing/2014/main" id="{999B9072-8D3F-BEA5-A168-844D3AF5817F}"/>
              </a:ext>
            </a:extLst>
          </p:cNvPr>
          <p:cNvCxnSpPr/>
          <p:nvPr/>
        </p:nvCxnSpPr>
        <p:spPr>
          <a:xfrm flipH="1" flipV="1">
            <a:off x="4055483" y="4459462"/>
            <a:ext cx="971518" cy="31485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2" name="Picture 41">
            <a:extLst>
              <a:ext uri="{FF2B5EF4-FFF2-40B4-BE49-F238E27FC236}">
                <a16:creationId xmlns:a16="http://schemas.microsoft.com/office/drawing/2014/main" id="{160EA325-5257-32F6-4500-086FBC12DF55}"/>
              </a:ext>
            </a:extLst>
          </p:cNvPr>
          <p:cNvPicPr>
            <a:picLocks noChangeAspect="1"/>
          </p:cNvPicPr>
          <p:nvPr/>
        </p:nvPicPr>
        <p:blipFill>
          <a:blip r:embed="rId9">
            <a:alphaModFix amt="35000"/>
          </a:blip>
          <a:stretch>
            <a:fillRect/>
          </a:stretch>
        </p:blipFill>
        <p:spPr>
          <a:xfrm>
            <a:off x="6000882" y="5495593"/>
            <a:ext cx="1740493" cy="1147729"/>
          </a:xfrm>
          <a:prstGeom prst="rect">
            <a:avLst/>
          </a:prstGeom>
        </p:spPr>
      </p:pic>
      <p:cxnSp>
        <p:nvCxnSpPr>
          <p:cNvPr id="43" name="Straight Arrow Connector 42">
            <a:extLst>
              <a:ext uri="{FF2B5EF4-FFF2-40B4-BE49-F238E27FC236}">
                <a16:creationId xmlns:a16="http://schemas.microsoft.com/office/drawing/2014/main" id="{007AA52D-C680-00B4-BA55-196919989827}"/>
              </a:ext>
            </a:extLst>
          </p:cNvPr>
          <p:cNvCxnSpPr>
            <a:cxnSpLocks/>
          </p:cNvCxnSpPr>
          <p:nvPr/>
        </p:nvCxnSpPr>
        <p:spPr>
          <a:xfrm>
            <a:off x="6060165" y="5153730"/>
            <a:ext cx="213373" cy="546584"/>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70A371FF-1BE1-EFA7-3CF6-5B1F1DA0F19E}"/>
              </a:ext>
            </a:extLst>
          </p:cNvPr>
          <p:cNvCxnSpPr/>
          <p:nvPr/>
        </p:nvCxnSpPr>
        <p:spPr>
          <a:xfrm flipH="1">
            <a:off x="1961906" y="6019660"/>
            <a:ext cx="959026" cy="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8" name="Picture 47">
            <a:extLst>
              <a:ext uri="{FF2B5EF4-FFF2-40B4-BE49-F238E27FC236}">
                <a16:creationId xmlns:a16="http://schemas.microsoft.com/office/drawing/2014/main" id="{40E8C8E6-AD8B-0498-AA1A-C67490921955}"/>
              </a:ext>
            </a:extLst>
          </p:cNvPr>
          <p:cNvPicPr>
            <a:picLocks noChangeAspect="1"/>
          </p:cNvPicPr>
          <p:nvPr/>
        </p:nvPicPr>
        <p:blipFill>
          <a:blip r:embed="rId10"/>
          <a:stretch>
            <a:fillRect/>
          </a:stretch>
        </p:blipFill>
        <p:spPr>
          <a:xfrm>
            <a:off x="931390" y="5927254"/>
            <a:ext cx="1043564" cy="516781"/>
          </a:xfrm>
          <a:prstGeom prst="rect">
            <a:avLst/>
          </a:prstGeom>
        </p:spPr>
      </p:pic>
      <p:pic>
        <p:nvPicPr>
          <p:cNvPr id="49" name="Picture 48">
            <a:extLst>
              <a:ext uri="{FF2B5EF4-FFF2-40B4-BE49-F238E27FC236}">
                <a16:creationId xmlns:a16="http://schemas.microsoft.com/office/drawing/2014/main" id="{EE56EF40-4404-D98B-265E-9272FD792ABB}"/>
              </a:ext>
            </a:extLst>
          </p:cNvPr>
          <p:cNvPicPr>
            <a:picLocks noChangeAspect="1"/>
          </p:cNvPicPr>
          <p:nvPr/>
        </p:nvPicPr>
        <p:blipFill>
          <a:blip r:embed="rId11"/>
          <a:stretch>
            <a:fillRect/>
          </a:stretch>
        </p:blipFill>
        <p:spPr>
          <a:xfrm>
            <a:off x="1155442" y="5440042"/>
            <a:ext cx="744013" cy="570677"/>
          </a:xfrm>
          <a:prstGeom prst="rect">
            <a:avLst/>
          </a:prstGeom>
        </p:spPr>
      </p:pic>
      <p:sp>
        <p:nvSpPr>
          <p:cNvPr id="50" name="Freeform 27">
            <a:extLst>
              <a:ext uri="{FF2B5EF4-FFF2-40B4-BE49-F238E27FC236}">
                <a16:creationId xmlns:a16="http://schemas.microsoft.com/office/drawing/2014/main" id="{E406D888-B915-1445-5AAB-346C14646E44}"/>
              </a:ext>
            </a:extLst>
          </p:cNvPr>
          <p:cNvSpPr/>
          <p:nvPr/>
        </p:nvSpPr>
        <p:spPr>
          <a:xfrm>
            <a:off x="1105561" y="3090787"/>
            <a:ext cx="1047283" cy="2291917"/>
          </a:xfrm>
          <a:custGeom>
            <a:avLst/>
            <a:gdLst>
              <a:gd name="connsiteX0" fmla="*/ 155681 w 2320383"/>
              <a:gd name="connsiteY0" fmla="*/ 2575249 h 2575249"/>
              <a:gd name="connsiteX1" fmla="*/ 18832 w 2320383"/>
              <a:gd name="connsiteY1" fmla="*/ 1878563 h 2575249"/>
              <a:gd name="connsiteX2" fmla="*/ 522685 w 2320383"/>
              <a:gd name="connsiteY2" fmla="*/ 1119674 h 2575249"/>
              <a:gd name="connsiteX3" fmla="*/ 2320383 w 2320383"/>
              <a:gd name="connsiteY3" fmla="*/ 0 h 2575249"/>
            </a:gdLst>
            <a:ahLst/>
            <a:cxnLst>
              <a:cxn ang="0">
                <a:pos x="connsiteX0" y="connsiteY0"/>
              </a:cxn>
              <a:cxn ang="0">
                <a:pos x="connsiteX1" y="connsiteY1"/>
              </a:cxn>
              <a:cxn ang="0">
                <a:pos x="connsiteX2" y="connsiteY2"/>
              </a:cxn>
              <a:cxn ang="0">
                <a:pos x="connsiteX3" y="connsiteY3"/>
              </a:cxn>
            </a:cxnLst>
            <a:rect l="l" t="t" r="r" b="b"/>
            <a:pathLst>
              <a:path w="2320383" h="2575249">
                <a:moveTo>
                  <a:pt x="155681" y="2575249"/>
                </a:moveTo>
                <a:cubicBezTo>
                  <a:pt x="56673" y="2348204"/>
                  <a:pt x="-42335" y="2121159"/>
                  <a:pt x="18832" y="1878563"/>
                </a:cubicBezTo>
                <a:cubicBezTo>
                  <a:pt x="79999" y="1635967"/>
                  <a:pt x="139093" y="1432768"/>
                  <a:pt x="522685" y="1119674"/>
                </a:cubicBezTo>
                <a:cubicBezTo>
                  <a:pt x="906277" y="806580"/>
                  <a:pt x="1613330" y="403290"/>
                  <a:pt x="2320383" y="0"/>
                </a:cubicBezTo>
              </a:path>
            </a:pathLst>
          </a:custGeom>
          <a:noFill/>
          <a:ln w="38100">
            <a:solidFill>
              <a:schemeClr val="bg1">
                <a:lumMod val="8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52" name="Straight Arrow Connector 51">
            <a:extLst>
              <a:ext uri="{FF2B5EF4-FFF2-40B4-BE49-F238E27FC236}">
                <a16:creationId xmlns:a16="http://schemas.microsoft.com/office/drawing/2014/main" id="{1F12EBE4-3148-3CC6-C4A8-22C4D9EA9108}"/>
              </a:ext>
            </a:extLst>
          </p:cNvPr>
          <p:cNvCxnSpPr>
            <a:cxnSpLocks/>
          </p:cNvCxnSpPr>
          <p:nvPr/>
        </p:nvCxnSpPr>
        <p:spPr>
          <a:xfrm>
            <a:off x="5895111" y="3822569"/>
            <a:ext cx="0" cy="452487"/>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AB15909-A734-1190-8F2F-C721A11EA2EA}"/>
              </a:ext>
            </a:extLst>
          </p:cNvPr>
          <p:cNvCxnSpPr>
            <a:cxnSpLocks/>
          </p:cNvCxnSpPr>
          <p:nvPr/>
        </p:nvCxnSpPr>
        <p:spPr>
          <a:xfrm flipH="1" flipV="1">
            <a:off x="3144823" y="3090788"/>
            <a:ext cx="255582" cy="835961"/>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7A8BAEE-5077-86B7-69BB-22472681DCD0}"/>
              </a:ext>
            </a:extLst>
          </p:cNvPr>
          <p:cNvCxnSpPr>
            <a:cxnSpLocks/>
          </p:cNvCxnSpPr>
          <p:nvPr/>
        </p:nvCxnSpPr>
        <p:spPr>
          <a:xfrm>
            <a:off x="2718995" y="3159463"/>
            <a:ext cx="664239" cy="2280579"/>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F066C2D-855F-CA7B-DFE8-6472A44291DC}"/>
              </a:ext>
            </a:extLst>
          </p:cNvPr>
          <p:cNvSpPr txBox="1"/>
          <p:nvPr/>
        </p:nvSpPr>
        <p:spPr>
          <a:xfrm>
            <a:off x="1691287" y="4364392"/>
            <a:ext cx="940285" cy="369332"/>
          </a:xfrm>
          <a:prstGeom prst="rect">
            <a:avLst/>
          </a:prstGeom>
          <a:noFill/>
        </p:spPr>
        <p:txBody>
          <a:bodyPr wrap="square" rtlCol="0">
            <a:spAutoFit/>
          </a:bodyPr>
          <a:lstStyle/>
          <a:p>
            <a:r>
              <a:rPr lang="en-GB" b="1" u="sng" dirty="0"/>
              <a:t>Here</a:t>
            </a:r>
          </a:p>
        </p:txBody>
      </p:sp>
      <p:cxnSp>
        <p:nvCxnSpPr>
          <p:cNvPr id="16" name="Straight Arrow Connector 15">
            <a:extLst>
              <a:ext uri="{FF2B5EF4-FFF2-40B4-BE49-F238E27FC236}">
                <a16:creationId xmlns:a16="http://schemas.microsoft.com/office/drawing/2014/main" id="{905B2DA1-E08B-1844-F0E2-F0176A9C6332}"/>
              </a:ext>
            </a:extLst>
          </p:cNvPr>
          <p:cNvCxnSpPr/>
          <p:nvPr/>
        </p:nvCxnSpPr>
        <p:spPr>
          <a:xfrm flipV="1">
            <a:off x="2321668" y="4275056"/>
            <a:ext cx="599264" cy="2213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29360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848CC-562F-21EE-3EA8-E24097B85ED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6AEC071-9C59-0472-B4DE-A811CDAE0D39}"/>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78BFA6CA-84D1-0FC0-0FF3-0E67F9738E5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DA717AD8-8D93-2F4A-9080-65C842F27FF6}"/>
              </a:ext>
            </a:extLst>
          </p:cNvPr>
          <p:cNvSpPr>
            <a:spLocks noGrp="1"/>
          </p:cNvSpPr>
          <p:nvPr>
            <p:ph type="sldNum" sz="quarter" idx="12"/>
          </p:nvPr>
        </p:nvSpPr>
        <p:spPr/>
        <p:txBody>
          <a:bodyPr/>
          <a:lstStyle/>
          <a:p>
            <a:fld id="{091A926C-488A-4E3E-9C21-57CAA120E114}" type="slidenum">
              <a:rPr lang="en-US" smtClean="0"/>
              <a:t>56</a:t>
            </a:fld>
            <a:endParaRPr lang="en-US" dirty="0"/>
          </a:p>
        </p:txBody>
      </p:sp>
      <p:sp>
        <p:nvSpPr>
          <p:cNvPr id="6" name="TextBox 5">
            <a:extLst>
              <a:ext uri="{FF2B5EF4-FFF2-40B4-BE49-F238E27FC236}">
                <a16:creationId xmlns:a16="http://schemas.microsoft.com/office/drawing/2014/main" id="{C86EEB87-ADC9-0B0E-B0A4-C7C3FCAABDE5}"/>
              </a:ext>
            </a:extLst>
          </p:cNvPr>
          <p:cNvSpPr txBox="1"/>
          <p:nvPr/>
        </p:nvSpPr>
        <p:spPr>
          <a:xfrm>
            <a:off x="508409" y="1051323"/>
            <a:ext cx="8046629" cy="400110"/>
          </a:xfrm>
          <a:prstGeom prst="rect">
            <a:avLst/>
          </a:prstGeom>
          <a:noFill/>
        </p:spPr>
        <p:txBody>
          <a:bodyPr wrap="square" rtlCol="0">
            <a:spAutoFit/>
          </a:bodyPr>
          <a:lstStyle/>
          <a:p>
            <a:r>
              <a:rPr lang="en-US" sz="2000" b="1" noProof="0" dirty="0"/>
              <a:t>Experiment 1:</a:t>
            </a:r>
          </a:p>
        </p:txBody>
      </p:sp>
      <p:pic>
        <p:nvPicPr>
          <p:cNvPr id="8" name="Picture 7" descr="A graph with different colored lines&#10;&#10;AI-generated content may be incorrect.">
            <a:extLst>
              <a:ext uri="{FF2B5EF4-FFF2-40B4-BE49-F238E27FC236}">
                <a16:creationId xmlns:a16="http://schemas.microsoft.com/office/drawing/2014/main" id="{A98A45A1-353D-4430-3825-BCDF8A4303D2}"/>
              </a:ext>
            </a:extLst>
          </p:cNvPr>
          <p:cNvPicPr>
            <a:picLocks noChangeAspect="1"/>
          </p:cNvPicPr>
          <p:nvPr/>
        </p:nvPicPr>
        <p:blipFill>
          <a:blip r:embed="rId3"/>
          <a:stretch>
            <a:fillRect/>
          </a:stretch>
        </p:blipFill>
        <p:spPr>
          <a:xfrm>
            <a:off x="1094874" y="1527151"/>
            <a:ext cx="6737684" cy="4812632"/>
          </a:xfrm>
          <a:prstGeom prst="rect">
            <a:avLst/>
          </a:prstGeom>
        </p:spPr>
      </p:pic>
    </p:spTree>
    <p:extLst>
      <p:ext uri="{BB962C8B-B14F-4D97-AF65-F5344CB8AC3E}">
        <p14:creationId xmlns:p14="http://schemas.microsoft.com/office/powerpoint/2010/main" val="15423695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50EEB-F5EA-DF0E-CB0E-364BB6C4E5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6ED7FA-CC80-016E-2CBE-033CAFC70589}"/>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6FB14FD1-5260-DA2D-4BAD-F1BC6124DE6B}"/>
              </a:ext>
            </a:extLst>
          </p:cNvPr>
          <p:cNvSpPr>
            <a:spLocks noGrp="1"/>
          </p:cNvSpPr>
          <p:nvPr>
            <p:ph type="dt" sz="half" idx="10"/>
          </p:nvPr>
        </p:nvSpPr>
        <p:spPr/>
        <p:txBody>
          <a:bodyPr/>
          <a:lstStyle/>
          <a:p>
            <a:fld id="{D47CA900-C54E-46DA-9750-FC525BA50C3D}" type="datetime1">
              <a:rPr lang="en-US" smtClean="0"/>
              <a:t>6/30/2025</a:t>
            </a:fld>
            <a:endParaRPr lang="en-US" dirty="0"/>
          </a:p>
        </p:txBody>
      </p:sp>
      <p:pic>
        <p:nvPicPr>
          <p:cNvPr id="7" name="Picture 6" descr="A graph of different types of objects&#10;&#10;AI-generated content may be incorrect.">
            <a:extLst>
              <a:ext uri="{FF2B5EF4-FFF2-40B4-BE49-F238E27FC236}">
                <a16:creationId xmlns:a16="http://schemas.microsoft.com/office/drawing/2014/main" id="{213F427E-DB0C-86B1-A219-AD20BC0B9664}"/>
              </a:ext>
            </a:extLst>
          </p:cNvPr>
          <p:cNvPicPr>
            <a:picLocks noChangeAspect="1"/>
          </p:cNvPicPr>
          <p:nvPr/>
        </p:nvPicPr>
        <p:blipFill>
          <a:blip r:embed="rId3"/>
          <a:stretch>
            <a:fillRect/>
          </a:stretch>
        </p:blipFill>
        <p:spPr>
          <a:xfrm>
            <a:off x="1226854" y="1601021"/>
            <a:ext cx="6492996" cy="4637854"/>
          </a:xfrm>
          <a:prstGeom prst="rect">
            <a:avLst/>
          </a:prstGeom>
        </p:spPr>
      </p:pic>
      <p:sp>
        <p:nvSpPr>
          <p:cNvPr id="4" name="Slide Number Placeholder 3">
            <a:extLst>
              <a:ext uri="{FF2B5EF4-FFF2-40B4-BE49-F238E27FC236}">
                <a16:creationId xmlns:a16="http://schemas.microsoft.com/office/drawing/2014/main" id="{5D8722F6-331F-CC4E-E1B2-E548F90BFC3A}"/>
              </a:ext>
            </a:extLst>
          </p:cNvPr>
          <p:cNvSpPr>
            <a:spLocks noGrp="1"/>
          </p:cNvSpPr>
          <p:nvPr>
            <p:ph type="sldNum" sz="quarter" idx="12"/>
          </p:nvPr>
        </p:nvSpPr>
        <p:spPr/>
        <p:txBody>
          <a:bodyPr/>
          <a:lstStyle/>
          <a:p>
            <a:fld id="{091A926C-488A-4E3E-9C21-57CAA120E114}" type="slidenum">
              <a:rPr lang="en-US" smtClean="0"/>
              <a:t>57</a:t>
            </a:fld>
            <a:endParaRPr lang="en-US" dirty="0"/>
          </a:p>
        </p:txBody>
      </p:sp>
      <p:sp>
        <p:nvSpPr>
          <p:cNvPr id="6" name="TextBox 5">
            <a:extLst>
              <a:ext uri="{FF2B5EF4-FFF2-40B4-BE49-F238E27FC236}">
                <a16:creationId xmlns:a16="http://schemas.microsoft.com/office/drawing/2014/main" id="{56C9EC0A-C221-BF1C-1E7A-AE893E917122}"/>
              </a:ext>
            </a:extLst>
          </p:cNvPr>
          <p:cNvSpPr txBox="1"/>
          <p:nvPr/>
        </p:nvSpPr>
        <p:spPr>
          <a:xfrm>
            <a:off x="508409" y="1068326"/>
            <a:ext cx="8046629" cy="400110"/>
          </a:xfrm>
          <a:prstGeom prst="rect">
            <a:avLst/>
          </a:prstGeom>
          <a:noFill/>
        </p:spPr>
        <p:txBody>
          <a:bodyPr wrap="square" rtlCol="0">
            <a:spAutoFit/>
          </a:bodyPr>
          <a:lstStyle/>
          <a:p>
            <a:r>
              <a:rPr lang="en-US" sz="2000" b="1" noProof="0" dirty="0"/>
              <a:t>Experiment 1:</a:t>
            </a:r>
          </a:p>
        </p:txBody>
      </p:sp>
      <p:sp>
        <p:nvSpPr>
          <p:cNvPr id="9" name="TextBox 8">
            <a:extLst>
              <a:ext uri="{FF2B5EF4-FFF2-40B4-BE49-F238E27FC236}">
                <a16:creationId xmlns:a16="http://schemas.microsoft.com/office/drawing/2014/main" id="{1DB04E2E-E34B-6235-96CB-64AB410DE4F3}"/>
              </a:ext>
            </a:extLst>
          </p:cNvPr>
          <p:cNvSpPr txBox="1"/>
          <p:nvPr/>
        </p:nvSpPr>
        <p:spPr>
          <a:xfrm>
            <a:off x="5896120" y="807262"/>
            <a:ext cx="1579052" cy="646331"/>
          </a:xfrm>
          <a:prstGeom prst="rect">
            <a:avLst/>
          </a:prstGeom>
          <a:noFill/>
        </p:spPr>
        <p:txBody>
          <a:bodyPr wrap="square" rtlCol="0">
            <a:spAutoFit/>
          </a:bodyPr>
          <a:lstStyle/>
          <a:p>
            <a:r>
              <a:rPr lang="en-GB" sz="1200" dirty="0"/>
              <a:t>Relative change in virgin, recycled, and total material use. </a:t>
            </a:r>
          </a:p>
        </p:txBody>
      </p:sp>
      <p:cxnSp>
        <p:nvCxnSpPr>
          <p:cNvPr id="8" name="Straight Arrow Connector 7">
            <a:extLst>
              <a:ext uri="{FF2B5EF4-FFF2-40B4-BE49-F238E27FC236}">
                <a16:creationId xmlns:a16="http://schemas.microsoft.com/office/drawing/2014/main" id="{31E81C61-9470-EEFA-D993-A447EA1AFD9E}"/>
              </a:ext>
            </a:extLst>
          </p:cNvPr>
          <p:cNvCxnSpPr>
            <a:cxnSpLocks/>
          </p:cNvCxnSpPr>
          <p:nvPr/>
        </p:nvCxnSpPr>
        <p:spPr>
          <a:xfrm>
            <a:off x="6576918" y="1468436"/>
            <a:ext cx="0" cy="282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31191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7EF1B-9787-BD75-FF64-E114FB32BDB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2DE010E-9A2C-9C92-5824-A55C5EB4D251}"/>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FEAF3A41-FCD7-C0E1-AAAE-E391EBFEE101}"/>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D237AEFD-4FE5-1BED-466C-8776D4E41C16}"/>
              </a:ext>
            </a:extLst>
          </p:cNvPr>
          <p:cNvSpPr>
            <a:spLocks noGrp="1"/>
          </p:cNvSpPr>
          <p:nvPr>
            <p:ph type="sldNum" sz="quarter" idx="12"/>
          </p:nvPr>
        </p:nvSpPr>
        <p:spPr/>
        <p:txBody>
          <a:bodyPr/>
          <a:lstStyle/>
          <a:p>
            <a:fld id="{091A926C-488A-4E3E-9C21-57CAA120E114}" type="slidenum">
              <a:rPr lang="en-US" smtClean="0"/>
              <a:t>58</a:t>
            </a:fld>
            <a:endParaRPr lang="en-US" dirty="0"/>
          </a:p>
        </p:txBody>
      </p:sp>
      <p:sp>
        <p:nvSpPr>
          <p:cNvPr id="6" name="TextBox 5">
            <a:extLst>
              <a:ext uri="{FF2B5EF4-FFF2-40B4-BE49-F238E27FC236}">
                <a16:creationId xmlns:a16="http://schemas.microsoft.com/office/drawing/2014/main" id="{696F6959-0E8A-8853-BAF1-6EB35A80D90C}"/>
              </a:ext>
            </a:extLst>
          </p:cNvPr>
          <p:cNvSpPr txBox="1"/>
          <p:nvPr/>
        </p:nvSpPr>
        <p:spPr>
          <a:xfrm>
            <a:off x="508409" y="1051323"/>
            <a:ext cx="8046629" cy="677108"/>
          </a:xfrm>
          <a:prstGeom prst="rect">
            <a:avLst/>
          </a:prstGeom>
          <a:noFill/>
        </p:spPr>
        <p:txBody>
          <a:bodyPr wrap="square" rtlCol="0">
            <a:spAutoFit/>
          </a:bodyPr>
          <a:lstStyle/>
          <a:p>
            <a:r>
              <a:rPr lang="en-US" sz="2000" b="1" noProof="0" dirty="0"/>
              <a:t>Experiment 1:</a:t>
            </a:r>
            <a:endParaRPr lang="en-US" sz="2000" b="1" dirty="0"/>
          </a:p>
          <a:p>
            <a:r>
              <a:rPr lang="en-US" noProof="0" dirty="0"/>
              <a:t>Circular material use rates (CMUR):</a:t>
            </a:r>
          </a:p>
        </p:txBody>
      </p:sp>
      <p:pic>
        <p:nvPicPr>
          <p:cNvPr id="10" name="Picture 9" descr="A graph of different types of paper&#10;&#10;AI-generated content may be incorrect.">
            <a:extLst>
              <a:ext uri="{FF2B5EF4-FFF2-40B4-BE49-F238E27FC236}">
                <a16:creationId xmlns:a16="http://schemas.microsoft.com/office/drawing/2014/main" id="{44644453-62FF-F6A5-8BE1-8E1568E3AA6F}"/>
              </a:ext>
            </a:extLst>
          </p:cNvPr>
          <p:cNvPicPr>
            <a:picLocks noChangeAspect="1"/>
          </p:cNvPicPr>
          <p:nvPr/>
        </p:nvPicPr>
        <p:blipFill>
          <a:blip r:embed="rId3"/>
          <a:stretch>
            <a:fillRect/>
          </a:stretch>
        </p:blipFill>
        <p:spPr>
          <a:xfrm>
            <a:off x="1122448" y="1840895"/>
            <a:ext cx="6505728" cy="4646949"/>
          </a:xfrm>
          <a:prstGeom prst="rect">
            <a:avLst/>
          </a:prstGeom>
        </p:spPr>
      </p:pic>
    </p:spTree>
    <p:extLst>
      <p:ext uri="{BB962C8B-B14F-4D97-AF65-F5344CB8AC3E}">
        <p14:creationId xmlns:p14="http://schemas.microsoft.com/office/powerpoint/2010/main" val="149343191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9A52F-9702-7EB6-2927-16FACD39260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E210DEC-E88A-C8F7-60E8-B307232E42F2}"/>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B9A08786-9CEE-990E-F2E7-1D6E6B4C876B}"/>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39A6C376-629B-5930-3CB4-61E5EA5EF67A}"/>
              </a:ext>
            </a:extLst>
          </p:cNvPr>
          <p:cNvSpPr>
            <a:spLocks noGrp="1"/>
          </p:cNvSpPr>
          <p:nvPr>
            <p:ph type="sldNum" sz="quarter" idx="12"/>
          </p:nvPr>
        </p:nvSpPr>
        <p:spPr/>
        <p:txBody>
          <a:bodyPr/>
          <a:lstStyle/>
          <a:p>
            <a:fld id="{091A926C-488A-4E3E-9C21-57CAA120E114}" type="slidenum">
              <a:rPr lang="en-US" smtClean="0"/>
              <a:t>59</a:t>
            </a:fld>
            <a:endParaRPr lang="en-US" dirty="0"/>
          </a:p>
        </p:txBody>
      </p:sp>
      <p:sp>
        <p:nvSpPr>
          <p:cNvPr id="6" name="TextBox 5">
            <a:extLst>
              <a:ext uri="{FF2B5EF4-FFF2-40B4-BE49-F238E27FC236}">
                <a16:creationId xmlns:a16="http://schemas.microsoft.com/office/drawing/2014/main" id="{D92609E7-D1F6-6909-CEC3-C50CDF8D116C}"/>
              </a:ext>
            </a:extLst>
          </p:cNvPr>
          <p:cNvSpPr txBox="1"/>
          <p:nvPr/>
        </p:nvSpPr>
        <p:spPr>
          <a:xfrm>
            <a:off x="508409" y="1051323"/>
            <a:ext cx="8046629" cy="2812308"/>
          </a:xfrm>
          <a:prstGeom prst="rect">
            <a:avLst/>
          </a:prstGeom>
          <a:noFill/>
        </p:spPr>
        <p:txBody>
          <a:bodyPr wrap="square" rtlCol="0">
            <a:spAutoFit/>
          </a:bodyPr>
          <a:lstStyle/>
          <a:p>
            <a:r>
              <a:rPr lang="en-US" sz="2000" b="1" noProof="0" dirty="0"/>
              <a:t>Experiment 1: </a:t>
            </a:r>
          </a:p>
          <a:p>
            <a:r>
              <a:rPr lang="en-US" dirty="0"/>
              <a:t>An increase in internal recycling efficiency of </a:t>
            </a:r>
            <a:r>
              <a:rPr lang="en-US" u="sng" dirty="0"/>
              <a:t>all materials</a:t>
            </a:r>
            <a:r>
              <a:rPr lang="en-US" dirty="0"/>
              <a:t>, 10 p.p.</a:t>
            </a:r>
            <a:endParaRPr lang="en-US" sz="2000" dirty="0"/>
          </a:p>
          <a:p>
            <a:endParaRPr lang="en-US" sz="2000" dirty="0"/>
          </a:p>
          <a:p>
            <a:endParaRPr lang="en-US" sz="2000" dirty="0"/>
          </a:p>
          <a:p>
            <a:r>
              <a:rPr lang="en-US" sz="2000" b="1" dirty="0"/>
              <a:t>Result: </a:t>
            </a:r>
          </a:p>
          <a:p>
            <a:pPr marL="342900" indent="-342900">
              <a:lnSpc>
                <a:spcPct val="150000"/>
              </a:lnSpc>
              <a:buFont typeface="Arial" panose="020B0604020202020204" pitchFamily="34" charset="0"/>
              <a:buChar char="•"/>
            </a:pPr>
            <a:r>
              <a:rPr lang="en-US" dirty="0"/>
              <a:t>More recycled materials (also relative to virgin).</a:t>
            </a:r>
          </a:p>
          <a:p>
            <a:pPr marL="342900" indent="-342900">
              <a:lnSpc>
                <a:spcPct val="150000"/>
              </a:lnSpc>
              <a:buFont typeface="Arial" panose="020B0604020202020204" pitchFamily="34" charset="0"/>
              <a:buChar char="•"/>
            </a:pPr>
            <a:r>
              <a:rPr lang="en-US" dirty="0"/>
              <a:t>CMUR indicates progress (albeit marginal for most materials). </a:t>
            </a:r>
          </a:p>
          <a:p>
            <a:pPr marL="342900" indent="-342900">
              <a:lnSpc>
                <a:spcPct val="150000"/>
              </a:lnSpc>
              <a:buFont typeface="Arial" panose="020B0604020202020204" pitchFamily="34" charset="0"/>
              <a:buChar char="•"/>
            </a:pPr>
            <a:r>
              <a:rPr lang="en-US" u="sng" dirty="0"/>
              <a:t>But:</a:t>
            </a:r>
            <a:r>
              <a:rPr lang="en-US" dirty="0"/>
              <a:t> Rebound effect backfires throughout. </a:t>
            </a:r>
          </a:p>
        </p:txBody>
      </p:sp>
    </p:spTree>
    <p:extLst>
      <p:ext uri="{BB962C8B-B14F-4D97-AF65-F5344CB8AC3E}">
        <p14:creationId xmlns:p14="http://schemas.microsoft.com/office/powerpoint/2010/main" val="34617506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D198C-9A07-D7D2-2928-F5E5A0D3C70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50A7599-5C65-8DDD-B130-B13C2C2B856B}"/>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CAFD3258-689E-586B-6EE8-51C40220CEF7}"/>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1286882D-3FA8-608A-2E0E-1266FEF8A02A}"/>
              </a:ext>
            </a:extLst>
          </p:cNvPr>
          <p:cNvSpPr>
            <a:spLocks noGrp="1"/>
          </p:cNvSpPr>
          <p:nvPr>
            <p:ph type="sldNum" sz="quarter" idx="12"/>
          </p:nvPr>
        </p:nvSpPr>
        <p:spPr/>
        <p:txBody>
          <a:bodyPr/>
          <a:lstStyle/>
          <a:p>
            <a:fld id="{091A926C-488A-4E3E-9C21-57CAA120E114}" type="slidenum">
              <a:rPr lang="en-US" smtClean="0"/>
              <a:t>60</a:t>
            </a:fld>
            <a:endParaRPr lang="en-US" dirty="0"/>
          </a:p>
        </p:txBody>
      </p:sp>
      <p:sp>
        <p:nvSpPr>
          <p:cNvPr id="6" name="TextBox 5">
            <a:extLst>
              <a:ext uri="{FF2B5EF4-FFF2-40B4-BE49-F238E27FC236}">
                <a16:creationId xmlns:a16="http://schemas.microsoft.com/office/drawing/2014/main" id="{BA3460D8-6157-6C4A-AC17-6BA5241BA374}"/>
              </a:ext>
            </a:extLst>
          </p:cNvPr>
          <p:cNvSpPr txBox="1"/>
          <p:nvPr/>
        </p:nvSpPr>
        <p:spPr>
          <a:xfrm>
            <a:off x="508409" y="1051323"/>
            <a:ext cx="8046629" cy="677108"/>
          </a:xfrm>
          <a:prstGeom prst="rect">
            <a:avLst/>
          </a:prstGeom>
          <a:noFill/>
        </p:spPr>
        <p:txBody>
          <a:bodyPr wrap="square" rtlCol="0">
            <a:spAutoFit/>
          </a:bodyPr>
          <a:lstStyle/>
          <a:p>
            <a:r>
              <a:rPr lang="en-US" sz="2000" b="1" noProof="0" dirty="0"/>
              <a:t>Experiment 2: </a:t>
            </a:r>
          </a:p>
          <a:p>
            <a:r>
              <a:rPr lang="en-US" noProof="0" dirty="0"/>
              <a:t>An increase in internal recycling efficiency of </a:t>
            </a:r>
            <a:r>
              <a:rPr lang="en-US" u="sng" dirty="0"/>
              <a:t>one material only</a:t>
            </a:r>
            <a:r>
              <a:rPr lang="en-US" noProof="0" dirty="0"/>
              <a:t>, 10 p.p.</a:t>
            </a:r>
          </a:p>
        </p:txBody>
      </p:sp>
    </p:spTree>
    <p:extLst>
      <p:ext uri="{BB962C8B-B14F-4D97-AF65-F5344CB8AC3E}">
        <p14:creationId xmlns:p14="http://schemas.microsoft.com/office/powerpoint/2010/main" val="14745310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A496D-B61A-830F-3160-F011CCB2CE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1D4B5A-8BBB-5CA3-C762-245BF0DF8920}"/>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EDFE2F33-075F-C70C-93F8-D4F0E1060653}"/>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70FF1933-138D-B802-DC52-AAFD04B2A09E}"/>
              </a:ext>
            </a:extLst>
          </p:cNvPr>
          <p:cNvSpPr>
            <a:spLocks noGrp="1"/>
          </p:cNvSpPr>
          <p:nvPr>
            <p:ph type="sldNum" sz="quarter" idx="12"/>
          </p:nvPr>
        </p:nvSpPr>
        <p:spPr/>
        <p:txBody>
          <a:bodyPr/>
          <a:lstStyle/>
          <a:p>
            <a:fld id="{091A926C-488A-4E3E-9C21-57CAA120E114}" type="slidenum">
              <a:rPr lang="en-US" smtClean="0"/>
              <a:t>61</a:t>
            </a:fld>
            <a:endParaRPr lang="en-US" dirty="0"/>
          </a:p>
        </p:txBody>
      </p:sp>
      <p:sp>
        <p:nvSpPr>
          <p:cNvPr id="6" name="TextBox 5">
            <a:extLst>
              <a:ext uri="{FF2B5EF4-FFF2-40B4-BE49-F238E27FC236}">
                <a16:creationId xmlns:a16="http://schemas.microsoft.com/office/drawing/2014/main" id="{13487889-2683-2FD6-9E30-FB8EC8526F99}"/>
              </a:ext>
            </a:extLst>
          </p:cNvPr>
          <p:cNvSpPr txBox="1"/>
          <p:nvPr/>
        </p:nvSpPr>
        <p:spPr>
          <a:xfrm>
            <a:off x="508409" y="1051323"/>
            <a:ext cx="8046629" cy="400110"/>
          </a:xfrm>
          <a:prstGeom prst="rect">
            <a:avLst/>
          </a:prstGeom>
          <a:noFill/>
        </p:spPr>
        <p:txBody>
          <a:bodyPr wrap="square" rtlCol="0">
            <a:spAutoFit/>
          </a:bodyPr>
          <a:lstStyle/>
          <a:p>
            <a:r>
              <a:rPr lang="en-US" sz="2000" b="1" noProof="0" dirty="0"/>
              <a:t>Experiment 2: </a:t>
            </a:r>
          </a:p>
        </p:txBody>
      </p:sp>
      <p:pic>
        <p:nvPicPr>
          <p:cNvPr id="8" name="Picture 7" descr="A graph showing the value of a number of people&#10;&#10;AI-generated content may be incorrect.">
            <a:extLst>
              <a:ext uri="{FF2B5EF4-FFF2-40B4-BE49-F238E27FC236}">
                <a16:creationId xmlns:a16="http://schemas.microsoft.com/office/drawing/2014/main" id="{584CF112-083D-F6C7-43EA-AC2E2F61EA39}"/>
              </a:ext>
            </a:extLst>
          </p:cNvPr>
          <p:cNvPicPr>
            <a:picLocks noChangeAspect="1"/>
          </p:cNvPicPr>
          <p:nvPr/>
        </p:nvPicPr>
        <p:blipFill>
          <a:blip r:embed="rId3"/>
          <a:stretch>
            <a:fillRect/>
          </a:stretch>
        </p:blipFill>
        <p:spPr>
          <a:xfrm>
            <a:off x="385012" y="2213810"/>
            <a:ext cx="4142472" cy="2958909"/>
          </a:xfrm>
          <a:prstGeom prst="rect">
            <a:avLst/>
          </a:prstGeom>
        </p:spPr>
      </p:pic>
      <p:pic>
        <p:nvPicPr>
          <p:cNvPr id="10" name="Picture 9" descr="A graph with a line and a green line&#10;&#10;AI-generated content may be incorrect.">
            <a:extLst>
              <a:ext uri="{FF2B5EF4-FFF2-40B4-BE49-F238E27FC236}">
                <a16:creationId xmlns:a16="http://schemas.microsoft.com/office/drawing/2014/main" id="{806146C6-8832-CC17-0A2B-E6CAA2944CB6}"/>
              </a:ext>
            </a:extLst>
          </p:cNvPr>
          <p:cNvPicPr>
            <a:picLocks noChangeAspect="1"/>
          </p:cNvPicPr>
          <p:nvPr/>
        </p:nvPicPr>
        <p:blipFill>
          <a:blip r:embed="rId4"/>
          <a:stretch>
            <a:fillRect/>
          </a:stretch>
        </p:blipFill>
        <p:spPr>
          <a:xfrm>
            <a:off x="4473340" y="2213810"/>
            <a:ext cx="4142473" cy="2958909"/>
          </a:xfrm>
          <a:prstGeom prst="rect">
            <a:avLst/>
          </a:prstGeom>
        </p:spPr>
      </p:pic>
      <p:sp>
        <p:nvSpPr>
          <p:cNvPr id="11" name="TextBox 10">
            <a:extLst>
              <a:ext uri="{FF2B5EF4-FFF2-40B4-BE49-F238E27FC236}">
                <a16:creationId xmlns:a16="http://schemas.microsoft.com/office/drawing/2014/main" id="{A5224478-D6F9-C8F8-ED6C-F24978479F9E}"/>
              </a:ext>
            </a:extLst>
          </p:cNvPr>
          <p:cNvSpPr txBox="1"/>
          <p:nvPr/>
        </p:nvSpPr>
        <p:spPr>
          <a:xfrm>
            <a:off x="2002055" y="5275848"/>
            <a:ext cx="1209173" cy="400110"/>
          </a:xfrm>
          <a:prstGeom prst="rect">
            <a:avLst/>
          </a:prstGeom>
          <a:noFill/>
        </p:spPr>
        <p:txBody>
          <a:bodyPr wrap="square" rtlCol="0">
            <a:spAutoFit/>
          </a:bodyPr>
          <a:lstStyle/>
          <a:p>
            <a:r>
              <a:rPr lang="en-GB" sz="2000" dirty="0">
                <a:latin typeface="Palatino Linotype" panose="02040502050505030304" pitchFamily="18" charset="0"/>
              </a:rPr>
              <a:t>(a) Metal</a:t>
            </a:r>
          </a:p>
        </p:txBody>
      </p:sp>
      <p:sp>
        <p:nvSpPr>
          <p:cNvPr id="12" name="TextBox 11">
            <a:extLst>
              <a:ext uri="{FF2B5EF4-FFF2-40B4-BE49-F238E27FC236}">
                <a16:creationId xmlns:a16="http://schemas.microsoft.com/office/drawing/2014/main" id="{3B2BC3B0-161B-278B-DD50-0723350A6B9B}"/>
              </a:ext>
            </a:extLst>
          </p:cNvPr>
          <p:cNvSpPr txBox="1"/>
          <p:nvPr/>
        </p:nvSpPr>
        <p:spPr>
          <a:xfrm>
            <a:off x="5932774" y="5289885"/>
            <a:ext cx="1311809" cy="400110"/>
          </a:xfrm>
          <a:prstGeom prst="rect">
            <a:avLst/>
          </a:prstGeom>
          <a:noFill/>
        </p:spPr>
        <p:txBody>
          <a:bodyPr wrap="square" rtlCol="0">
            <a:spAutoFit/>
          </a:bodyPr>
          <a:lstStyle/>
          <a:p>
            <a:r>
              <a:rPr lang="en-GB" sz="2000" dirty="0">
                <a:latin typeface="Palatino Linotype" panose="02040502050505030304" pitchFamily="18" charset="0"/>
              </a:rPr>
              <a:t>(b) Plastic</a:t>
            </a:r>
          </a:p>
        </p:txBody>
      </p:sp>
    </p:spTree>
    <p:extLst>
      <p:ext uri="{BB962C8B-B14F-4D97-AF65-F5344CB8AC3E}">
        <p14:creationId xmlns:p14="http://schemas.microsoft.com/office/powerpoint/2010/main" val="18786845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501FE-9E20-CB3D-C4C1-B06BAA3ABA6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7503C81-A03D-3925-A230-1389701BD754}"/>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2FA8987D-8B7A-B3D1-7167-39306B723257}"/>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62FF260A-1783-4DA6-ED77-02A030A823B6}"/>
              </a:ext>
            </a:extLst>
          </p:cNvPr>
          <p:cNvSpPr>
            <a:spLocks noGrp="1"/>
          </p:cNvSpPr>
          <p:nvPr>
            <p:ph type="sldNum" sz="quarter" idx="12"/>
          </p:nvPr>
        </p:nvSpPr>
        <p:spPr/>
        <p:txBody>
          <a:bodyPr/>
          <a:lstStyle/>
          <a:p>
            <a:fld id="{091A926C-488A-4E3E-9C21-57CAA120E114}" type="slidenum">
              <a:rPr lang="en-US" smtClean="0"/>
              <a:t>62</a:t>
            </a:fld>
            <a:endParaRPr lang="en-US" dirty="0"/>
          </a:p>
        </p:txBody>
      </p:sp>
      <p:sp>
        <p:nvSpPr>
          <p:cNvPr id="6" name="TextBox 5">
            <a:extLst>
              <a:ext uri="{FF2B5EF4-FFF2-40B4-BE49-F238E27FC236}">
                <a16:creationId xmlns:a16="http://schemas.microsoft.com/office/drawing/2014/main" id="{118F5256-FD6E-CDED-F6D5-D8A9A7041F02}"/>
              </a:ext>
            </a:extLst>
          </p:cNvPr>
          <p:cNvSpPr txBox="1"/>
          <p:nvPr/>
        </p:nvSpPr>
        <p:spPr>
          <a:xfrm>
            <a:off x="508409" y="1051323"/>
            <a:ext cx="8046629" cy="4058803"/>
          </a:xfrm>
          <a:prstGeom prst="rect">
            <a:avLst/>
          </a:prstGeom>
          <a:noFill/>
        </p:spPr>
        <p:txBody>
          <a:bodyPr wrap="square" rtlCol="0">
            <a:spAutoFit/>
          </a:bodyPr>
          <a:lstStyle/>
          <a:p>
            <a:r>
              <a:rPr lang="en-US" sz="2000" b="1" noProof="0" dirty="0"/>
              <a:t>Experiment 2: </a:t>
            </a:r>
          </a:p>
          <a:p>
            <a:r>
              <a:rPr lang="en-US" dirty="0"/>
              <a:t>An increase in internal recycling efficiency of </a:t>
            </a:r>
            <a:r>
              <a:rPr lang="en-US" u="sng" dirty="0"/>
              <a:t>one material only</a:t>
            </a:r>
            <a:r>
              <a:rPr lang="en-US" dirty="0"/>
              <a:t>, 10 p.p.</a:t>
            </a:r>
            <a:endParaRPr lang="en-US" sz="2000" dirty="0"/>
          </a:p>
          <a:p>
            <a:endParaRPr lang="en-US" sz="2000" dirty="0"/>
          </a:p>
          <a:p>
            <a:endParaRPr lang="en-US" sz="2000" dirty="0"/>
          </a:p>
          <a:p>
            <a:r>
              <a:rPr lang="en-US" sz="2000" b="1" dirty="0"/>
              <a:t>Result: </a:t>
            </a:r>
            <a:r>
              <a:rPr lang="en-US" sz="2000" dirty="0"/>
              <a:t>Scale effects are compounding.</a:t>
            </a:r>
            <a:endParaRPr lang="en-US" sz="2000" b="1" dirty="0"/>
          </a:p>
          <a:p>
            <a:pPr marL="342900" indent="-342900">
              <a:lnSpc>
                <a:spcPct val="150000"/>
              </a:lnSpc>
              <a:buFont typeface="Arial" panose="020B0604020202020204" pitchFamily="34" charset="0"/>
              <a:buChar char="•"/>
            </a:pPr>
            <a:r>
              <a:rPr lang="en-US" dirty="0"/>
              <a:t>More recycled metal increases scale of production and demand for </a:t>
            </a:r>
            <a:r>
              <a:rPr lang="en-US" i="1" dirty="0"/>
              <a:t>all </a:t>
            </a:r>
            <a:r>
              <a:rPr lang="en-US" dirty="0"/>
              <a:t>materials.</a:t>
            </a:r>
          </a:p>
          <a:p>
            <a:pPr marL="342900" indent="-342900">
              <a:lnSpc>
                <a:spcPct val="150000"/>
              </a:lnSpc>
              <a:buFont typeface="Arial" panose="020B0604020202020204" pitchFamily="34" charset="0"/>
              <a:buChar char="•"/>
            </a:pPr>
            <a:r>
              <a:rPr lang="en-US" dirty="0"/>
              <a:t>Whereas virgin metal is a </a:t>
            </a:r>
            <a:r>
              <a:rPr lang="en-US" u="sng" dirty="0"/>
              <a:t>substitute</a:t>
            </a:r>
            <a:r>
              <a:rPr lang="en-US" dirty="0"/>
              <a:t> for recycled metal, other materials are generally </a:t>
            </a:r>
            <a:r>
              <a:rPr lang="en-US" u="sng" dirty="0"/>
              <a:t>complementary</a:t>
            </a:r>
            <a:r>
              <a:rPr lang="en-US" dirty="0"/>
              <a:t> inputs (elasticity of subst. &lt;1).</a:t>
            </a:r>
          </a:p>
          <a:p>
            <a:pPr marL="342900" indent="-342900">
              <a:lnSpc>
                <a:spcPct val="150000"/>
              </a:lnSpc>
              <a:buFont typeface="Arial" panose="020B0604020202020204" pitchFamily="34" charset="0"/>
              <a:buChar char="•"/>
            </a:pPr>
            <a:r>
              <a:rPr lang="en-US" dirty="0"/>
              <a:t>Metal drives up scale significantly </a:t>
            </a:r>
            <a:r>
              <a:rPr lang="en-US" dirty="0">
                <a:sym typeface="Wingdings" panose="05000000000000000000" pitchFamily="2" charset="2"/>
              </a:rPr>
              <a:t> demand for plastic inputs increase significantly.  </a:t>
            </a:r>
            <a:endParaRPr lang="en-US" dirty="0"/>
          </a:p>
        </p:txBody>
      </p:sp>
    </p:spTree>
    <p:extLst>
      <p:ext uri="{BB962C8B-B14F-4D97-AF65-F5344CB8AC3E}">
        <p14:creationId xmlns:p14="http://schemas.microsoft.com/office/powerpoint/2010/main" val="15970042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5D979-43DC-F6EA-4472-7649789320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B05C9A-46FA-7A2E-5604-34BA974EF843}"/>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84DA0F16-5B7C-A926-D07B-B5166A67BB99}"/>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B0F8BB47-082E-58CE-6C27-21A557A0FA19}"/>
              </a:ext>
            </a:extLst>
          </p:cNvPr>
          <p:cNvSpPr>
            <a:spLocks noGrp="1"/>
          </p:cNvSpPr>
          <p:nvPr>
            <p:ph type="sldNum" sz="quarter" idx="12"/>
          </p:nvPr>
        </p:nvSpPr>
        <p:spPr/>
        <p:txBody>
          <a:bodyPr/>
          <a:lstStyle/>
          <a:p>
            <a:fld id="{091A926C-488A-4E3E-9C21-57CAA120E114}" type="slidenum">
              <a:rPr lang="en-US" smtClean="0"/>
              <a:t>63</a:t>
            </a:fld>
            <a:endParaRPr lang="en-US" dirty="0"/>
          </a:p>
        </p:txBody>
      </p:sp>
      <p:sp>
        <p:nvSpPr>
          <p:cNvPr id="7" name="TextBox 6">
            <a:extLst>
              <a:ext uri="{FF2B5EF4-FFF2-40B4-BE49-F238E27FC236}">
                <a16:creationId xmlns:a16="http://schemas.microsoft.com/office/drawing/2014/main" id="{05560E3C-4FA6-325F-374B-48DA90723530}"/>
              </a:ext>
            </a:extLst>
          </p:cNvPr>
          <p:cNvSpPr txBox="1"/>
          <p:nvPr/>
        </p:nvSpPr>
        <p:spPr>
          <a:xfrm>
            <a:off x="508409" y="1051323"/>
            <a:ext cx="8046629" cy="677108"/>
          </a:xfrm>
          <a:prstGeom prst="rect">
            <a:avLst/>
          </a:prstGeom>
          <a:noFill/>
        </p:spPr>
        <p:txBody>
          <a:bodyPr wrap="square" rtlCol="0">
            <a:spAutoFit/>
          </a:bodyPr>
          <a:lstStyle/>
          <a:p>
            <a:r>
              <a:rPr lang="en-US" sz="2000" b="1" noProof="0" dirty="0"/>
              <a:t>Experiment 3: </a:t>
            </a:r>
          </a:p>
          <a:p>
            <a:r>
              <a:rPr lang="en-US" noProof="0" dirty="0"/>
              <a:t>More effective recycling in waste treatment plants, metal only.</a:t>
            </a:r>
            <a:endParaRPr lang="en-US" sz="2000" noProof="0" dirty="0"/>
          </a:p>
        </p:txBody>
      </p:sp>
      <p:pic>
        <p:nvPicPr>
          <p:cNvPr id="5" name="Picture 4">
            <a:extLst>
              <a:ext uri="{FF2B5EF4-FFF2-40B4-BE49-F238E27FC236}">
                <a16:creationId xmlns:a16="http://schemas.microsoft.com/office/drawing/2014/main" id="{EAB1170A-8DAA-379D-2C1C-1A9666638461}"/>
              </a:ext>
            </a:extLst>
          </p:cNvPr>
          <p:cNvPicPr>
            <a:picLocks noChangeAspect="1"/>
          </p:cNvPicPr>
          <p:nvPr/>
        </p:nvPicPr>
        <p:blipFill>
          <a:blip r:embed="rId3">
            <a:alphaModFix amt="35000"/>
          </a:blip>
          <a:stretch>
            <a:fillRect/>
          </a:stretch>
        </p:blipFill>
        <p:spPr>
          <a:xfrm>
            <a:off x="3568405" y="1626215"/>
            <a:ext cx="866429" cy="780372"/>
          </a:xfrm>
          <a:prstGeom prst="rect">
            <a:avLst/>
          </a:prstGeom>
        </p:spPr>
      </p:pic>
      <p:pic>
        <p:nvPicPr>
          <p:cNvPr id="6" name="Picture 5">
            <a:extLst>
              <a:ext uri="{FF2B5EF4-FFF2-40B4-BE49-F238E27FC236}">
                <a16:creationId xmlns:a16="http://schemas.microsoft.com/office/drawing/2014/main" id="{6A8CD3D4-074E-4EBD-E0F6-74E91CFF381F}"/>
              </a:ext>
            </a:extLst>
          </p:cNvPr>
          <p:cNvPicPr>
            <a:picLocks noChangeAspect="1"/>
          </p:cNvPicPr>
          <p:nvPr/>
        </p:nvPicPr>
        <p:blipFill>
          <a:blip r:embed="rId4"/>
          <a:stretch>
            <a:fillRect/>
          </a:stretch>
        </p:blipFill>
        <p:spPr>
          <a:xfrm>
            <a:off x="2152844" y="2080010"/>
            <a:ext cx="1516168" cy="1010778"/>
          </a:xfrm>
          <a:prstGeom prst="rect">
            <a:avLst/>
          </a:prstGeom>
        </p:spPr>
      </p:pic>
      <p:pic>
        <p:nvPicPr>
          <p:cNvPr id="8" name="Picture 7">
            <a:extLst>
              <a:ext uri="{FF2B5EF4-FFF2-40B4-BE49-F238E27FC236}">
                <a16:creationId xmlns:a16="http://schemas.microsoft.com/office/drawing/2014/main" id="{8940266B-473A-2DAB-27F1-5FEE6D50E443}"/>
              </a:ext>
            </a:extLst>
          </p:cNvPr>
          <p:cNvPicPr>
            <a:picLocks noChangeAspect="1"/>
          </p:cNvPicPr>
          <p:nvPr/>
        </p:nvPicPr>
        <p:blipFill>
          <a:blip r:embed="rId5">
            <a:alphaModFix amt="35000"/>
          </a:blip>
          <a:stretch>
            <a:fillRect/>
          </a:stretch>
        </p:blipFill>
        <p:spPr>
          <a:xfrm>
            <a:off x="5056587" y="2902327"/>
            <a:ext cx="1795804" cy="853313"/>
          </a:xfrm>
          <a:prstGeom prst="rect">
            <a:avLst/>
          </a:prstGeom>
        </p:spPr>
      </p:pic>
      <p:sp>
        <p:nvSpPr>
          <p:cNvPr id="9" name="Freeform 12">
            <a:extLst>
              <a:ext uri="{FF2B5EF4-FFF2-40B4-BE49-F238E27FC236}">
                <a16:creationId xmlns:a16="http://schemas.microsoft.com/office/drawing/2014/main" id="{CFFF7910-DD6E-1F4A-9D60-D3FAE1396980}"/>
              </a:ext>
            </a:extLst>
          </p:cNvPr>
          <p:cNvSpPr/>
          <p:nvPr/>
        </p:nvSpPr>
        <p:spPr>
          <a:xfrm>
            <a:off x="4512293" y="2147771"/>
            <a:ext cx="1382820" cy="51763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chemeClr val="bg1">
                <a:lumMod val="8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b="1" dirty="0"/>
          </a:p>
        </p:txBody>
      </p:sp>
      <p:pic>
        <p:nvPicPr>
          <p:cNvPr id="10" name="Picture 9">
            <a:extLst>
              <a:ext uri="{FF2B5EF4-FFF2-40B4-BE49-F238E27FC236}">
                <a16:creationId xmlns:a16="http://schemas.microsoft.com/office/drawing/2014/main" id="{3375CE50-747B-5F68-1A64-21989767DADB}"/>
              </a:ext>
            </a:extLst>
          </p:cNvPr>
          <p:cNvPicPr>
            <a:picLocks noChangeAspect="1"/>
          </p:cNvPicPr>
          <p:nvPr/>
        </p:nvPicPr>
        <p:blipFill>
          <a:blip r:embed="rId6">
            <a:alphaModFix amt="35000"/>
          </a:blip>
          <a:stretch>
            <a:fillRect/>
          </a:stretch>
        </p:blipFill>
        <p:spPr>
          <a:xfrm>
            <a:off x="5174689" y="4364392"/>
            <a:ext cx="1330037" cy="773184"/>
          </a:xfrm>
          <a:prstGeom prst="rect">
            <a:avLst/>
          </a:prstGeom>
        </p:spPr>
      </p:pic>
      <p:cxnSp>
        <p:nvCxnSpPr>
          <p:cNvPr id="11" name="Straight Arrow Connector 10">
            <a:extLst>
              <a:ext uri="{FF2B5EF4-FFF2-40B4-BE49-F238E27FC236}">
                <a16:creationId xmlns:a16="http://schemas.microsoft.com/office/drawing/2014/main" id="{F1EB4E22-17D3-F392-95D9-C28533B10183}"/>
              </a:ext>
            </a:extLst>
          </p:cNvPr>
          <p:cNvCxnSpPr/>
          <p:nvPr/>
        </p:nvCxnSpPr>
        <p:spPr>
          <a:xfrm flipH="1">
            <a:off x="6668645" y="4719874"/>
            <a:ext cx="690098" cy="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28">
            <a:extLst>
              <a:ext uri="{FF2B5EF4-FFF2-40B4-BE49-F238E27FC236}">
                <a16:creationId xmlns:a16="http://schemas.microsoft.com/office/drawing/2014/main" id="{7EE17B28-92AB-DC15-853D-3D124DC61172}"/>
              </a:ext>
            </a:extLst>
          </p:cNvPr>
          <p:cNvSpPr/>
          <p:nvPr/>
        </p:nvSpPr>
        <p:spPr>
          <a:xfrm>
            <a:off x="7531687" y="4496379"/>
            <a:ext cx="1112021" cy="419317"/>
          </a:xfrm>
          <a:prstGeom prst="roundRect">
            <a:avLst/>
          </a:prstGeom>
          <a:solidFill>
            <a:schemeClr val="accent2">
              <a:alpha val="20000"/>
            </a:schemeClr>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Import</a:t>
            </a:r>
          </a:p>
        </p:txBody>
      </p:sp>
      <p:cxnSp>
        <p:nvCxnSpPr>
          <p:cNvPr id="13" name="Straight Arrow Connector 12">
            <a:extLst>
              <a:ext uri="{FF2B5EF4-FFF2-40B4-BE49-F238E27FC236}">
                <a16:creationId xmlns:a16="http://schemas.microsoft.com/office/drawing/2014/main" id="{8B069DDB-C1AE-F2C7-3FD5-5AE3A437265B}"/>
              </a:ext>
            </a:extLst>
          </p:cNvPr>
          <p:cNvCxnSpPr>
            <a:cxnSpLocks/>
          </p:cNvCxnSpPr>
          <p:nvPr/>
        </p:nvCxnSpPr>
        <p:spPr>
          <a:xfrm>
            <a:off x="3817662" y="2815654"/>
            <a:ext cx="1140837" cy="375679"/>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28">
            <a:extLst>
              <a:ext uri="{FF2B5EF4-FFF2-40B4-BE49-F238E27FC236}">
                <a16:creationId xmlns:a16="http://schemas.microsoft.com/office/drawing/2014/main" id="{F423A2A0-54AC-B0CF-CF47-44FBD6468A0A}"/>
              </a:ext>
            </a:extLst>
          </p:cNvPr>
          <p:cNvSpPr/>
          <p:nvPr/>
        </p:nvSpPr>
        <p:spPr>
          <a:xfrm>
            <a:off x="7173798" y="1564850"/>
            <a:ext cx="1112021" cy="459267"/>
          </a:xfrm>
          <a:prstGeom prst="roundRect">
            <a:avLst/>
          </a:prstGeom>
          <a:solidFill>
            <a:schemeClr val="accent2">
              <a:alpha val="20000"/>
            </a:schemeClr>
          </a:solidFill>
          <a:ln>
            <a:solidFill>
              <a:schemeClr val="accent2">
                <a:shade val="50000"/>
                <a:alpha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Export</a:t>
            </a:r>
          </a:p>
        </p:txBody>
      </p:sp>
      <p:cxnSp>
        <p:nvCxnSpPr>
          <p:cNvPr id="15" name="Straight Arrow Connector 14">
            <a:extLst>
              <a:ext uri="{FF2B5EF4-FFF2-40B4-BE49-F238E27FC236}">
                <a16:creationId xmlns:a16="http://schemas.microsoft.com/office/drawing/2014/main" id="{9A035464-443A-8D9A-2C4D-5F99345A5124}"/>
              </a:ext>
            </a:extLst>
          </p:cNvPr>
          <p:cNvCxnSpPr>
            <a:cxnSpLocks/>
          </p:cNvCxnSpPr>
          <p:nvPr/>
        </p:nvCxnSpPr>
        <p:spPr>
          <a:xfrm flipV="1">
            <a:off x="6560328" y="2080010"/>
            <a:ext cx="613470" cy="669302"/>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FCA96FB-AAFD-6A25-CEEB-C54699DF3DD0}"/>
              </a:ext>
            </a:extLst>
          </p:cNvPr>
          <p:cNvPicPr>
            <a:picLocks noChangeAspect="1"/>
          </p:cNvPicPr>
          <p:nvPr/>
        </p:nvPicPr>
        <p:blipFill>
          <a:blip r:embed="rId7"/>
          <a:stretch>
            <a:fillRect/>
          </a:stretch>
        </p:blipFill>
        <p:spPr>
          <a:xfrm>
            <a:off x="3060101" y="5440042"/>
            <a:ext cx="1101498" cy="1147734"/>
          </a:xfrm>
          <a:prstGeom prst="rect">
            <a:avLst/>
          </a:prstGeom>
        </p:spPr>
      </p:pic>
      <p:sp>
        <p:nvSpPr>
          <p:cNvPr id="17" name="Freeform 14">
            <a:extLst>
              <a:ext uri="{FF2B5EF4-FFF2-40B4-BE49-F238E27FC236}">
                <a16:creationId xmlns:a16="http://schemas.microsoft.com/office/drawing/2014/main" id="{00F0ADF4-609C-4E05-7E4E-FD06D4866FD0}"/>
              </a:ext>
            </a:extLst>
          </p:cNvPr>
          <p:cNvSpPr/>
          <p:nvPr/>
        </p:nvSpPr>
        <p:spPr>
          <a:xfrm rot="5054862">
            <a:off x="4609207" y="4905507"/>
            <a:ext cx="757875" cy="1389802"/>
          </a:xfrm>
          <a:custGeom>
            <a:avLst/>
            <a:gdLst>
              <a:gd name="connsiteX0" fmla="*/ 0 w 1635967"/>
              <a:gd name="connsiteY0" fmla="*/ 0 h 2730759"/>
              <a:gd name="connsiteX1" fmla="*/ 1331167 w 1635967"/>
              <a:gd name="connsiteY1" fmla="*/ 1138335 h 2730759"/>
              <a:gd name="connsiteX2" fmla="*/ 1635967 w 1635967"/>
              <a:gd name="connsiteY2" fmla="*/ 2730759 h 2730759"/>
            </a:gdLst>
            <a:ahLst/>
            <a:cxnLst>
              <a:cxn ang="0">
                <a:pos x="connsiteX0" y="connsiteY0"/>
              </a:cxn>
              <a:cxn ang="0">
                <a:pos x="connsiteX1" y="connsiteY1"/>
              </a:cxn>
              <a:cxn ang="0">
                <a:pos x="connsiteX2" y="connsiteY2"/>
              </a:cxn>
            </a:cxnLst>
            <a:rect l="l" t="t" r="r" b="b"/>
            <a:pathLst>
              <a:path w="1635967" h="2730759">
                <a:moveTo>
                  <a:pt x="0" y="0"/>
                </a:moveTo>
                <a:cubicBezTo>
                  <a:pt x="529253" y="341604"/>
                  <a:pt x="1058506" y="683209"/>
                  <a:pt x="1331167" y="1138335"/>
                </a:cubicBezTo>
                <a:cubicBezTo>
                  <a:pt x="1603828" y="1593462"/>
                  <a:pt x="1619897" y="2162110"/>
                  <a:pt x="1635967" y="2730759"/>
                </a:cubicBezTo>
              </a:path>
            </a:pathLst>
          </a:custGeom>
          <a:noFill/>
          <a:ln w="3810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18" name="Picture 17">
            <a:extLst>
              <a:ext uri="{FF2B5EF4-FFF2-40B4-BE49-F238E27FC236}">
                <a16:creationId xmlns:a16="http://schemas.microsoft.com/office/drawing/2014/main" id="{269B3E45-5D7F-F4AA-6212-C46DFEBE583E}"/>
              </a:ext>
            </a:extLst>
          </p:cNvPr>
          <p:cNvPicPr>
            <a:picLocks noChangeAspect="1"/>
          </p:cNvPicPr>
          <p:nvPr/>
        </p:nvPicPr>
        <p:blipFill>
          <a:blip r:embed="rId8">
            <a:alphaModFix amt="35000"/>
          </a:blip>
          <a:stretch>
            <a:fillRect/>
          </a:stretch>
        </p:blipFill>
        <p:spPr>
          <a:xfrm>
            <a:off x="3383234" y="3696592"/>
            <a:ext cx="671318" cy="1202629"/>
          </a:xfrm>
          <a:prstGeom prst="rect">
            <a:avLst/>
          </a:prstGeom>
        </p:spPr>
      </p:pic>
      <p:cxnSp>
        <p:nvCxnSpPr>
          <p:cNvPr id="19" name="Straight Arrow Connector 18">
            <a:extLst>
              <a:ext uri="{FF2B5EF4-FFF2-40B4-BE49-F238E27FC236}">
                <a16:creationId xmlns:a16="http://schemas.microsoft.com/office/drawing/2014/main" id="{AAD095B7-AA33-9C46-8BD6-216C43E1A534}"/>
              </a:ext>
            </a:extLst>
          </p:cNvPr>
          <p:cNvCxnSpPr/>
          <p:nvPr/>
        </p:nvCxnSpPr>
        <p:spPr>
          <a:xfrm flipH="1" flipV="1">
            <a:off x="4055483" y="4459462"/>
            <a:ext cx="971518" cy="314850"/>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47EE0D0B-5BC1-E78B-B485-418D42941DE1}"/>
              </a:ext>
            </a:extLst>
          </p:cNvPr>
          <p:cNvPicPr>
            <a:picLocks noChangeAspect="1"/>
          </p:cNvPicPr>
          <p:nvPr/>
        </p:nvPicPr>
        <p:blipFill>
          <a:blip r:embed="rId9">
            <a:alphaModFix amt="35000"/>
          </a:blip>
          <a:stretch>
            <a:fillRect/>
          </a:stretch>
        </p:blipFill>
        <p:spPr>
          <a:xfrm>
            <a:off x="6000882" y="5495593"/>
            <a:ext cx="1740493" cy="1147729"/>
          </a:xfrm>
          <a:prstGeom prst="rect">
            <a:avLst/>
          </a:prstGeom>
        </p:spPr>
      </p:pic>
      <p:cxnSp>
        <p:nvCxnSpPr>
          <p:cNvPr id="21" name="Straight Arrow Connector 20">
            <a:extLst>
              <a:ext uri="{FF2B5EF4-FFF2-40B4-BE49-F238E27FC236}">
                <a16:creationId xmlns:a16="http://schemas.microsoft.com/office/drawing/2014/main" id="{95A2A475-82E3-959E-1E9B-E68A4B01EE3B}"/>
              </a:ext>
            </a:extLst>
          </p:cNvPr>
          <p:cNvCxnSpPr>
            <a:cxnSpLocks/>
          </p:cNvCxnSpPr>
          <p:nvPr/>
        </p:nvCxnSpPr>
        <p:spPr>
          <a:xfrm>
            <a:off x="6060165" y="5153730"/>
            <a:ext cx="213373" cy="546584"/>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14066C4-18E5-9F18-D934-FFC19FD7D8A6}"/>
              </a:ext>
            </a:extLst>
          </p:cNvPr>
          <p:cNvCxnSpPr/>
          <p:nvPr/>
        </p:nvCxnSpPr>
        <p:spPr>
          <a:xfrm flipH="1">
            <a:off x="1974954" y="6019660"/>
            <a:ext cx="959026" cy="0"/>
          </a:xfrm>
          <a:prstGeom prst="straightConnector1">
            <a:avLst/>
          </a:prstGeom>
          <a:ln w="38100">
            <a:solidFill>
              <a:schemeClr val="bg2"/>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F929B411-C973-6ACD-FE62-6CB170042154}"/>
              </a:ext>
            </a:extLst>
          </p:cNvPr>
          <p:cNvPicPr>
            <a:picLocks noChangeAspect="1"/>
          </p:cNvPicPr>
          <p:nvPr/>
        </p:nvPicPr>
        <p:blipFill>
          <a:blip r:embed="rId10"/>
          <a:stretch>
            <a:fillRect/>
          </a:stretch>
        </p:blipFill>
        <p:spPr>
          <a:xfrm>
            <a:off x="931390" y="5927254"/>
            <a:ext cx="1043564" cy="516781"/>
          </a:xfrm>
          <a:prstGeom prst="rect">
            <a:avLst/>
          </a:prstGeom>
        </p:spPr>
      </p:pic>
      <p:pic>
        <p:nvPicPr>
          <p:cNvPr id="24" name="Picture 23">
            <a:extLst>
              <a:ext uri="{FF2B5EF4-FFF2-40B4-BE49-F238E27FC236}">
                <a16:creationId xmlns:a16="http://schemas.microsoft.com/office/drawing/2014/main" id="{329A69BC-C3FA-D16D-466D-C1CC88EB941B}"/>
              </a:ext>
            </a:extLst>
          </p:cNvPr>
          <p:cNvPicPr>
            <a:picLocks noChangeAspect="1"/>
          </p:cNvPicPr>
          <p:nvPr/>
        </p:nvPicPr>
        <p:blipFill>
          <a:blip r:embed="rId11"/>
          <a:stretch>
            <a:fillRect/>
          </a:stretch>
        </p:blipFill>
        <p:spPr>
          <a:xfrm>
            <a:off x="1155442" y="5440042"/>
            <a:ext cx="744013" cy="570677"/>
          </a:xfrm>
          <a:prstGeom prst="rect">
            <a:avLst/>
          </a:prstGeom>
        </p:spPr>
      </p:pic>
      <p:sp>
        <p:nvSpPr>
          <p:cNvPr id="25" name="Freeform 27">
            <a:extLst>
              <a:ext uri="{FF2B5EF4-FFF2-40B4-BE49-F238E27FC236}">
                <a16:creationId xmlns:a16="http://schemas.microsoft.com/office/drawing/2014/main" id="{8A2EBD02-7E2E-4521-156C-B614D6E6CDF5}"/>
              </a:ext>
            </a:extLst>
          </p:cNvPr>
          <p:cNvSpPr/>
          <p:nvPr/>
        </p:nvSpPr>
        <p:spPr>
          <a:xfrm>
            <a:off x="1105561" y="3090787"/>
            <a:ext cx="1047283" cy="2291917"/>
          </a:xfrm>
          <a:custGeom>
            <a:avLst/>
            <a:gdLst>
              <a:gd name="connsiteX0" fmla="*/ 155681 w 2320383"/>
              <a:gd name="connsiteY0" fmla="*/ 2575249 h 2575249"/>
              <a:gd name="connsiteX1" fmla="*/ 18832 w 2320383"/>
              <a:gd name="connsiteY1" fmla="*/ 1878563 h 2575249"/>
              <a:gd name="connsiteX2" fmla="*/ 522685 w 2320383"/>
              <a:gd name="connsiteY2" fmla="*/ 1119674 h 2575249"/>
              <a:gd name="connsiteX3" fmla="*/ 2320383 w 2320383"/>
              <a:gd name="connsiteY3" fmla="*/ 0 h 2575249"/>
            </a:gdLst>
            <a:ahLst/>
            <a:cxnLst>
              <a:cxn ang="0">
                <a:pos x="connsiteX0" y="connsiteY0"/>
              </a:cxn>
              <a:cxn ang="0">
                <a:pos x="connsiteX1" y="connsiteY1"/>
              </a:cxn>
              <a:cxn ang="0">
                <a:pos x="connsiteX2" y="connsiteY2"/>
              </a:cxn>
              <a:cxn ang="0">
                <a:pos x="connsiteX3" y="connsiteY3"/>
              </a:cxn>
            </a:cxnLst>
            <a:rect l="l" t="t" r="r" b="b"/>
            <a:pathLst>
              <a:path w="2320383" h="2575249">
                <a:moveTo>
                  <a:pt x="155681" y="2575249"/>
                </a:moveTo>
                <a:cubicBezTo>
                  <a:pt x="56673" y="2348204"/>
                  <a:pt x="-42335" y="2121159"/>
                  <a:pt x="18832" y="1878563"/>
                </a:cubicBezTo>
                <a:cubicBezTo>
                  <a:pt x="79999" y="1635967"/>
                  <a:pt x="139093" y="1432768"/>
                  <a:pt x="522685" y="1119674"/>
                </a:cubicBezTo>
                <a:cubicBezTo>
                  <a:pt x="906277" y="806580"/>
                  <a:pt x="1613330" y="403290"/>
                  <a:pt x="2320383" y="0"/>
                </a:cubicBezTo>
              </a:path>
            </a:pathLst>
          </a:custGeom>
          <a:noFill/>
          <a:ln w="38100">
            <a:solidFill>
              <a:schemeClr val="bg1">
                <a:lumMod val="8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cxnSp>
        <p:nvCxnSpPr>
          <p:cNvPr id="26" name="Straight Arrow Connector 25">
            <a:extLst>
              <a:ext uri="{FF2B5EF4-FFF2-40B4-BE49-F238E27FC236}">
                <a16:creationId xmlns:a16="http://schemas.microsoft.com/office/drawing/2014/main" id="{E2C658CC-A5A9-5817-19AF-6B23684C8C24}"/>
              </a:ext>
            </a:extLst>
          </p:cNvPr>
          <p:cNvCxnSpPr>
            <a:cxnSpLocks/>
          </p:cNvCxnSpPr>
          <p:nvPr/>
        </p:nvCxnSpPr>
        <p:spPr>
          <a:xfrm>
            <a:off x="5895111" y="3822569"/>
            <a:ext cx="0" cy="452487"/>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C57CAFB-038A-7197-98F7-ADD82FF16A90}"/>
              </a:ext>
            </a:extLst>
          </p:cNvPr>
          <p:cNvCxnSpPr>
            <a:cxnSpLocks/>
          </p:cNvCxnSpPr>
          <p:nvPr/>
        </p:nvCxnSpPr>
        <p:spPr>
          <a:xfrm flipH="1" flipV="1">
            <a:off x="3144823" y="3090788"/>
            <a:ext cx="255582" cy="835961"/>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E5E641A-DD80-F289-95B4-F63A8413E6F0}"/>
              </a:ext>
            </a:extLst>
          </p:cNvPr>
          <p:cNvCxnSpPr>
            <a:cxnSpLocks/>
          </p:cNvCxnSpPr>
          <p:nvPr/>
        </p:nvCxnSpPr>
        <p:spPr>
          <a:xfrm>
            <a:off x="2718995" y="3159463"/>
            <a:ext cx="664239" cy="2280579"/>
          </a:xfrm>
          <a:prstGeom prst="straightConnector1">
            <a:avLst/>
          </a:prstGeom>
          <a:ln w="38100">
            <a:solidFill>
              <a:schemeClr val="bg1">
                <a:lumMod val="8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9749BC2B-5CBB-0BB3-6FF4-5FFAED92D886}"/>
              </a:ext>
            </a:extLst>
          </p:cNvPr>
          <p:cNvSpPr txBox="1"/>
          <p:nvPr/>
        </p:nvSpPr>
        <p:spPr>
          <a:xfrm>
            <a:off x="4041143" y="5155687"/>
            <a:ext cx="940285" cy="369332"/>
          </a:xfrm>
          <a:prstGeom prst="rect">
            <a:avLst/>
          </a:prstGeom>
          <a:noFill/>
        </p:spPr>
        <p:txBody>
          <a:bodyPr wrap="square" rtlCol="0">
            <a:spAutoFit/>
          </a:bodyPr>
          <a:lstStyle/>
          <a:p>
            <a:r>
              <a:rPr lang="en-GB" b="1" u="sng" dirty="0"/>
              <a:t>Here</a:t>
            </a:r>
          </a:p>
        </p:txBody>
      </p:sp>
      <p:cxnSp>
        <p:nvCxnSpPr>
          <p:cNvPr id="30" name="Straight Arrow Connector 29">
            <a:extLst>
              <a:ext uri="{FF2B5EF4-FFF2-40B4-BE49-F238E27FC236}">
                <a16:creationId xmlns:a16="http://schemas.microsoft.com/office/drawing/2014/main" id="{BFF03C36-CF86-48CB-5108-B3E8A5DB8A51}"/>
              </a:ext>
            </a:extLst>
          </p:cNvPr>
          <p:cNvCxnSpPr>
            <a:cxnSpLocks/>
          </p:cNvCxnSpPr>
          <p:nvPr/>
        </p:nvCxnSpPr>
        <p:spPr>
          <a:xfrm>
            <a:off x="4529200" y="5495593"/>
            <a:ext cx="166004" cy="3819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98904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6CF3-25A5-E040-E939-0B7FBA308F6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2D2FB6-0F87-A81E-E2A5-AC9014FBA91A}"/>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2C6EBFF7-396C-84EF-3EF0-8EEF7DA38D53}"/>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798D1E10-2473-DAAE-81B6-C4972FA6C695}"/>
              </a:ext>
            </a:extLst>
          </p:cNvPr>
          <p:cNvSpPr>
            <a:spLocks noGrp="1"/>
          </p:cNvSpPr>
          <p:nvPr>
            <p:ph type="sldNum" sz="quarter" idx="12"/>
          </p:nvPr>
        </p:nvSpPr>
        <p:spPr/>
        <p:txBody>
          <a:bodyPr/>
          <a:lstStyle/>
          <a:p>
            <a:fld id="{091A926C-488A-4E3E-9C21-57CAA120E114}" type="slidenum">
              <a:rPr lang="en-US" smtClean="0"/>
              <a:t>64</a:t>
            </a:fld>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FA2B7F0-B5FC-0675-193E-101F1CFC3403}"/>
                  </a:ext>
                </a:extLst>
              </p:cNvPr>
              <p:cNvSpPr txBox="1"/>
              <p:nvPr/>
            </p:nvSpPr>
            <p:spPr>
              <a:xfrm>
                <a:off x="508409" y="1051323"/>
                <a:ext cx="8046629" cy="3093154"/>
              </a:xfrm>
              <a:prstGeom prst="rect">
                <a:avLst/>
              </a:prstGeom>
              <a:noFill/>
            </p:spPr>
            <p:txBody>
              <a:bodyPr wrap="square" rtlCol="0">
                <a:spAutoFit/>
              </a:bodyPr>
              <a:lstStyle/>
              <a:p>
                <a:r>
                  <a:rPr lang="en-US" sz="2000" b="1" noProof="0" dirty="0"/>
                  <a:t>Experiment 3: </a:t>
                </a:r>
              </a:p>
              <a:p>
                <a:r>
                  <a:rPr lang="en-US" noProof="0" dirty="0"/>
                  <a:t>More </a:t>
                </a:r>
                <a:r>
                  <a:rPr lang="en-US" dirty="0"/>
                  <a:t>effective</a:t>
                </a:r>
                <a:r>
                  <a:rPr lang="en-US" noProof="0" dirty="0"/>
                  <a:t> recycling in waste treatment plants, metal only.</a:t>
                </a:r>
                <a:endParaRPr lang="en-US" sz="2000" noProof="0" dirty="0"/>
              </a:p>
              <a:p>
                <a:endParaRPr lang="en-US" sz="2000" dirty="0"/>
              </a:p>
              <a:p>
                <a:r>
                  <a:rPr lang="en-US" dirty="0"/>
                  <a:t>Mechanical/expected effect takes as given:</a:t>
                </a:r>
              </a:p>
              <a:p>
                <a:pPr marL="342900" indent="-342900">
                  <a:lnSpc>
                    <a:spcPct val="150000"/>
                  </a:lnSpc>
                  <a:buFont typeface="Arial" panose="020B0604020202020204" pitchFamily="34" charset="0"/>
                  <a:buChar char="•"/>
                </a:pPr>
                <a:r>
                  <a:rPr lang="en-US" dirty="0"/>
                  <a:t>Total waste for treatment.</a:t>
                </a:r>
              </a:p>
              <a:p>
                <a:pPr marL="342900" indent="-342900">
                  <a:lnSpc>
                    <a:spcPct val="150000"/>
                  </a:lnSpc>
                  <a:buFont typeface="Arial" panose="020B0604020202020204" pitchFamily="34" charset="0"/>
                  <a:buChar char="•"/>
                </a:pPr>
                <a:r>
                  <a:rPr lang="en-US" dirty="0"/>
                  <a:t>Relative prices (waste incineration vs. recycled outputs).</a:t>
                </a:r>
              </a:p>
              <a:p>
                <a:pPr marL="342900" indent="-342900">
                  <a:lnSpc>
                    <a:spcPct val="150000"/>
                  </a:lnSpc>
                  <a:buFont typeface="Arial" panose="020B0604020202020204" pitchFamily="34" charset="0"/>
                  <a:buChar char="•"/>
                </a:pPr>
                <a:r>
                  <a:rPr lang="en-US" dirty="0"/>
                  <a:t>Scale of all other outputs.</a:t>
                </a:r>
              </a:p>
              <a:p>
                <a:endParaRPr lang="en-US" dirty="0"/>
              </a:p>
              <a:p>
                <a:r>
                  <a:rPr lang="en-US" dirty="0"/>
                  <a:t>“Expected” saving: </a:t>
                </a:r>
                <a14:m>
                  <m:oMath xmlns:m="http://schemas.openxmlformats.org/officeDocument/2006/math">
                    <m:r>
                      <m:rPr>
                        <m:sty m:val="p"/>
                      </m:rPr>
                      <a:rPr lang="da-DK" b="0" i="0" smtClean="0">
                        <a:latin typeface="Cambria Math" panose="02040503050406030204" pitchFamily="18" charset="0"/>
                      </a:rPr>
                      <m:t>Δ</m:t>
                    </m:r>
                    <m:sSup>
                      <m:sSupPr>
                        <m:ctrlPr>
                          <a:rPr lang="da-DK" b="0" i="1" smtClean="0">
                            <a:latin typeface="Cambria Math" panose="02040503050406030204" pitchFamily="18" charset="0"/>
                          </a:rPr>
                        </m:ctrlPr>
                      </m:sSupPr>
                      <m:e>
                        <m:r>
                          <a:rPr lang="da-DK" b="0" i="1" smtClean="0">
                            <a:latin typeface="Cambria Math" panose="02040503050406030204" pitchFamily="18" charset="0"/>
                          </a:rPr>
                          <m:t>𝑞</m:t>
                        </m:r>
                      </m:e>
                      <m:sup>
                        <m:r>
                          <a:rPr lang="da-DK" b="0" i="1" smtClean="0">
                            <a:latin typeface="Cambria Math" panose="02040503050406030204" pitchFamily="18" charset="0"/>
                          </a:rPr>
                          <m:t>𝑉</m:t>
                        </m:r>
                      </m:sup>
                    </m:sSup>
                    <m:r>
                      <a:rPr lang="da-DK" b="0" i="1" smtClean="0">
                        <a:latin typeface="Cambria Math" panose="02040503050406030204" pitchFamily="18" charset="0"/>
                      </a:rPr>
                      <m:t>=−</m:t>
                    </m:r>
                    <m:r>
                      <m:rPr>
                        <m:sty m:val="p"/>
                      </m:rPr>
                      <a:rPr lang="da-DK" b="0" i="0" smtClean="0">
                        <a:latin typeface="Cambria Math" panose="02040503050406030204" pitchFamily="18" charset="0"/>
                      </a:rPr>
                      <m:t>Δ</m:t>
                    </m:r>
                    <m:sSup>
                      <m:sSupPr>
                        <m:ctrlPr>
                          <a:rPr lang="da-DK" b="0" i="1" smtClean="0">
                            <a:latin typeface="Cambria Math" panose="02040503050406030204" pitchFamily="18" charset="0"/>
                          </a:rPr>
                        </m:ctrlPr>
                      </m:sSupPr>
                      <m:e>
                        <m:r>
                          <a:rPr lang="da-DK" b="0" i="1" smtClean="0">
                            <a:latin typeface="Cambria Math" panose="02040503050406030204" pitchFamily="18" charset="0"/>
                          </a:rPr>
                          <m:t>𝑞</m:t>
                        </m:r>
                      </m:e>
                      <m:sup>
                        <m:r>
                          <a:rPr lang="da-DK" b="0" i="1" smtClean="0">
                            <a:latin typeface="Cambria Math" panose="02040503050406030204" pitchFamily="18" charset="0"/>
                          </a:rPr>
                          <m:t>𝑅</m:t>
                        </m:r>
                      </m:sup>
                    </m:sSup>
                  </m:oMath>
                </a14:m>
                <a:r>
                  <a:rPr lang="en-US" dirty="0"/>
                  <a:t>, i.e. recycled materials replace virgin 1-to-1. </a:t>
                </a:r>
              </a:p>
            </p:txBody>
          </p:sp>
        </mc:Choice>
        <mc:Fallback xmlns="">
          <p:sp>
            <p:nvSpPr>
              <p:cNvPr id="7" name="TextBox 6">
                <a:extLst>
                  <a:ext uri="{FF2B5EF4-FFF2-40B4-BE49-F238E27FC236}">
                    <a16:creationId xmlns:a16="http://schemas.microsoft.com/office/drawing/2014/main" id="{BFA2B7F0-B5FC-0675-193E-101F1CFC3403}"/>
                  </a:ext>
                </a:extLst>
              </p:cNvPr>
              <p:cNvSpPr txBox="1">
                <a:spLocks noRot="1" noChangeAspect="1" noMove="1" noResize="1" noEditPoints="1" noAdjustHandles="1" noChangeArrowheads="1" noChangeShapeType="1" noTextEdit="1"/>
              </p:cNvSpPr>
              <p:nvPr/>
            </p:nvSpPr>
            <p:spPr>
              <a:xfrm>
                <a:off x="508409" y="1051323"/>
                <a:ext cx="8046629" cy="3093154"/>
              </a:xfrm>
              <a:prstGeom prst="rect">
                <a:avLst/>
              </a:prstGeom>
              <a:blipFill>
                <a:blip r:embed="rId3"/>
                <a:stretch>
                  <a:fillRect l="-758" t="-984" b="-1378"/>
                </a:stretch>
              </a:blipFill>
            </p:spPr>
            <p:txBody>
              <a:bodyPr/>
              <a:lstStyle/>
              <a:p>
                <a:r>
                  <a:rPr lang="en-GB">
                    <a:noFill/>
                  </a:rPr>
                  <a:t> </a:t>
                </a:r>
              </a:p>
            </p:txBody>
          </p:sp>
        </mc:Fallback>
      </mc:AlternateContent>
    </p:spTree>
    <p:extLst>
      <p:ext uri="{BB962C8B-B14F-4D97-AF65-F5344CB8AC3E}">
        <p14:creationId xmlns:p14="http://schemas.microsoft.com/office/powerpoint/2010/main" val="32044250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4D91A-94D1-04E7-6C13-800B35B1832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7814094-051D-DDE4-4845-E460FE1E3035}"/>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4E4A2358-3E16-AD3B-29BF-AEE7AEC504A1}"/>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6604D245-726B-AB02-97A3-F93B91AD87F3}"/>
              </a:ext>
            </a:extLst>
          </p:cNvPr>
          <p:cNvSpPr>
            <a:spLocks noGrp="1"/>
          </p:cNvSpPr>
          <p:nvPr>
            <p:ph type="sldNum" sz="quarter" idx="12"/>
          </p:nvPr>
        </p:nvSpPr>
        <p:spPr/>
        <p:txBody>
          <a:bodyPr/>
          <a:lstStyle/>
          <a:p>
            <a:fld id="{091A926C-488A-4E3E-9C21-57CAA120E114}" type="slidenum">
              <a:rPr lang="en-US" smtClean="0"/>
              <a:t>65</a:t>
            </a:fld>
            <a:endParaRPr lang="en-US" dirty="0"/>
          </a:p>
        </p:txBody>
      </p:sp>
      <p:sp>
        <p:nvSpPr>
          <p:cNvPr id="7" name="TextBox 6">
            <a:extLst>
              <a:ext uri="{FF2B5EF4-FFF2-40B4-BE49-F238E27FC236}">
                <a16:creationId xmlns:a16="http://schemas.microsoft.com/office/drawing/2014/main" id="{3E676A20-7279-3E9A-123C-46C0A1D8B98F}"/>
              </a:ext>
            </a:extLst>
          </p:cNvPr>
          <p:cNvSpPr txBox="1"/>
          <p:nvPr/>
        </p:nvSpPr>
        <p:spPr>
          <a:xfrm>
            <a:off x="508409" y="1051323"/>
            <a:ext cx="8046629" cy="400110"/>
          </a:xfrm>
          <a:prstGeom prst="rect">
            <a:avLst/>
          </a:prstGeom>
          <a:noFill/>
        </p:spPr>
        <p:txBody>
          <a:bodyPr wrap="square" rtlCol="0">
            <a:spAutoFit/>
          </a:bodyPr>
          <a:lstStyle/>
          <a:p>
            <a:r>
              <a:rPr lang="en-US" sz="2000" b="1" noProof="0" dirty="0"/>
              <a:t>Experiment 3: </a:t>
            </a:r>
          </a:p>
        </p:txBody>
      </p:sp>
      <p:pic>
        <p:nvPicPr>
          <p:cNvPr id="6" name="Picture 5" descr="A graph with a line going up&#10;&#10;AI-generated content may be incorrect.">
            <a:extLst>
              <a:ext uri="{FF2B5EF4-FFF2-40B4-BE49-F238E27FC236}">
                <a16:creationId xmlns:a16="http://schemas.microsoft.com/office/drawing/2014/main" id="{6725726E-C1CE-987E-2A71-1E73DB1C9578}"/>
              </a:ext>
            </a:extLst>
          </p:cNvPr>
          <p:cNvPicPr>
            <a:picLocks noChangeAspect="1"/>
          </p:cNvPicPr>
          <p:nvPr/>
        </p:nvPicPr>
        <p:blipFill>
          <a:blip r:embed="rId3"/>
          <a:stretch>
            <a:fillRect/>
          </a:stretch>
        </p:blipFill>
        <p:spPr>
          <a:xfrm>
            <a:off x="306319" y="2179810"/>
            <a:ext cx="4266834" cy="3047739"/>
          </a:xfrm>
          <a:prstGeom prst="rect">
            <a:avLst/>
          </a:prstGeom>
        </p:spPr>
      </p:pic>
      <p:pic>
        <p:nvPicPr>
          <p:cNvPr id="12" name="Picture 11" descr="A graph with a green line and red line&#10;&#10;AI-generated content may be incorrect.">
            <a:extLst>
              <a:ext uri="{FF2B5EF4-FFF2-40B4-BE49-F238E27FC236}">
                <a16:creationId xmlns:a16="http://schemas.microsoft.com/office/drawing/2014/main" id="{FBA72CD0-A96C-F8F2-D46C-A41C425E5B86}"/>
              </a:ext>
            </a:extLst>
          </p:cNvPr>
          <p:cNvPicPr>
            <a:picLocks noChangeAspect="1"/>
          </p:cNvPicPr>
          <p:nvPr/>
        </p:nvPicPr>
        <p:blipFill>
          <a:blip r:embed="rId4"/>
          <a:stretch>
            <a:fillRect/>
          </a:stretch>
        </p:blipFill>
        <p:spPr>
          <a:xfrm>
            <a:off x="4571207" y="2179810"/>
            <a:ext cx="4266835" cy="3047739"/>
          </a:xfrm>
          <a:prstGeom prst="rect">
            <a:avLst/>
          </a:prstGeom>
        </p:spPr>
      </p:pic>
      <p:sp>
        <p:nvSpPr>
          <p:cNvPr id="13" name="TextBox 12">
            <a:extLst>
              <a:ext uri="{FF2B5EF4-FFF2-40B4-BE49-F238E27FC236}">
                <a16:creationId xmlns:a16="http://schemas.microsoft.com/office/drawing/2014/main" id="{645050FA-3CC0-379D-0833-475EA60355C8}"/>
              </a:ext>
            </a:extLst>
          </p:cNvPr>
          <p:cNvSpPr txBox="1"/>
          <p:nvPr/>
        </p:nvSpPr>
        <p:spPr>
          <a:xfrm>
            <a:off x="1546391" y="5334378"/>
            <a:ext cx="2231525" cy="400110"/>
          </a:xfrm>
          <a:prstGeom prst="rect">
            <a:avLst/>
          </a:prstGeom>
          <a:noFill/>
        </p:spPr>
        <p:txBody>
          <a:bodyPr wrap="square" rtlCol="0">
            <a:spAutoFit/>
          </a:bodyPr>
          <a:lstStyle/>
          <a:p>
            <a:r>
              <a:rPr lang="en-GB" sz="2000" dirty="0">
                <a:latin typeface="Palatino Linotype" panose="02040502050505030304" pitchFamily="18" charset="0"/>
              </a:rPr>
              <a:t>(a) Rebound rate</a:t>
            </a:r>
          </a:p>
        </p:txBody>
      </p:sp>
      <p:sp>
        <p:nvSpPr>
          <p:cNvPr id="14" name="TextBox 13">
            <a:extLst>
              <a:ext uri="{FF2B5EF4-FFF2-40B4-BE49-F238E27FC236}">
                <a16:creationId xmlns:a16="http://schemas.microsoft.com/office/drawing/2014/main" id="{E52A750F-5E72-9492-775E-5E14CE3F3CE2}"/>
              </a:ext>
            </a:extLst>
          </p:cNvPr>
          <p:cNvSpPr txBox="1"/>
          <p:nvPr/>
        </p:nvSpPr>
        <p:spPr>
          <a:xfrm>
            <a:off x="5489324" y="5334378"/>
            <a:ext cx="3065715" cy="400110"/>
          </a:xfrm>
          <a:prstGeom prst="rect">
            <a:avLst/>
          </a:prstGeom>
          <a:noFill/>
        </p:spPr>
        <p:txBody>
          <a:bodyPr wrap="square" rtlCol="0">
            <a:spAutoFit/>
          </a:bodyPr>
          <a:lstStyle/>
          <a:p>
            <a:r>
              <a:rPr lang="en-GB" sz="2000" dirty="0">
                <a:latin typeface="Palatino Linotype" panose="02040502050505030304" pitchFamily="18" charset="0"/>
              </a:rPr>
              <a:t>(b) Material throughput</a:t>
            </a:r>
          </a:p>
        </p:txBody>
      </p:sp>
    </p:spTree>
    <p:extLst>
      <p:ext uri="{BB962C8B-B14F-4D97-AF65-F5344CB8AC3E}">
        <p14:creationId xmlns:p14="http://schemas.microsoft.com/office/powerpoint/2010/main" val="5273848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94281-174E-9DBF-2AFF-E2AF9989C6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096A0F-4F08-4802-4559-2300AD171606}"/>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24DF0936-7448-53E8-BD5B-506443CBCC3B}"/>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1978CD32-492A-060E-2F6A-568FF16FE05A}"/>
              </a:ext>
            </a:extLst>
          </p:cNvPr>
          <p:cNvSpPr>
            <a:spLocks noGrp="1"/>
          </p:cNvSpPr>
          <p:nvPr>
            <p:ph type="sldNum" sz="quarter" idx="12"/>
          </p:nvPr>
        </p:nvSpPr>
        <p:spPr/>
        <p:txBody>
          <a:bodyPr/>
          <a:lstStyle/>
          <a:p>
            <a:fld id="{091A926C-488A-4E3E-9C21-57CAA120E114}" type="slidenum">
              <a:rPr lang="en-US" smtClean="0"/>
              <a:t>66</a:t>
            </a:fld>
            <a:endParaRPr lang="en-US" dirty="0"/>
          </a:p>
        </p:txBody>
      </p:sp>
      <p:sp>
        <p:nvSpPr>
          <p:cNvPr id="6" name="TextBox 5">
            <a:extLst>
              <a:ext uri="{FF2B5EF4-FFF2-40B4-BE49-F238E27FC236}">
                <a16:creationId xmlns:a16="http://schemas.microsoft.com/office/drawing/2014/main" id="{B15AD4C2-B596-3034-F925-0EE0AF112E09}"/>
              </a:ext>
            </a:extLst>
          </p:cNvPr>
          <p:cNvSpPr txBox="1"/>
          <p:nvPr/>
        </p:nvSpPr>
        <p:spPr>
          <a:xfrm>
            <a:off x="508409" y="1051323"/>
            <a:ext cx="8046629" cy="1631216"/>
          </a:xfrm>
          <a:prstGeom prst="rect">
            <a:avLst/>
          </a:prstGeom>
          <a:noFill/>
        </p:spPr>
        <p:txBody>
          <a:bodyPr wrap="square" rtlCol="0">
            <a:spAutoFit/>
          </a:bodyPr>
          <a:lstStyle/>
          <a:p>
            <a:r>
              <a:rPr lang="en-US" sz="2000" b="1" noProof="0" dirty="0"/>
              <a:t>Experiment 4: </a:t>
            </a:r>
          </a:p>
          <a:p>
            <a:r>
              <a:rPr lang="en-US" sz="2000" dirty="0"/>
              <a:t>Implement ad-valorem tax on the demand for virgin materials, 10%.</a:t>
            </a:r>
          </a:p>
          <a:p>
            <a:endParaRPr lang="en-US" sz="2000" noProof="0" dirty="0"/>
          </a:p>
          <a:p>
            <a:pPr marL="342900" indent="-342900">
              <a:buFont typeface="Arial" panose="020B0604020202020204" pitchFamily="34" charset="0"/>
              <a:buChar char="•"/>
            </a:pPr>
            <a:r>
              <a:rPr lang="en-US" sz="2000" dirty="0"/>
              <a:t>Here we cannot calculate an expected effect, hence we cannot compute the rebound effect.</a:t>
            </a:r>
            <a:endParaRPr lang="en-US" sz="2000" noProof="0" dirty="0"/>
          </a:p>
        </p:txBody>
      </p:sp>
    </p:spTree>
    <p:extLst>
      <p:ext uri="{BB962C8B-B14F-4D97-AF65-F5344CB8AC3E}">
        <p14:creationId xmlns:p14="http://schemas.microsoft.com/office/powerpoint/2010/main" val="15640803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B99D5-20B3-3FEF-25F2-789813A773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5191DF-3FAA-F77D-3BC6-C0D2BD1623AD}"/>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42348BC9-9AA1-8BED-15D2-89CA73D92388}"/>
              </a:ext>
            </a:extLst>
          </p:cNvPr>
          <p:cNvSpPr>
            <a:spLocks noGrp="1"/>
          </p:cNvSpPr>
          <p:nvPr>
            <p:ph type="dt" sz="half" idx="10"/>
          </p:nvPr>
        </p:nvSpPr>
        <p:spPr/>
        <p:txBody>
          <a:bodyPr/>
          <a:lstStyle/>
          <a:p>
            <a:fld id="{D47CA900-C54E-46DA-9750-FC525BA50C3D}" type="datetime1">
              <a:rPr lang="en-US" smtClean="0"/>
              <a:t>6/30/2025</a:t>
            </a:fld>
            <a:endParaRPr lang="en-US" dirty="0"/>
          </a:p>
        </p:txBody>
      </p:sp>
      <p:pic>
        <p:nvPicPr>
          <p:cNvPr id="9" name="Picture 8" descr="A graph of different types of objects&#10;&#10;AI-generated content may be incorrect.">
            <a:extLst>
              <a:ext uri="{FF2B5EF4-FFF2-40B4-BE49-F238E27FC236}">
                <a16:creationId xmlns:a16="http://schemas.microsoft.com/office/drawing/2014/main" id="{F8F8E226-95B6-8F2B-6BF8-6870BE7C97AA}"/>
              </a:ext>
            </a:extLst>
          </p:cNvPr>
          <p:cNvPicPr>
            <a:picLocks noChangeAspect="1"/>
          </p:cNvPicPr>
          <p:nvPr/>
        </p:nvPicPr>
        <p:blipFill>
          <a:blip r:embed="rId3"/>
          <a:stretch>
            <a:fillRect/>
          </a:stretch>
        </p:blipFill>
        <p:spPr>
          <a:xfrm>
            <a:off x="862792" y="1840895"/>
            <a:ext cx="6453665" cy="4609761"/>
          </a:xfrm>
          <a:prstGeom prst="rect">
            <a:avLst/>
          </a:prstGeom>
        </p:spPr>
      </p:pic>
      <p:sp>
        <p:nvSpPr>
          <p:cNvPr id="4" name="Slide Number Placeholder 3">
            <a:extLst>
              <a:ext uri="{FF2B5EF4-FFF2-40B4-BE49-F238E27FC236}">
                <a16:creationId xmlns:a16="http://schemas.microsoft.com/office/drawing/2014/main" id="{2E3683FC-1855-47DF-8396-C2BC8379D799}"/>
              </a:ext>
            </a:extLst>
          </p:cNvPr>
          <p:cNvSpPr>
            <a:spLocks noGrp="1"/>
          </p:cNvSpPr>
          <p:nvPr>
            <p:ph type="sldNum" sz="quarter" idx="12"/>
          </p:nvPr>
        </p:nvSpPr>
        <p:spPr/>
        <p:txBody>
          <a:bodyPr/>
          <a:lstStyle/>
          <a:p>
            <a:fld id="{091A926C-488A-4E3E-9C21-57CAA120E114}" type="slidenum">
              <a:rPr lang="en-US" smtClean="0"/>
              <a:t>67</a:t>
            </a:fld>
            <a:endParaRPr lang="en-US" dirty="0"/>
          </a:p>
        </p:txBody>
      </p:sp>
      <p:sp>
        <p:nvSpPr>
          <p:cNvPr id="6" name="TextBox 5">
            <a:extLst>
              <a:ext uri="{FF2B5EF4-FFF2-40B4-BE49-F238E27FC236}">
                <a16:creationId xmlns:a16="http://schemas.microsoft.com/office/drawing/2014/main" id="{A42857DE-BE3F-DCCC-73F2-3A4675D6EBC7}"/>
              </a:ext>
            </a:extLst>
          </p:cNvPr>
          <p:cNvSpPr txBox="1"/>
          <p:nvPr/>
        </p:nvSpPr>
        <p:spPr>
          <a:xfrm>
            <a:off x="508409" y="1051323"/>
            <a:ext cx="8046629" cy="707886"/>
          </a:xfrm>
          <a:prstGeom prst="rect">
            <a:avLst/>
          </a:prstGeom>
          <a:noFill/>
        </p:spPr>
        <p:txBody>
          <a:bodyPr wrap="square" rtlCol="0">
            <a:spAutoFit/>
          </a:bodyPr>
          <a:lstStyle/>
          <a:p>
            <a:r>
              <a:rPr lang="en-US" sz="2000" b="1" noProof="0" dirty="0"/>
              <a:t>Experiment 4: </a:t>
            </a:r>
          </a:p>
          <a:p>
            <a:r>
              <a:rPr lang="en-US" sz="2000" dirty="0"/>
              <a:t>Substitution away from virgin materials, towards recycled.</a:t>
            </a:r>
            <a:endParaRPr lang="en-US" sz="2000" noProof="0" dirty="0"/>
          </a:p>
        </p:txBody>
      </p:sp>
      <p:sp>
        <p:nvSpPr>
          <p:cNvPr id="8" name="TextBox 7">
            <a:extLst>
              <a:ext uri="{FF2B5EF4-FFF2-40B4-BE49-F238E27FC236}">
                <a16:creationId xmlns:a16="http://schemas.microsoft.com/office/drawing/2014/main" id="{A5D12A66-2976-0F1D-0687-8B469AF7A6FA}"/>
              </a:ext>
            </a:extLst>
          </p:cNvPr>
          <p:cNvSpPr txBox="1"/>
          <p:nvPr/>
        </p:nvSpPr>
        <p:spPr>
          <a:xfrm>
            <a:off x="7564948" y="2201008"/>
            <a:ext cx="1579052" cy="646331"/>
          </a:xfrm>
          <a:prstGeom prst="rect">
            <a:avLst/>
          </a:prstGeom>
          <a:noFill/>
        </p:spPr>
        <p:txBody>
          <a:bodyPr wrap="square" rtlCol="0">
            <a:spAutoFit/>
          </a:bodyPr>
          <a:lstStyle/>
          <a:p>
            <a:r>
              <a:rPr lang="en-GB" sz="1200" dirty="0"/>
              <a:t>Relative change in virgin, recycled, and total material use. </a:t>
            </a:r>
          </a:p>
        </p:txBody>
      </p:sp>
      <p:cxnSp>
        <p:nvCxnSpPr>
          <p:cNvPr id="5" name="Straight Arrow Connector 4">
            <a:extLst>
              <a:ext uri="{FF2B5EF4-FFF2-40B4-BE49-F238E27FC236}">
                <a16:creationId xmlns:a16="http://schemas.microsoft.com/office/drawing/2014/main" id="{EBCD15E9-040C-3B24-DC88-69811C797BFD}"/>
              </a:ext>
            </a:extLst>
          </p:cNvPr>
          <p:cNvCxnSpPr>
            <a:cxnSpLocks/>
          </p:cNvCxnSpPr>
          <p:nvPr/>
        </p:nvCxnSpPr>
        <p:spPr>
          <a:xfrm flipH="1">
            <a:off x="7187799" y="2432981"/>
            <a:ext cx="363086" cy="791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92058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87E03-9976-D3E5-529A-1FD5C50F11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F07522C-82FF-6B9A-75CA-0703CB8F2261}"/>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67EB02FD-DECA-65E2-D654-F5D256BA1E46}"/>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FD8FC917-A64E-E7A5-0F25-01090685D244}"/>
              </a:ext>
            </a:extLst>
          </p:cNvPr>
          <p:cNvSpPr>
            <a:spLocks noGrp="1"/>
          </p:cNvSpPr>
          <p:nvPr>
            <p:ph type="sldNum" sz="quarter" idx="12"/>
          </p:nvPr>
        </p:nvSpPr>
        <p:spPr/>
        <p:txBody>
          <a:bodyPr/>
          <a:lstStyle/>
          <a:p>
            <a:fld id="{091A926C-488A-4E3E-9C21-57CAA120E114}" type="slidenum">
              <a:rPr lang="en-US" smtClean="0"/>
              <a:t>68</a:t>
            </a:fld>
            <a:endParaRPr lang="en-US" dirty="0"/>
          </a:p>
        </p:txBody>
      </p:sp>
      <p:sp>
        <p:nvSpPr>
          <p:cNvPr id="6" name="TextBox 5">
            <a:extLst>
              <a:ext uri="{FF2B5EF4-FFF2-40B4-BE49-F238E27FC236}">
                <a16:creationId xmlns:a16="http://schemas.microsoft.com/office/drawing/2014/main" id="{024E1B39-402A-E616-AB9F-5FA6D25D5A88}"/>
              </a:ext>
            </a:extLst>
          </p:cNvPr>
          <p:cNvSpPr txBox="1"/>
          <p:nvPr/>
        </p:nvSpPr>
        <p:spPr>
          <a:xfrm>
            <a:off x="508409" y="1051323"/>
            <a:ext cx="8046629" cy="707886"/>
          </a:xfrm>
          <a:prstGeom prst="rect">
            <a:avLst/>
          </a:prstGeom>
          <a:noFill/>
        </p:spPr>
        <p:txBody>
          <a:bodyPr wrap="square" rtlCol="0">
            <a:spAutoFit/>
          </a:bodyPr>
          <a:lstStyle/>
          <a:p>
            <a:r>
              <a:rPr lang="en-US" sz="2000" b="1" noProof="0" dirty="0"/>
              <a:t>Experiment 4: </a:t>
            </a:r>
          </a:p>
          <a:p>
            <a:r>
              <a:rPr lang="en-US" sz="2000" dirty="0"/>
              <a:t>Circular Material Use Rate “improves” as well.</a:t>
            </a:r>
            <a:endParaRPr lang="en-US" sz="2000" noProof="0" dirty="0"/>
          </a:p>
        </p:txBody>
      </p:sp>
      <p:pic>
        <p:nvPicPr>
          <p:cNvPr id="8" name="Picture 7" descr="A graph of different types of paper and plastic&#10;&#10;AI-generated content may be incorrect.">
            <a:extLst>
              <a:ext uri="{FF2B5EF4-FFF2-40B4-BE49-F238E27FC236}">
                <a16:creationId xmlns:a16="http://schemas.microsoft.com/office/drawing/2014/main" id="{D49CD6EE-3240-0278-19B2-8FF28F239CA6}"/>
              </a:ext>
            </a:extLst>
          </p:cNvPr>
          <p:cNvPicPr>
            <a:picLocks noChangeAspect="1"/>
          </p:cNvPicPr>
          <p:nvPr/>
        </p:nvPicPr>
        <p:blipFill>
          <a:blip r:embed="rId3"/>
          <a:stretch>
            <a:fillRect/>
          </a:stretch>
        </p:blipFill>
        <p:spPr>
          <a:xfrm>
            <a:off x="1323474" y="1877428"/>
            <a:ext cx="6106026" cy="4361447"/>
          </a:xfrm>
          <a:prstGeom prst="rect">
            <a:avLst/>
          </a:prstGeom>
        </p:spPr>
      </p:pic>
    </p:spTree>
    <p:extLst>
      <p:ext uri="{BB962C8B-B14F-4D97-AF65-F5344CB8AC3E}">
        <p14:creationId xmlns:p14="http://schemas.microsoft.com/office/powerpoint/2010/main" val="17278245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BFC1D-7978-E35F-B04D-D497B743364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27CE4F-617F-C79E-6889-17DDF0BE83DA}"/>
              </a:ext>
            </a:extLst>
          </p:cNvPr>
          <p:cNvSpPr>
            <a:spLocks noGrp="1"/>
          </p:cNvSpPr>
          <p:nvPr>
            <p:ph type="title"/>
          </p:nvPr>
        </p:nvSpPr>
        <p:spPr/>
        <p:txBody>
          <a:bodyPr/>
          <a:lstStyle/>
          <a:p>
            <a:r>
              <a:rPr lang="en-US" dirty="0"/>
              <a:t>Results</a:t>
            </a:r>
          </a:p>
        </p:txBody>
      </p:sp>
      <p:sp>
        <p:nvSpPr>
          <p:cNvPr id="2" name="Date Placeholder 1">
            <a:extLst>
              <a:ext uri="{FF2B5EF4-FFF2-40B4-BE49-F238E27FC236}">
                <a16:creationId xmlns:a16="http://schemas.microsoft.com/office/drawing/2014/main" id="{560BA895-65C0-EF4B-88F7-B9C62E564927}"/>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63431595-8572-81C3-1784-B92A0904218E}"/>
              </a:ext>
            </a:extLst>
          </p:cNvPr>
          <p:cNvSpPr>
            <a:spLocks noGrp="1"/>
          </p:cNvSpPr>
          <p:nvPr>
            <p:ph type="sldNum" sz="quarter" idx="12"/>
          </p:nvPr>
        </p:nvSpPr>
        <p:spPr/>
        <p:txBody>
          <a:bodyPr/>
          <a:lstStyle/>
          <a:p>
            <a:fld id="{091A926C-488A-4E3E-9C21-57CAA120E114}" type="slidenum">
              <a:rPr lang="en-US" smtClean="0"/>
              <a:t>69</a:t>
            </a:fld>
            <a:endParaRPr lang="en-US" dirty="0"/>
          </a:p>
        </p:txBody>
      </p:sp>
      <p:sp>
        <p:nvSpPr>
          <p:cNvPr id="6" name="TextBox 5">
            <a:extLst>
              <a:ext uri="{FF2B5EF4-FFF2-40B4-BE49-F238E27FC236}">
                <a16:creationId xmlns:a16="http://schemas.microsoft.com/office/drawing/2014/main" id="{F5D6A8A9-6F97-EB04-781F-DE83B2CA0182}"/>
              </a:ext>
            </a:extLst>
          </p:cNvPr>
          <p:cNvSpPr txBox="1"/>
          <p:nvPr/>
        </p:nvSpPr>
        <p:spPr>
          <a:xfrm>
            <a:off x="508409" y="1051323"/>
            <a:ext cx="8046629" cy="4474302"/>
          </a:xfrm>
          <a:prstGeom prst="rect">
            <a:avLst/>
          </a:prstGeom>
          <a:noFill/>
        </p:spPr>
        <p:txBody>
          <a:bodyPr wrap="square" rtlCol="0">
            <a:spAutoFit/>
          </a:bodyPr>
          <a:lstStyle/>
          <a:p>
            <a:r>
              <a:rPr lang="en-US" sz="2000" b="1" noProof="0" dirty="0"/>
              <a:t>Experiment 4: </a:t>
            </a:r>
          </a:p>
          <a:p>
            <a:r>
              <a:rPr lang="en-US" dirty="0"/>
              <a:t>Implement ad-valorem tax demand for virgin materials, 10%.</a:t>
            </a:r>
          </a:p>
          <a:p>
            <a:endParaRPr lang="en-US" sz="2000" dirty="0"/>
          </a:p>
          <a:p>
            <a:endParaRPr lang="en-US" sz="2000" dirty="0"/>
          </a:p>
          <a:p>
            <a:r>
              <a:rPr lang="en-US" sz="2000" b="1" dirty="0"/>
              <a:t>Result:</a:t>
            </a:r>
          </a:p>
          <a:p>
            <a:pPr marL="342900" indent="-342900">
              <a:lnSpc>
                <a:spcPct val="150000"/>
              </a:lnSpc>
              <a:buFont typeface="Arial" panose="020B0604020202020204" pitchFamily="34" charset="0"/>
              <a:buChar char="•"/>
            </a:pPr>
            <a:r>
              <a:rPr lang="en-US" dirty="0"/>
              <a:t>Increases recycling, decreases virgin material consumption.</a:t>
            </a:r>
          </a:p>
          <a:p>
            <a:pPr marL="342900" indent="-342900">
              <a:lnSpc>
                <a:spcPct val="150000"/>
              </a:lnSpc>
              <a:buFont typeface="Arial" panose="020B0604020202020204" pitchFamily="34" charset="0"/>
              <a:buChar char="•"/>
            </a:pPr>
            <a:r>
              <a:rPr lang="en-US" dirty="0"/>
              <a:t> Recycling </a:t>
            </a:r>
            <a:r>
              <a:rPr lang="en-US" i="1" dirty="0"/>
              <a:t>may </a:t>
            </a:r>
            <a:r>
              <a:rPr lang="en-US" dirty="0"/>
              <a:t>go down (‘textile’)</a:t>
            </a:r>
          </a:p>
          <a:p>
            <a:pPr marL="800100" lvl="1" indent="-342900">
              <a:lnSpc>
                <a:spcPct val="150000"/>
              </a:lnSpc>
              <a:buFont typeface="Arial" panose="020B0604020202020204" pitchFamily="34" charset="0"/>
              <a:buChar char="•"/>
            </a:pPr>
            <a:r>
              <a:rPr lang="en-US" dirty="0"/>
              <a:t>Substitution effect: Use recycled textile instead of virgin.</a:t>
            </a:r>
          </a:p>
          <a:p>
            <a:pPr marL="800100" lvl="1" indent="-342900">
              <a:lnSpc>
                <a:spcPct val="150000"/>
              </a:lnSpc>
              <a:buFont typeface="Arial" panose="020B0604020202020204" pitchFamily="34" charset="0"/>
              <a:buChar char="•"/>
            </a:pPr>
            <a:r>
              <a:rPr lang="en-US" dirty="0"/>
              <a:t>Scale effect: More expensive production </a:t>
            </a:r>
            <a:r>
              <a:rPr lang="en-US" dirty="0">
                <a:sym typeface="Wingdings" panose="05000000000000000000" pitchFamily="2" charset="2"/>
              </a:rPr>
              <a:t> lower output</a:t>
            </a:r>
            <a:r>
              <a:rPr lang="en-US" dirty="0"/>
              <a:t> </a:t>
            </a:r>
            <a:r>
              <a:rPr lang="en-US" dirty="0">
                <a:sym typeface="Wingdings" panose="05000000000000000000" pitchFamily="2" charset="2"/>
              </a:rPr>
              <a:t> material demand in general.</a:t>
            </a:r>
          </a:p>
          <a:p>
            <a:pPr marL="800100" lvl="1" indent="-342900">
              <a:lnSpc>
                <a:spcPct val="150000"/>
              </a:lnSpc>
              <a:buFont typeface="Arial" panose="020B0604020202020204" pitchFamily="34" charset="0"/>
              <a:buChar char="•"/>
            </a:pPr>
            <a:r>
              <a:rPr lang="en-US" dirty="0">
                <a:sym typeface="Wingdings" panose="05000000000000000000" pitchFamily="2" charset="2"/>
              </a:rPr>
              <a:t>Cross-substitution: Total metal demand is lower  less demand for textile (complementary input).</a:t>
            </a:r>
            <a:endParaRPr lang="en-US" dirty="0"/>
          </a:p>
        </p:txBody>
      </p:sp>
    </p:spTree>
    <p:extLst>
      <p:ext uri="{BB962C8B-B14F-4D97-AF65-F5344CB8AC3E}">
        <p14:creationId xmlns:p14="http://schemas.microsoft.com/office/powerpoint/2010/main" val="39505157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20032-6A02-BF0D-2474-95BEE287469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3E28DE-AD84-136B-4197-FBB78AF20154}"/>
              </a:ext>
            </a:extLst>
          </p:cNvPr>
          <p:cNvSpPr>
            <a:spLocks noGrp="1"/>
          </p:cNvSpPr>
          <p:nvPr>
            <p:ph type="title"/>
          </p:nvPr>
        </p:nvSpPr>
        <p:spPr/>
        <p:txBody>
          <a:bodyPr/>
          <a:lstStyle/>
          <a:p>
            <a:r>
              <a:rPr lang="en-US" dirty="0"/>
              <a:t>Discussion </a:t>
            </a:r>
          </a:p>
        </p:txBody>
      </p:sp>
      <p:sp>
        <p:nvSpPr>
          <p:cNvPr id="2" name="Date Placeholder 1">
            <a:extLst>
              <a:ext uri="{FF2B5EF4-FFF2-40B4-BE49-F238E27FC236}">
                <a16:creationId xmlns:a16="http://schemas.microsoft.com/office/drawing/2014/main" id="{1116BED8-A51A-9BE2-DAB6-656BC4E99111}"/>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B430E195-D8ED-5FB3-73B6-41A1F930EB6B}"/>
              </a:ext>
            </a:extLst>
          </p:cNvPr>
          <p:cNvSpPr>
            <a:spLocks noGrp="1"/>
          </p:cNvSpPr>
          <p:nvPr>
            <p:ph type="sldNum" sz="quarter" idx="12"/>
          </p:nvPr>
        </p:nvSpPr>
        <p:spPr/>
        <p:txBody>
          <a:bodyPr/>
          <a:lstStyle/>
          <a:p>
            <a:fld id="{091A926C-488A-4E3E-9C21-57CAA120E114}" type="slidenum">
              <a:rPr lang="en-US" smtClean="0"/>
              <a:t>70</a:t>
            </a:fld>
            <a:endParaRPr lang="en-US" dirty="0"/>
          </a:p>
        </p:txBody>
      </p:sp>
      <p:sp>
        <p:nvSpPr>
          <p:cNvPr id="6" name="TextBox 5">
            <a:extLst>
              <a:ext uri="{FF2B5EF4-FFF2-40B4-BE49-F238E27FC236}">
                <a16:creationId xmlns:a16="http://schemas.microsoft.com/office/drawing/2014/main" id="{9D1252FA-29B0-84C8-4108-728F224143EA}"/>
              </a:ext>
            </a:extLst>
          </p:cNvPr>
          <p:cNvSpPr txBox="1"/>
          <p:nvPr/>
        </p:nvSpPr>
        <p:spPr>
          <a:xfrm>
            <a:off x="508409" y="1051323"/>
            <a:ext cx="8046629" cy="4832092"/>
          </a:xfrm>
          <a:prstGeom prst="rect">
            <a:avLst/>
          </a:prstGeom>
          <a:noFill/>
        </p:spPr>
        <p:txBody>
          <a:bodyPr wrap="square" rtlCol="0">
            <a:spAutoFit/>
          </a:bodyPr>
          <a:lstStyle/>
          <a:p>
            <a:r>
              <a:rPr lang="en-US" sz="2000" b="1" dirty="0"/>
              <a:t>How to avoid the material rebound effect</a:t>
            </a:r>
          </a:p>
          <a:p>
            <a:pPr marL="342900" indent="-342900">
              <a:buFont typeface="Arial" panose="020B0604020202020204" pitchFamily="34" charset="0"/>
              <a:buChar char="•"/>
            </a:pPr>
            <a:endParaRPr lang="en-US" sz="2000" noProof="0" dirty="0"/>
          </a:p>
          <a:p>
            <a:pPr marL="342900" indent="-342900">
              <a:buFont typeface="Arial" panose="020B0604020202020204" pitchFamily="34" charset="0"/>
              <a:buChar char="•"/>
            </a:pPr>
            <a:r>
              <a:rPr lang="en-US" sz="2000" dirty="0"/>
              <a:t>The problem with Circular Economy Policies is often that they do not target the problem – use of primary materials – directly. </a:t>
            </a:r>
          </a:p>
          <a:p>
            <a:pPr marL="800100" lvl="1" indent="-342900">
              <a:buFont typeface="Arial" panose="020B0604020202020204" pitchFamily="34" charset="0"/>
              <a:buChar char="•"/>
            </a:pPr>
            <a:r>
              <a:rPr lang="en-US" sz="1600" dirty="0"/>
              <a:t>This is why these policies may backfire. </a:t>
            </a:r>
          </a:p>
          <a:p>
            <a:pPr marL="342900" indent="-342900">
              <a:buFont typeface="Arial" panose="020B0604020202020204" pitchFamily="34" charset="0"/>
              <a:buChar char="•"/>
            </a:pPr>
            <a:endParaRPr lang="en-US" sz="2000" noProof="0" dirty="0"/>
          </a:p>
          <a:p>
            <a:pPr marL="342900" indent="-342900">
              <a:buFont typeface="Arial" panose="020B0604020202020204" pitchFamily="34" charset="0"/>
              <a:buChar char="•"/>
            </a:pPr>
            <a:r>
              <a:rPr lang="en-US" sz="2000" dirty="0"/>
              <a:t>Probably a combination of instruments is needed.</a:t>
            </a:r>
          </a:p>
          <a:p>
            <a:pPr marL="800100" lvl="1" indent="-342900">
              <a:buFont typeface="Arial" panose="020B0604020202020204" pitchFamily="34" charset="0"/>
              <a:buChar char="•"/>
            </a:pPr>
            <a:r>
              <a:rPr lang="en-US" sz="1600" dirty="0">
                <a:hlinkClick r:id="rId3"/>
              </a:rPr>
              <a:t>Egger and </a:t>
            </a:r>
            <a:r>
              <a:rPr lang="en-US" sz="1600" dirty="0" err="1">
                <a:hlinkClick r:id="rId3"/>
              </a:rPr>
              <a:t>Keuschnigg</a:t>
            </a:r>
            <a:r>
              <a:rPr lang="en-US" sz="1600" dirty="0">
                <a:hlinkClick r:id="rId3"/>
              </a:rPr>
              <a:t> (2024)</a:t>
            </a:r>
            <a:r>
              <a:rPr lang="en-US" sz="1600" dirty="0"/>
              <a:t> find that a trash tax together with a recycling subsidy is needed to obtain the first-best allocation. </a:t>
            </a:r>
          </a:p>
          <a:p>
            <a:pPr marL="342900" indent="-342900">
              <a:buFont typeface="Arial" panose="020B0604020202020204" pitchFamily="34" charset="0"/>
              <a:buChar char="•"/>
            </a:pPr>
            <a:endParaRPr lang="en-US" sz="2000" noProof="0" dirty="0"/>
          </a:p>
          <a:p>
            <a:pPr marL="342900" indent="-342900">
              <a:buFont typeface="Arial" panose="020B0604020202020204" pitchFamily="34" charset="0"/>
              <a:buChar char="•"/>
            </a:pPr>
            <a:r>
              <a:rPr lang="en-US" sz="2000" dirty="0"/>
              <a:t>But so far, we have only identified one policy – a tax on virgin material use – that systematically avoid backfire. </a:t>
            </a:r>
            <a:endParaRPr lang="en-US" sz="2000" noProof="0" dirty="0"/>
          </a:p>
          <a:p>
            <a:pPr marL="342900" indent="-342900">
              <a:buFont typeface="Arial" panose="020B0604020202020204" pitchFamily="34" charset="0"/>
              <a:buChar char="•"/>
            </a:pPr>
            <a:endParaRPr lang="en-US" sz="2000" noProof="0" dirty="0"/>
          </a:p>
          <a:p>
            <a:pPr marL="342900" indent="-342900">
              <a:buFont typeface="Arial" panose="020B0604020202020204" pitchFamily="34" charset="0"/>
              <a:buChar char="•"/>
            </a:pPr>
            <a:r>
              <a:rPr lang="en-US" sz="2000" noProof="0" dirty="0"/>
              <a:t>We need to be careful with our circular economy targets!</a:t>
            </a:r>
          </a:p>
          <a:p>
            <a:endParaRPr lang="en-US" sz="2000" noProof="0" dirty="0"/>
          </a:p>
          <a:p>
            <a:endParaRPr lang="en-US" sz="2000" dirty="0"/>
          </a:p>
        </p:txBody>
      </p:sp>
    </p:spTree>
    <p:extLst>
      <p:ext uri="{BB962C8B-B14F-4D97-AF65-F5344CB8AC3E}">
        <p14:creationId xmlns:p14="http://schemas.microsoft.com/office/powerpoint/2010/main" val="1857552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8CB0C-275E-3E8C-EE60-DBEA08806AC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856841E-9298-8008-9BCE-EFB3894CA8C0}"/>
              </a:ext>
            </a:extLst>
          </p:cNvPr>
          <p:cNvSpPr>
            <a:spLocks noGrp="1"/>
          </p:cNvSpPr>
          <p:nvPr>
            <p:ph type="title"/>
          </p:nvPr>
        </p:nvSpPr>
        <p:spPr/>
        <p:txBody>
          <a:bodyPr/>
          <a:lstStyle/>
          <a:p>
            <a:r>
              <a:rPr lang="en-US" dirty="0"/>
              <a:t>Discussion </a:t>
            </a:r>
          </a:p>
        </p:txBody>
      </p:sp>
      <p:sp>
        <p:nvSpPr>
          <p:cNvPr id="2" name="Date Placeholder 1">
            <a:extLst>
              <a:ext uri="{FF2B5EF4-FFF2-40B4-BE49-F238E27FC236}">
                <a16:creationId xmlns:a16="http://schemas.microsoft.com/office/drawing/2014/main" id="{5EF5830A-AFDB-FB95-ED8E-AAAA7CDE777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ADED072A-CC8B-E5B6-EB01-E2CDE054E85A}"/>
              </a:ext>
            </a:extLst>
          </p:cNvPr>
          <p:cNvSpPr>
            <a:spLocks noGrp="1"/>
          </p:cNvSpPr>
          <p:nvPr>
            <p:ph type="sldNum" sz="quarter" idx="12"/>
          </p:nvPr>
        </p:nvSpPr>
        <p:spPr/>
        <p:txBody>
          <a:bodyPr/>
          <a:lstStyle/>
          <a:p>
            <a:fld id="{091A926C-488A-4E3E-9C21-57CAA120E114}" type="slidenum">
              <a:rPr lang="en-US" smtClean="0"/>
              <a:t>71</a:t>
            </a:fld>
            <a:endParaRPr lang="en-US" dirty="0"/>
          </a:p>
        </p:txBody>
      </p:sp>
      <p:sp>
        <p:nvSpPr>
          <p:cNvPr id="6" name="TextBox 5">
            <a:extLst>
              <a:ext uri="{FF2B5EF4-FFF2-40B4-BE49-F238E27FC236}">
                <a16:creationId xmlns:a16="http://schemas.microsoft.com/office/drawing/2014/main" id="{CCB50120-A598-2DE7-F5AF-2FEA58DA1463}"/>
              </a:ext>
            </a:extLst>
          </p:cNvPr>
          <p:cNvSpPr txBox="1"/>
          <p:nvPr/>
        </p:nvSpPr>
        <p:spPr>
          <a:xfrm>
            <a:off x="508409" y="1051323"/>
            <a:ext cx="8046629" cy="1323439"/>
          </a:xfrm>
          <a:prstGeom prst="rect">
            <a:avLst/>
          </a:prstGeom>
          <a:noFill/>
        </p:spPr>
        <p:txBody>
          <a:bodyPr wrap="square" rtlCol="0">
            <a:spAutoFit/>
          </a:bodyPr>
          <a:lstStyle/>
          <a:p>
            <a:r>
              <a:rPr lang="en-US" sz="2000" b="1" noProof="0" dirty="0"/>
              <a:t>EU plans to double its ‘Circular Material Use Rate’ from 2020 to 2030 </a:t>
            </a:r>
          </a:p>
          <a:p>
            <a:endParaRPr lang="en-US" sz="2000" noProof="0" dirty="0"/>
          </a:p>
          <a:p>
            <a:endParaRPr lang="en-US" sz="2000" dirty="0"/>
          </a:p>
        </p:txBody>
      </p:sp>
      <p:grpSp>
        <p:nvGrpSpPr>
          <p:cNvPr id="17" name="Group 16">
            <a:extLst>
              <a:ext uri="{FF2B5EF4-FFF2-40B4-BE49-F238E27FC236}">
                <a16:creationId xmlns:a16="http://schemas.microsoft.com/office/drawing/2014/main" id="{01B07808-B255-1C4F-6F1B-2CEF0219E3C8}"/>
              </a:ext>
            </a:extLst>
          </p:cNvPr>
          <p:cNvGrpSpPr/>
          <p:nvPr/>
        </p:nvGrpSpPr>
        <p:grpSpPr>
          <a:xfrm>
            <a:off x="1363748" y="2681265"/>
            <a:ext cx="6102485" cy="3162795"/>
            <a:chOff x="1221075" y="3506915"/>
            <a:chExt cx="6102485" cy="3162795"/>
          </a:xfrm>
        </p:grpSpPr>
        <p:graphicFrame>
          <p:nvGraphicFramePr>
            <p:cNvPr id="9" name="Chart 8">
              <a:extLst>
                <a:ext uri="{FF2B5EF4-FFF2-40B4-BE49-F238E27FC236}">
                  <a16:creationId xmlns:a16="http://schemas.microsoft.com/office/drawing/2014/main" id="{27D7B4C6-48FE-E325-FF65-7BF6E6169656}"/>
                </a:ext>
              </a:extLst>
            </p:cNvPr>
            <p:cNvGraphicFramePr>
              <a:graphicFrameLocks/>
            </p:cNvGraphicFramePr>
            <p:nvPr>
              <p:extLst>
                <p:ext uri="{D42A27DB-BD31-4B8C-83A1-F6EECF244321}">
                  <p14:modId xmlns:p14="http://schemas.microsoft.com/office/powerpoint/2010/main" val="745139538"/>
                </p:ext>
              </p:extLst>
            </p:nvPr>
          </p:nvGraphicFramePr>
          <p:xfrm>
            <a:off x="1221075" y="3506915"/>
            <a:ext cx="6102485" cy="3162795"/>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02C04B61-A070-F048-74A7-E9CB8B1BE4EF}"/>
                </a:ext>
              </a:extLst>
            </p:cNvPr>
            <p:cNvSpPr txBox="1"/>
            <p:nvPr/>
          </p:nvSpPr>
          <p:spPr>
            <a:xfrm>
              <a:off x="3417651" y="5071282"/>
              <a:ext cx="590226" cy="261610"/>
            </a:xfrm>
            <a:prstGeom prst="rect">
              <a:avLst/>
            </a:prstGeom>
            <a:noFill/>
          </p:spPr>
          <p:txBody>
            <a:bodyPr wrap="none" rtlCol="0">
              <a:spAutoFit/>
            </a:bodyPr>
            <a:lstStyle/>
            <a:p>
              <a:r>
                <a:rPr lang="en-GB" sz="1100" b="1" dirty="0"/>
                <a:t>10.7%</a:t>
              </a:r>
            </a:p>
          </p:txBody>
        </p:sp>
        <p:cxnSp>
          <p:nvCxnSpPr>
            <p:cNvPr id="14" name="Straight Arrow Connector 13">
              <a:extLst>
                <a:ext uri="{FF2B5EF4-FFF2-40B4-BE49-F238E27FC236}">
                  <a16:creationId xmlns:a16="http://schemas.microsoft.com/office/drawing/2014/main" id="{1E4C261D-89D5-534C-8A86-E74E2BB79D3A}"/>
                </a:ext>
              </a:extLst>
            </p:cNvPr>
            <p:cNvCxnSpPr/>
            <p:nvPr/>
          </p:nvCxnSpPr>
          <p:spPr>
            <a:xfrm flipH="1" flipV="1">
              <a:off x="3488987" y="4636851"/>
              <a:ext cx="58366" cy="4344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23084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1C7D9-5AA6-0416-9524-20A4E4749D5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0B04963-F4D9-FB35-0BF5-3FACE866AE3F}"/>
              </a:ext>
            </a:extLst>
          </p:cNvPr>
          <p:cNvSpPr>
            <a:spLocks noGrp="1"/>
          </p:cNvSpPr>
          <p:nvPr>
            <p:ph type="title"/>
          </p:nvPr>
        </p:nvSpPr>
        <p:spPr/>
        <p:txBody>
          <a:bodyPr/>
          <a:lstStyle/>
          <a:p>
            <a:r>
              <a:rPr lang="en-US" dirty="0"/>
              <a:t>Concluding remarks </a:t>
            </a:r>
          </a:p>
        </p:txBody>
      </p:sp>
      <p:sp>
        <p:nvSpPr>
          <p:cNvPr id="2" name="Date Placeholder 1">
            <a:extLst>
              <a:ext uri="{FF2B5EF4-FFF2-40B4-BE49-F238E27FC236}">
                <a16:creationId xmlns:a16="http://schemas.microsoft.com/office/drawing/2014/main" id="{A5A7D329-EE75-9E3B-0433-01DFFD3501FE}"/>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300CAC96-8E99-7146-7F9B-D90C427A9F3A}"/>
              </a:ext>
            </a:extLst>
          </p:cNvPr>
          <p:cNvSpPr>
            <a:spLocks noGrp="1"/>
          </p:cNvSpPr>
          <p:nvPr>
            <p:ph type="sldNum" sz="quarter" idx="12"/>
          </p:nvPr>
        </p:nvSpPr>
        <p:spPr/>
        <p:txBody>
          <a:bodyPr/>
          <a:lstStyle/>
          <a:p>
            <a:fld id="{091A926C-488A-4E3E-9C21-57CAA120E114}" type="slidenum">
              <a:rPr lang="en-US" smtClean="0"/>
              <a:t>72</a:t>
            </a:fld>
            <a:endParaRPr lang="en-US" dirty="0"/>
          </a:p>
        </p:txBody>
      </p:sp>
      <p:sp>
        <p:nvSpPr>
          <p:cNvPr id="6" name="TextBox 5">
            <a:extLst>
              <a:ext uri="{FF2B5EF4-FFF2-40B4-BE49-F238E27FC236}">
                <a16:creationId xmlns:a16="http://schemas.microsoft.com/office/drawing/2014/main" id="{EEAA890E-EBBB-CF53-3A56-55994A40E797}"/>
              </a:ext>
            </a:extLst>
          </p:cNvPr>
          <p:cNvSpPr txBox="1"/>
          <p:nvPr/>
        </p:nvSpPr>
        <p:spPr>
          <a:xfrm>
            <a:off x="508409" y="1051323"/>
            <a:ext cx="8046629" cy="5816977"/>
          </a:xfrm>
          <a:prstGeom prst="rect">
            <a:avLst/>
          </a:prstGeom>
          <a:noFill/>
        </p:spPr>
        <p:txBody>
          <a:bodyPr wrap="square" rtlCol="0">
            <a:spAutoFit/>
          </a:bodyPr>
          <a:lstStyle/>
          <a:p>
            <a:endParaRPr lang="en-US" sz="2000" dirty="0"/>
          </a:p>
          <a:p>
            <a:pPr marL="342900" indent="-342900">
              <a:buFont typeface="Arial" panose="020B0604020202020204" pitchFamily="34" charset="0"/>
              <a:buChar char="•"/>
            </a:pPr>
            <a:r>
              <a:rPr lang="en-US" sz="2000" dirty="0"/>
              <a:t>The aim of this study is not to discourage a transition toward a circular economy.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But we highlight that Circular Economy Policies can backfire.</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Hence, we need to </a:t>
            </a:r>
            <a:r>
              <a:rPr lang="en-US" sz="2000" b="1" dirty="0"/>
              <a:t>carefully design</a:t>
            </a:r>
            <a:r>
              <a:rPr lang="en-US" sz="2000" dirty="0"/>
              <a:t> such policies to obtain </a:t>
            </a:r>
            <a:r>
              <a:rPr lang="en-US" sz="2000" u="sng" dirty="0"/>
              <a:t>environmental benefits</a:t>
            </a:r>
            <a:r>
              <a:rPr lang="en-US" sz="2000" dirty="0"/>
              <a:t> as well as </a:t>
            </a:r>
            <a:r>
              <a:rPr lang="en-US" sz="2000" u="sng" dirty="0"/>
              <a:t>resource security benefits</a:t>
            </a:r>
            <a:r>
              <a:rPr lang="en-US" sz="2000" dirty="0"/>
              <a:t>. </a:t>
            </a:r>
          </a:p>
          <a:p>
            <a:pPr marL="342900" indent="-342900">
              <a:buFont typeface="Arial" panose="020B0604020202020204" pitchFamily="34" charset="0"/>
              <a:buChar char="•"/>
            </a:pPr>
            <a:endParaRPr lang="en-US" sz="2000" noProof="0" dirty="0"/>
          </a:p>
          <a:p>
            <a:pPr marL="342900" indent="-342900">
              <a:buFont typeface="Arial" panose="020B0604020202020204" pitchFamily="34" charset="0"/>
              <a:buChar char="•"/>
            </a:pPr>
            <a:r>
              <a:rPr lang="en-US" sz="2000" dirty="0"/>
              <a:t>We also develop a </a:t>
            </a:r>
            <a:r>
              <a:rPr lang="en-US" sz="2000" b="1" dirty="0"/>
              <a:t>new modelling framework</a:t>
            </a:r>
            <a:r>
              <a:rPr lang="en-US" sz="2000" dirty="0"/>
              <a:t> that could be employed in any small open economy as long as material flow accounts are available. </a:t>
            </a:r>
          </a:p>
          <a:p>
            <a:pPr marL="800100" lvl="1" indent="-342900">
              <a:buFont typeface="Arial" panose="020B0604020202020204" pitchFamily="34" charset="0"/>
              <a:buChar char="•"/>
            </a:pPr>
            <a:r>
              <a:rPr lang="en-US" sz="1600" dirty="0"/>
              <a:t>We will probably also develop a large open economy version of our model.</a:t>
            </a:r>
          </a:p>
          <a:p>
            <a:pPr marL="800100" lvl="1" indent="-342900">
              <a:buFont typeface="Arial" panose="020B0604020202020204" pitchFamily="34" charset="0"/>
              <a:buChar char="•"/>
            </a:pPr>
            <a:endParaRPr lang="en-US" sz="1600" dirty="0"/>
          </a:p>
          <a:p>
            <a:pPr marL="342900" indent="-342900">
              <a:buFont typeface="Arial" panose="020B0604020202020204" pitchFamily="34" charset="0"/>
              <a:buChar char="•"/>
            </a:pPr>
            <a:r>
              <a:rPr lang="en-US" sz="2000" noProof="0" dirty="0"/>
              <a:t>Finally, our results suggest that </a:t>
            </a:r>
            <a:r>
              <a:rPr lang="en-US" sz="2000" b="1" noProof="0" dirty="0"/>
              <a:t>Circular Material Use Rate targets </a:t>
            </a:r>
            <a:r>
              <a:rPr lang="en-US" sz="2000" b="1" dirty="0"/>
              <a:t>can be</a:t>
            </a:r>
            <a:r>
              <a:rPr lang="en-US" sz="2000" b="1" noProof="0" dirty="0"/>
              <a:t> counter productive</a:t>
            </a:r>
            <a:r>
              <a:rPr lang="en-US" sz="2000" noProof="0" dirty="0"/>
              <a:t> </a:t>
            </a:r>
            <a:r>
              <a:rPr lang="en-US" sz="2000" noProof="0" dirty="0">
                <a:sym typeface="Wingdings" panose="05000000000000000000" pitchFamily="2" charset="2"/>
              </a:rPr>
              <a:t> these targets might improve while the economy increases primary (virgin) material use. </a:t>
            </a:r>
            <a:endParaRPr lang="en-US" sz="2000" noProof="0" dirty="0"/>
          </a:p>
          <a:p>
            <a:pPr marL="342900" indent="-342900">
              <a:buFont typeface="Arial" panose="020B0604020202020204" pitchFamily="34" charset="0"/>
              <a:buChar char="•"/>
            </a:pPr>
            <a:endParaRPr lang="en-US" sz="2000" noProof="0" dirty="0"/>
          </a:p>
          <a:p>
            <a:endParaRPr lang="en-US" sz="2000" dirty="0"/>
          </a:p>
        </p:txBody>
      </p:sp>
    </p:spTree>
    <p:extLst>
      <p:ext uri="{BB962C8B-B14F-4D97-AF65-F5344CB8AC3E}">
        <p14:creationId xmlns:p14="http://schemas.microsoft.com/office/powerpoint/2010/main" val="8302466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116E4-B042-BE70-9B63-99E872593A6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ADA67BE-7B12-39DE-9111-B5B54E4E14B4}"/>
              </a:ext>
            </a:extLst>
          </p:cNvPr>
          <p:cNvSpPr>
            <a:spLocks noGrp="1"/>
          </p:cNvSpPr>
          <p:nvPr>
            <p:ph type="title"/>
          </p:nvPr>
        </p:nvSpPr>
        <p:spPr>
          <a:xfrm>
            <a:off x="587375" y="619125"/>
            <a:ext cx="7967664" cy="865188"/>
          </a:xfrm>
        </p:spPr>
        <p:txBody>
          <a:bodyPr anchor="t">
            <a:normAutofit/>
          </a:bodyPr>
          <a:lstStyle/>
          <a:p>
            <a:r>
              <a:rPr lang="en-US" dirty="0"/>
              <a:t>Appendix</a:t>
            </a:r>
          </a:p>
        </p:txBody>
      </p:sp>
      <p:pic>
        <p:nvPicPr>
          <p:cNvPr id="5" name="Picture 4" descr="A graph with a line&#10;&#10;AI-generated content may be incorrect.">
            <a:extLst>
              <a:ext uri="{FF2B5EF4-FFF2-40B4-BE49-F238E27FC236}">
                <a16:creationId xmlns:a16="http://schemas.microsoft.com/office/drawing/2014/main" id="{00000000-0008-0000-0000-000002000000}"/>
              </a:ext>
            </a:extLst>
          </p:cNvPr>
          <p:cNvPicPr>
            <a:picLocks noChangeAspect="1"/>
          </p:cNvPicPr>
          <p:nvPr/>
        </p:nvPicPr>
        <p:blipFill>
          <a:blip r:embed="rId3"/>
          <a:stretch>
            <a:fillRect/>
          </a:stretch>
        </p:blipFill>
        <p:spPr>
          <a:xfrm>
            <a:off x="587375" y="2136651"/>
            <a:ext cx="7967663" cy="3665125"/>
          </a:xfrm>
          <a:prstGeom prst="rect">
            <a:avLst/>
          </a:prstGeom>
          <a:noFill/>
        </p:spPr>
      </p:pic>
      <p:sp>
        <p:nvSpPr>
          <p:cNvPr id="2" name="Date Placeholder 1">
            <a:extLst>
              <a:ext uri="{FF2B5EF4-FFF2-40B4-BE49-F238E27FC236}">
                <a16:creationId xmlns:a16="http://schemas.microsoft.com/office/drawing/2014/main" id="{5CC60A37-8223-9897-5594-400949B1455A}"/>
              </a:ext>
            </a:extLst>
          </p:cNvPr>
          <p:cNvSpPr>
            <a:spLocks noGrp="1"/>
          </p:cNvSpPr>
          <p:nvPr>
            <p:ph type="dt" sz="half" idx="10"/>
          </p:nvPr>
        </p:nvSpPr>
        <p:spPr>
          <a:xfrm>
            <a:off x="7272722" y="85746"/>
            <a:ext cx="814976" cy="176797"/>
          </a:xfrm>
        </p:spPr>
        <p:txBody>
          <a:bodyPr anchor="b">
            <a:normAutofit/>
          </a:bodyPr>
          <a:lstStyle/>
          <a:p>
            <a:pPr>
              <a:spcAft>
                <a:spcPts val="600"/>
              </a:spcAft>
            </a:pPr>
            <a:fld id="{D47CA900-C54E-46DA-9750-FC525BA50C3D}" type="datetime1">
              <a:rPr lang="en-US" smtClean="0"/>
              <a:pPr>
                <a:spcAft>
                  <a:spcPts val="600"/>
                </a:spcAft>
              </a:pPr>
              <a:t>6/30/2025</a:t>
            </a:fld>
            <a:endParaRPr lang="en-US" dirty="0"/>
          </a:p>
        </p:txBody>
      </p:sp>
      <p:sp>
        <p:nvSpPr>
          <p:cNvPr id="4" name="Slide Number Placeholder 3">
            <a:extLst>
              <a:ext uri="{FF2B5EF4-FFF2-40B4-BE49-F238E27FC236}">
                <a16:creationId xmlns:a16="http://schemas.microsoft.com/office/drawing/2014/main" id="{E2227DEF-8AEC-8572-CEE0-35F646885C3B}"/>
              </a:ext>
            </a:extLst>
          </p:cNvPr>
          <p:cNvSpPr>
            <a:spLocks noGrp="1"/>
          </p:cNvSpPr>
          <p:nvPr>
            <p:ph type="sldNum" sz="quarter" idx="12"/>
          </p:nvPr>
        </p:nvSpPr>
        <p:spPr>
          <a:xfrm>
            <a:off x="8177914" y="85746"/>
            <a:ext cx="377124" cy="176797"/>
          </a:xfrm>
        </p:spPr>
        <p:txBody>
          <a:bodyPr anchor="b">
            <a:normAutofit/>
          </a:bodyPr>
          <a:lstStyle/>
          <a:p>
            <a:pPr>
              <a:spcAft>
                <a:spcPts val="600"/>
              </a:spcAft>
            </a:pPr>
            <a:fld id="{091A926C-488A-4E3E-9C21-57CAA120E114}" type="slidenum">
              <a:rPr lang="en-US" smtClean="0"/>
              <a:pPr>
                <a:spcAft>
                  <a:spcPts val="600"/>
                </a:spcAft>
              </a:pPr>
              <a:t>73</a:t>
            </a:fld>
            <a:endParaRPr lang="en-US" dirty="0"/>
          </a:p>
        </p:txBody>
      </p:sp>
      <p:sp>
        <p:nvSpPr>
          <p:cNvPr id="7" name="TextBox 6">
            <a:extLst>
              <a:ext uri="{FF2B5EF4-FFF2-40B4-BE49-F238E27FC236}">
                <a16:creationId xmlns:a16="http://schemas.microsoft.com/office/drawing/2014/main" id="{DC2ACB80-43AA-3CF7-B6BF-48779136E775}"/>
              </a:ext>
            </a:extLst>
          </p:cNvPr>
          <p:cNvSpPr txBox="1"/>
          <p:nvPr/>
        </p:nvSpPr>
        <p:spPr>
          <a:xfrm>
            <a:off x="717550" y="5708650"/>
            <a:ext cx="939681" cy="215444"/>
          </a:xfrm>
          <a:prstGeom prst="rect">
            <a:avLst/>
          </a:prstGeom>
          <a:noFill/>
        </p:spPr>
        <p:txBody>
          <a:bodyPr wrap="none" rtlCol="0">
            <a:spAutoFit/>
          </a:bodyPr>
          <a:lstStyle/>
          <a:p>
            <a:r>
              <a:rPr lang="en-US" sz="800" dirty="0"/>
              <a:t>Source: </a:t>
            </a:r>
            <a:r>
              <a:rPr lang="en-US" sz="800" dirty="0">
                <a:hlinkClick r:id="rId4"/>
              </a:rPr>
              <a:t>Eurostat.</a:t>
            </a:r>
            <a:endParaRPr lang="en-US" sz="800" dirty="0"/>
          </a:p>
        </p:txBody>
      </p:sp>
      <p:sp>
        <p:nvSpPr>
          <p:cNvPr id="8" name="TextBox 7">
            <a:extLst>
              <a:ext uri="{FF2B5EF4-FFF2-40B4-BE49-F238E27FC236}">
                <a16:creationId xmlns:a16="http://schemas.microsoft.com/office/drawing/2014/main" id="{1E9C097D-4F23-53DA-F022-98B12B431511}"/>
              </a:ext>
            </a:extLst>
          </p:cNvPr>
          <p:cNvSpPr txBox="1"/>
          <p:nvPr/>
        </p:nvSpPr>
        <p:spPr>
          <a:xfrm>
            <a:off x="508409" y="1051323"/>
            <a:ext cx="8046629" cy="400110"/>
          </a:xfrm>
          <a:prstGeom prst="rect">
            <a:avLst/>
          </a:prstGeom>
          <a:noFill/>
        </p:spPr>
        <p:txBody>
          <a:bodyPr wrap="square" rtlCol="0">
            <a:spAutoFit/>
          </a:bodyPr>
          <a:lstStyle/>
          <a:p>
            <a:r>
              <a:rPr lang="en-US" sz="2000" b="1" noProof="0" dirty="0"/>
              <a:t>Observation: Waste can be valuable</a:t>
            </a:r>
            <a:endParaRPr lang="en-US" sz="2000" noProof="0" dirty="0"/>
          </a:p>
        </p:txBody>
      </p:sp>
    </p:spTree>
    <p:extLst>
      <p:ext uri="{BB962C8B-B14F-4D97-AF65-F5344CB8AC3E}">
        <p14:creationId xmlns:p14="http://schemas.microsoft.com/office/powerpoint/2010/main" val="35405146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6992B-8AEE-CCAA-DDDF-45C2F69DC9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A804F8F-0A68-D6F2-4EE5-2E4D15857F74}"/>
              </a:ext>
            </a:extLst>
          </p:cNvPr>
          <p:cNvSpPr>
            <a:spLocks noGrp="1"/>
          </p:cNvSpPr>
          <p:nvPr>
            <p:ph type="title"/>
          </p:nvPr>
        </p:nvSpPr>
        <p:spPr>
          <a:xfrm>
            <a:off x="587375" y="619125"/>
            <a:ext cx="7967664" cy="865188"/>
          </a:xfrm>
        </p:spPr>
        <p:txBody>
          <a:bodyPr anchor="t">
            <a:normAutofit/>
          </a:bodyPr>
          <a:lstStyle/>
          <a:p>
            <a:r>
              <a:rPr lang="en-US" dirty="0"/>
              <a:t>Appendix</a:t>
            </a:r>
          </a:p>
        </p:txBody>
      </p:sp>
      <p:sp>
        <p:nvSpPr>
          <p:cNvPr id="2" name="Date Placeholder 1">
            <a:extLst>
              <a:ext uri="{FF2B5EF4-FFF2-40B4-BE49-F238E27FC236}">
                <a16:creationId xmlns:a16="http://schemas.microsoft.com/office/drawing/2014/main" id="{B955F1C6-F3B4-12B7-2AC1-7F3131E683D3}"/>
              </a:ext>
            </a:extLst>
          </p:cNvPr>
          <p:cNvSpPr>
            <a:spLocks noGrp="1"/>
          </p:cNvSpPr>
          <p:nvPr>
            <p:ph type="dt" sz="half" idx="10"/>
          </p:nvPr>
        </p:nvSpPr>
        <p:spPr>
          <a:xfrm>
            <a:off x="7272722" y="85746"/>
            <a:ext cx="814976" cy="176797"/>
          </a:xfrm>
        </p:spPr>
        <p:txBody>
          <a:bodyPr anchor="b">
            <a:normAutofit/>
          </a:bodyPr>
          <a:lstStyle/>
          <a:p>
            <a:pPr>
              <a:spcAft>
                <a:spcPts val="600"/>
              </a:spcAft>
            </a:pPr>
            <a:fld id="{D47CA900-C54E-46DA-9750-FC525BA50C3D}" type="datetime1">
              <a:rPr lang="en-US" smtClean="0"/>
              <a:pPr>
                <a:spcAft>
                  <a:spcPts val="600"/>
                </a:spcAft>
              </a:pPr>
              <a:t>6/30/2025</a:t>
            </a:fld>
            <a:endParaRPr lang="en-US" dirty="0"/>
          </a:p>
        </p:txBody>
      </p:sp>
      <p:sp>
        <p:nvSpPr>
          <p:cNvPr id="4" name="Slide Number Placeholder 3">
            <a:extLst>
              <a:ext uri="{FF2B5EF4-FFF2-40B4-BE49-F238E27FC236}">
                <a16:creationId xmlns:a16="http://schemas.microsoft.com/office/drawing/2014/main" id="{0FD3D942-4269-C30E-FB58-E0DBC98F84F3}"/>
              </a:ext>
            </a:extLst>
          </p:cNvPr>
          <p:cNvSpPr>
            <a:spLocks noGrp="1"/>
          </p:cNvSpPr>
          <p:nvPr>
            <p:ph type="sldNum" sz="quarter" idx="12"/>
          </p:nvPr>
        </p:nvSpPr>
        <p:spPr>
          <a:xfrm>
            <a:off x="8177914" y="85746"/>
            <a:ext cx="377124" cy="176797"/>
          </a:xfrm>
        </p:spPr>
        <p:txBody>
          <a:bodyPr anchor="b">
            <a:normAutofit/>
          </a:bodyPr>
          <a:lstStyle/>
          <a:p>
            <a:pPr>
              <a:spcAft>
                <a:spcPts val="600"/>
              </a:spcAft>
            </a:pPr>
            <a:fld id="{091A926C-488A-4E3E-9C21-57CAA120E114}" type="slidenum">
              <a:rPr lang="en-US" smtClean="0"/>
              <a:pPr>
                <a:spcAft>
                  <a:spcPts val="600"/>
                </a:spcAft>
              </a:pPr>
              <a:t>74</a:t>
            </a:fld>
            <a:endParaRPr lang="en-US" dirty="0"/>
          </a:p>
        </p:txBody>
      </p:sp>
      <p:sp>
        <p:nvSpPr>
          <p:cNvPr id="8" name="TextBox 7">
            <a:extLst>
              <a:ext uri="{FF2B5EF4-FFF2-40B4-BE49-F238E27FC236}">
                <a16:creationId xmlns:a16="http://schemas.microsoft.com/office/drawing/2014/main" id="{C35DAC9A-F6FD-0935-3EE9-547F5ACA791B}"/>
              </a:ext>
            </a:extLst>
          </p:cNvPr>
          <p:cNvSpPr txBox="1"/>
          <p:nvPr/>
        </p:nvSpPr>
        <p:spPr>
          <a:xfrm>
            <a:off x="508409" y="1051323"/>
            <a:ext cx="8046629" cy="400110"/>
          </a:xfrm>
          <a:prstGeom prst="rect">
            <a:avLst/>
          </a:prstGeom>
          <a:noFill/>
        </p:spPr>
        <p:txBody>
          <a:bodyPr wrap="square" rtlCol="0">
            <a:spAutoFit/>
          </a:bodyPr>
          <a:lstStyle/>
          <a:p>
            <a:r>
              <a:rPr lang="en-US" sz="2000" b="1" noProof="0" dirty="0"/>
              <a:t>Observation: Waste can be valuable</a:t>
            </a:r>
            <a:endParaRPr lang="en-US" sz="2000" noProof="0" dirty="0"/>
          </a:p>
        </p:txBody>
      </p:sp>
      <p:sp>
        <p:nvSpPr>
          <p:cNvPr id="6" name="TextBox 6">
            <a:extLst>
              <a:ext uri="{FF2B5EF4-FFF2-40B4-BE49-F238E27FC236}">
                <a16:creationId xmlns:a16="http://schemas.microsoft.com/office/drawing/2014/main" id="{9B94F929-A7C7-14F3-248D-2ED48A9FA732}"/>
              </a:ext>
            </a:extLst>
          </p:cNvPr>
          <p:cNvSpPr txBox="1"/>
          <p:nvPr/>
        </p:nvSpPr>
        <p:spPr>
          <a:xfrm>
            <a:off x="2637291" y="1865018"/>
            <a:ext cx="4063591"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dirty="0"/>
              <a:t>Material prices in DKK/kg by material group </a:t>
            </a:r>
            <a:r>
              <a:rPr lang="en-US" sz="2000" b="1" i="1" dirty="0"/>
              <a:t>m</a:t>
            </a:r>
            <a:r>
              <a:rPr lang="en-US" sz="2000" b="1" dirty="0"/>
              <a:t> and source </a:t>
            </a:r>
            <a:r>
              <a:rPr lang="en-US" sz="2000" b="1" i="1" dirty="0"/>
              <a:t>s</a:t>
            </a:r>
          </a:p>
        </p:txBody>
      </p:sp>
      <p:pic>
        <p:nvPicPr>
          <p:cNvPr id="9" name="table">
            <a:extLst>
              <a:ext uri="{FF2B5EF4-FFF2-40B4-BE49-F238E27FC236}">
                <a16:creationId xmlns:a16="http://schemas.microsoft.com/office/drawing/2014/main" id="{CAD1D2D2-E78D-9C29-BB25-A6D202ECFD87}"/>
              </a:ext>
            </a:extLst>
          </p:cNvPr>
          <p:cNvPicPr>
            <a:picLocks noChangeAspect="1"/>
          </p:cNvPicPr>
          <p:nvPr/>
        </p:nvPicPr>
        <p:blipFill>
          <a:blip r:embed="rId3"/>
          <a:stretch>
            <a:fillRect/>
          </a:stretch>
        </p:blipFill>
        <p:spPr>
          <a:xfrm>
            <a:off x="2681663" y="2552110"/>
            <a:ext cx="3780673" cy="3156540"/>
          </a:xfrm>
          <a:prstGeom prst="rect">
            <a:avLst/>
          </a:prstGeom>
        </p:spPr>
      </p:pic>
    </p:spTree>
    <p:extLst>
      <p:ext uri="{BB962C8B-B14F-4D97-AF65-F5344CB8AC3E}">
        <p14:creationId xmlns:p14="http://schemas.microsoft.com/office/powerpoint/2010/main" val="12317760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41369-E8D4-9ED0-5BDC-60C5437B53C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33FDE1-FC6A-6481-BBD7-18C305992F90}"/>
              </a:ext>
            </a:extLst>
          </p:cNvPr>
          <p:cNvSpPr>
            <a:spLocks noGrp="1"/>
          </p:cNvSpPr>
          <p:nvPr>
            <p:ph type="title"/>
          </p:nvPr>
        </p:nvSpPr>
        <p:spPr/>
        <p:txBody>
          <a:bodyPr/>
          <a:lstStyle/>
          <a:p>
            <a:r>
              <a:rPr lang="en-US" dirty="0"/>
              <a:t>Appendix </a:t>
            </a:r>
          </a:p>
        </p:txBody>
      </p:sp>
      <p:sp>
        <p:nvSpPr>
          <p:cNvPr id="2" name="Date Placeholder 1">
            <a:extLst>
              <a:ext uri="{FF2B5EF4-FFF2-40B4-BE49-F238E27FC236}">
                <a16:creationId xmlns:a16="http://schemas.microsoft.com/office/drawing/2014/main" id="{33B2048C-2E91-28C0-288A-8FE3E0407E9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13C3C7ED-9C74-6B6A-FC4B-34FD4B9E697A}"/>
              </a:ext>
            </a:extLst>
          </p:cNvPr>
          <p:cNvSpPr>
            <a:spLocks noGrp="1"/>
          </p:cNvSpPr>
          <p:nvPr>
            <p:ph type="sldNum" sz="quarter" idx="12"/>
          </p:nvPr>
        </p:nvSpPr>
        <p:spPr/>
        <p:txBody>
          <a:bodyPr/>
          <a:lstStyle/>
          <a:p>
            <a:fld id="{091A926C-488A-4E3E-9C21-57CAA120E114}" type="slidenum">
              <a:rPr lang="en-US" smtClean="0"/>
              <a:t>75</a:t>
            </a:fld>
            <a:endParaRPr lang="en-US" dirty="0"/>
          </a:p>
        </p:txBody>
      </p:sp>
      <p:sp>
        <p:nvSpPr>
          <p:cNvPr id="6" name="TextBox 5">
            <a:extLst>
              <a:ext uri="{FF2B5EF4-FFF2-40B4-BE49-F238E27FC236}">
                <a16:creationId xmlns:a16="http://schemas.microsoft.com/office/drawing/2014/main" id="{A0EE585B-94FA-78B4-5E95-BDBBB8857296}"/>
              </a:ext>
            </a:extLst>
          </p:cNvPr>
          <p:cNvSpPr txBox="1"/>
          <p:nvPr/>
        </p:nvSpPr>
        <p:spPr>
          <a:xfrm>
            <a:off x="508409" y="1051323"/>
            <a:ext cx="8046629" cy="1323439"/>
          </a:xfrm>
          <a:prstGeom prst="rect">
            <a:avLst/>
          </a:prstGeom>
          <a:noFill/>
        </p:spPr>
        <p:txBody>
          <a:bodyPr wrap="square" rtlCol="0">
            <a:spAutoFit/>
          </a:bodyPr>
          <a:lstStyle/>
          <a:p>
            <a:r>
              <a:rPr lang="en-US" sz="2000" b="1" noProof="0" dirty="0"/>
              <a:t>EU plans to double its ‘Circular Material Use Rate’ from 2020 to 2030 </a:t>
            </a:r>
          </a:p>
          <a:p>
            <a:endParaRPr lang="en-US" sz="2000" noProof="0" dirty="0"/>
          </a:p>
          <a:p>
            <a:endParaRPr lang="en-US" sz="2000" dirty="0"/>
          </a:p>
        </p:txBody>
      </p:sp>
      <p:pic>
        <p:nvPicPr>
          <p:cNvPr id="7" name="Picture 6">
            <a:extLst>
              <a:ext uri="{FF2B5EF4-FFF2-40B4-BE49-F238E27FC236}">
                <a16:creationId xmlns:a16="http://schemas.microsoft.com/office/drawing/2014/main" id="{5628213E-B250-4CBD-8383-54624526BD33}"/>
              </a:ext>
            </a:extLst>
          </p:cNvPr>
          <p:cNvPicPr>
            <a:picLocks noChangeAspect="1"/>
          </p:cNvPicPr>
          <p:nvPr/>
        </p:nvPicPr>
        <p:blipFill>
          <a:blip r:embed="rId3"/>
          <a:stretch>
            <a:fillRect/>
          </a:stretch>
        </p:blipFill>
        <p:spPr>
          <a:xfrm>
            <a:off x="1221075" y="1930234"/>
            <a:ext cx="6102485" cy="964343"/>
          </a:xfrm>
          <a:prstGeom prst="rect">
            <a:avLst/>
          </a:prstGeom>
        </p:spPr>
      </p:pic>
      <p:sp>
        <p:nvSpPr>
          <p:cNvPr id="8" name="TextBox 7">
            <a:extLst>
              <a:ext uri="{FF2B5EF4-FFF2-40B4-BE49-F238E27FC236}">
                <a16:creationId xmlns:a16="http://schemas.microsoft.com/office/drawing/2014/main" id="{C859EEF7-CAF5-075C-40B0-89C48341E204}"/>
              </a:ext>
            </a:extLst>
          </p:cNvPr>
          <p:cNvSpPr txBox="1"/>
          <p:nvPr/>
        </p:nvSpPr>
        <p:spPr>
          <a:xfrm>
            <a:off x="1143253" y="2950616"/>
            <a:ext cx="1762021" cy="230832"/>
          </a:xfrm>
          <a:prstGeom prst="rect">
            <a:avLst/>
          </a:prstGeom>
          <a:noFill/>
        </p:spPr>
        <p:txBody>
          <a:bodyPr wrap="none" rtlCol="0">
            <a:spAutoFit/>
          </a:bodyPr>
          <a:lstStyle/>
          <a:p>
            <a:r>
              <a:rPr lang="en-GB" sz="900" dirty="0"/>
              <a:t>Source: </a:t>
            </a:r>
            <a:r>
              <a:rPr lang="en-GB" sz="900" dirty="0">
                <a:hlinkClick r:id="rId4"/>
              </a:rPr>
              <a:t>EU Commission (2020)</a:t>
            </a:r>
            <a:r>
              <a:rPr lang="en-GB" sz="900" dirty="0"/>
              <a:t>.</a:t>
            </a:r>
          </a:p>
        </p:txBody>
      </p:sp>
      <p:graphicFrame>
        <p:nvGraphicFramePr>
          <p:cNvPr id="9" name="Chart 8">
            <a:extLst>
              <a:ext uri="{FF2B5EF4-FFF2-40B4-BE49-F238E27FC236}">
                <a16:creationId xmlns:a16="http://schemas.microsoft.com/office/drawing/2014/main" id="{9DF8B16E-6042-A7CF-5A7D-8A15BFD42DC0}"/>
              </a:ext>
            </a:extLst>
          </p:cNvPr>
          <p:cNvGraphicFramePr>
            <a:graphicFrameLocks/>
          </p:cNvGraphicFramePr>
          <p:nvPr/>
        </p:nvGraphicFramePr>
        <p:xfrm>
          <a:off x="1221075" y="3506915"/>
          <a:ext cx="6102485" cy="3162795"/>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Box 11">
            <a:extLst>
              <a:ext uri="{FF2B5EF4-FFF2-40B4-BE49-F238E27FC236}">
                <a16:creationId xmlns:a16="http://schemas.microsoft.com/office/drawing/2014/main" id="{4D9D96F2-279D-3BF1-DA82-0894213F3566}"/>
              </a:ext>
            </a:extLst>
          </p:cNvPr>
          <p:cNvSpPr txBox="1"/>
          <p:nvPr/>
        </p:nvSpPr>
        <p:spPr>
          <a:xfrm>
            <a:off x="3417651" y="5071282"/>
            <a:ext cx="590226" cy="261610"/>
          </a:xfrm>
          <a:prstGeom prst="rect">
            <a:avLst/>
          </a:prstGeom>
          <a:noFill/>
        </p:spPr>
        <p:txBody>
          <a:bodyPr wrap="none" rtlCol="0">
            <a:spAutoFit/>
          </a:bodyPr>
          <a:lstStyle/>
          <a:p>
            <a:r>
              <a:rPr lang="en-GB" sz="1100" b="1" dirty="0"/>
              <a:t>10.7%</a:t>
            </a:r>
          </a:p>
        </p:txBody>
      </p:sp>
      <p:cxnSp>
        <p:nvCxnSpPr>
          <p:cNvPr id="14" name="Straight Arrow Connector 13">
            <a:extLst>
              <a:ext uri="{FF2B5EF4-FFF2-40B4-BE49-F238E27FC236}">
                <a16:creationId xmlns:a16="http://schemas.microsoft.com/office/drawing/2014/main" id="{87D47E1A-6A35-10F8-7F0D-F162B8298566}"/>
              </a:ext>
            </a:extLst>
          </p:cNvPr>
          <p:cNvCxnSpPr/>
          <p:nvPr/>
        </p:nvCxnSpPr>
        <p:spPr>
          <a:xfrm flipH="1" flipV="1">
            <a:off x="3488987" y="4636851"/>
            <a:ext cx="58366" cy="43443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25161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13247-0E0B-0FE3-C053-378E167D7B7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F99098A-E78E-63D3-8EF2-E5BF1A68F5C4}"/>
              </a:ext>
            </a:extLst>
          </p:cNvPr>
          <p:cNvSpPr>
            <a:spLocks noGrp="1"/>
          </p:cNvSpPr>
          <p:nvPr>
            <p:ph type="title"/>
          </p:nvPr>
        </p:nvSpPr>
        <p:spPr/>
        <p:txBody>
          <a:bodyPr/>
          <a:lstStyle/>
          <a:p>
            <a:r>
              <a:rPr lang="en-US" dirty="0"/>
              <a:t>Appendix - Data</a:t>
            </a:r>
          </a:p>
        </p:txBody>
      </p:sp>
      <p:sp>
        <p:nvSpPr>
          <p:cNvPr id="2" name="Date Placeholder 1">
            <a:extLst>
              <a:ext uri="{FF2B5EF4-FFF2-40B4-BE49-F238E27FC236}">
                <a16:creationId xmlns:a16="http://schemas.microsoft.com/office/drawing/2014/main" id="{18C294FA-755F-B4EB-44F3-5EF5106684C2}"/>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40054398-1BCF-A957-F1AA-165348090519}"/>
              </a:ext>
            </a:extLst>
          </p:cNvPr>
          <p:cNvSpPr>
            <a:spLocks noGrp="1"/>
          </p:cNvSpPr>
          <p:nvPr>
            <p:ph type="sldNum" sz="quarter" idx="12"/>
          </p:nvPr>
        </p:nvSpPr>
        <p:spPr/>
        <p:txBody>
          <a:bodyPr/>
          <a:lstStyle/>
          <a:p>
            <a:fld id="{091A926C-488A-4E3E-9C21-57CAA120E114}" type="slidenum">
              <a:rPr lang="en-US" smtClean="0"/>
              <a:t>76</a:t>
            </a:fld>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60A81CB-0A55-759C-E6A6-69436FEC687D}"/>
                  </a:ext>
                </a:extLst>
              </p:cNvPr>
              <p:cNvSpPr txBox="1"/>
              <p:nvPr/>
            </p:nvSpPr>
            <p:spPr>
              <a:xfrm>
                <a:off x="508409" y="1051323"/>
                <a:ext cx="8127182" cy="2875724"/>
              </a:xfrm>
              <a:prstGeom prst="rect">
                <a:avLst/>
              </a:prstGeom>
              <a:noFill/>
            </p:spPr>
            <p:txBody>
              <a:bodyPr wrap="square" rtlCol="0">
                <a:spAutoFit/>
              </a:bodyPr>
              <a:lstStyle/>
              <a:p>
                <a:r>
                  <a:rPr lang="en-US" sz="2000" b="1" dirty="0"/>
                  <a:t>Material Flow Accounts</a:t>
                </a:r>
              </a:p>
              <a:p>
                <a:r>
                  <a:rPr lang="en-US" sz="2000" i="1" dirty="0"/>
                  <a:t>Physical supply-use tables</a:t>
                </a:r>
                <a:r>
                  <a:rPr lang="en-US" sz="2000" dirty="0"/>
                  <a:t> (PSUTs) of 1,947 commodities used for production, consumption, solid waste management (SWM), and export</a:t>
                </a:r>
              </a:p>
              <a:p>
                <a:endParaRPr lang="en-US" sz="2000" dirty="0"/>
              </a:p>
              <a:p>
                <a:r>
                  <a:rPr lang="en-US" sz="2000" b="1" dirty="0"/>
                  <a:t>Subset of commodities</a:t>
                </a:r>
                <a:endParaRPr lang="en-US" sz="2000" dirty="0"/>
              </a:p>
              <a:p>
                <a:r>
                  <a:rPr lang="en-US" sz="2000" dirty="0"/>
                  <a:t>We use the subset of 134 commodities </a:t>
                </a:r>
                <a14:m>
                  <m:oMath xmlns:m="http://schemas.openxmlformats.org/officeDocument/2006/math">
                    <m:r>
                      <a:rPr lang="en-US" sz="2000" b="0" i="1" smtClean="0">
                        <a:latin typeface="Cambria Math" panose="02040503050406030204" pitchFamily="18" charset="0"/>
                        <a:ea typeface="Cambria Math" panose="02040503050406030204" pitchFamily="18" charset="0"/>
                      </a:rPr>
                      <m:t>h</m:t>
                    </m:r>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𝐻</m:t>
                        </m:r>
                      </m:e>
                      <m:sub>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sub>
                    </m:sSub>
                  </m:oMath>
                </a14:m>
                <a:r>
                  <a:rPr lang="en-US" sz="2000" dirty="0"/>
                  <a:t> where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is the set of commodities in the intersection of material groups </a:t>
                </a:r>
                <a14:m>
                  <m:oMath xmlns:m="http://schemas.openxmlformats.org/officeDocument/2006/math">
                    <m:r>
                      <a:rPr lang="en-US" sz="2000" i="1">
                        <a:latin typeface="Cambria Math" panose="02040503050406030204" pitchFamily="18" charset="0"/>
                        <a:ea typeface="Cambria Math" panose="02040503050406030204" pitchFamily="18" charset="0"/>
                      </a:rPr>
                      <m:t>𝑀</m:t>
                    </m:r>
                  </m:oMath>
                </a14:m>
                <a:r>
                  <a:rPr lang="en-US" sz="2000" dirty="0"/>
                  <a:t> </a:t>
                </a:r>
                <a14:m>
                  <m:oMath xmlns:m="http://schemas.openxmlformats.org/officeDocument/2006/math">
                    <m:r>
                      <a:rPr lang="en-US" sz="2000" b="0" i="1" smtClean="0">
                        <a:latin typeface="Cambria Math" panose="02040503050406030204" pitchFamily="18" charset="0"/>
                        <a:ea typeface="Cambria Math" panose="02040503050406030204" pitchFamily="18" charset="0"/>
                      </a:rPr>
                      <m:t>∩</m:t>
                    </m:r>
                  </m:oMath>
                </a14:m>
                <a:r>
                  <a:rPr lang="en-US" sz="2000" dirty="0"/>
                  <a:t> sources </a:t>
                </a:r>
                <a14:m>
                  <m:oMath xmlns:m="http://schemas.openxmlformats.org/officeDocument/2006/math">
                    <m:r>
                      <a:rPr lang="en-US" sz="2000" b="0" i="1" smtClean="0">
                        <a:latin typeface="Cambria Math" panose="02040503050406030204" pitchFamily="18" charset="0"/>
                        <a:ea typeface="Cambria Math" panose="02040503050406030204" pitchFamily="18" charset="0"/>
                      </a:rPr>
                      <m:t>𝑆</m:t>
                    </m:r>
                  </m:oMath>
                </a14:m>
                <a:endParaRPr lang="en-US" sz="2000" dirty="0"/>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𝑀</m:t>
                      </m:r>
                      <m:r>
                        <a:rPr lang="en-US" sz="2000" i="1">
                          <a:latin typeface="Cambria Math" panose="02040503050406030204" pitchFamily="18" charset="0"/>
                          <a:ea typeface="Cambria Math" panose="02040503050406030204" pitchFamily="18" charset="0"/>
                        </a:rPr>
                        <m:t>={</m:t>
                      </m:r>
                      <m:r>
                        <m:rPr>
                          <m:nor/>
                        </m:rPr>
                        <a:rPr lang="en-US" sz="2000"/>
                        <m:t>Metal</m:t>
                      </m:r>
                      <m:r>
                        <m:rPr>
                          <m:nor/>
                        </m:rPr>
                        <a:rPr lang="en-US" sz="2000"/>
                        <m:t>, </m:t>
                      </m:r>
                      <m:r>
                        <m:rPr>
                          <m:nor/>
                        </m:rPr>
                        <a:rPr lang="en-US" sz="2000"/>
                        <m:t>Paper</m:t>
                      </m:r>
                      <m:r>
                        <m:rPr>
                          <m:nor/>
                        </m:rPr>
                        <a:rPr lang="en-US" sz="2000"/>
                        <m:t>, </m:t>
                      </m:r>
                      <m:r>
                        <m:rPr>
                          <m:nor/>
                        </m:rPr>
                        <a:rPr lang="en-US" sz="2000"/>
                        <m:t>Plastic</m:t>
                      </m:r>
                      <m:r>
                        <m:rPr>
                          <m:nor/>
                        </m:rPr>
                        <a:rPr lang="en-US" sz="2000"/>
                        <m:t>, </m:t>
                      </m:r>
                      <m:r>
                        <m:rPr>
                          <m:nor/>
                        </m:rPr>
                        <a:rPr lang="en-US" sz="2000"/>
                        <m:t>Rubber</m:t>
                      </m:r>
                      <m:r>
                        <m:rPr>
                          <m:nor/>
                        </m:rPr>
                        <a:rPr lang="en-US" sz="2000"/>
                        <m:t>, </m:t>
                      </m:r>
                      <m:r>
                        <m:rPr>
                          <m:nor/>
                        </m:rPr>
                        <a:rPr lang="en-US" sz="2000"/>
                        <m:t>Textile</m:t>
                      </m:r>
                      <m:r>
                        <m:rPr>
                          <m:nor/>
                        </m:rPr>
                        <a:rPr lang="en-US" sz="2000"/>
                        <m:t>}</m:t>
                      </m:r>
                    </m:oMath>
                  </m:oMathPara>
                </a14:m>
                <a:endParaRPr lang="en-US" sz="2000" dirty="0"/>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𝑆</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m:rPr>
                          <m:nor/>
                        </m:rPr>
                        <a:rPr lang="en-US" sz="2000"/>
                        <m:t>virgin</m:t>
                      </m:r>
                      <m:r>
                        <m:rPr>
                          <m:nor/>
                        </m:rPr>
                        <a:rPr lang="en-US" sz="2000"/>
                        <m:t> </m:t>
                      </m:r>
                      <m:r>
                        <m:rPr>
                          <m:nor/>
                        </m:rPr>
                        <a:rPr lang="en-US" sz="2000" i="1"/>
                        <m:t>(</m:t>
                      </m:r>
                      <m:r>
                        <m:rPr>
                          <m:nor/>
                        </m:rPr>
                        <a:rPr lang="en-US" sz="2000" i="1"/>
                        <m:t>V</m:t>
                      </m:r>
                      <m:r>
                        <m:rPr>
                          <m:nor/>
                        </m:rPr>
                        <a:rPr lang="en-US" sz="2000" i="1"/>
                        <m:t>)</m:t>
                      </m:r>
                      <m:r>
                        <m:rPr>
                          <m:nor/>
                        </m:rPr>
                        <a:rPr lang="en-US" sz="2000" b="0" i="0" smtClean="0"/>
                        <m:t> </m:t>
                      </m:r>
                      <m:r>
                        <m:rPr>
                          <m:nor/>
                        </m:rPr>
                        <a:rPr lang="en-US" sz="2000"/>
                        <m:t>, </m:t>
                      </m:r>
                      <m:r>
                        <m:rPr>
                          <m:nor/>
                        </m:rPr>
                        <a:rPr lang="en-US" sz="2000"/>
                        <m:t>recycled</m:t>
                      </m:r>
                      <m:r>
                        <m:rPr>
                          <m:nor/>
                        </m:rPr>
                        <a:rPr lang="en-US" sz="2000" i="1"/>
                        <m:t> (</m:t>
                      </m:r>
                      <m:r>
                        <m:rPr>
                          <m:nor/>
                        </m:rPr>
                        <a:rPr lang="en-US" sz="2000" i="1"/>
                        <m:t>R</m:t>
                      </m:r>
                      <m:r>
                        <m:rPr>
                          <m:nor/>
                        </m:rPr>
                        <a:rPr lang="en-US" sz="2000" i="1"/>
                        <m:t>) </m:t>
                      </m:r>
                      <m:r>
                        <m:rPr>
                          <m:nor/>
                        </m:rPr>
                        <a:rPr lang="en-US" sz="2000"/>
                        <m:t>, </m:t>
                      </m:r>
                      <m:r>
                        <m:rPr>
                          <m:nor/>
                        </m:rPr>
                        <a:rPr lang="en-US" sz="2000"/>
                        <m:t>waste</m:t>
                      </m:r>
                      <m:r>
                        <m:rPr>
                          <m:nor/>
                        </m:rPr>
                        <a:rPr lang="en-US" sz="2000"/>
                        <m:t> </m:t>
                      </m:r>
                      <m:r>
                        <m:rPr>
                          <m:nor/>
                        </m:rPr>
                        <a:rPr lang="en-US" sz="2000" i="1"/>
                        <m:t>(</m:t>
                      </m:r>
                      <m:r>
                        <m:rPr>
                          <m:nor/>
                        </m:rPr>
                        <a:rPr lang="en-US" sz="2000" i="1"/>
                        <m:t>W</m:t>
                      </m:r>
                      <m:r>
                        <m:rPr>
                          <m:nor/>
                        </m:rPr>
                        <a:rPr lang="en-US" sz="2000" i="1"/>
                        <m:t>)</m:t>
                      </m:r>
                      <m:r>
                        <m:rPr>
                          <m:nor/>
                        </m:rPr>
                        <a:rPr lang="en-US" sz="2000" b="0" i="0" smtClean="0"/>
                        <m:t> </m:t>
                      </m:r>
                      <m:r>
                        <m:rPr>
                          <m:nor/>
                        </m:rPr>
                        <a:rPr lang="en-US" sz="2000"/>
                        <m:t>}</m:t>
                      </m:r>
                    </m:oMath>
                  </m:oMathPara>
                </a14:m>
                <a:endParaRPr lang="en-US" sz="2000" dirty="0"/>
              </a:p>
            </p:txBody>
          </p:sp>
        </mc:Choice>
        <mc:Fallback xmlns="">
          <p:sp>
            <p:nvSpPr>
              <p:cNvPr id="5" name="TextBox 4">
                <a:extLst>
                  <a:ext uri="{FF2B5EF4-FFF2-40B4-BE49-F238E27FC236}">
                    <a16:creationId xmlns:a16="http://schemas.microsoft.com/office/drawing/2014/main" id="{060A81CB-0A55-759C-E6A6-69436FEC687D}"/>
                  </a:ext>
                </a:extLst>
              </p:cNvPr>
              <p:cNvSpPr txBox="1">
                <a:spLocks noRot="1" noChangeAspect="1" noMove="1" noResize="1" noEditPoints="1" noAdjustHandles="1" noChangeArrowheads="1" noChangeShapeType="1" noTextEdit="1"/>
              </p:cNvSpPr>
              <p:nvPr/>
            </p:nvSpPr>
            <p:spPr>
              <a:xfrm>
                <a:off x="508409" y="1051323"/>
                <a:ext cx="8127182" cy="2875724"/>
              </a:xfrm>
              <a:prstGeom prst="rect">
                <a:avLst/>
              </a:prstGeom>
              <a:blipFill>
                <a:blip r:embed="rId3"/>
                <a:stretch>
                  <a:fillRect l="-750" t="-1059" r="-600" b="-1271"/>
                </a:stretch>
              </a:blipFill>
            </p:spPr>
            <p:txBody>
              <a:bodyPr/>
              <a:lstStyle/>
              <a:p>
                <a:r>
                  <a:rPr lang="da-DK">
                    <a:noFill/>
                  </a:rPr>
                  <a:t> </a:t>
                </a:r>
              </a:p>
            </p:txBody>
          </p:sp>
        </mc:Fallback>
      </mc:AlternateContent>
    </p:spTree>
    <p:extLst>
      <p:ext uri="{BB962C8B-B14F-4D97-AF65-F5344CB8AC3E}">
        <p14:creationId xmlns:p14="http://schemas.microsoft.com/office/powerpoint/2010/main" val="248334278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1170B-694E-6B48-0981-FFC4EE6D25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9561EB3-A08C-F15F-6ECB-F55C4DE04E38}"/>
              </a:ext>
            </a:extLst>
          </p:cNvPr>
          <p:cNvSpPr>
            <a:spLocks noGrp="1"/>
          </p:cNvSpPr>
          <p:nvPr>
            <p:ph type="title"/>
          </p:nvPr>
        </p:nvSpPr>
        <p:spPr>
          <a:xfrm>
            <a:off x="587374" y="618729"/>
            <a:ext cx="7967664" cy="865188"/>
          </a:xfrm>
        </p:spPr>
        <p:txBody>
          <a:bodyPr/>
          <a:lstStyle/>
          <a:p>
            <a:r>
              <a:rPr lang="en-US" dirty="0"/>
              <a:t>Appendix - Data</a:t>
            </a:r>
          </a:p>
        </p:txBody>
      </p:sp>
      <p:sp>
        <p:nvSpPr>
          <p:cNvPr id="2" name="Date Placeholder 1">
            <a:extLst>
              <a:ext uri="{FF2B5EF4-FFF2-40B4-BE49-F238E27FC236}">
                <a16:creationId xmlns:a16="http://schemas.microsoft.com/office/drawing/2014/main" id="{964123BA-BDA0-7F88-58A0-8206F9AE276D}"/>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9FA2492B-9BF8-A44C-3FCD-593810405B57}"/>
              </a:ext>
            </a:extLst>
          </p:cNvPr>
          <p:cNvSpPr>
            <a:spLocks noGrp="1"/>
          </p:cNvSpPr>
          <p:nvPr>
            <p:ph type="sldNum" sz="quarter" idx="12"/>
          </p:nvPr>
        </p:nvSpPr>
        <p:spPr/>
        <p:txBody>
          <a:bodyPr/>
          <a:lstStyle/>
          <a:p>
            <a:fld id="{091A926C-488A-4E3E-9C21-57CAA120E114}" type="slidenum">
              <a:rPr lang="en-US" smtClean="0"/>
              <a:t>77</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3C3D739-15F3-501F-8740-B7B375127749}"/>
                  </a:ext>
                </a:extLst>
              </p:cNvPr>
              <p:cNvSpPr txBox="1"/>
              <p:nvPr/>
            </p:nvSpPr>
            <p:spPr>
              <a:xfrm>
                <a:off x="508409" y="1051323"/>
                <a:ext cx="8127182" cy="3799053"/>
              </a:xfrm>
              <a:prstGeom prst="rect">
                <a:avLst/>
              </a:prstGeom>
              <a:noFill/>
            </p:spPr>
            <p:txBody>
              <a:bodyPr wrap="square" rtlCol="0">
                <a:spAutoFit/>
              </a:bodyPr>
              <a:lstStyle/>
              <a:p>
                <a:r>
                  <a:rPr lang="en-US" sz="2000" b="1" dirty="0"/>
                  <a:t>Material Flow Accounts</a:t>
                </a:r>
              </a:p>
              <a:p>
                <a:r>
                  <a:rPr lang="en-US" sz="2000" i="1" dirty="0"/>
                  <a:t>Physical supply-use tables</a:t>
                </a:r>
                <a:r>
                  <a:rPr lang="en-US" sz="2000" dirty="0"/>
                  <a:t> (PSUTs) of 1,947 commodities used for production, consumption, solid waste management (SWM), and export</a:t>
                </a:r>
              </a:p>
              <a:p>
                <a:endParaRPr lang="en-US" sz="2000" dirty="0"/>
              </a:p>
              <a:p>
                <a:r>
                  <a:rPr lang="en-US" sz="2000" b="1" dirty="0"/>
                  <a:t>Subset of commodities</a:t>
                </a:r>
                <a:endParaRPr lang="en-US" sz="2000" dirty="0"/>
              </a:p>
              <a:p>
                <a:r>
                  <a:rPr lang="en-US" sz="2000" dirty="0"/>
                  <a:t>We use the subset of 134 commodities </a:t>
                </a:r>
                <a14:m>
                  <m:oMath xmlns:m="http://schemas.openxmlformats.org/officeDocument/2006/math">
                    <m:r>
                      <a:rPr lang="en-US" sz="2000" b="0" i="1" smtClean="0">
                        <a:latin typeface="Cambria Math" panose="02040503050406030204" pitchFamily="18" charset="0"/>
                        <a:ea typeface="Cambria Math" panose="02040503050406030204" pitchFamily="18" charset="0"/>
                      </a:rPr>
                      <m:t>h</m:t>
                    </m:r>
                    <m:r>
                      <a:rPr lang="en-US" sz="2000" b="0" i="1" smtClean="0">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𝐻</m:t>
                        </m:r>
                      </m:e>
                      <m:sub>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sub>
                    </m:sSub>
                  </m:oMath>
                </a14:m>
                <a:r>
                  <a:rPr lang="en-US" sz="2000" dirty="0"/>
                  <a:t> where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is the set of commodities in the intersection of material groups </a:t>
                </a:r>
                <a14:m>
                  <m:oMath xmlns:m="http://schemas.openxmlformats.org/officeDocument/2006/math">
                    <m:r>
                      <a:rPr lang="en-US" sz="2000" i="1">
                        <a:latin typeface="Cambria Math" panose="02040503050406030204" pitchFamily="18" charset="0"/>
                        <a:ea typeface="Cambria Math" panose="02040503050406030204" pitchFamily="18" charset="0"/>
                      </a:rPr>
                      <m:t>𝑀</m:t>
                    </m:r>
                  </m:oMath>
                </a14:m>
                <a:r>
                  <a:rPr lang="en-US" sz="2000" dirty="0"/>
                  <a:t> </a:t>
                </a:r>
                <a14:m>
                  <m:oMath xmlns:m="http://schemas.openxmlformats.org/officeDocument/2006/math">
                    <m:r>
                      <a:rPr lang="en-US" sz="2000" b="0" i="1" smtClean="0">
                        <a:latin typeface="Cambria Math" panose="02040503050406030204" pitchFamily="18" charset="0"/>
                        <a:ea typeface="Cambria Math" panose="02040503050406030204" pitchFamily="18" charset="0"/>
                      </a:rPr>
                      <m:t>∩</m:t>
                    </m:r>
                  </m:oMath>
                </a14:m>
                <a:r>
                  <a:rPr lang="en-US" sz="2000" dirty="0"/>
                  <a:t> sources </a:t>
                </a:r>
                <a14:m>
                  <m:oMath xmlns:m="http://schemas.openxmlformats.org/officeDocument/2006/math">
                    <m:r>
                      <a:rPr lang="en-US" sz="2000" b="0" i="1" smtClean="0">
                        <a:latin typeface="Cambria Math" panose="02040503050406030204" pitchFamily="18" charset="0"/>
                        <a:ea typeface="Cambria Math" panose="02040503050406030204" pitchFamily="18" charset="0"/>
                      </a:rPr>
                      <m:t>𝑆</m:t>
                    </m:r>
                  </m:oMath>
                </a14:m>
                <a:endParaRPr lang="en-US" sz="2000" dirty="0"/>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𝑀</m:t>
                      </m:r>
                      <m:r>
                        <a:rPr lang="en-US" sz="2000" i="1">
                          <a:latin typeface="Cambria Math" panose="02040503050406030204" pitchFamily="18" charset="0"/>
                          <a:ea typeface="Cambria Math" panose="02040503050406030204" pitchFamily="18" charset="0"/>
                        </a:rPr>
                        <m:t>={</m:t>
                      </m:r>
                      <m:r>
                        <m:rPr>
                          <m:nor/>
                        </m:rPr>
                        <a:rPr lang="en-US" sz="2000"/>
                        <m:t>Metal</m:t>
                      </m:r>
                      <m:r>
                        <m:rPr>
                          <m:nor/>
                        </m:rPr>
                        <a:rPr lang="en-US" sz="2000"/>
                        <m:t>, </m:t>
                      </m:r>
                      <m:r>
                        <m:rPr>
                          <m:nor/>
                        </m:rPr>
                        <a:rPr lang="en-US" sz="2000"/>
                        <m:t>Paper</m:t>
                      </m:r>
                      <m:r>
                        <m:rPr>
                          <m:nor/>
                        </m:rPr>
                        <a:rPr lang="en-US" sz="2000"/>
                        <m:t>, </m:t>
                      </m:r>
                      <m:r>
                        <m:rPr>
                          <m:nor/>
                        </m:rPr>
                        <a:rPr lang="en-US" sz="2000"/>
                        <m:t>Plastic</m:t>
                      </m:r>
                      <m:r>
                        <m:rPr>
                          <m:nor/>
                        </m:rPr>
                        <a:rPr lang="en-US" sz="2000"/>
                        <m:t>, </m:t>
                      </m:r>
                      <m:r>
                        <m:rPr>
                          <m:nor/>
                        </m:rPr>
                        <a:rPr lang="en-US" sz="2000"/>
                        <m:t>Rubber</m:t>
                      </m:r>
                      <m:r>
                        <m:rPr>
                          <m:nor/>
                        </m:rPr>
                        <a:rPr lang="en-US" sz="2000"/>
                        <m:t>, </m:t>
                      </m:r>
                      <m:r>
                        <m:rPr>
                          <m:nor/>
                        </m:rPr>
                        <a:rPr lang="en-US" sz="2000"/>
                        <m:t>Textile</m:t>
                      </m:r>
                      <m:r>
                        <m:rPr>
                          <m:nor/>
                        </m:rPr>
                        <a:rPr lang="en-US" sz="2000"/>
                        <m:t>}</m:t>
                      </m:r>
                    </m:oMath>
                  </m:oMathPara>
                </a14:m>
                <a:endParaRPr lang="en-US" sz="2000" dirty="0"/>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𝑆</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m:rPr>
                          <m:nor/>
                        </m:rPr>
                        <a:rPr lang="en-US" sz="2000"/>
                        <m:t>virgin</m:t>
                      </m:r>
                      <m:r>
                        <m:rPr>
                          <m:nor/>
                        </m:rPr>
                        <a:rPr lang="en-US" sz="2000"/>
                        <m:t> </m:t>
                      </m:r>
                      <m:r>
                        <m:rPr>
                          <m:nor/>
                        </m:rPr>
                        <a:rPr lang="en-US" sz="2000" i="1"/>
                        <m:t>(</m:t>
                      </m:r>
                      <m:r>
                        <m:rPr>
                          <m:nor/>
                        </m:rPr>
                        <a:rPr lang="en-US" sz="2000" i="1"/>
                        <m:t>V</m:t>
                      </m:r>
                      <m:r>
                        <m:rPr>
                          <m:nor/>
                        </m:rPr>
                        <a:rPr lang="en-US" sz="2000" i="1"/>
                        <m:t>)</m:t>
                      </m:r>
                      <m:r>
                        <m:rPr>
                          <m:nor/>
                        </m:rPr>
                        <a:rPr lang="en-US" sz="2000" b="0" i="0" smtClean="0"/>
                        <m:t> </m:t>
                      </m:r>
                      <m:r>
                        <m:rPr>
                          <m:nor/>
                        </m:rPr>
                        <a:rPr lang="en-US" sz="2000"/>
                        <m:t>, </m:t>
                      </m:r>
                      <m:r>
                        <m:rPr>
                          <m:nor/>
                        </m:rPr>
                        <a:rPr lang="en-US" sz="2000"/>
                        <m:t>recycled</m:t>
                      </m:r>
                      <m:r>
                        <m:rPr>
                          <m:nor/>
                        </m:rPr>
                        <a:rPr lang="en-US" sz="2000" i="1"/>
                        <m:t> (</m:t>
                      </m:r>
                      <m:r>
                        <m:rPr>
                          <m:nor/>
                        </m:rPr>
                        <a:rPr lang="en-US" sz="2000" i="1"/>
                        <m:t>R</m:t>
                      </m:r>
                      <m:r>
                        <m:rPr>
                          <m:nor/>
                        </m:rPr>
                        <a:rPr lang="en-US" sz="2000" i="1"/>
                        <m:t>) </m:t>
                      </m:r>
                      <m:r>
                        <m:rPr>
                          <m:nor/>
                        </m:rPr>
                        <a:rPr lang="en-US" sz="2000"/>
                        <m:t>, </m:t>
                      </m:r>
                      <m:r>
                        <m:rPr>
                          <m:nor/>
                        </m:rPr>
                        <a:rPr lang="en-US" sz="2000"/>
                        <m:t>waste</m:t>
                      </m:r>
                      <m:r>
                        <m:rPr>
                          <m:nor/>
                        </m:rPr>
                        <a:rPr lang="en-US" sz="2000"/>
                        <m:t> </m:t>
                      </m:r>
                      <m:r>
                        <m:rPr>
                          <m:nor/>
                        </m:rPr>
                        <a:rPr lang="en-US" sz="2000" i="1"/>
                        <m:t>(</m:t>
                      </m:r>
                      <m:r>
                        <m:rPr>
                          <m:nor/>
                        </m:rPr>
                        <a:rPr lang="en-US" sz="2000" i="1"/>
                        <m:t>W</m:t>
                      </m:r>
                      <m:r>
                        <m:rPr>
                          <m:nor/>
                        </m:rPr>
                        <a:rPr lang="en-US" sz="2000" i="1"/>
                        <m:t>)</m:t>
                      </m:r>
                      <m:r>
                        <m:rPr>
                          <m:nor/>
                        </m:rPr>
                        <a:rPr lang="en-US" sz="2000" b="0" i="0" smtClean="0"/>
                        <m:t> </m:t>
                      </m:r>
                      <m:r>
                        <m:rPr>
                          <m:nor/>
                        </m:rPr>
                        <a:rPr lang="en-US" sz="2000"/>
                        <m:t>}</m:t>
                      </m:r>
                    </m:oMath>
                  </m:oMathPara>
                </a14:m>
                <a:endParaRPr lang="en-US" sz="2000" dirty="0"/>
              </a:p>
              <a:p>
                <a:endParaRPr lang="en-US" sz="2000" dirty="0"/>
              </a:p>
              <a:p>
                <a:r>
                  <a:rPr lang="en-US" sz="2000" b="1" dirty="0"/>
                  <a:t>Aggregate quantities</a:t>
                </a:r>
                <a:endParaRPr lang="en-US" sz="2000" dirty="0"/>
              </a:p>
              <a:p>
                <a:r>
                  <a:rPr lang="en-US" sz="2000" dirty="0"/>
                  <a:t>Aggregated by source </a:t>
                </a:r>
                <a14:m>
                  <m:oMath xmlns:m="http://schemas.openxmlformats.org/officeDocument/2006/math">
                    <m:r>
                      <a:rPr lang="en-US" sz="2000" i="1">
                        <a:latin typeface="Cambria Math" panose="02040503050406030204" pitchFamily="18" charset="0"/>
                        <a:ea typeface="Cambria Math" panose="02040503050406030204" pitchFamily="18" charset="0"/>
                      </a:rPr>
                      <m:t>𝑠</m:t>
                    </m:r>
                    <m:r>
                      <a:rPr lang="en-US" sz="2000" i="1">
                        <a:latin typeface="Cambria Math" panose="02040503050406030204" pitchFamily="18" charset="0"/>
                        <a:ea typeface="Cambria Math" panose="02040503050406030204" pitchFamily="18" charset="0"/>
                      </a:rPr>
                      <m:t> </m:t>
                    </m:r>
                  </m:oMath>
                </a14:m>
                <a:r>
                  <a:rPr lang="da-DK" dirty="0"/>
                  <a:t>×</a:t>
                </a:r>
                <a:r>
                  <a:rPr lang="en-US" sz="2000" dirty="0"/>
                  <a:t> material group </a:t>
                </a:r>
                <a14:m>
                  <m:oMath xmlns:m="http://schemas.openxmlformats.org/officeDocument/2006/math">
                    <m:r>
                      <a:rPr lang="en-US" sz="2000" b="0" i="1" smtClean="0">
                        <a:latin typeface="Cambria Math" panose="02040503050406030204" pitchFamily="18" charset="0"/>
                        <a:ea typeface="Cambria Math" panose="02040503050406030204" pitchFamily="18" charset="0"/>
                      </a:rPr>
                      <m:t>𝑚</m:t>
                    </m:r>
                  </m:oMath>
                </a14:m>
                <a:r>
                  <a:rPr lang="en-US" sz="2000" dirty="0"/>
                  <a:t>, domestic material use is:</a:t>
                </a:r>
              </a:p>
            </p:txBody>
          </p:sp>
        </mc:Choice>
        <mc:Fallback xmlns="">
          <p:sp>
            <p:nvSpPr>
              <p:cNvPr id="6" name="TextBox 5">
                <a:extLst>
                  <a:ext uri="{FF2B5EF4-FFF2-40B4-BE49-F238E27FC236}">
                    <a16:creationId xmlns:a16="http://schemas.microsoft.com/office/drawing/2014/main" id="{93C3D739-15F3-501F-8740-B7B375127749}"/>
                  </a:ext>
                </a:extLst>
              </p:cNvPr>
              <p:cNvSpPr txBox="1">
                <a:spLocks noRot="1" noChangeAspect="1" noMove="1" noResize="1" noEditPoints="1" noAdjustHandles="1" noChangeArrowheads="1" noChangeShapeType="1" noTextEdit="1"/>
              </p:cNvSpPr>
              <p:nvPr/>
            </p:nvSpPr>
            <p:spPr>
              <a:xfrm>
                <a:off x="508409" y="1051323"/>
                <a:ext cx="8127182" cy="3799053"/>
              </a:xfrm>
              <a:prstGeom prst="rect">
                <a:avLst/>
              </a:prstGeom>
              <a:blipFill>
                <a:blip r:embed="rId4"/>
                <a:stretch>
                  <a:fillRect l="-750" t="-801" r="-600" b="-2083"/>
                </a:stretch>
              </a:blipFill>
            </p:spPr>
            <p:txBody>
              <a:bodyPr/>
              <a:lstStyle/>
              <a:p>
                <a:r>
                  <a:rPr lang="da-DK">
                    <a:noFill/>
                  </a:rPr>
                  <a:t> </a:t>
                </a:r>
              </a:p>
            </p:txBody>
          </p:sp>
        </mc:Fallback>
      </mc:AlternateContent>
      <p:graphicFrame>
        <p:nvGraphicFramePr>
          <p:cNvPr id="7" name="Table 6">
            <a:extLst>
              <a:ext uri="{FF2B5EF4-FFF2-40B4-BE49-F238E27FC236}">
                <a16:creationId xmlns:a16="http://schemas.microsoft.com/office/drawing/2014/main" id="{8A1FB4DD-8AB3-A415-FA2B-EE6DDF65B71E}"/>
              </a:ext>
            </a:extLst>
          </p:cNvPr>
          <p:cNvGraphicFramePr>
            <a:graphicFrameLocks noGrp="1"/>
          </p:cNvGraphicFramePr>
          <p:nvPr/>
        </p:nvGraphicFramePr>
        <p:xfrm>
          <a:off x="587374" y="4861488"/>
          <a:ext cx="7967666" cy="1996512"/>
        </p:xfrm>
        <a:graphic>
          <a:graphicData uri="http://schemas.openxmlformats.org/drawingml/2006/table">
            <a:tbl>
              <a:tblPr firstRow="1" lastCol="1" bandRow="1">
                <a:tableStyleId>{5C22544A-7EE6-4342-B048-85BDC9FD1C3A}</a:tableStyleId>
              </a:tblPr>
              <a:tblGrid>
                <a:gridCol w="1515746">
                  <a:extLst>
                    <a:ext uri="{9D8B030D-6E8A-4147-A177-3AD203B41FA5}">
                      <a16:colId xmlns:a16="http://schemas.microsoft.com/office/drawing/2014/main" val="1527320247"/>
                    </a:ext>
                  </a:extLst>
                </a:gridCol>
                <a:gridCol w="1075320">
                  <a:extLst>
                    <a:ext uri="{9D8B030D-6E8A-4147-A177-3AD203B41FA5}">
                      <a16:colId xmlns:a16="http://schemas.microsoft.com/office/drawing/2014/main" val="1720096385"/>
                    </a:ext>
                  </a:extLst>
                </a:gridCol>
                <a:gridCol w="1075320">
                  <a:extLst>
                    <a:ext uri="{9D8B030D-6E8A-4147-A177-3AD203B41FA5}">
                      <a16:colId xmlns:a16="http://schemas.microsoft.com/office/drawing/2014/main" val="3751588381"/>
                    </a:ext>
                  </a:extLst>
                </a:gridCol>
                <a:gridCol w="1075320">
                  <a:extLst>
                    <a:ext uri="{9D8B030D-6E8A-4147-A177-3AD203B41FA5}">
                      <a16:colId xmlns:a16="http://schemas.microsoft.com/office/drawing/2014/main" val="3607082027"/>
                    </a:ext>
                  </a:extLst>
                </a:gridCol>
                <a:gridCol w="1075320">
                  <a:extLst>
                    <a:ext uri="{9D8B030D-6E8A-4147-A177-3AD203B41FA5}">
                      <a16:colId xmlns:a16="http://schemas.microsoft.com/office/drawing/2014/main" val="4083124947"/>
                    </a:ext>
                  </a:extLst>
                </a:gridCol>
                <a:gridCol w="1075320">
                  <a:extLst>
                    <a:ext uri="{9D8B030D-6E8A-4147-A177-3AD203B41FA5}">
                      <a16:colId xmlns:a16="http://schemas.microsoft.com/office/drawing/2014/main" val="2602220129"/>
                    </a:ext>
                  </a:extLst>
                </a:gridCol>
                <a:gridCol w="1075320">
                  <a:extLst>
                    <a:ext uri="{9D8B030D-6E8A-4147-A177-3AD203B41FA5}">
                      <a16:colId xmlns:a16="http://schemas.microsoft.com/office/drawing/2014/main" val="2567920529"/>
                    </a:ext>
                  </a:extLst>
                </a:gridCol>
              </a:tblGrid>
              <a:tr h="499128">
                <a:tc>
                  <a:txBody>
                    <a:bodyPr/>
                    <a:lstStyle/>
                    <a:p>
                      <a:pPr algn="l" fontAlgn="b"/>
                      <a:endParaRPr lang="da-DK" sz="2000" b="1" i="0" u="none" strike="noStrike" dirty="0">
                        <a:solidFill>
                          <a:srgbClr val="000000"/>
                        </a:solidFill>
                        <a:effectLst/>
                        <a:latin typeface="Calibri" panose="020F0502020204030204" pitchFamily="34" charset="0"/>
                      </a:endParaRPr>
                    </a:p>
                  </a:txBody>
                  <a:tcPr anchor="ctr"/>
                </a:tc>
                <a:tc>
                  <a:txBody>
                    <a:bodyPr/>
                    <a:lstStyle/>
                    <a:p>
                      <a:pPr algn="ctr" fontAlgn="t"/>
                      <a:r>
                        <a:rPr lang="da-DK" sz="2000" u="none" strike="noStrike" dirty="0">
                          <a:effectLst/>
                        </a:rPr>
                        <a:t>Metal</a:t>
                      </a:r>
                      <a:endParaRPr lang="da-DK" sz="2000" b="1" i="0" u="none" strike="noStrike" dirty="0">
                        <a:solidFill>
                          <a:srgbClr val="000000"/>
                        </a:solidFill>
                        <a:effectLst/>
                        <a:latin typeface="Calibri" panose="020F0502020204030204" pitchFamily="34" charset="0"/>
                      </a:endParaRPr>
                    </a:p>
                  </a:txBody>
                  <a:tcPr anchor="ctr"/>
                </a:tc>
                <a:tc>
                  <a:txBody>
                    <a:bodyPr/>
                    <a:lstStyle/>
                    <a:p>
                      <a:pPr algn="ctr" fontAlgn="t"/>
                      <a:r>
                        <a:rPr lang="da-DK" sz="2000" u="none" strike="noStrike" dirty="0">
                          <a:effectLst/>
                        </a:rPr>
                        <a:t>Paper</a:t>
                      </a:r>
                      <a:endParaRPr lang="da-DK" sz="2000" b="1" i="0" u="none" strike="noStrike" dirty="0">
                        <a:solidFill>
                          <a:srgbClr val="000000"/>
                        </a:solidFill>
                        <a:effectLst/>
                        <a:latin typeface="Calibri" panose="020F0502020204030204" pitchFamily="34" charset="0"/>
                      </a:endParaRPr>
                    </a:p>
                  </a:txBody>
                  <a:tcPr anchor="ctr"/>
                </a:tc>
                <a:tc>
                  <a:txBody>
                    <a:bodyPr/>
                    <a:lstStyle/>
                    <a:p>
                      <a:pPr algn="ctr" fontAlgn="t"/>
                      <a:r>
                        <a:rPr lang="da-DK" sz="2000" u="none" strike="noStrike">
                          <a:effectLst/>
                        </a:rPr>
                        <a:t>Plastic</a:t>
                      </a:r>
                      <a:endParaRPr lang="da-DK" sz="2000" b="1" i="0" u="none" strike="noStrike">
                        <a:solidFill>
                          <a:srgbClr val="000000"/>
                        </a:solidFill>
                        <a:effectLst/>
                        <a:latin typeface="Calibri" panose="020F0502020204030204" pitchFamily="34" charset="0"/>
                      </a:endParaRPr>
                    </a:p>
                  </a:txBody>
                  <a:tcPr anchor="ctr"/>
                </a:tc>
                <a:tc>
                  <a:txBody>
                    <a:bodyPr/>
                    <a:lstStyle/>
                    <a:p>
                      <a:pPr algn="ctr" fontAlgn="t"/>
                      <a:r>
                        <a:rPr lang="da-DK" sz="2000" u="none" strike="noStrike">
                          <a:effectLst/>
                        </a:rPr>
                        <a:t>Rubber</a:t>
                      </a:r>
                      <a:endParaRPr lang="da-DK" sz="2000" b="1" i="0" u="none" strike="noStrike">
                        <a:solidFill>
                          <a:srgbClr val="000000"/>
                        </a:solidFill>
                        <a:effectLst/>
                        <a:latin typeface="Calibri" panose="020F0502020204030204" pitchFamily="34" charset="0"/>
                      </a:endParaRPr>
                    </a:p>
                  </a:txBody>
                  <a:tcPr anchor="ctr"/>
                </a:tc>
                <a:tc>
                  <a:txBody>
                    <a:bodyPr/>
                    <a:lstStyle/>
                    <a:p>
                      <a:pPr algn="ctr" fontAlgn="t"/>
                      <a:r>
                        <a:rPr lang="da-DK" sz="2000" u="none" strike="noStrike">
                          <a:effectLst/>
                        </a:rPr>
                        <a:t>Textile</a:t>
                      </a:r>
                      <a:endParaRPr lang="da-DK" sz="2000" b="1" i="0" u="none" strike="noStrike">
                        <a:solidFill>
                          <a:srgbClr val="000000"/>
                        </a:solidFill>
                        <a:effectLst/>
                        <a:latin typeface="Calibri" panose="020F0502020204030204" pitchFamily="34" charset="0"/>
                      </a:endParaRPr>
                    </a:p>
                  </a:txBody>
                  <a:tcPr anchor="ctr"/>
                </a:tc>
                <a:tc>
                  <a:txBody>
                    <a:bodyPr/>
                    <a:lstStyle/>
                    <a:p>
                      <a:pPr algn="ctr" fontAlgn="t"/>
                      <a:r>
                        <a:rPr lang="da-DK" sz="2000" u="none" strike="noStrike">
                          <a:effectLst/>
                        </a:rPr>
                        <a:t>Total</a:t>
                      </a:r>
                      <a:endParaRPr lang="da-DK" sz="2000" b="1" i="0" u="none" strike="noStrike">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577657254"/>
                  </a:ext>
                </a:extLst>
              </a:tr>
              <a:tr h="499128">
                <a:tc>
                  <a:txBody>
                    <a:bodyPr/>
                    <a:lstStyle/>
                    <a:p>
                      <a:pPr algn="l" fontAlgn="t"/>
                      <a:r>
                        <a:rPr lang="da-DK" sz="2000" u="none" strike="noStrike" dirty="0">
                          <a:effectLst/>
                        </a:rPr>
                        <a:t>V (in kt)</a:t>
                      </a:r>
                      <a:endParaRPr lang="da-DK" sz="2000" b="1"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1,597</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54</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729</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22</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a:effectLst/>
                        </a:rPr>
                        <a:t>41</a:t>
                      </a:r>
                      <a:endParaRPr lang="da-DK" sz="2000" b="0" i="0" u="none" strike="noStrike">
                        <a:solidFill>
                          <a:srgbClr val="000000"/>
                        </a:solidFill>
                        <a:effectLst/>
                        <a:latin typeface="Calibri" panose="020F0502020204030204" pitchFamily="34" charset="0"/>
                      </a:endParaRPr>
                    </a:p>
                  </a:txBody>
                  <a:tcPr anchor="ctr"/>
                </a:tc>
                <a:tc>
                  <a:txBody>
                    <a:bodyPr/>
                    <a:lstStyle/>
                    <a:p>
                      <a:pPr algn="r" fontAlgn="b"/>
                      <a:r>
                        <a:rPr lang="da-DK" sz="2000" u="none" strike="noStrike">
                          <a:effectLst/>
                        </a:rPr>
                        <a:t>2,442</a:t>
                      </a:r>
                      <a:endParaRPr lang="da-DK" sz="2000" b="0" i="0" u="none" strike="noStrike">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4012033468"/>
                  </a:ext>
                </a:extLst>
              </a:tr>
              <a:tr h="499128">
                <a:tc>
                  <a:txBody>
                    <a:bodyPr/>
                    <a:lstStyle/>
                    <a:p>
                      <a:pPr algn="l" fontAlgn="t"/>
                      <a:r>
                        <a:rPr lang="da-DK" sz="2000" u="none" strike="noStrike" dirty="0">
                          <a:effectLst/>
                        </a:rPr>
                        <a:t>R (in kt)</a:t>
                      </a:r>
                      <a:endParaRPr lang="da-DK" sz="2000" b="1"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a:effectLst/>
                        </a:rPr>
                        <a:t>309</a:t>
                      </a:r>
                      <a:endParaRPr lang="da-DK" sz="2000" b="0" i="0" u="none" strike="noStrike">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80</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54</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8</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11</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463</a:t>
                      </a:r>
                      <a:endParaRPr lang="da-DK" sz="2000" b="0" i="0" u="none" strike="noStrike" dirty="0">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960245897"/>
                  </a:ext>
                </a:extLst>
              </a:tr>
              <a:tr h="499128">
                <a:tc>
                  <a:txBody>
                    <a:bodyPr/>
                    <a:lstStyle/>
                    <a:p>
                      <a:pPr algn="l" fontAlgn="t"/>
                      <a:r>
                        <a:rPr lang="da-DK" sz="2000" u="none" strike="noStrike" dirty="0">
                          <a:effectLst/>
                        </a:rPr>
                        <a:t>R (% of VR)</a:t>
                      </a:r>
                      <a:endParaRPr lang="da-DK" sz="2000" b="1"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a:effectLst/>
                        </a:rPr>
                        <a:t>16</a:t>
                      </a:r>
                      <a:endParaRPr lang="da-DK" sz="2000" b="0" i="0" u="none" strike="noStrike">
                        <a:solidFill>
                          <a:srgbClr val="000000"/>
                        </a:solidFill>
                        <a:effectLst/>
                        <a:latin typeface="Calibri" panose="020F0502020204030204" pitchFamily="34" charset="0"/>
                      </a:endParaRPr>
                    </a:p>
                  </a:txBody>
                  <a:tcPr anchor="ctr"/>
                </a:tc>
                <a:tc>
                  <a:txBody>
                    <a:bodyPr/>
                    <a:lstStyle/>
                    <a:p>
                      <a:pPr algn="r" fontAlgn="b"/>
                      <a:r>
                        <a:rPr lang="da-DK" sz="2000" u="none" strike="noStrike">
                          <a:effectLst/>
                        </a:rPr>
                        <a:t>59</a:t>
                      </a:r>
                      <a:endParaRPr lang="da-DK" sz="2000" b="0" i="0" u="none" strike="noStrike">
                        <a:solidFill>
                          <a:srgbClr val="000000"/>
                        </a:solidFill>
                        <a:effectLst/>
                        <a:latin typeface="Calibri" panose="020F0502020204030204" pitchFamily="34" charset="0"/>
                      </a:endParaRPr>
                    </a:p>
                  </a:txBody>
                  <a:tcPr anchor="ctr"/>
                </a:tc>
                <a:tc>
                  <a:txBody>
                    <a:bodyPr/>
                    <a:lstStyle/>
                    <a:p>
                      <a:pPr algn="r" fontAlgn="b"/>
                      <a:r>
                        <a:rPr lang="da-DK" sz="2000" u="none" strike="noStrike">
                          <a:effectLst/>
                        </a:rPr>
                        <a:t>7</a:t>
                      </a:r>
                      <a:endParaRPr lang="da-DK" sz="2000" b="0" i="0" u="none" strike="noStrike">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28</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22</a:t>
                      </a:r>
                      <a:endParaRPr lang="da-DK" sz="2000" b="0" i="0" u="none" strike="noStrike" dirty="0">
                        <a:solidFill>
                          <a:srgbClr val="000000"/>
                        </a:solidFill>
                        <a:effectLst/>
                        <a:latin typeface="Calibri" panose="020F0502020204030204" pitchFamily="34" charset="0"/>
                      </a:endParaRPr>
                    </a:p>
                  </a:txBody>
                  <a:tcPr anchor="ctr"/>
                </a:tc>
                <a:tc>
                  <a:txBody>
                    <a:bodyPr/>
                    <a:lstStyle/>
                    <a:p>
                      <a:pPr algn="r" fontAlgn="b"/>
                      <a:r>
                        <a:rPr lang="da-DK" sz="2000" u="none" strike="noStrike" dirty="0">
                          <a:effectLst/>
                        </a:rPr>
                        <a:t>16</a:t>
                      </a:r>
                      <a:endParaRPr lang="da-DK" sz="2000" b="0" i="0" u="none" strike="noStrike" dirty="0">
                        <a:solidFill>
                          <a:srgbClr val="000000"/>
                        </a:solidFill>
                        <a:effectLst/>
                        <a:latin typeface="Calibri" panose="020F0502020204030204" pitchFamily="34" charset="0"/>
                      </a:endParaRPr>
                    </a:p>
                  </a:txBody>
                  <a:tcPr anchor="ctr"/>
                </a:tc>
                <a:extLst>
                  <a:ext uri="{0D108BD9-81ED-4DB2-BD59-A6C34878D82A}">
                    <a16:rowId xmlns:a16="http://schemas.microsoft.com/office/drawing/2014/main" val="3682638047"/>
                  </a:ext>
                </a:extLst>
              </a:tr>
            </a:tbl>
          </a:graphicData>
        </a:graphic>
      </p:graphicFrame>
    </p:spTree>
    <p:extLst>
      <p:ext uri="{BB962C8B-B14F-4D97-AF65-F5344CB8AC3E}">
        <p14:creationId xmlns:p14="http://schemas.microsoft.com/office/powerpoint/2010/main" val="1480595981"/>
      </p:ext>
    </p:extLst>
  </p:cSld>
  <p:clrMapOvr>
    <a:masterClrMapping/>
  </p:clrMapOvr>
  <p:extLst>
    <p:ext uri="{6950BFC3-D8DA-4A85-94F7-54DA5524770B}">
      <p188:commentRel xmlns:p188="http://schemas.microsoft.com/office/powerpoint/2018/8/main" r:id="rId3"/>
    </p:ext>
  </p:extLs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16C9B-0F66-BA63-BDE9-8EC0BB15D1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D6EB02B-5D67-F9A0-B3DF-A970758790A6}"/>
              </a:ext>
            </a:extLst>
          </p:cNvPr>
          <p:cNvSpPr>
            <a:spLocks noGrp="1"/>
          </p:cNvSpPr>
          <p:nvPr>
            <p:ph type="title"/>
          </p:nvPr>
        </p:nvSpPr>
        <p:spPr>
          <a:xfrm>
            <a:off x="587374" y="618729"/>
            <a:ext cx="7967664" cy="865188"/>
          </a:xfrm>
        </p:spPr>
        <p:txBody>
          <a:bodyPr/>
          <a:lstStyle/>
          <a:p>
            <a:r>
              <a:rPr lang="en-US" dirty="0"/>
              <a:t>Appendix - Data</a:t>
            </a:r>
          </a:p>
        </p:txBody>
      </p:sp>
      <p:sp>
        <p:nvSpPr>
          <p:cNvPr id="2" name="Date Placeholder 1">
            <a:extLst>
              <a:ext uri="{FF2B5EF4-FFF2-40B4-BE49-F238E27FC236}">
                <a16:creationId xmlns:a16="http://schemas.microsoft.com/office/drawing/2014/main" id="{34D126EC-23C8-007B-C655-8CC9690FAC0F}"/>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C154871B-751A-627C-8D1D-ABEF92185FFA}"/>
              </a:ext>
            </a:extLst>
          </p:cNvPr>
          <p:cNvSpPr>
            <a:spLocks noGrp="1"/>
          </p:cNvSpPr>
          <p:nvPr>
            <p:ph type="sldNum" sz="quarter" idx="12"/>
          </p:nvPr>
        </p:nvSpPr>
        <p:spPr/>
        <p:txBody>
          <a:bodyPr/>
          <a:lstStyle/>
          <a:p>
            <a:fld id="{091A926C-488A-4E3E-9C21-57CAA120E114}" type="slidenum">
              <a:rPr lang="en-US" smtClean="0"/>
              <a:t>78</a:t>
            </a:fld>
            <a:endParaRPr lang="en-US" dirty="0"/>
          </a:p>
        </p:txBody>
      </p:sp>
      <p:sp>
        <p:nvSpPr>
          <p:cNvPr id="6" name="TextBox 5">
            <a:extLst>
              <a:ext uri="{FF2B5EF4-FFF2-40B4-BE49-F238E27FC236}">
                <a16:creationId xmlns:a16="http://schemas.microsoft.com/office/drawing/2014/main" id="{71EAAB74-6750-7E06-E757-CDDB213E8686}"/>
              </a:ext>
            </a:extLst>
          </p:cNvPr>
          <p:cNvSpPr txBox="1"/>
          <p:nvPr/>
        </p:nvSpPr>
        <p:spPr>
          <a:xfrm>
            <a:off x="508409" y="1051323"/>
            <a:ext cx="8046629" cy="1015663"/>
          </a:xfrm>
          <a:prstGeom prst="rect">
            <a:avLst/>
          </a:prstGeom>
          <a:noFill/>
        </p:spPr>
        <p:txBody>
          <a:bodyPr wrap="square" rtlCol="0">
            <a:spAutoFit/>
          </a:bodyPr>
          <a:lstStyle/>
          <a:p>
            <a:r>
              <a:rPr lang="en-US" sz="2000" b="1" dirty="0"/>
              <a:t>Sector mapping</a:t>
            </a:r>
            <a:endParaRPr lang="en-US" sz="2000" dirty="0"/>
          </a:p>
          <a:p>
            <a:r>
              <a:rPr lang="en-US" sz="2000" dirty="0"/>
              <a:t>We aggregate the 120 industries of the PSUTs → 11 sectors where:</a:t>
            </a:r>
          </a:p>
          <a:p>
            <a:pPr marL="514350" indent="-514350">
              <a:buFont typeface="+mj-lt"/>
              <a:buAutoNum type="romanLcPeriod"/>
            </a:pPr>
            <a:r>
              <a:rPr lang="en-US" sz="2000" dirty="0"/>
              <a:t>Energy and solid waste management are required for the model</a:t>
            </a:r>
          </a:p>
        </p:txBody>
      </p:sp>
    </p:spTree>
    <p:extLst>
      <p:ext uri="{BB962C8B-B14F-4D97-AF65-F5344CB8AC3E}">
        <p14:creationId xmlns:p14="http://schemas.microsoft.com/office/powerpoint/2010/main" val="2896528531"/>
      </p:ext>
    </p:extLst>
  </p:cSld>
  <p:clrMapOvr>
    <a:masterClrMapping/>
  </p:clrMapOvr>
  <p:extLst>
    <p:ext uri="{6950BFC3-D8DA-4A85-94F7-54DA5524770B}">
      <p188:commentRel xmlns:p188="http://schemas.microsoft.com/office/powerpoint/2018/8/main" r:id="rId3"/>
    </p:ext>
  </p:extLs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016F8-250D-1FEE-6F9E-CF3D633C10E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ABFD0E-7C6B-8F58-3DED-6ACCA335E813}"/>
              </a:ext>
            </a:extLst>
          </p:cNvPr>
          <p:cNvSpPr>
            <a:spLocks noGrp="1"/>
          </p:cNvSpPr>
          <p:nvPr>
            <p:ph type="title"/>
          </p:nvPr>
        </p:nvSpPr>
        <p:spPr>
          <a:xfrm>
            <a:off x="587374" y="618729"/>
            <a:ext cx="7967664" cy="865188"/>
          </a:xfrm>
        </p:spPr>
        <p:txBody>
          <a:bodyPr/>
          <a:lstStyle/>
          <a:p>
            <a:r>
              <a:rPr lang="en-US" dirty="0"/>
              <a:t>Appendix - Data</a:t>
            </a:r>
          </a:p>
        </p:txBody>
      </p:sp>
      <p:sp>
        <p:nvSpPr>
          <p:cNvPr id="2" name="Date Placeholder 1">
            <a:extLst>
              <a:ext uri="{FF2B5EF4-FFF2-40B4-BE49-F238E27FC236}">
                <a16:creationId xmlns:a16="http://schemas.microsoft.com/office/drawing/2014/main" id="{52C9D0BB-4DBF-D27A-C79F-FA1A625B58FB}"/>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D292652F-D76A-8708-4702-CE6FF35CE7F0}"/>
              </a:ext>
            </a:extLst>
          </p:cNvPr>
          <p:cNvSpPr>
            <a:spLocks noGrp="1"/>
          </p:cNvSpPr>
          <p:nvPr>
            <p:ph type="sldNum" sz="quarter" idx="12"/>
          </p:nvPr>
        </p:nvSpPr>
        <p:spPr/>
        <p:txBody>
          <a:bodyPr/>
          <a:lstStyle/>
          <a:p>
            <a:fld id="{091A926C-488A-4E3E-9C21-57CAA120E114}" type="slidenum">
              <a:rPr lang="en-US" smtClean="0"/>
              <a:t>79</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D2F916D-2904-C565-09A6-5B7552973DAB}"/>
                  </a:ext>
                </a:extLst>
              </p:cNvPr>
              <p:cNvSpPr txBox="1"/>
              <p:nvPr/>
            </p:nvSpPr>
            <p:spPr>
              <a:xfrm>
                <a:off x="508409" y="1051323"/>
                <a:ext cx="8046629" cy="2554545"/>
              </a:xfrm>
              <a:prstGeom prst="rect">
                <a:avLst/>
              </a:prstGeom>
              <a:noFill/>
            </p:spPr>
            <p:txBody>
              <a:bodyPr wrap="square" rtlCol="0">
                <a:spAutoFit/>
              </a:bodyPr>
              <a:lstStyle/>
              <a:p>
                <a:r>
                  <a:rPr lang="en-US" sz="2000" b="1" dirty="0"/>
                  <a:t>Sector mapping</a:t>
                </a:r>
                <a:endParaRPr lang="en-US" sz="2000" dirty="0"/>
              </a:p>
              <a:p>
                <a:r>
                  <a:rPr lang="en-US" sz="2000" dirty="0"/>
                  <a:t>We aggregate the 120 industries of the PSUTs → 11 sectors where:</a:t>
                </a:r>
              </a:p>
              <a:p>
                <a:pPr marL="514350" indent="-514350">
                  <a:buFont typeface="+mj-lt"/>
                  <a:buAutoNum type="romanLcPeriod"/>
                </a:pPr>
                <a:r>
                  <a:rPr lang="en-US" sz="2000" dirty="0"/>
                  <a:t>Energy and solid waste management are required for the model</a:t>
                </a:r>
              </a:p>
              <a:p>
                <a:endParaRPr lang="en-US" sz="2000" dirty="0"/>
              </a:p>
              <a:p>
                <a:r>
                  <a:rPr lang="en-US" sz="2000" b="1" dirty="0"/>
                  <a:t>Use of virgin and recycled materials (VR)</a:t>
                </a:r>
                <a:endParaRPr lang="en-US" sz="2000" dirty="0"/>
              </a:p>
              <a:p>
                <a:pPr marL="514350" indent="-514350">
                  <a:buFont typeface="+mj-lt"/>
                  <a:buAutoNum type="romanLcPeriod" startAt="2"/>
                </a:pPr>
                <a:r>
                  <a:rPr lang="en-US" sz="2000" dirty="0"/>
                  <a:t>Manufacture of metal, paper, rubber, plastic, and textiles include the 5 industries that use &gt; 20% of total use of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𝑞</m:t>
                        </m:r>
                      </m:e>
                      <m:sub>
                        <m:r>
                          <a:rPr lang="en-US" sz="2000" b="0" i="1" smtClean="0">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𝑉𝑅</m:t>
                        </m:r>
                      </m:sub>
                    </m:sSub>
                  </m:oMath>
                </a14:m>
                <a:r>
                  <a:rPr lang="en-US" sz="2000" dirty="0"/>
                  <a:t> by domestic industries for at least one material group </a:t>
                </a:r>
                <a14:m>
                  <m:oMath xmlns:m="http://schemas.openxmlformats.org/officeDocument/2006/math">
                    <m:r>
                      <a:rPr lang="en-US" sz="2000" b="0" i="1" smtClean="0">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𝑀</m:t>
                    </m:r>
                  </m:oMath>
                </a14:m>
                <a:r>
                  <a:rPr lang="en-US" sz="2000" dirty="0"/>
                  <a:t>:</a:t>
                </a:r>
              </a:p>
            </p:txBody>
          </p:sp>
        </mc:Choice>
        <mc:Fallback xmlns="">
          <p:sp>
            <p:nvSpPr>
              <p:cNvPr id="6" name="TextBox 5">
                <a:extLst>
                  <a:ext uri="{FF2B5EF4-FFF2-40B4-BE49-F238E27FC236}">
                    <a16:creationId xmlns:a16="http://schemas.microsoft.com/office/drawing/2014/main" id="{0D2F916D-2904-C565-09A6-5B7552973DAB}"/>
                  </a:ext>
                </a:extLst>
              </p:cNvPr>
              <p:cNvSpPr txBox="1">
                <a:spLocks noRot="1" noChangeAspect="1" noMove="1" noResize="1" noEditPoints="1" noAdjustHandles="1" noChangeArrowheads="1" noChangeShapeType="1" noTextEdit="1"/>
              </p:cNvSpPr>
              <p:nvPr/>
            </p:nvSpPr>
            <p:spPr>
              <a:xfrm>
                <a:off x="508409" y="1051323"/>
                <a:ext cx="8046629" cy="2554545"/>
              </a:xfrm>
              <a:prstGeom prst="rect">
                <a:avLst/>
              </a:prstGeom>
              <a:blipFill>
                <a:blip r:embed="rId4"/>
                <a:stretch>
                  <a:fillRect l="-985" t="-1190" r="-227" b="-4048"/>
                </a:stretch>
              </a:blipFill>
            </p:spPr>
            <p:txBody>
              <a:bodyPr/>
              <a:lstStyle/>
              <a:p>
                <a:r>
                  <a:rPr lang="da-DK">
                    <a:noFill/>
                  </a:rPr>
                  <a:t> </a:t>
                </a:r>
              </a:p>
            </p:txBody>
          </p:sp>
        </mc:Fallback>
      </mc:AlternateContent>
      <p:graphicFrame>
        <p:nvGraphicFramePr>
          <p:cNvPr id="7" name="Table 6">
            <a:extLst>
              <a:ext uri="{FF2B5EF4-FFF2-40B4-BE49-F238E27FC236}">
                <a16:creationId xmlns:a16="http://schemas.microsoft.com/office/drawing/2014/main" id="{3F5FE69B-3980-E265-F19A-C66F70303AE8}"/>
              </a:ext>
            </a:extLst>
          </p:cNvPr>
          <p:cNvGraphicFramePr>
            <a:graphicFrameLocks noGrp="1"/>
          </p:cNvGraphicFramePr>
          <p:nvPr/>
        </p:nvGraphicFramePr>
        <p:xfrm>
          <a:off x="587374" y="3534156"/>
          <a:ext cx="7967663" cy="3291840"/>
        </p:xfrm>
        <a:graphic>
          <a:graphicData uri="http://schemas.openxmlformats.org/drawingml/2006/table">
            <a:tbl>
              <a:tblPr firstRow="1" bandRow="1">
                <a:tableStyleId>{5C22544A-7EE6-4342-B048-85BDC9FD1C3A}</a:tableStyleId>
              </a:tblPr>
              <a:tblGrid>
                <a:gridCol w="4454675">
                  <a:extLst>
                    <a:ext uri="{9D8B030D-6E8A-4147-A177-3AD203B41FA5}">
                      <a16:colId xmlns:a16="http://schemas.microsoft.com/office/drawing/2014/main" val="2349693791"/>
                    </a:ext>
                  </a:extLst>
                </a:gridCol>
                <a:gridCol w="695261">
                  <a:extLst>
                    <a:ext uri="{9D8B030D-6E8A-4147-A177-3AD203B41FA5}">
                      <a16:colId xmlns:a16="http://schemas.microsoft.com/office/drawing/2014/main" val="219949996"/>
                    </a:ext>
                  </a:extLst>
                </a:gridCol>
                <a:gridCol w="695261">
                  <a:extLst>
                    <a:ext uri="{9D8B030D-6E8A-4147-A177-3AD203B41FA5}">
                      <a16:colId xmlns:a16="http://schemas.microsoft.com/office/drawing/2014/main" val="129372662"/>
                    </a:ext>
                  </a:extLst>
                </a:gridCol>
                <a:gridCol w="695261">
                  <a:extLst>
                    <a:ext uri="{9D8B030D-6E8A-4147-A177-3AD203B41FA5}">
                      <a16:colId xmlns:a16="http://schemas.microsoft.com/office/drawing/2014/main" val="3824252087"/>
                    </a:ext>
                  </a:extLst>
                </a:gridCol>
                <a:gridCol w="731944">
                  <a:extLst>
                    <a:ext uri="{9D8B030D-6E8A-4147-A177-3AD203B41FA5}">
                      <a16:colId xmlns:a16="http://schemas.microsoft.com/office/drawing/2014/main" val="277862358"/>
                    </a:ext>
                  </a:extLst>
                </a:gridCol>
                <a:gridCol w="695261">
                  <a:extLst>
                    <a:ext uri="{9D8B030D-6E8A-4147-A177-3AD203B41FA5}">
                      <a16:colId xmlns:a16="http://schemas.microsoft.com/office/drawing/2014/main" val="2481445938"/>
                    </a:ext>
                  </a:extLst>
                </a:gridCol>
              </a:tblGrid>
              <a:tr h="182880">
                <a:tc>
                  <a:txBody>
                    <a:bodyPr/>
                    <a:lstStyle/>
                    <a:p>
                      <a:pPr algn="l" fontAlgn="b"/>
                      <a:r>
                        <a:rPr lang="en-US" sz="1200" b="1" u="none" strike="noStrike" noProof="0" dirty="0">
                          <a:solidFill>
                            <a:schemeClr val="bg1"/>
                          </a:solidFill>
                          <a:effectLst/>
                        </a:rPr>
                        <a:t>Share of total use of </a:t>
                      </a:r>
                      <a:r>
                        <a:rPr lang="en-US" sz="1200" b="1" i="1" u="none" strike="noStrike" noProof="0" dirty="0" err="1">
                          <a:solidFill>
                            <a:schemeClr val="bg1"/>
                          </a:solidFill>
                          <a:effectLst/>
                        </a:rPr>
                        <a:t>q</a:t>
                      </a:r>
                      <a:r>
                        <a:rPr lang="en-US" sz="1200" b="1" i="1" u="none" strike="noStrike" baseline="-25000" noProof="0" dirty="0" err="1">
                          <a:solidFill>
                            <a:schemeClr val="bg1"/>
                          </a:solidFill>
                          <a:effectLst/>
                        </a:rPr>
                        <a:t>m,VR</a:t>
                      </a:r>
                      <a:r>
                        <a:rPr lang="en-US" sz="1200" b="1" u="none" strike="noStrike" noProof="0" dirty="0">
                          <a:solidFill>
                            <a:schemeClr val="bg1"/>
                          </a:solidFill>
                          <a:effectLst/>
                        </a:rPr>
                        <a:t> by domestic industries (%)</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Metal</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Paper</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Plastic</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Rubber</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Textile</a:t>
                      </a:r>
                      <a:endParaRPr lang="en-US" sz="1200" b="1" i="0" u="none" strike="noStrike" noProof="0" dirty="0">
                        <a:solidFill>
                          <a:schemeClr val="bg1"/>
                        </a:solidFill>
                        <a:effectLst/>
                        <a:latin typeface="Aptos Narrow" panose="020B0004020202020204" pitchFamily="34" charset="0"/>
                      </a:endParaRPr>
                    </a:p>
                  </a:txBody>
                  <a:tcPr anchor="b"/>
                </a:tc>
                <a:extLst>
                  <a:ext uri="{0D108BD9-81ED-4DB2-BD59-A6C34878D82A}">
                    <a16:rowId xmlns:a16="http://schemas.microsoft.com/office/drawing/2014/main" val="221404411"/>
                  </a:ext>
                </a:extLst>
              </a:tr>
              <a:tr h="182880">
                <a:tc>
                  <a:txBody>
                    <a:bodyPr/>
                    <a:lstStyle/>
                    <a:p>
                      <a:pPr algn="l" fontAlgn="b"/>
                      <a:r>
                        <a:rPr lang="en-US" sz="1200" b="1" u="none" strike="noStrike" noProof="0" dirty="0">
                          <a:solidFill>
                            <a:srgbClr val="000000"/>
                          </a:solidFill>
                          <a:effectLst/>
                        </a:rPr>
                        <a:t>Manufacture of metals and metal products</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1" u="none" strike="noStrike" noProof="0" dirty="0">
                          <a:solidFill>
                            <a:srgbClr val="000000"/>
                          </a:solidFill>
                          <a:effectLst/>
                        </a:rPr>
                        <a:t>65.02</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3.43</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8.34</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0.29</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2613773567"/>
                  </a:ext>
                </a:extLst>
              </a:tr>
              <a:tr h="182880">
                <a:tc>
                  <a:txBody>
                    <a:bodyPr/>
                    <a:lstStyle/>
                    <a:p>
                      <a:pPr algn="l" fontAlgn="b"/>
                      <a:r>
                        <a:rPr lang="en-US" sz="1200" b="1" u="none" strike="noStrike" noProof="0" dirty="0">
                          <a:solidFill>
                            <a:srgbClr val="000000"/>
                          </a:solidFill>
                          <a:effectLst/>
                        </a:rPr>
                        <a:t>Manufacture of paper and paper products</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0.13</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1" u="none" strike="noStrike" noProof="0" dirty="0">
                          <a:solidFill>
                            <a:srgbClr val="000000"/>
                          </a:solidFill>
                          <a:effectLst/>
                        </a:rPr>
                        <a:t>85.87</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4.81</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5.29</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0.77</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3304392686"/>
                  </a:ext>
                </a:extLst>
              </a:tr>
              <a:tr h="182880">
                <a:tc>
                  <a:txBody>
                    <a:bodyPr/>
                    <a:lstStyle/>
                    <a:p>
                      <a:pPr algn="l" fontAlgn="b"/>
                      <a:r>
                        <a:rPr lang="en-US" sz="1200" b="1" u="none" strike="noStrike" noProof="0" dirty="0">
                          <a:solidFill>
                            <a:srgbClr val="000000"/>
                          </a:solidFill>
                          <a:effectLst/>
                        </a:rPr>
                        <a:t>Manufacture of rubber and plastic products</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0.30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1" u="none" strike="noStrike" noProof="0" dirty="0">
                          <a:solidFill>
                            <a:srgbClr val="000000"/>
                          </a:solidFill>
                          <a:effectLst/>
                        </a:rPr>
                        <a:t>50.85</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1" u="none" strike="noStrike" noProof="0" dirty="0">
                          <a:solidFill>
                            <a:srgbClr val="000000"/>
                          </a:solidFill>
                          <a:effectLst/>
                        </a:rPr>
                        <a:t>37.85</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5.52</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2708569313"/>
                  </a:ext>
                </a:extLst>
              </a:tr>
              <a:tr h="182880">
                <a:tc>
                  <a:txBody>
                    <a:bodyPr/>
                    <a:lstStyle/>
                    <a:p>
                      <a:pPr algn="l" fontAlgn="b"/>
                      <a:r>
                        <a:rPr lang="en-US" sz="1200" b="1" u="none" strike="noStrike" noProof="0" dirty="0">
                          <a:solidFill>
                            <a:srgbClr val="000000"/>
                          </a:solidFill>
                          <a:effectLst/>
                        </a:rPr>
                        <a:t>Manufacture of textiles</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0.02</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7.09</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9.39</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1" u="none" strike="noStrike" noProof="0" dirty="0">
                          <a:solidFill>
                            <a:srgbClr val="000000"/>
                          </a:solidFill>
                          <a:effectLst/>
                        </a:rPr>
                        <a:t>59.39</a:t>
                      </a:r>
                      <a:endParaRPr lang="en-US" sz="1200" b="1"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1500388209"/>
                  </a:ext>
                </a:extLst>
              </a:tr>
              <a:tr h="182880">
                <a:tc>
                  <a:txBody>
                    <a:bodyPr/>
                    <a:lstStyle/>
                    <a:p>
                      <a:pPr algn="l" fontAlgn="b"/>
                      <a:r>
                        <a:rPr lang="en-US" sz="1200" b="1" u="none" strike="noStrike" noProof="0" dirty="0">
                          <a:solidFill>
                            <a:srgbClr val="000000"/>
                          </a:solidFill>
                          <a:effectLst/>
                        </a:rPr>
                        <a:t>Other manufacturing</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1" u="none" strike="noStrike" noProof="0" dirty="0">
                          <a:solidFill>
                            <a:srgbClr val="000000"/>
                          </a:solidFill>
                          <a:effectLst/>
                        </a:rPr>
                        <a:t>20.32</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6.34</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1" u="none" strike="noStrike" noProof="0" dirty="0">
                          <a:solidFill>
                            <a:srgbClr val="000000"/>
                          </a:solidFill>
                          <a:effectLst/>
                        </a:rPr>
                        <a:t>31.75</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1" u="none" strike="noStrike" noProof="0" dirty="0">
                          <a:solidFill>
                            <a:srgbClr val="000000"/>
                          </a:solidFill>
                          <a:effectLst/>
                        </a:rPr>
                        <a:t>38.84</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9.81</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3411202647"/>
                  </a:ext>
                </a:extLst>
              </a:tr>
              <a:tr h="182880">
                <a:tc>
                  <a:txBody>
                    <a:bodyPr/>
                    <a:lstStyle/>
                    <a:p>
                      <a:pPr algn="l" fontAlgn="b"/>
                      <a:r>
                        <a:rPr lang="en-US" sz="1200" b="0" u="none" strike="noStrike" noProof="0" dirty="0">
                          <a:solidFill>
                            <a:srgbClr val="000000"/>
                          </a:solidFill>
                          <a:effectLst/>
                        </a:rPr>
                        <a:t>Electricity and heating supply and transmission of electricity</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0.32</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0.01</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0.04</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3941889819"/>
                  </a:ext>
                </a:extLst>
              </a:tr>
              <a:tr h="182880">
                <a:tc>
                  <a:txBody>
                    <a:bodyPr/>
                    <a:lstStyle/>
                    <a:p>
                      <a:pPr algn="l" fontAlgn="b"/>
                      <a:r>
                        <a:rPr lang="en-US" sz="1200" b="0" u="none" strike="noStrike" noProof="0" dirty="0">
                          <a:solidFill>
                            <a:srgbClr val="000000"/>
                          </a:solidFill>
                          <a:effectLst/>
                        </a:rPr>
                        <a:t>Solid waste management</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0.44</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7.79</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22.96</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1469757475"/>
                  </a:ext>
                </a:extLst>
              </a:tr>
              <a:tr h="182880">
                <a:tc>
                  <a:txBody>
                    <a:bodyPr/>
                    <a:lstStyle/>
                    <a:p>
                      <a:pPr algn="l" fontAlgn="b"/>
                      <a:r>
                        <a:rPr lang="en-US" sz="1200" b="0" u="none" strike="noStrike" noProof="0" dirty="0">
                          <a:solidFill>
                            <a:srgbClr val="000000"/>
                          </a:solidFill>
                          <a:effectLst/>
                        </a:rPr>
                        <a:t>Construction</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2.41</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0.15</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806738758"/>
                  </a:ext>
                </a:extLst>
              </a:tr>
              <a:tr h="182880">
                <a:tc>
                  <a:txBody>
                    <a:bodyPr/>
                    <a:lstStyle/>
                    <a:p>
                      <a:pPr algn="l" fontAlgn="b"/>
                      <a:r>
                        <a:rPr lang="en-US" sz="1200" b="0" u="none" strike="noStrike" noProof="0" dirty="0">
                          <a:solidFill>
                            <a:srgbClr val="000000"/>
                          </a:solidFill>
                          <a:effectLst/>
                        </a:rPr>
                        <a:t>Retail and wholesale and repair of motor vehicles etc.</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10.05</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1530938943"/>
                  </a:ext>
                </a:extLst>
              </a:tr>
              <a:tr h="182880">
                <a:tc>
                  <a:txBody>
                    <a:bodyPr/>
                    <a:lstStyle/>
                    <a:p>
                      <a:pPr algn="l" fontAlgn="b"/>
                      <a:r>
                        <a:rPr lang="en-US" sz="1200" b="0" u="none" strike="noStrike" noProof="0" dirty="0">
                          <a:solidFill>
                            <a:srgbClr val="000000"/>
                          </a:solidFill>
                          <a:effectLst/>
                        </a:rPr>
                        <a:t>Public services</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0.23</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0.50</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3934346124"/>
                  </a:ext>
                </a:extLst>
              </a:tr>
              <a:tr h="182880">
                <a:tc>
                  <a:txBody>
                    <a:bodyPr/>
                    <a:lstStyle/>
                    <a:p>
                      <a:pPr algn="l" fontAlgn="b"/>
                      <a:r>
                        <a:rPr lang="en-US" sz="1200" b="0" u="none" strike="noStrike" noProof="0" dirty="0">
                          <a:solidFill>
                            <a:srgbClr val="000000"/>
                          </a:solidFill>
                          <a:effectLst/>
                        </a:rPr>
                        <a:t>Other industries</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0.77</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0.00</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2.05</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0.09</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en-US" sz="1200" b="0" u="none" strike="noStrike" noProof="0" dirty="0">
                          <a:solidFill>
                            <a:srgbClr val="000000"/>
                          </a:solidFill>
                          <a:effectLst/>
                        </a:rPr>
                        <a:t>0.75</a:t>
                      </a:r>
                      <a:endParaRPr lang="en-US" sz="1200" b="0" i="0" u="none" strike="noStrike" noProof="0" dirty="0">
                        <a:solidFill>
                          <a:srgbClr val="000000"/>
                        </a:solidFill>
                        <a:effectLst/>
                        <a:latin typeface="Aptos Narrow" panose="020B0004020202020204" pitchFamily="34" charset="0"/>
                      </a:endParaRPr>
                    </a:p>
                  </a:txBody>
                  <a:tcPr anchor="b"/>
                </a:tc>
                <a:extLst>
                  <a:ext uri="{0D108BD9-81ED-4DB2-BD59-A6C34878D82A}">
                    <a16:rowId xmlns:a16="http://schemas.microsoft.com/office/drawing/2014/main" val="2438532884"/>
                  </a:ext>
                </a:extLst>
              </a:tr>
            </a:tbl>
          </a:graphicData>
        </a:graphic>
      </p:graphicFrame>
    </p:spTree>
    <p:extLst>
      <p:ext uri="{BB962C8B-B14F-4D97-AF65-F5344CB8AC3E}">
        <p14:creationId xmlns:p14="http://schemas.microsoft.com/office/powerpoint/2010/main" val="138734756"/>
      </p:ext>
    </p:extLst>
  </p:cSld>
  <p:clrMapOvr>
    <a:masterClrMapping/>
  </p:clrMapOvr>
  <p:extLst>
    <p:ext uri="{6950BFC3-D8DA-4A85-94F7-54DA5524770B}">
      <p188:commentRel xmlns:p188="http://schemas.microsoft.com/office/powerpoint/2018/8/main" r:id="rId3"/>
    </p:ext>
  </p:extLs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7A703-4E80-5206-BD6B-209014A39B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D34E6F3-E651-1808-7831-4E28BD3FDEDE}"/>
              </a:ext>
            </a:extLst>
          </p:cNvPr>
          <p:cNvSpPr>
            <a:spLocks noGrp="1"/>
          </p:cNvSpPr>
          <p:nvPr>
            <p:ph type="title"/>
          </p:nvPr>
        </p:nvSpPr>
        <p:spPr>
          <a:xfrm>
            <a:off x="587374" y="618729"/>
            <a:ext cx="7967664" cy="865188"/>
          </a:xfrm>
        </p:spPr>
        <p:txBody>
          <a:bodyPr/>
          <a:lstStyle/>
          <a:p>
            <a:r>
              <a:rPr lang="en-US" dirty="0"/>
              <a:t>Appendix - Data</a:t>
            </a:r>
          </a:p>
        </p:txBody>
      </p:sp>
      <p:sp>
        <p:nvSpPr>
          <p:cNvPr id="2" name="Date Placeholder 1">
            <a:extLst>
              <a:ext uri="{FF2B5EF4-FFF2-40B4-BE49-F238E27FC236}">
                <a16:creationId xmlns:a16="http://schemas.microsoft.com/office/drawing/2014/main" id="{1098BB74-6E06-3D04-6146-67EFD796A856}"/>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0133F96E-3000-7114-9B00-E91185C29058}"/>
              </a:ext>
            </a:extLst>
          </p:cNvPr>
          <p:cNvSpPr>
            <a:spLocks noGrp="1"/>
          </p:cNvSpPr>
          <p:nvPr>
            <p:ph type="sldNum" sz="quarter" idx="12"/>
          </p:nvPr>
        </p:nvSpPr>
        <p:spPr/>
        <p:txBody>
          <a:bodyPr/>
          <a:lstStyle/>
          <a:p>
            <a:fld id="{091A926C-488A-4E3E-9C21-57CAA120E114}" type="slidenum">
              <a:rPr lang="en-US" smtClean="0"/>
              <a:t>80</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B5DAA9D-40EC-775F-F28B-541F91D8AE6E}"/>
                  </a:ext>
                </a:extLst>
              </p:cNvPr>
              <p:cNvSpPr txBox="1"/>
              <p:nvPr/>
            </p:nvSpPr>
            <p:spPr>
              <a:xfrm>
                <a:off x="508409" y="1051323"/>
                <a:ext cx="8046629" cy="2567947"/>
              </a:xfrm>
              <a:prstGeom prst="rect">
                <a:avLst/>
              </a:prstGeom>
              <a:noFill/>
            </p:spPr>
            <p:txBody>
              <a:bodyPr wrap="square" rtlCol="0">
                <a:spAutoFit/>
              </a:bodyPr>
              <a:lstStyle/>
              <a:p>
                <a:r>
                  <a:rPr lang="en-US" sz="2000" b="1" dirty="0"/>
                  <a:t>Sector mapping</a:t>
                </a:r>
                <a:endParaRPr lang="en-US" sz="2000" dirty="0"/>
              </a:p>
              <a:p>
                <a:r>
                  <a:rPr lang="en-US" sz="2000" dirty="0"/>
                  <a:t>We aggregate the 120 industries of the PSUTs → 11 sectors where:</a:t>
                </a:r>
              </a:p>
              <a:p>
                <a:pPr marL="514350" indent="-514350">
                  <a:buFont typeface="+mj-lt"/>
                  <a:buAutoNum type="romanLcPeriod"/>
                </a:pPr>
                <a:r>
                  <a:rPr lang="en-US" sz="2000" dirty="0"/>
                  <a:t>Energy and solid waste management are required for the model</a:t>
                </a:r>
              </a:p>
              <a:p>
                <a:pPr marL="514350" indent="-514350">
                  <a:buFont typeface="+mj-lt"/>
                  <a:buAutoNum type="romanLcPeriod"/>
                </a:pPr>
                <a:r>
                  <a:rPr lang="en-US" sz="2000" dirty="0"/>
                  <a:t>Manufacturing sectors &gt; 20% of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𝑉𝑅</m:t>
                        </m:r>
                      </m:sub>
                    </m:sSub>
                  </m:oMath>
                </a14:m>
                <a:r>
                  <a:rPr lang="en-US" sz="2000" dirty="0"/>
                  <a:t> use by domestic industries</a:t>
                </a:r>
              </a:p>
              <a:p>
                <a:endParaRPr lang="en-US" sz="2000" dirty="0"/>
              </a:p>
              <a:p>
                <a:r>
                  <a:rPr lang="en-US" sz="2000" b="1" dirty="0"/>
                  <a:t>Generation of waste (W)</a:t>
                </a:r>
                <a:endParaRPr lang="en-US" sz="2000" dirty="0"/>
              </a:p>
              <a:p>
                <a:pPr marL="514350" indent="-514350">
                  <a:buFont typeface="+mj-lt"/>
                  <a:buAutoNum type="romanLcPeriod" startAt="3"/>
                </a:pPr>
                <a:r>
                  <a:rPr lang="en-US" sz="2000" dirty="0"/>
                  <a:t>Construction, sale, and public sector each supply &gt; 40% of total waste to SWM from domestic industries for at least one </a:t>
                </a:r>
                <a14:m>
                  <m:oMath xmlns:m="http://schemas.openxmlformats.org/officeDocument/2006/math">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𝑀</m:t>
                    </m:r>
                  </m:oMath>
                </a14:m>
                <a:r>
                  <a:rPr lang="da-DK" sz="2000" dirty="0"/>
                  <a:t>:</a:t>
                </a:r>
              </a:p>
            </p:txBody>
          </p:sp>
        </mc:Choice>
        <mc:Fallback xmlns="">
          <p:sp>
            <p:nvSpPr>
              <p:cNvPr id="6" name="TextBox 5">
                <a:extLst>
                  <a:ext uri="{FF2B5EF4-FFF2-40B4-BE49-F238E27FC236}">
                    <a16:creationId xmlns:a16="http://schemas.microsoft.com/office/drawing/2014/main" id="{8B5DAA9D-40EC-775F-F28B-541F91D8AE6E}"/>
                  </a:ext>
                </a:extLst>
              </p:cNvPr>
              <p:cNvSpPr txBox="1">
                <a:spLocks noRot="1" noChangeAspect="1" noMove="1" noResize="1" noEditPoints="1" noAdjustHandles="1" noChangeArrowheads="1" noChangeShapeType="1" noTextEdit="1"/>
              </p:cNvSpPr>
              <p:nvPr/>
            </p:nvSpPr>
            <p:spPr>
              <a:xfrm>
                <a:off x="508409" y="1051323"/>
                <a:ext cx="8046629" cy="2567947"/>
              </a:xfrm>
              <a:prstGeom prst="rect">
                <a:avLst/>
              </a:prstGeom>
              <a:blipFill>
                <a:blip r:embed="rId4"/>
                <a:stretch>
                  <a:fillRect l="-985" t="-1185" r="-530" b="-3555"/>
                </a:stretch>
              </a:blipFill>
            </p:spPr>
            <p:txBody>
              <a:bodyPr/>
              <a:lstStyle/>
              <a:p>
                <a:r>
                  <a:rPr lang="da-DK">
                    <a:noFill/>
                  </a:rPr>
                  <a:t> </a:t>
                </a:r>
              </a:p>
            </p:txBody>
          </p:sp>
        </mc:Fallback>
      </mc:AlternateContent>
      <p:graphicFrame>
        <p:nvGraphicFramePr>
          <p:cNvPr id="7" name="Table 6">
            <a:extLst>
              <a:ext uri="{FF2B5EF4-FFF2-40B4-BE49-F238E27FC236}">
                <a16:creationId xmlns:a16="http://schemas.microsoft.com/office/drawing/2014/main" id="{5A38F1F5-BB2C-37CA-EC9E-7E6C00E73458}"/>
              </a:ext>
            </a:extLst>
          </p:cNvPr>
          <p:cNvGraphicFramePr>
            <a:graphicFrameLocks noGrp="1"/>
          </p:cNvGraphicFramePr>
          <p:nvPr/>
        </p:nvGraphicFramePr>
        <p:xfrm>
          <a:off x="587374" y="3534156"/>
          <a:ext cx="7967663" cy="3291840"/>
        </p:xfrm>
        <a:graphic>
          <a:graphicData uri="http://schemas.openxmlformats.org/drawingml/2006/table">
            <a:tbl>
              <a:tblPr firstRow="1" bandRow="1">
                <a:tableStyleId>{F5AB1C69-6EDB-4FF4-983F-18BD219EF322}</a:tableStyleId>
              </a:tblPr>
              <a:tblGrid>
                <a:gridCol w="4454675">
                  <a:extLst>
                    <a:ext uri="{9D8B030D-6E8A-4147-A177-3AD203B41FA5}">
                      <a16:colId xmlns:a16="http://schemas.microsoft.com/office/drawing/2014/main" val="2349693791"/>
                    </a:ext>
                  </a:extLst>
                </a:gridCol>
                <a:gridCol w="695261">
                  <a:extLst>
                    <a:ext uri="{9D8B030D-6E8A-4147-A177-3AD203B41FA5}">
                      <a16:colId xmlns:a16="http://schemas.microsoft.com/office/drawing/2014/main" val="219949996"/>
                    </a:ext>
                  </a:extLst>
                </a:gridCol>
                <a:gridCol w="695261">
                  <a:extLst>
                    <a:ext uri="{9D8B030D-6E8A-4147-A177-3AD203B41FA5}">
                      <a16:colId xmlns:a16="http://schemas.microsoft.com/office/drawing/2014/main" val="129372662"/>
                    </a:ext>
                  </a:extLst>
                </a:gridCol>
                <a:gridCol w="695261">
                  <a:extLst>
                    <a:ext uri="{9D8B030D-6E8A-4147-A177-3AD203B41FA5}">
                      <a16:colId xmlns:a16="http://schemas.microsoft.com/office/drawing/2014/main" val="3824252087"/>
                    </a:ext>
                  </a:extLst>
                </a:gridCol>
                <a:gridCol w="731944">
                  <a:extLst>
                    <a:ext uri="{9D8B030D-6E8A-4147-A177-3AD203B41FA5}">
                      <a16:colId xmlns:a16="http://schemas.microsoft.com/office/drawing/2014/main" val="277862358"/>
                    </a:ext>
                  </a:extLst>
                </a:gridCol>
                <a:gridCol w="695261">
                  <a:extLst>
                    <a:ext uri="{9D8B030D-6E8A-4147-A177-3AD203B41FA5}">
                      <a16:colId xmlns:a16="http://schemas.microsoft.com/office/drawing/2014/main" val="2481445938"/>
                    </a:ext>
                  </a:extLst>
                </a:gridCol>
              </a:tblGrid>
              <a:tr h="182880">
                <a:tc>
                  <a:txBody>
                    <a:bodyPr/>
                    <a:lstStyle/>
                    <a:p>
                      <a:pPr algn="l" fontAlgn="b"/>
                      <a:r>
                        <a:rPr lang="en-US" sz="1200" b="1" u="none" strike="noStrike" noProof="0" dirty="0">
                          <a:solidFill>
                            <a:schemeClr val="bg1"/>
                          </a:solidFill>
                          <a:effectLst/>
                        </a:rPr>
                        <a:t>Share of total supply of </a:t>
                      </a:r>
                      <a:r>
                        <a:rPr lang="en-US" sz="1200" b="1" i="1" u="none" strike="noStrike" noProof="0" dirty="0" err="1">
                          <a:solidFill>
                            <a:schemeClr val="bg1"/>
                          </a:solidFill>
                          <a:effectLst/>
                        </a:rPr>
                        <a:t>q</a:t>
                      </a:r>
                      <a:r>
                        <a:rPr lang="en-US" sz="1200" b="1" i="1" u="none" strike="noStrike" baseline="-25000" noProof="0" dirty="0" err="1">
                          <a:solidFill>
                            <a:schemeClr val="bg1"/>
                          </a:solidFill>
                          <a:effectLst/>
                        </a:rPr>
                        <a:t>m,W</a:t>
                      </a:r>
                      <a:r>
                        <a:rPr lang="en-US" sz="1200" b="1" u="none" strike="noStrike" noProof="0" dirty="0">
                          <a:solidFill>
                            <a:schemeClr val="bg1"/>
                          </a:solidFill>
                          <a:effectLst/>
                        </a:rPr>
                        <a:t> by domestic industries (%)</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Metal</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Paper</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Plastic</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Rubber</a:t>
                      </a:r>
                      <a:endParaRPr lang="en-US" sz="1200" b="1" i="0" u="none" strike="noStrike" noProof="0" dirty="0">
                        <a:solidFill>
                          <a:schemeClr val="bg1"/>
                        </a:solidFill>
                        <a:effectLst/>
                        <a:latin typeface="Aptos Narrow" panose="020B0004020202020204" pitchFamily="34" charset="0"/>
                      </a:endParaRPr>
                    </a:p>
                  </a:txBody>
                  <a:tcPr anchor="b"/>
                </a:tc>
                <a:tc>
                  <a:txBody>
                    <a:bodyPr/>
                    <a:lstStyle/>
                    <a:p>
                      <a:pPr algn="l" fontAlgn="b"/>
                      <a:r>
                        <a:rPr lang="en-US" sz="1200" b="1" u="none" strike="noStrike" noProof="0" dirty="0">
                          <a:solidFill>
                            <a:schemeClr val="bg1"/>
                          </a:solidFill>
                          <a:effectLst/>
                        </a:rPr>
                        <a:t>Textile</a:t>
                      </a:r>
                      <a:endParaRPr lang="en-US" sz="1200" b="1" i="0" u="none" strike="noStrike" noProof="0" dirty="0">
                        <a:solidFill>
                          <a:schemeClr val="bg1"/>
                        </a:solidFill>
                        <a:effectLst/>
                        <a:latin typeface="Aptos Narrow" panose="020B0004020202020204" pitchFamily="34" charset="0"/>
                      </a:endParaRPr>
                    </a:p>
                  </a:txBody>
                  <a:tcPr anchor="b"/>
                </a:tc>
                <a:extLst>
                  <a:ext uri="{0D108BD9-81ED-4DB2-BD59-A6C34878D82A}">
                    <a16:rowId xmlns:a16="http://schemas.microsoft.com/office/drawing/2014/main" val="221404411"/>
                  </a:ext>
                </a:extLst>
              </a:tr>
              <a:tr h="182880">
                <a:tc>
                  <a:txBody>
                    <a:bodyPr/>
                    <a:lstStyle/>
                    <a:p>
                      <a:pPr algn="l" fontAlgn="b"/>
                      <a:r>
                        <a:rPr lang="en-US" sz="1200" b="0" u="none" strike="noStrike" noProof="0" dirty="0">
                          <a:solidFill>
                            <a:srgbClr val="000000"/>
                          </a:solidFill>
                          <a:effectLst/>
                        </a:rPr>
                        <a:t>Manufacture of metals and metal products</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dirty="0">
                          <a:solidFill>
                            <a:srgbClr val="000000"/>
                          </a:solidFill>
                          <a:effectLst/>
                        </a:rPr>
                        <a:t>13.53</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0.63</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2.06</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1.60</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extLst>
                  <a:ext uri="{0D108BD9-81ED-4DB2-BD59-A6C34878D82A}">
                    <a16:rowId xmlns:a16="http://schemas.microsoft.com/office/drawing/2014/main" val="2613773567"/>
                  </a:ext>
                </a:extLst>
              </a:tr>
              <a:tr h="182880">
                <a:tc>
                  <a:txBody>
                    <a:bodyPr/>
                    <a:lstStyle/>
                    <a:p>
                      <a:pPr algn="l" fontAlgn="b"/>
                      <a:r>
                        <a:rPr lang="en-US" sz="1200" b="0" u="none" strike="noStrike" noProof="0" dirty="0">
                          <a:solidFill>
                            <a:srgbClr val="000000"/>
                          </a:solidFill>
                          <a:effectLst/>
                        </a:rPr>
                        <a:t>Manufacture of paper and paper products</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dirty="0">
                          <a:solidFill>
                            <a:srgbClr val="000000"/>
                          </a:solidFill>
                          <a:effectLst/>
                        </a:rPr>
                        <a:t>0.06</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4.38</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0.62</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extLst>
                  <a:ext uri="{0D108BD9-81ED-4DB2-BD59-A6C34878D82A}">
                    <a16:rowId xmlns:a16="http://schemas.microsoft.com/office/drawing/2014/main" val="3304392686"/>
                  </a:ext>
                </a:extLst>
              </a:tr>
              <a:tr h="182880">
                <a:tc>
                  <a:txBody>
                    <a:bodyPr/>
                    <a:lstStyle/>
                    <a:p>
                      <a:pPr algn="l" fontAlgn="b"/>
                      <a:r>
                        <a:rPr lang="en-US" sz="1200" b="0" u="none" strike="noStrike" noProof="0" dirty="0">
                          <a:solidFill>
                            <a:srgbClr val="000000"/>
                          </a:solidFill>
                          <a:effectLst/>
                        </a:rPr>
                        <a:t>Manufacture of rubber and plastic products</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a:solidFill>
                            <a:srgbClr val="000000"/>
                          </a:solidFill>
                          <a:effectLst/>
                        </a:rPr>
                        <a:t>0.49</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0.86</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25.13</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0.92</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extLst>
                  <a:ext uri="{0D108BD9-81ED-4DB2-BD59-A6C34878D82A}">
                    <a16:rowId xmlns:a16="http://schemas.microsoft.com/office/drawing/2014/main" val="2708569313"/>
                  </a:ext>
                </a:extLst>
              </a:tr>
              <a:tr h="182880">
                <a:tc>
                  <a:txBody>
                    <a:bodyPr/>
                    <a:lstStyle/>
                    <a:p>
                      <a:pPr algn="l" fontAlgn="b"/>
                      <a:r>
                        <a:rPr lang="en-US" sz="1200" b="0" u="none" strike="noStrike" noProof="0" dirty="0">
                          <a:solidFill>
                            <a:srgbClr val="000000"/>
                          </a:solidFill>
                          <a:effectLst/>
                        </a:rPr>
                        <a:t>Manufacture of textiles</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a:solidFill>
                            <a:srgbClr val="000000"/>
                          </a:solidFill>
                          <a:effectLst/>
                        </a:rPr>
                        <a:t>0.01</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0.19</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0.35</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extLst>
                  <a:ext uri="{0D108BD9-81ED-4DB2-BD59-A6C34878D82A}">
                    <a16:rowId xmlns:a16="http://schemas.microsoft.com/office/drawing/2014/main" val="1500388209"/>
                  </a:ext>
                </a:extLst>
              </a:tr>
              <a:tr h="182880">
                <a:tc>
                  <a:txBody>
                    <a:bodyPr/>
                    <a:lstStyle/>
                    <a:p>
                      <a:pPr algn="l" fontAlgn="b"/>
                      <a:r>
                        <a:rPr lang="en-US" sz="1200" b="0" u="none" strike="noStrike" noProof="0" dirty="0">
                          <a:solidFill>
                            <a:srgbClr val="000000"/>
                          </a:solidFill>
                          <a:effectLst/>
                        </a:rPr>
                        <a:t>Other manufacturing</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a:solidFill>
                            <a:srgbClr val="000000"/>
                          </a:solidFill>
                          <a:effectLst/>
                        </a:rPr>
                        <a:t>14.08</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21.44</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21.75</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0.89</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extLst>
                  <a:ext uri="{0D108BD9-81ED-4DB2-BD59-A6C34878D82A}">
                    <a16:rowId xmlns:a16="http://schemas.microsoft.com/office/drawing/2014/main" val="3411202647"/>
                  </a:ext>
                </a:extLst>
              </a:tr>
              <a:tr h="182880">
                <a:tc>
                  <a:txBody>
                    <a:bodyPr/>
                    <a:lstStyle/>
                    <a:p>
                      <a:pPr algn="l" fontAlgn="b"/>
                      <a:r>
                        <a:rPr lang="en-US" sz="1200" b="0" u="none" strike="noStrike" noProof="0" dirty="0">
                          <a:solidFill>
                            <a:srgbClr val="000000"/>
                          </a:solidFill>
                          <a:effectLst/>
                        </a:rPr>
                        <a:t>Electricity and heating supply and transmission of electricity</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a:solidFill>
                            <a:srgbClr val="000000"/>
                          </a:solidFill>
                          <a:effectLst/>
                        </a:rPr>
                        <a:t>0.61</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0.04</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0.28</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0.00</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extLst>
                  <a:ext uri="{0D108BD9-81ED-4DB2-BD59-A6C34878D82A}">
                    <a16:rowId xmlns:a16="http://schemas.microsoft.com/office/drawing/2014/main" val="3941889819"/>
                  </a:ext>
                </a:extLst>
              </a:tr>
              <a:tr h="182880">
                <a:tc>
                  <a:txBody>
                    <a:bodyPr/>
                    <a:lstStyle/>
                    <a:p>
                      <a:pPr algn="l" fontAlgn="b"/>
                      <a:r>
                        <a:rPr lang="en-US" sz="1200" b="0" u="none" strike="noStrike" noProof="0" dirty="0">
                          <a:solidFill>
                            <a:srgbClr val="000000"/>
                          </a:solidFill>
                          <a:effectLst/>
                        </a:rPr>
                        <a:t>Solid waste management</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a:solidFill>
                            <a:srgbClr val="000000"/>
                          </a:solidFill>
                          <a:effectLst/>
                        </a:rPr>
                        <a:t>1.59</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0.22</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1.58</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0.59</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50.68</a:t>
                      </a:r>
                      <a:endParaRPr lang="da-DK" sz="1200" b="0" i="0" u="none" strike="noStrike">
                        <a:solidFill>
                          <a:srgbClr val="000000"/>
                        </a:solidFill>
                        <a:effectLst/>
                        <a:latin typeface="Microsoft New Tai Lue (Body)"/>
                      </a:endParaRPr>
                    </a:p>
                  </a:txBody>
                  <a:tcPr anchor="b"/>
                </a:tc>
                <a:extLst>
                  <a:ext uri="{0D108BD9-81ED-4DB2-BD59-A6C34878D82A}">
                    <a16:rowId xmlns:a16="http://schemas.microsoft.com/office/drawing/2014/main" val="1469757475"/>
                  </a:ext>
                </a:extLst>
              </a:tr>
              <a:tr h="182880">
                <a:tc>
                  <a:txBody>
                    <a:bodyPr/>
                    <a:lstStyle/>
                    <a:p>
                      <a:pPr algn="l" fontAlgn="b"/>
                      <a:r>
                        <a:rPr lang="en-US" sz="1200" b="1" u="none" strike="noStrike" noProof="0" dirty="0">
                          <a:solidFill>
                            <a:srgbClr val="000000"/>
                          </a:solidFill>
                          <a:effectLst/>
                        </a:rPr>
                        <a:t>Construction</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1" u="none" strike="noStrike" dirty="0">
                          <a:solidFill>
                            <a:srgbClr val="000000"/>
                          </a:solidFill>
                          <a:effectLst/>
                        </a:rPr>
                        <a:t>46.08</a:t>
                      </a:r>
                      <a:endParaRPr lang="da-DK" sz="1200" b="1"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1.03</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9.46</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1.42</a:t>
                      </a:r>
                      <a:endParaRPr lang="da-DK" sz="1200" b="0"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0.00</a:t>
                      </a:r>
                      <a:endParaRPr lang="da-DK" sz="1200" b="0" i="0" u="none" strike="noStrike">
                        <a:solidFill>
                          <a:srgbClr val="000000"/>
                        </a:solidFill>
                        <a:effectLst/>
                        <a:latin typeface="Microsoft New Tai Lue (Body)"/>
                      </a:endParaRPr>
                    </a:p>
                  </a:txBody>
                  <a:tcPr anchor="b"/>
                </a:tc>
                <a:extLst>
                  <a:ext uri="{0D108BD9-81ED-4DB2-BD59-A6C34878D82A}">
                    <a16:rowId xmlns:a16="http://schemas.microsoft.com/office/drawing/2014/main" val="806738758"/>
                  </a:ext>
                </a:extLst>
              </a:tr>
              <a:tr h="182880">
                <a:tc>
                  <a:txBody>
                    <a:bodyPr/>
                    <a:lstStyle/>
                    <a:p>
                      <a:pPr algn="l" fontAlgn="b"/>
                      <a:r>
                        <a:rPr lang="en-US" sz="1200" b="1" u="none" strike="noStrike" noProof="0" dirty="0">
                          <a:solidFill>
                            <a:srgbClr val="000000"/>
                          </a:solidFill>
                          <a:effectLst/>
                        </a:rPr>
                        <a:t>Retail and wholesale and repair of motor vehicles etc.</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a:solidFill>
                            <a:srgbClr val="000000"/>
                          </a:solidFill>
                          <a:effectLst/>
                        </a:rPr>
                        <a:t>17.86</a:t>
                      </a:r>
                      <a:endParaRPr lang="da-DK" sz="1200" b="0" i="0" u="none" strike="noStrike">
                        <a:solidFill>
                          <a:srgbClr val="000000"/>
                        </a:solidFill>
                        <a:effectLst/>
                        <a:latin typeface="Microsoft New Tai Lue (Body)"/>
                      </a:endParaRPr>
                    </a:p>
                  </a:txBody>
                  <a:tcPr anchor="b"/>
                </a:tc>
                <a:tc>
                  <a:txBody>
                    <a:bodyPr/>
                    <a:lstStyle/>
                    <a:p>
                      <a:pPr algn="r" fontAlgn="b"/>
                      <a:r>
                        <a:rPr lang="da-DK" sz="1200" b="1" u="none" strike="noStrike" dirty="0">
                          <a:solidFill>
                            <a:srgbClr val="000000"/>
                          </a:solidFill>
                          <a:effectLst/>
                        </a:rPr>
                        <a:t>48.61</a:t>
                      </a:r>
                      <a:endParaRPr lang="da-DK" sz="1200" b="1" i="0" u="none" strike="noStrike" dirty="0">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21.10</a:t>
                      </a:r>
                      <a:endParaRPr lang="da-DK" sz="1200" b="0" i="0" u="none" strike="noStrike">
                        <a:solidFill>
                          <a:srgbClr val="000000"/>
                        </a:solidFill>
                        <a:effectLst/>
                        <a:latin typeface="Microsoft New Tai Lue (Body)"/>
                      </a:endParaRPr>
                    </a:p>
                  </a:txBody>
                  <a:tcPr anchor="b"/>
                </a:tc>
                <a:tc>
                  <a:txBody>
                    <a:bodyPr/>
                    <a:lstStyle/>
                    <a:p>
                      <a:pPr algn="r" fontAlgn="b"/>
                      <a:r>
                        <a:rPr lang="da-DK" sz="1200" b="1" u="none" strike="noStrike" dirty="0">
                          <a:solidFill>
                            <a:srgbClr val="000000"/>
                          </a:solidFill>
                          <a:effectLst/>
                        </a:rPr>
                        <a:t>87.01</a:t>
                      </a:r>
                      <a:endParaRPr lang="da-DK" sz="1200" b="1" i="0" u="none" strike="noStrike" dirty="0">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0.00</a:t>
                      </a:r>
                      <a:endParaRPr lang="da-DK" sz="1200" b="0" i="0" u="none" strike="noStrike" dirty="0">
                        <a:solidFill>
                          <a:srgbClr val="000000"/>
                        </a:solidFill>
                        <a:effectLst/>
                        <a:latin typeface="Microsoft New Tai Lue (Body)"/>
                      </a:endParaRPr>
                    </a:p>
                  </a:txBody>
                  <a:tcPr anchor="b"/>
                </a:tc>
                <a:extLst>
                  <a:ext uri="{0D108BD9-81ED-4DB2-BD59-A6C34878D82A}">
                    <a16:rowId xmlns:a16="http://schemas.microsoft.com/office/drawing/2014/main" val="1530938943"/>
                  </a:ext>
                </a:extLst>
              </a:tr>
              <a:tr h="182880">
                <a:tc>
                  <a:txBody>
                    <a:bodyPr/>
                    <a:lstStyle/>
                    <a:p>
                      <a:pPr algn="l" fontAlgn="b"/>
                      <a:r>
                        <a:rPr lang="en-US" sz="1200" b="1" u="none" strike="noStrike" noProof="0" dirty="0">
                          <a:solidFill>
                            <a:srgbClr val="000000"/>
                          </a:solidFill>
                          <a:effectLst/>
                        </a:rPr>
                        <a:t>Public services</a:t>
                      </a:r>
                      <a:endParaRPr lang="en-US" sz="1200" b="1"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a:solidFill>
                            <a:srgbClr val="000000"/>
                          </a:solidFill>
                          <a:effectLst/>
                        </a:rPr>
                        <a:t>0.53</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5.26</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1.61</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0.32</a:t>
                      </a:r>
                      <a:endParaRPr lang="da-DK" sz="1200" b="0" i="0" u="none" strike="noStrike">
                        <a:solidFill>
                          <a:srgbClr val="000000"/>
                        </a:solidFill>
                        <a:effectLst/>
                        <a:latin typeface="Microsoft New Tai Lue (Body)"/>
                      </a:endParaRPr>
                    </a:p>
                  </a:txBody>
                  <a:tcPr anchor="b"/>
                </a:tc>
                <a:tc>
                  <a:txBody>
                    <a:bodyPr/>
                    <a:lstStyle/>
                    <a:p>
                      <a:pPr algn="r" fontAlgn="b"/>
                      <a:r>
                        <a:rPr lang="da-DK" sz="1200" b="1" u="none" strike="noStrike" dirty="0">
                          <a:solidFill>
                            <a:srgbClr val="000000"/>
                          </a:solidFill>
                          <a:effectLst/>
                        </a:rPr>
                        <a:t>42.47</a:t>
                      </a:r>
                      <a:endParaRPr lang="da-DK" sz="1200" b="1" i="0" u="none" strike="noStrike" dirty="0">
                        <a:solidFill>
                          <a:srgbClr val="000000"/>
                        </a:solidFill>
                        <a:effectLst/>
                        <a:latin typeface="Microsoft New Tai Lue (Body)"/>
                      </a:endParaRPr>
                    </a:p>
                  </a:txBody>
                  <a:tcPr anchor="b"/>
                </a:tc>
                <a:extLst>
                  <a:ext uri="{0D108BD9-81ED-4DB2-BD59-A6C34878D82A}">
                    <a16:rowId xmlns:a16="http://schemas.microsoft.com/office/drawing/2014/main" val="3934346124"/>
                  </a:ext>
                </a:extLst>
              </a:tr>
              <a:tr h="182880">
                <a:tc>
                  <a:txBody>
                    <a:bodyPr/>
                    <a:lstStyle/>
                    <a:p>
                      <a:pPr algn="l" fontAlgn="b"/>
                      <a:r>
                        <a:rPr lang="en-US" sz="1200" b="0" u="none" strike="noStrike" noProof="0" dirty="0">
                          <a:solidFill>
                            <a:srgbClr val="000000"/>
                          </a:solidFill>
                          <a:effectLst/>
                        </a:rPr>
                        <a:t>Other industries</a:t>
                      </a:r>
                      <a:endParaRPr lang="en-US" sz="1200" b="0" i="0" u="none" strike="noStrike" noProof="0" dirty="0">
                        <a:solidFill>
                          <a:srgbClr val="000000"/>
                        </a:solidFill>
                        <a:effectLst/>
                        <a:latin typeface="Aptos Narrow" panose="020B0004020202020204" pitchFamily="34" charset="0"/>
                      </a:endParaRPr>
                    </a:p>
                  </a:txBody>
                  <a:tcPr anchor="b"/>
                </a:tc>
                <a:tc>
                  <a:txBody>
                    <a:bodyPr/>
                    <a:lstStyle/>
                    <a:p>
                      <a:pPr algn="r" fontAlgn="b"/>
                      <a:r>
                        <a:rPr lang="da-DK" sz="1200" b="0" u="none" strike="noStrike">
                          <a:solidFill>
                            <a:srgbClr val="000000"/>
                          </a:solidFill>
                          <a:effectLst/>
                        </a:rPr>
                        <a:t>5.15</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17.33</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16.06</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a:solidFill>
                            <a:srgbClr val="000000"/>
                          </a:solidFill>
                          <a:effectLst/>
                        </a:rPr>
                        <a:t>7.25</a:t>
                      </a:r>
                      <a:endParaRPr lang="da-DK" sz="1200" b="0" i="0" u="none" strike="noStrike">
                        <a:solidFill>
                          <a:srgbClr val="000000"/>
                        </a:solidFill>
                        <a:effectLst/>
                        <a:latin typeface="Microsoft New Tai Lue (Body)"/>
                      </a:endParaRPr>
                    </a:p>
                  </a:txBody>
                  <a:tcPr anchor="b"/>
                </a:tc>
                <a:tc>
                  <a:txBody>
                    <a:bodyPr/>
                    <a:lstStyle/>
                    <a:p>
                      <a:pPr algn="r" fontAlgn="b"/>
                      <a:r>
                        <a:rPr lang="da-DK" sz="1200" b="0" u="none" strike="noStrike" dirty="0">
                          <a:solidFill>
                            <a:srgbClr val="000000"/>
                          </a:solidFill>
                          <a:effectLst/>
                        </a:rPr>
                        <a:t>6.85</a:t>
                      </a:r>
                      <a:endParaRPr lang="da-DK" sz="1200" b="0" i="0" u="none" strike="noStrike" dirty="0">
                        <a:solidFill>
                          <a:srgbClr val="000000"/>
                        </a:solidFill>
                        <a:effectLst/>
                        <a:latin typeface="Microsoft New Tai Lue (Body)"/>
                      </a:endParaRPr>
                    </a:p>
                  </a:txBody>
                  <a:tcPr anchor="b"/>
                </a:tc>
                <a:extLst>
                  <a:ext uri="{0D108BD9-81ED-4DB2-BD59-A6C34878D82A}">
                    <a16:rowId xmlns:a16="http://schemas.microsoft.com/office/drawing/2014/main" val="2438532884"/>
                  </a:ext>
                </a:extLst>
              </a:tr>
            </a:tbl>
          </a:graphicData>
        </a:graphic>
      </p:graphicFrame>
    </p:spTree>
    <p:extLst>
      <p:ext uri="{BB962C8B-B14F-4D97-AF65-F5344CB8AC3E}">
        <p14:creationId xmlns:p14="http://schemas.microsoft.com/office/powerpoint/2010/main" val="4005439591"/>
      </p:ext>
    </p:extLst>
  </p:cSld>
  <p:clrMapOvr>
    <a:masterClrMapping/>
  </p:clrMapOvr>
  <p:extLst>
    <p:ext uri="{6950BFC3-D8DA-4A85-94F7-54DA5524770B}">
      <p188:commentRel xmlns:p188="http://schemas.microsoft.com/office/powerpoint/2018/8/main" r:id="rId3"/>
    </p:ext>
  </p:extLs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8FE8E-4202-C5B2-B9BD-87DA4FDC11E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A10EC1-8CAB-F1D4-AD48-31438B2B8125}"/>
              </a:ext>
            </a:extLst>
          </p:cNvPr>
          <p:cNvSpPr>
            <a:spLocks noGrp="1"/>
          </p:cNvSpPr>
          <p:nvPr>
            <p:ph type="title"/>
          </p:nvPr>
        </p:nvSpPr>
        <p:spPr/>
        <p:txBody>
          <a:bodyPr/>
          <a:lstStyle/>
          <a:p>
            <a:r>
              <a:rPr lang="en-US" dirty="0"/>
              <a:t>Appendix - Data</a:t>
            </a:r>
          </a:p>
        </p:txBody>
      </p:sp>
      <p:sp>
        <p:nvSpPr>
          <p:cNvPr id="2" name="Date Placeholder 1">
            <a:extLst>
              <a:ext uri="{FF2B5EF4-FFF2-40B4-BE49-F238E27FC236}">
                <a16:creationId xmlns:a16="http://schemas.microsoft.com/office/drawing/2014/main" id="{0FDAA758-E571-DB20-A598-F406A0E7B346}"/>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8E6EC606-A9DA-9D89-2960-FB3936C8F9CF}"/>
              </a:ext>
            </a:extLst>
          </p:cNvPr>
          <p:cNvSpPr>
            <a:spLocks noGrp="1"/>
          </p:cNvSpPr>
          <p:nvPr>
            <p:ph type="sldNum" sz="quarter" idx="12"/>
          </p:nvPr>
        </p:nvSpPr>
        <p:spPr/>
        <p:txBody>
          <a:bodyPr/>
          <a:lstStyle/>
          <a:p>
            <a:fld id="{091A926C-488A-4E3E-9C21-57CAA120E114}" type="slidenum">
              <a:rPr lang="en-US" smtClean="0"/>
              <a:t>81</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9F633D1-937D-2B61-6258-E1E3D7D73208}"/>
                  </a:ext>
                </a:extLst>
              </p:cNvPr>
              <p:cNvSpPr txBox="1"/>
              <p:nvPr/>
            </p:nvSpPr>
            <p:spPr>
              <a:xfrm>
                <a:off x="508409" y="1051323"/>
                <a:ext cx="8046720" cy="3533468"/>
              </a:xfrm>
              <a:prstGeom prst="rect">
                <a:avLst/>
              </a:prstGeom>
              <a:noFill/>
            </p:spPr>
            <p:txBody>
              <a:bodyPr wrap="square" rtlCol="0">
                <a:spAutoFit/>
              </a:bodyPr>
              <a:lstStyle/>
              <a:p>
                <a:r>
                  <a:rPr lang="en-US" sz="2000" b="1" dirty="0"/>
                  <a:t>Aggregate material prices</a:t>
                </a:r>
              </a:p>
              <a:p>
                <a:r>
                  <a:rPr lang="en-US" sz="2000" dirty="0"/>
                  <a:t>Using data on commodity trade between Denmark and abroad, we can approximate the monetary transactions related to material flows.</a:t>
                </a:r>
              </a:p>
              <a:p>
                <a:endParaRPr lang="en-US" sz="2000" dirty="0"/>
              </a:p>
              <a:p>
                <a:r>
                  <a:rPr lang="en-US" sz="2000" dirty="0"/>
                  <a:t>We assume a common price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in </a:t>
                </a:r>
                <a:r>
                  <a:rPr lang="da-DK" sz="2000" dirty="0"/>
                  <a:t>DKK/kg</a:t>
                </a:r>
                <a:r>
                  <a:rPr lang="en-US" sz="2000" dirty="0"/>
                  <a:t> for all commodities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h</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of the same material group </a:t>
                </a:r>
                <a14:m>
                  <m:oMath xmlns:m="http://schemas.openxmlformats.org/officeDocument/2006/math">
                    <m:r>
                      <a:rPr lang="en-US" sz="2000" i="1">
                        <a:latin typeface="Cambria Math" panose="02040503050406030204" pitchFamily="18" charset="0"/>
                        <a:ea typeface="Cambria Math" panose="02040503050406030204" pitchFamily="18" charset="0"/>
                      </a:rPr>
                      <m:t>𝑚</m:t>
                    </m:r>
                  </m:oMath>
                </a14:m>
                <a:r>
                  <a:rPr lang="en-US" sz="2000" dirty="0"/>
                  <a:t> and source </a:t>
                </a:r>
                <a14:m>
                  <m:oMath xmlns:m="http://schemas.openxmlformats.org/officeDocument/2006/math">
                    <m:r>
                      <a:rPr lang="en-US" sz="2000" i="1">
                        <a:latin typeface="Cambria Math" panose="02040503050406030204" pitchFamily="18" charset="0"/>
                        <a:ea typeface="Cambria Math" panose="02040503050406030204" pitchFamily="18" charset="0"/>
                      </a:rPr>
                      <m:t>𝑠</m:t>
                    </m:r>
                  </m:oMath>
                </a14:m>
                <a:r>
                  <a:rPr lang="en-US" sz="2000" dirty="0"/>
                  <a:t> based on value of trade averaged over quantity of trade weighted by economy-wide shares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oMath>
                </a14:m>
                <a:endParaRPr lang="en-US" sz="2000" dirty="0">
                  <a:ea typeface="Cambria Math" panose="02040503050406030204" pitchFamily="18" charset="0"/>
                </a:endParaRPr>
              </a:p>
              <a:p>
                <a:endParaRPr lang="en-US" sz="2000" dirty="0"/>
              </a:p>
              <a:p>
                <a:pPr algn="ct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r>
                        <a:rPr lang="en-US" sz="2000" b="0" i="1" smtClean="0">
                          <a:latin typeface="Cambria Math" panose="02040503050406030204" pitchFamily="18" charset="0"/>
                          <a:ea typeface="Cambria Math" panose="02040503050406030204" pitchFamily="18" charset="0"/>
                        </a:rPr>
                        <m:t>=</m:t>
                      </m:r>
                      <m:nary>
                        <m:naryPr>
                          <m:chr m:val="∑"/>
                          <m:supHide m:val="on"/>
                          <m:ctrlPr>
                            <a:rPr lang="en-US"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sub>
                        <m:sup/>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f>
                            <m:fPr>
                              <m:ctrlPr>
                                <a:rPr lang="en-US" sz="2000" i="1">
                                  <a:latin typeface="Cambria Math" panose="02040503050406030204" pitchFamily="18" charset="0"/>
                                  <a:ea typeface="Cambria Math" panose="02040503050406030204" pitchFamily="18" charset="0"/>
                                </a:rPr>
                              </m:ctrlPr>
                            </m:fPr>
                            <m:num>
                              <m:d>
                                <m:dPr>
                                  <m:ctrlPr>
                                    <a:rPr lang="en-US" sz="2000" i="1">
                                      <a:latin typeface="Cambria Math" panose="02040503050406030204" pitchFamily="18" charset="0"/>
                                      <a:ea typeface="Cambria Math" panose="02040503050406030204" pitchFamily="18" charset="0"/>
                                    </a:rPr>
                                  </m:ctrlPr>
                                </m:dPr>
                                <m:e>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h</m:t>
                                      </m:r>
                                    </m:sub>
                                    <m:sup>
                                      <m:r>
                                        <m:rPr>
                                          <m:sty m:val="p"/>
                                        </m:rPr>
                                        <a:rPr lang="en-US" sz="2000">
                                          <a:latin typeface="Cambria Math" panose="02040503050406030204" pitchFamily="18" charset="0"/>
                                          <a:ea typeface="Cambria Math" panose="02040503050406030204" pitchFamily="18" charset="0"/>
                                        </a:rPr>
                                        <m:t>imp</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h</m:t>
                                      </m:r>
                                    </m:sub>
                                    <m:sup>
                                      <m:r>
                                        <m:rPr>
                                          <m:sty m:val="p"/>
                                        </m:rPr>
                                        <a:rPr lang="en-US" sz="2000" b="0" i="0" smtClean="0">
                                          <a:latin typeface="Cambria Math" panose="02040503050406030204" pitchFamily="18" charset="0"/>
                                          <a:ea typeface="Cambria Math" panose="02040503050406030204" pitchFamily="18" charset="0"/>
                                        </a:rPr>
                                        <m:t>exp</m:t>
                                      </m:r>
                                    </m:sup>
                                  </m:sSubSup>
                                </m:e>
                              </m:d>
                            </m:num>
                            <m:den>
                              <m:d>
                                <m:dPr>
                                  <m:ctrlPr>
                                    <a:rPr lang="en-US" sz="2000" i="1">
                                      <a:latin typeface="Cambria Math" panose="02040503050406030204" pitchFamily="18" charset="0"/>
                                      <a:ea typeface="Cambria Math" panose="02040503050406030204" pitchFamily="18" charset="0"/>
                                    </a:rPr>
                                  </m:ctrlPr>
                                </m:dPr>
                                <m:e>
                                  <m:sSubSup>
                                    <m:sSubSupPr>
                                      <m:ctrlPr>
                                        <a:rPr lang="en-US" sz="2000" i="1">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up>
                                      <m:r>
                                        <m:rPr>
                                          <m:sty m:val="p"/>
                                        </m:rPr>
                                        <a:rPr lang="en-US" sz="2000">
                                          <a:latin typeface="Cambria Math" panose="02040503050406030204" pitchFamily="18" charset="0"/>
                                          <a:ea typeface="Cambria Math" panose="02040503050406030204" pitchFamily="18" charset="0"/>
                                        </a:rPr>
                                        <m:t>imp</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up>
                                      <m:r>
                                        <m:rPr>
                                          <m:sty m:val="p"/>
                                        </m:rPr>
                                        <a:rPr lang="en-US" sz="2000" b="0" i="0" smtClean="0">
                                          <a:latin typeface="Cambria Math" panose="02040503050406030204" pitchFamily="18" charset="0"/>
                                          <a:ea typeface="Cambria Math" panose="02040503050406030204" pitchFamily="18" charset="0"/>
                                        </a:rPr>
                                        <m:t>exp</m:t>
                                      </m:r>
                                    </m:sup>
                                  </m:sSubSup>
                                </m:e>
                              </m:d>
                            </m:den>
                          </m:f>
                        </m:e>
                      </m:nary>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Sub>
                        </m:num>
                        <m:den>
                          <m:nary>
                            <m:naryPr>
                              <m:chr m:val="∑"/>
                              <m:supHide m:val="on"/>
                              <m:ctrlPr>
                                <a:rPr lang="en-US"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sub>
                            <m:sup/>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Sub>
                            </m:e>
                          </m:nary>
                        </m:den>
                      </m:f>
                    </m:oMath>
                  </m:oMathPara>
                </a14:m>
                <a:endParaRPr lang="en-US" sz="2000" dirty="0"/>
              </a:p>
            </p:txBody>
          </p:sp>
        </mc:Choice>
        <mc:Fallback xmlns="">
          <p:sp>
            <p:nvSpPr>
              <p:cNvPr id="6" name="TextBox 5">
                <a:extLst>
                  <a:ext uri="{FF2B5EF4-FFF2-40B4-BE49-F238E27FC236}">
                    <a16:creationId xmlns:a16="http://schemas.microsoft.com/office/drawing/2014/main" id="{F9F633D1-937D-2B61-6258-E1E3D7D73208}"/>
                  </a:ext>
                </a:extLst>
              </p:cNvPr>
              <p:cNvSpPr txBox="1">
                <a:spLocks noRot="1" noChangeAspect="1" noMove="1" noResize="1" noEditPoints="1" noAdjustHandles="1" noChangeArrowheads="1" noChangeShapeType="1" noTextEdit="1"/>
              </p:cNvSpPr>
              <p:nvPr/>
            </p:nvSpPr>
            <p:spPr>
              <a:xfrm>
                <a:off x="508409" y="1051323"/>
                <a:ext cx="8046720" cy="3533468"/>
              </a:xfrm>
              <a:prstGeom prst="rect">
                <a:avLst/>
              </a:prstGeom>
              <a:blipFill>
                <a:blip r:embed="rId3"/>
                <a:stretch>
                  <a:fillRect l="-758" t="-862"/>
                </a:stretch>
              </a:blipFill>
            </p:spPr>
            <p:txBody>
              <a:bodyPr/>
              <a:lstStyle/>
              <a:p>
                <a:r>
                  <a:rPr lang="da-DK">
                    <a:noFill/>
                  </a:rPr>
                  <a:t> </a:t>
                </a:r>
              </a:p>
            </p:txBody>
          </p:sp>
        </mc:Fallback>
      </mc:AlternateContent>
    </p:spTree>
    <p:extLst>
      <p:ext uri="{BB962C8B-B14F-4D97-AF65-F5344CB8AC3E}">
        <p14:creationId xmlns:p14="http://schemas.microsoft.com/office/powerpoint/2010/main" val="319070397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7A9F-3C78-33A7-D0D9-D6F7631C47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516AE5-9DE1-374D-7328-BAB61D8DBD28}"/>
              </a:ext>
            </a:extLst>
          </p:cNvPr>
          <p:cNvSpPr>
            <a:spLocks noGrp="1"/>
          </p:cNvSpPr>
          <p:nvPr>
            <p:ph type="title"/>
          </p:nvPr>
        </p:nvSpPr>
        <p:spPr/>
        <p:txBody>
          <a:bodyPr/>
          <a:lstStyle/>
          <a:p>
            <a:r>
              <a:rPr lang="en-US" dirty="0"/>
              <a:t>Appendix - Data</a:t>
            </a:r>
          </a:p>
        </p:txBody>
      </p:sp>
      <p:sp>
        <p:nvSpPr>
          <p:cNvPr id="2" name="Date Placeholder 1">
            <a:extLst>
              <a:ext uri="{FF2B5EF4-FFF2-40B4-BE49-F238E27FC236}">
                <a16:creationId xmlns:a16="http://schemas.microsoft.com/office/drawing/2014/main" id="{9B32C9A6-3763-92F3-2ACE-BB9F9E1B96D8}"/>
              </a:ext>
            </a:extLst>
          </p:cNvPr>
          <p:cNvSpPr>
            <a:spLocks noGrp="1"/>
          </p:cNvSpPr>
          <p:nvPr>
            <p:ph type="dt" sz="half" idx="10"/>
          </p:nvPr>
        </p:nvSpPr>
        <p:spPr/>
        <p:txBody>
          <a:bodyPr/>
          <a:lstStyle/>
          <a:p>
            <a:fld id="{D47CA900-C54E-46DA-9750-FC525BA50C3D}" type="datetime1">
              <a:rPr lang="en-US" smtClean="0"/>
              <a:t>6/30/2025</a:t>
            </a:fld>
            <a:endParaRPr lang="en-US" dirty="0"/>
          </a:p>
        </p:txBody>
      </p:sp>
      <p:sp>
        <p:nvSpPr>
          <p:cNvPr id="4" name="Slide Number Placeholder 3">
            <a:extLst>
              <a:ext uri="{FF2B5EF4-FFF2-40B4-BE49-F238E27FC236}">
                <a16:creationId xmlns:a16="http://schemas.microsoft.com/office/drawing/2014/main" id="{99D3A2CB-AED2-0308-4E0B-0C08CA22C6D2}"/>
              </a:ext>
            </a:extLst>
          </p:cNvPr>
          <p:cNvSpPr>
            <a:spLocks noGrp="1"/>
          </p:cNvSpPr>
          <p:nvPr>
            <p:ph type="sldNum" sz="quarter" idx="12"/>
          </p:nvPr>
        </p:nvSpPr>
        <p:spPr/>
        <p:txBody>
          <a:bodyPr/>
          <a:lstStyle/>
          <a:p>
            <a:fld id="{091A926C-488A-4E3E-9C21-57CAA120E114}" type="slidenum">
              <a:rPr lang="en-US" smtClean="0"/>
              <a:t>82</a:t>
            </a:fld>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0AA558B-B2D8-66E6-42CD-F69DE4A8B4D6}"/>
                  </a:ext>
                </a:extLst>
              </p:cNvPr>
              <p:cNvSpPr txBox="1"/>
              <p:nvPr/>
            </p:nvSpPr>
            <p:spPr>
              <a:xfrm>
                <a:off x="508409" y="1051323"/>
                <a:ext cx="8046720" cy="3533468"/>
              </a:xfrm>
              <a:prstGeom prst="rect">
                <a:avLst/>
              </a:prstGeom>
              <a:noFill/>
            </p:spPr>
            <p:txBody>
              <a:bodyPr wrap="square" rtlCol="0">
                <a:spAutoFit/>
              </a:bodyPr>
              <a:lstStyle/>
              <a:p>
                <a:r>
                  <a:rPr lang="en-US" sz="2000" b="1" dirty="0"/>
                  <a:t>Aggregate material prices</a:t>
                </a:r>
              </a:p>
              <a:p>
                <a:r>
                  <a:rPr lang="en-US" sz="2000" dirty="0"/>
                  <a:t>Using data on commodity trade between Denmark and abroad, we can approximate the monetary transactions related to material flows.</a:t>
                </a:r>
              </a:p>
              <a:p>
                <a:endParaRPr lang="en-US" sz="2000" dirty="0"/>
              </a:p>
              <a:p>
                <a:r>
                  <a:rPr lang="en-US" sz="2000" dirty="0"/>
                  <a:t>We assume a common price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in </a:t>
                </a:r>
                <a:r>
                  <a:rPr lang="da-DK" sz="2000" dirty="0"/>
                  <a:t>DKK/kg</a:t>
                </a:r>
                <a:r>
                  <a:rPr lang="en-US" sz="2000" dirty="0"/>
                  <a:t> for all commodities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h</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oMath>
                </a14:m>
                <a:r>
                  <a:rPr lang="en-US" sz="2000" dirty="0"/>
                  <a:t> of the same material group </a:t>
                </a:r>
                <a14:m>
                  <m:oMath xmlns:m="http://schemas.openxmlformats.org/officeDocument/2006/math">
                    <m:r>
                      <a:rPr lang="en-US" sz="2000" i="1">
                        <a:latin typeface="Cambria Math" panose="02040503050406030204" pitchFamily="18" charset="0"/>
                        <a:ea typeface="Cambria Math" panose="02040503050406030204" pitchFamily="18" charset="0"/>
                      </a:rPr>
                      <m:t>𝑚</m:t>
                    </m:r>
                  </m:oMath>
                </a14:m>
                <a:r>
                  <a:rPr lang="en-US" sz="2000" dirty="0"/>
                  <a:t> and source </a:t>
                </a:r>
                <a14:m>
                  <m:oMath xmlns:m="http://schemas.openxmlformats.org/officeDocument/2006/math">
                    <m:r>
                      <a:rPr lang="en-US" sz="2000" i="1">
                        <a:latin typeface="Cambria Math" panose="02040503050406030204" pitchFamily="18" charset="0"/>
                        <a:ea typeface="Cambria Math" panose="02040503050406030204" pitchFamily="18" charset="0"/>
                      </a:rPr>
                      <m:t>𝑠</m:t>
                    </m:r>
                  </m:oMath>
                </a14:m>
                <a:r>
                  <a:rPr lang="en-US" sz="2000" dirty="0"/>
                  <a:t> based on value of trade averaged over quantity of trade weighted by economy-wide shares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oMath>
                </a14:m>
                <a:endParaRPr lang="en-US" sz="2000" dirty="0">
                  <a:ea typeface="Cambria Math" panose="02040503050406030204" pitchFamily="18" charset="0"/>
                </a:endParaRPr>
              </a:p>
              <a:p>
                <a:endParaRPr lang="en-US" sz="2000" dirty="0"/>
              </a:p>
              <a:p>
                <a:pPr algn="ct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r>
                        <a:rPr lang="en-US" sz="2000" b="0" i="1" smtClean="0">
                          <a:latin typeface="Cambria Math" panose="02040503050406030204" pitchFamily="18" charset="0"/>
                          <a:ea typeface="Cambria Math" panose="02040503050406030204" pitchFamily="18" charset="0"/>
                        </a:rPr>
                        <m:t>=</m:t>
                      </m:r>
                      <m:nary>
                        <m:naryPr>
                          <m:chr m:val="∑"/>
                          <m:supHide m:val="on"/>
                          <m:ctrlPr>
                            <a:rPr lang="en-US"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sub>
                        <m:sup/>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f>
                            <m:fPr>
                              <m:ctrlPr>
                                <a:rPr lang="en-US" sz="2000" i="1">
                                  <a:latin typeface="Cambria Math" panose="02040503050406030204" pitchFamily="18" charset="0"/>
                                  <a:ea typeface="Cambria Math" panose="02040503050406030204" pitchFamily="18" charset="0"/>
                                </a:rPr>
                              </m:ctrlPr>
                            </m:fPr>
                            <m:num>
                              <m:d>
                                <m:dPr>
                                  <m:ctrlPr>
                                    <a:rPr lang="en-US" sz="2000" i="1">
                                      <a:latin typeface="Cambria Math" panose="02040503050406030204" pitchFamily="18" charset="0"/>
                                      <a:ea typeface="Cambria Math" panose="02040503050406030204" pitchFamily="18" charset="0"/>
                                    </a:rPr>
                                  </m:ctrlPr>
                                </m:dPr>
                                <m:e>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h</m:t>
                                      </m:r>
                                    </m:sub>
                                    <m:sup>
                                      <m:r>
                                        <m:rPr>
                                          <m:sty m:val="p"/>
                                        </m:rPr>
                                        <a:rPr lang="en-US" sz="2000">
                                          <a:latin typeface="Cambria Math" panose="02040503050406030204" pitchFamily="18" charset="0"/>
                                          <a:ea typeface="Cambria Math" panose="02040503050406030204" pitchFamily="18" charset="0"/>
                                        </a:rPr>
                                        <m:t>imp</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𝑣</m:t>
                                      </m:r>
                                    </m:e>
                                    <m:sub>
                                      <m:r>
                                        <a:rPr lang="en-US" sz="2000" i="1">
                                          <a:latin typeface="Cambria Math" panose="02040503050406030204" pitchFamily="18" charset="0"/>
                                          <a:ea typeface="Cambria Math" panose="02040503050406030204" pitchFamily="18" charset="0"/>
                                        </a:rPr>
                                        <m:t>h</m:t>
                                      </m:r>
                                    </m:sub>
                                    <m:sup>
                                      <m:r>
                                        <m:rPr>
                                          <m:sty m:val="p"/>
                                        </m:rPr>
                                        <a:rPr lang="en-US" sz="2000" b="0" i="0" smtClean="0">
                                          <a:latin typeface="Cambria Math" panose="02040503050406030204" pitchFamily="18" charset="0"/>
                                          <a:ea typeface="Cambria Math" panose="02040503050406030204" pitchFamily="18" charset="0"/>
                                        </a:rPr>
                                        <m:t>exp</m:t>
                                      </m:r>
                                    </m:sup>
                                  </m:sSubSup>
                                </m:e>
                              </m:d>
                            </m:num>
                            <m:den>
                              <m:d>
                                <m:dPr>
                                  <m:ctrlPr>
                                    <a:rPr lang="en-US" sz="2000" i="1">
                                      <a:latin typeface="Cambria Math" panose="02040503050406030204" pitchFamily="18" charset="0"/>
                                      <a:ea typeface="Cambria Math" panose="02040503050406030204" pitchFamily="18" charset="0"/>
                                    </a:rPr>
                                  </m:ctrlPr>
                                </m:dPr>
                                <m:e>
                                  <m:sSubSup>
                                    <m:sSubSupPr>
                                      <m:ctrlPr>
                                        <a:rPr lang="en-US" sz="2000" i="1">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up>
                                      <m:r>
                                        <m:rPr>
                                          <m:sty m:val="p"/>
                                        </m:rPr>
                                        <a:rPr lang="en-US" sz="2000">
                                          <a:latin typeface="Cambria Math" panose="02040503050406030204" pitchFamily="18" charset="0"/>
                                          <a:ea typeface="Cambria Math" panose="02040503050406030204" pitchFamily="18" charset="0"/>
                                        </a:rPr>
                                        <m:t>imp</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up>
                                      <m:r>
                                        <m:rPr>
                                          <m:sty m:val="p"/>
                                        </m:rPr>
                                        <a:rPr lang="en-US" sz="2000" b="0" i="0" smtClean="0">
                                          <a:latin typeface="Cambria Math" panose="02040503050406030204" pitchFamily="18" charset="0"/>
                                          <a:ea typeface="Cambria Math" panose="02040503050406030204" pitchFamily="18" charset="0"/>
                                        </a:rPr>
                                        <m:t>exp</m:t>
                                      </m:r>
                                    </m:sup>
                                  </m:sSubSup>
                                </m:e>
                              </m:d>
                            </m:den>
                          </m:f>
                        </m:e>
                      </m:nary>
                      <m:r>
                        <a:rPr lang="en-US" sz="2000" b="0" i="1" smtClean="0">
                          <a:latin typeface="Cambria Math" panose="02040503050406030204" pitchFamily="18" charset="0"/>
                          <a:ea typeface="Cambria Math" panose="02040503050406030204" pitchFamily="18" charset="0"/>
                        </a:rPr>
                        <m:t>,  </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𝜇</m:t>
                          </m:r>
                        </m:e>
                        <m:sub>
                          <m:r>
                            <a:rPr lang="en-US" sz="2000" i="1">
                              <a:latin typeface="Cambria Math" panose="02040503050406030204" pitchFamily="18" charset="0"/>
                              <a:ea typeface="Cambria Math" panose="02040503050406030204" pitchFamily="18" charset="0"/>
                            </a:rPr>
                            <m:t>h</m:t>
                          </m:r>
                        </m:sub>
                      </m:sSub>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ea typeface="Cambria Math" panose="02040503050406030204" pitchFamily="18" charset="0"/>
                            </a:rPr>
                          </m:ctrlPr>
                        </m:fPr>
                        <m:num>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Sub>
                        </m:num>
                        <m:den>
                          <m:nary>
                            <m:naryPr>
                              <m:chr m:val="∑"/>
                              <m:supHide m:val="on"/>
                              <m:ctrlPr>
                                <a:rPr lang="en-US" sz="2000" i="1">
                                  <a:latin typeface="Cambria Math" panose="02040503050406030204" pitchFamily="18" charset="0"/>
                                  <a:ea typeface="Cambria Math" panose="02040503050406030204" pitchFamily="18" charset="0"/>
                                </a:rPr>
                              </m:ctrlPr>
                            </m:naryPr>
                            <m:sub>
                              <m:r>
                                <m:rPr>
                                  <m:brk m:alnAt="7"/>
                                </m:rPr>
                                <a:rPr lang="en-US" sz="2000" i="1">
                                  <a:latin typeface="Cambria Math" panose="02040503050406030204" pitchFamily="18" charset="0"/>
                                  <a:ea typeface="Cambria Math" panose="02040503050406030204" pitchFamily="18" charset="0"/>
                                </a:rPr>
                                <m:t>h</m:t>
                              </m:r>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𝐻</m:t>
                                  </m:r>
                                </m:e>
                                <m:sub>
                                  <m:r>
                                    <a:rPr lang="en-US" sz="2000" i="1">
                                      <a:latin typeface="Cambria Math" panose="02040503050406030204" pitchFamily="18" charset="0"/>
                                      <a:ea typeface="Cambria Math" panose="02040503050406030204" pitchFamily="18" charset="0"/>
                                    </a:rPr>
                                    <m:t>𝑚</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sub>
                              </m:sSub>
                            </m:sub>
                            <m:sup/>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𝑞</m:t>
                                  </m:r>
                                </m:e>
                                <m:sub>
                                  <m:r>
                                    <a:rPr lang="en-US" sz="2000" i="1">
                                      <a:latin typeface="Cambria Math" panose="02040503050406030204" pitchFamily="18" charset="0"/>
                                      <a:ea typeface="Cambria Math" panose="02040503050406030204" pitchFamily="18" charset="0"/>
                                    </a:rPr>
                                    <m:t>h</m:t>
                                  </m:r>
                                </m:sub>
                              </m:sSub>
                            </m:e>
                          </m:nary>
                        </m:den>
                      </m:f>
                    </m:oMath>
                  </m:oMathPara>
                </a14:m>
                <a:endParaRPr lang="en-US" sz="2000" dirty="0"/>
              </a:p>
            </p:txBody>
          </p:sp>
        </mc:Choice>
        <mc:Fallback xmlns="">
          <p:sp>
            <p:nvSpPr>
              <p:cNvPr id="6" name="TextBox 5">
                <a:extLst>
                  <a:ext uri="{FF2B5EF4-FFF2-40B4-BE49-F238E27FC236}">
                    <a16:creationId xmlns:a16="http://schemas.microsoft.com/office/drawing/2014/main" id="{40AA558B-B2D8-66E6-42CD-F69DE4A8B4D6}"/>
                  </a:ext>
                </a:extLst>
              </p:cNvPr>
              <p:cNvSpPr txBox="1">
                <a:spLocks noRot="1" noChangeAspect="1" noMove="1" noResize="1" noEditPoints="1" noAdjustHandles="1" noChangeArrowheads="1" noChangeShapeType="1" noTextEdit="1"/>
              </p:cNvSpPr>
              <p:nvPr/>
            </p:nvSpPr>
            <p:spPr>
              <a:xfrm>
                <a:off x="508409" y="1051323"/>
                <a:ext cx="8046720" cy="3533468"/>
              </a:xfrm>
              <a:prstGeom prst="rect">
                <a:avLst/>
              </a:prstGeom>
              <a:blipFill>
                <a:blip r:embed="rId3"/>
                <a:stretch>
                  <a:fillRect l="-758" t="-862"/>
                </a:stretch>
              </a:blipFill>
            </p:spPr>
            <p:txBody>
              <a:bodyPr/>
              <a:lstStyle/>
              <a:p>
                <a:r>
                  <a:rPr lang="da-DK">
                    <a:noFill/>
                  </a:rPr>
                  <a:t> </a:t>
                </a:r>
              </a:p>
            </p:txBody>
          </p:sp>
        </mc:Fallback>
      </mc:AlternateContent>
      <p:graphicFrame>
        <p:nvGraphicFramePr>
          <p:cNvPr id="7" name="Table 6">
            <a:extLst>
              <a:ext uri="{FF2B5EF4-FFF2-40B4-BE49-F238E27FC236}">
                <a16:creationId xmlns:a16="http://schemas.microsoft.com/office/drawing/2014/main" id="{D85FB1F4-842F-00F0-A494-7E75C9E03008}"/>
              </a:ext>
            </a:extLst>
          </p:cNvPr>
          <p:cNvGraphicFramePr>
            <a:graphicFrameLocks noGrp="1"/>
          </p:cNvGraphicFramePr>
          <p:nvPr/>
        </p:nvGraphicFramePr>
        <p:xfrm>
          <a:off x="587374" y="4831008"/>
          <a:ext cx="8021005" cy="1996512"/>
        </p:xfrm>
        <a:graphic>
          <a:graphicData uri="http://schemas.openxmlformats.org/drawingml/2006/table">
            <a:tbl>
              <a:tblPr firstRow="1" bandRow="1">
                <a:tableStyleId>{93296810-A885-4BE3-A3E7-6D5BEEA58F35}</a:tableStyleId>
              </a:tblPr>
              <a:tblGrid>
                <a:gridCol w="1614805">
                  <a:extLst>
                    <a:ext uri="{9D8B030D-6E8A-4147-A177-3AD203B41FA5}">
                      <a16:colId xmlns:a16="http://schemas.microsoft.com/office/drawing/2014/main" val="1527320247"/>
                    </a:ext>
                  </a:extLst>
                </a:gridCol>
                <a:gridCol w="1281240">
                  <a:extLst>
                    <a:ext uri="{9D8B030D-6E8A-4147-A177-3AD203B41FA5}">
                      <a16:colId xmlns:a16="http://schemas.microsoft.com/office/drawing/2014/main" val="1720096385"/>
                    </a:ext>
                  </a:extLst>
                </a:gridCol>
                <a:gridCol w="1281240">
                  <a:extLst>
                    <a:ext uri="{9D8B030D-6E8A-4147-A177-3AD203B41FA5}">
                      <a16:colId xmlns:a16="http://schemas.microsoft.com/office/drawing/2014/main" val="3751588381"/>
                    </a:ext>
                  </a:extLst>
                </a:gridCol>
                <a:gridCol w="1281240">
                  <a:extLst>
                    <a:ext uri="{9D8B030D-6E8A-4147-A177-3AD203B41FA5}">
                      <a16:colId xmlns:a16="http://schemas.microsoft.com/office/drawing/2014/main" val="3607082027"/>
                    </a:ext>
                  </a:extLst>
                </a:gridCol>
                <a:gridCol w="1281240">
                  <a:extLst>
                    <a:ext uri="{9D8B030D-6E8A-4147-A177-3AD203B41FA5}">
                      <a16:colId xmlns:a16="http://schemas.microsoft.com/office/drawing/2014/main" val="4083124947"/>
                    </a:ext>
                  </a:extLst>
                </a:gridCol>
                <a:gridCol w="1281240">
                  <a:extLst>
                    <a:ext uri="{9D8B030D-6E8A-4147-A177-3AD203B41FA5}">
                      <a16:colId xmlns:a16="http://schemas.microsoft.com/office/drawing/2014/main" val="2602220129"/>
                    </a:ext>
                  </a:extLst>
                </a:gridCol>
              </a:tblGrid>
              <a:tr h="499128">
                <a:tc>
                  <a:txBody>
                    <a:bodyPr/>
                    <a:lstStyle/>
                    <a:p>
                      <a:pPr marL="0" marR="0" lvl="0" indent="0" algn="l" defTabSz="685800" rtl="0" eaLnBrk="1" fontAlgn="b" latinLnBrk="0" hangingPunct="1">
                        <a:lnSpc>
                          <a:spcPct val="100000"/>
                        </a:lnSpc>
                        <a:spcBef>
                          <a:spcPts val="0"/>
                        </a:spcBef>
                        <a:spcAft>
                          <a:spcPts val="0"/>
                        </a:spcAft>
                        <a:buClrTx/>
                        <a:buSzTx/>
                        <a:buFontTx/>
                        <a:buNone/>
                        <a:tabLst/>
                        <a:defRPr/>
                      </a:pPr>
                      <a:r>
                        <a:rPr lang="en-US" sz="2000" u="none" strike="noStrike" noProof="0" dirty="0">
                          <a:effectLst/>
                        </a:rPr>
                        <a:t>DKK/kg</a:t>
                      </a:r>
                      <a:endParaRPr lang="en-US" sz="2000" b="1" i="0" u="none" strike="noStrike" noProof="0" dirty="0">
                        <a:solidFill>
                          <a:srgbClr val="000000"/>
                        </a:solidFill>
                        <a:effectLst/>
                        <a:latin typeface="Microsoft New Tai Lue (Body)"/>
                      </a:endParaRPr>
                    </a:p>
                  </a:txBody>
                  <a:tcPr anchor="ctr"/>
                </a:tc>
                <a:tc>
                  <a:txBody>
                    <a:bodyPr/>
                    <a:lstStyle/>
                    <a:p>
                      <a:pPr algn="ctr" fontAlgn="t"/>
                      <a:r>
                        <a:rPr lang="en-US" sz="2000" u="none" strike="noStrike" noProof="0" dirty="0">
                          <a:effectLst/>
                        </a:rPr>
                        <a:t>Metal</a:t>
                      </a:r>
                      <a:endParaRPr lang="en-US" sz="2000" b="1" i="0" u="none" strike="noStrike" noProof="0" dirty="0">
                        <a:solidFill>
                          <a:srgbClr val="000000"/>
                        </a:solidFill>
                        <a:effectLst/>
                        <a:latin typeface="Microsoft New Tai Lue (Body)"/>
                      </a:endParaRPr>
                    </a:p>
                  </a:txBody>
                  <a:tcPr anchor="ctr"/>
                </a:tc>
                <a:tc>
                  <a:txBody>
                    <a:bodyPr/>
                    <a:lstStyle/>
                    <a:p>
                      <a:pPr algn="ctr" fontAlgn="t"/>
                      <a:r>
                        <a:rPr lang="en-US" sz="2000" u="none" strike="noStrike" noProof="0" dirty="0">
                          <a:effectLst/>
                        </a:rPr>
                        <a:t>Paper</a:t>
                      </a:r>
                      <a:endParaRPr lang="en-US" sz="2000" b="1" i="0" u="none" strike="noStrike" noProof="0" dirty="0">
                        <a:solidFill>
                          <a:srgbClr val="000000"/>
                        </a:solidFill>
                        <a:effectLst/>
                        <a:latin typeface="Microsoft New Tai Lue (Body)"/>
                      </a:endParaRPr>
                    </a:p>
                  </a:txBody>
                  <a:tcPr anchor="ctr"/>
                </a:tc>
                <a:tc>
                  <a:txBody>
                    <a:bodyPr/>
                    <a:lstStyle/>
                    <a:p>
                      <a:pPr algn="ctr" fontAlgn="t"/>
                      <a:r>
                        <a:rPr lang="en-US" sz="2000" u="none" strike="noStrike" noProof="0" dirty="0">
                          <a:effectLst/>
                        </a:rPr>
                        <a:t>Plastic</a:t>
                      </a:r>
                      <a:endParaRPr lang="en-US" sz="2000" b="1" i="0" u="none" strike="noStrike" noProof="0" dirty="0">
                        <a:solidFill>
                          <a:srgbClr val="000000"/>
                        </a:solidFill>
                        <a:effectLst/>
                        <a:latin typeface="Microsoft New Tai Lue (Body)"/>
                      </a:endParaRPr>
                    </a:p>
                  </a:txBody>
                  <a:tcPr anchor="ctr"/>
                </a:tc>
                <a:tc>
                  <a:txBody>
                    <a:bodyPr/>
                    <a:lstStyle/>
                    <a:p>
                      <a:pPr algn="ctr" fontAlgn="t"/>
                      <a:r>
                        <a:rPr lang="en-US" sz="2000" u="none" strike="noStrike" noProof="0" dirty="0">
                          <a:effectLst/>
                        </a:rPr>
                        <a:t>Rubber</a:t>
                      </a:r>
                      <a:endParaRPr lang="en-US" sz="2000" b="1" i="0" u="none" strike="noStrike" noProof="0" dirty="0">
                        <a:solidFill>
                          <a:srgbClr val="000000"/>
                        </a:solidFill>
                        <a:effectLst/>
                        <a:latin typeface="Microsoft New Tai Lue (Body)"/>
                      </a:endParaRPr>
                    </a:p>
                  </a:txBody>
                  <a:tcPr anchor="ctr"/>
                </a:tc>
                <a:tc>
                  <a:txBody>
                    <a:bodyPr/>
                    <a:lstStyle/>
                    <a:p>
                      <a:pPr algn="ctr" fontAlgn="t"/>
                      <a:r>
                        <a:rPr lang="en-US" sz="2000" u="none" strike="noStrike" noProof="0" dirty="0">
                          <a:effectLst/>
                        </a:rPr>
                        <a:t>Textile</a:t>
                      </a:r>
                      <a:endParaRPr lang="en-US" sz="2000" b="1" i="0" u="none" strike="noStrike" noProof="0" dirty="0">
                        <a:solidFill>
                          <a:srgbClr val="000000"/>
                        </a:solidFill>
                        <a:effectLst/>
                        <a:latin typeface="Microsoft New Tai Lue (Body)"/>
                      </a:endParaRPr>
                    </a:p>
                  </a:txBody>
                  <a:tcPr anchor="ctr"/>
                </a:tc>
                <a:extLst>
                  <a:ext uri="{0D108BD9-81ED-4DB2-BD59-A6C34878D82A}">
                    <a16:rowId xmlns:a16="http://schemas.microsoft.com/office/drawing/2014/main" val="577657254"/>
                  </a:ext>
                </a:extLst>
              </a:tr>
              <a:tr h="499128">
                <a:tc>
                  <a:txBody>
                    <a:bodyPr/>
                    <a:lstStyle/>
                    <a:p>
                      <a:pPr algn="l" fontAlgn="t"/>
                      <a:r>
                        <a:rPr lang="en-US" sz="2000" b="0" u="none" strike="noStrike" noProof="0" dirty="0">
                          <a:solidFill>
                            <a:srgbClr val="000000"/>
                          </a:solidFill>
                          <a:effectLst/>
                        </a:rPr>
                        <a:t>Virgin (V)</a:t>
                      </a:r>
                      <a:endParaRPr lang="en-US" sz="2000" b="0" i="0" u="none" strike="noStrike" noProof="0" dirty="0">
                        <a:solidFill>
                          <a:srgbClr val="000000"/>
                        </a:solidFill>
                        <a:effectLst/>
                        <a:latin typeface="Microsoft New Tai Lue (Body)"/>
                      </a:endParaRPr>
                    </a:p>
                  </a:txBody>
                  <a:tcPr/>
                </a:tc>
                <a:tc>
                  <a:txBody>
                    <a:bodyPr/>
                    <a:lstStyle/>
                    <a:p>
                      <a:pPr algn="r" fontAlgn="b"/>
                      <a:r>
                        <a:rPr lang="en-US" sz="2000" b="0" u="none" strike="noStrike" noProof="0" dirty="0">
                          <a:solidFill>
                            <a:srgbClr val="000000"/>
                          </a:solidFill>
                          <a:effectLst/>
                        </a:rPr>
                        <a:t>4.78</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4.47</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13.11</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29.23</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19.39</a:t>
                      </a:r>
                      <a:endParaRPr lang="en-US" sz="2000" b="0" i="0" u="none" strike="noStrike" noProof="0" dirty="0">
                        <a:solidFill>
                          <a:srgbClr val="000000"/>
                        </a:solidFill>
                        <a:effectLst/>
                        <a:latin typeface="Microsoft New Tai Lue (Body)"/>
                      </a:endParaRPr>
                    </a:p>
                  </a:txBody>
                  <a:tcPr anchor="b"/>
                </a:tc>
                <a:extLst>
                  <a:ext uri="{0D108BD9-81ED-4DB2-BD59-A6C34878D82A}">
                    <a16:rowId xmlns:a16="http://schemas.microsoft.com/office/drawing/2014/main" val="4012033468"/>
                  </a:ext>
                </a:extLst>
              </a:tr>
              <a:tr h="499128">
                <a:tc>
                  <a:txBody>
                    <a:bodyPr/>
                    <a:lstStyle/>
                    <a:p>
                      <a:pPr algn="l" fontAlgn="t"/>
                      <a:r>
                        <a:rPr lang="en-US" sz="2000" b="0" u="none" strike="noStrike" noProof="0" dirty="0">
                          <a:solidFill>
                            <a:srgbClr val="000000"/>
                          </a:solidFill>
                          <a:effectLst/>
                        </a:rPr>
                        <a:t>Recycled (R)</a:t>
                      </a:r>
                      <a:endParaRPr lang="en-US" sz="2000" b="0" i="0" u="none" strike="noStrike" noProof="0" dirty="0">
                        <a:solidFill>
                          <a:srgbClr val="000000"/>
                        </a:solidFill>
                        <a:effectLst/>
                        <a:latin typeface="Microsoft New Tai Lue (Body)"/>
                      </a:endParaRPr>
                    </a:p>
                  </a:txBody>
                  <a:tcPr/>
                </a:tc>
                <a:tc>
                  <a:txBody>
                    <a:bodyPr/>
                    <a:lstStyle/>
                    <a:p>
                      <a:pPr algn="r" fontAlgn="b"/>
                      <a:r>
                        <a:rPr lang="en-US" sz="2000" b="0" u="none" strike="noStrike" noProof="0" dirty="0">
                          <a:solidFill>
                            <a:srgbClr val="000000"/>
                          </a:solidFill>
                          <a:effectLst/>
                        </a:rPr>
                        <a:t>2.88</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0.63</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1.96</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1.03</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3.29</a:t>
                      </a:r>
                      <a:endParaRPr lang="en-US" sz="2000" b="0" i="0" u="none" strike="noStrike" noProof="0" dirty="0">
                        <a:solidFill>
                          <a:srgbClr val="000000"/>
                        </a:solidFill>
                        <a:effectLst/>
                        <a:latin typeface="Microsoft New Tai Lue (Body)"/>
                      </a:endParaRPr>
                    </a:p>
                  </a:txBody>
                  <a:tcPr anchor="b"/>
                </a:tc>
                <a:extLst>
                  <a:ext uri="{0D108BD9-81ED-4DB2-BD59-A6C34878D82A}">
                    <a16:rowId xmlns:a16="http://schemas.microsoft.com/office/drawing/2014/main" val="960245897"/>
                  </a:ext>
                </a:extLst>
              </a:tr>
              <a:tr h="499128">
                <a:tc>
                  <a:txBody>
                    <a:bodyPr/>
                    <a:lstStyle/>
                    <a:p>
                      <a:pPr algn="l" fontAlgn="t"/>
                      <a:r>
                        <a:rPr lang="en-US" sz="2000" b="0" u="none" strike="noStrike" noProof="0" dirty="0">
                          <a:solidFill>
                            <a:srgbClr val="000000"/>
                          </a:solidFill>
                          <a:effectLst/>
                        </a:rPr>
                        <a:t>Waste (W)</a:t>
                      </a:r>
                      <a:endParaRPr lang="en-US" sz="2000" b="0" i="0" u="none" strike="noStrike" noProof="0" dirty="0">
                        <a:solidFill>
                          <a:srgbClr val="000000"/>
                        </a:solidFill>
                        <a:effectLst/>
                        <a:latin typeface="Microsoft New Tai Lue (Body)"/>
                      </a:endParaRPr>
                    </a:p>
                  </a:txBody>
                  <a:tcPr/>
                </a:tc>
                <a:tc>
                  <a:txBody>
                    <a:bodyPr/>
                    <a:lstStyle/>
                    <a:p>
                      <a:pPr algn="r" fontAlgn="b"/>
                      <a:r>
                        <a:rPr lang="en-US" sz="2000" b="0" u="none" strike="noStrike" noProof="0" dirty="0">
                          <a:solidFill>
                            <a:srgbClr val="000000"/>
                          </a:solidFill>
                          <a:effectLst/>
                        </a:rPr>
                        <a:t>0</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0</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0</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0</a:t>
                      </a:r>
                      <a:endParaRPr lang="en-US" sz="2000" b="0" i="0" u="none" strike="noStrike" noProof="0" dirty="0">
                        <a:solidFill>
                          <a:srgbClr val="000000"/>
                        </a:solidFill>
                        <a:effectLst/>
                        <a:latin typeface="Microsoft New Tai Lue (Body)"/>
                      </a:endParaRPr>
                    </a:p>
                  </a:txBody>
                  <a:tcPr anchor="b"/>
                </a:tc>
                <a:tc>
                  <a:txBody>
                    <a:bodyPr/>
                    <a:lstStyle/>
                    <a:p>
                      <a:pPr algn="r" fontAlgn="b"/>
                      <a:r>
                        <a:rPr lang="en-US" sz="2000" b="0" u="none" strike="noStrike" noProof="0" dirty="0">
                          <a:solidFill>
                            <a:srgbClr val="000000"/>
                          </a:solidFill>
                          <a:effectLst/>
                        </a:rPr>
                        <a:t>0</a:t>
                      </a:r>
                      <a:endParaRPr lang="en-US" sz="2000" b="0" i="0" u="none" strike="noStrike" noProof="0" dirty="0">
                        <a:solidFill>
                          <a:srgbClr val="000000"/>
                        </a:solidFill>
                        <a:effectLst/>
                        <a:latin typeface="Microsoft New Tai Lue (Body)"/>
                      </a:endParaRPr>
                    </a:p>
                  </a:txBody>
                  <a:tcPr anchor="b"/>
                </a:tc>
                <a:extLst>
                  <a:ext uri="{0D108BD9-81ED-4DB2-BD59-A6C34878D82A}">
                    <a16:rowId xmlns:a16="http://schemas.microsoft.com/office/drawing/2014/main" val="3682638047"/>
                  </a:ext>
                </a:extLst>
              </a:tr>
            </a:tbl>
          </a:graphicData>
        </a:graphic>
      </p:graphicFrame>
    </p:spTree>
    <p:extLst>
      <p:ext uri="{BB962C8B-B14F-4D97-AF65-F5344CB8AC3E}">
        <p14:creationId xmlns:p14="http://schemas.microsoft.com/office/powerpoint/2010/main" val="55777856"/>
      </p:ext>
    </p:extLst>
  </p:cSld>
  <p:clrMapOvr>
    <a:masterClrMapping/>
  </p:clrMapOvr>
</p:sld>
</file>

<file path=ppt/theme/theme1.xml><?xml version="1.0" encoding="utf-8"?>
<a:theme xmlns:a="http://schemas.openxmlformats.org/drawingml/2006/main" name="Brugerdefineret design">
  <a:themeElements>
    <a:clrScheme name="KU 2016">
      <a:dk1>
        <a:sysClr val="windowText" lastClr="000000"/>
      </a:dk1>
      <a:lt1>
        <a:sysClr val="window" lastClr="FFFFFF"/>
      </a:lt1>
      <a:dk2>
        <a:srgbClr val="6E6E6E"/>
      </a:dk2>
      <a:lt2>
        <a:srgbClr val="E7E6E6"/>
      </a:lt2>
      <a:accent1>
        <a:srgbClr val="A31D20"/>
      </a:accent1>
      <a:accent2>
        <a:srgbClr val="7B7B7B"/>
      </a:accent2>
      <a:accent3>
        <a:srgbClr val="D49F3A"/>
      </a:accent3>
      <a:accent4>
        <a:srgbClr val="42759B"/>
      </a:accent4>
      <a:accent5>
        <a:srgbClr val="79ADB1"/>
      </a:accent5>
      <a:accent6>
        <a:srgbClr val="779921"/>
      </a:accent6>
      <a:hlink>
        <a:srgbClr val="A31D20"/>
      </a:hlink>
      <a:folHlink>
        <a:srgbClr val="000000"/>
      </a:folHlink>
    </a:clrScheme>
    <a:fontScheme name="KU2016">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4x3_DK_fuld.potx" id="{0B3BB9A3-20D6-458F-83DA-EC2A8DF0C8CB}" vid="{5D72A563-BDF7-4DF9-BA70-BDAEE4EAE3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ma">
  <a:themeElements>
    <a:clrScheme name="Kont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ont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a2630e2-1ac5-455e-8217-0156b1936a76}" enabled="1" method="Standard" siteId="{a3927f91-cda1-4696-af89-8c9f1ceffa91}" contentBits="0" removed="0"/>
</clbl:labelList>
</file>

<file path=docProps/app.xml><?xml version="1.0" encoding="utf-8"?>
<Properties xmlns="http://schemas.openxmlformats.org/officeDocument/2006/extended-properties" xmlns:vt="http://schemas.openxmlformats.org/officeDocument/2006/docPropsVTypes">
  <Template>4x3_DK_fuld</Template>
  <TotalTime>2275</TotalTime>
  <Words>3974</Words>
  <Application>Microsoft Office PowerPoint</Application>
  <PresentationFormat>On-screen Show (4:3)</PresentationFormat>
  <Paragraphs>1173</Paragraphs>
  <Slides>82</Slides>
  <Notes>82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82</vt:i4>
      </vt:variant>
    </vt:vector>
  </HeadingPairs>
  <TitlesOfParts>
    <vt:vector size="91" baseType="lpstr">
      <vt:lpstr>Aptos Narrow</vt:lpstr>
      <vt:lpstr>Arial</vt:lpstr>
      <vt:lpstr>Calibri</vt:lpstr>
      <vt:lpstr>Cambria Math</vt:lpstr>
      <vt:lpstr>Microsoft New Tai Lue</vt:lpstr>
      <vt:lpstr>Microsoft New Tai Lue (Body)</vt:lpstr>
      <vt:lpstr>Palatino Linotype</vt:lpstr>
      <vt:lpstr>Wingdings</vt:lpstr>
      <vt:lpstr>Brugerdefineret design</vt:lpstr>
      <vt:lpstr>PowerPoint Presentation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Introduction</vt:lpstr>
      <vt:lpstr>Literature</vt:lpstr>
      <vt:lpstr>Literature</vt:lpstr>
      <vt:lpstr>Small macro model</vt:lpstr>
      <vt:lpstr>Small macro model</vt:lpstr>
      <vt:lpstr>Small macro model</vt:lpstr>
      <vt:lpstr>Small macro model</vt:lpstr>
      <vt:lpstr>Small macro model</vt:lpstr>
      <vt:lpstr>Small macro model</vt:lpstr>
      <vt:lpstr>Small macro model</vt:lpstr>
      <vt:lpstr>Small macro model</vt:lpstr>
      <vt:lpstr>Small macro model</vt:lpstr>
      <vt:lpstr>Small macro model</vt:lpstr>
      <vt:lpstr>Small macro model</vt:lpstr>
      <vt:lpstr>Small macro model</vt:lpstr>
      <vt:lpstr>Small macro model</vt:lpstr>
      <vt:lpstr>Small macro model</vt:lpstr>
      <vt:lpstr>Small macro model</vt:lpstr>
      <vt:lpstr>Data</vt:lpstr>
      <vt:lpstr>Data</vt:lpstr>
      <vt:lpstr>Data</vt:lpstr>
      <vt:lpstr>Data</vt:lpstr>
      <vt:lpstr>Data</vt:lpstr>
      <vt:lpstr>Data</vt:lpstr>
      <vt:lpstr>Numerical model</vt:lpstr>
      <vt:lpstr>Numerical model</vt:lpstr>
      <vt:lpstr>Numerical model</vt:lpstr>
      <vt:lpstr>Numerical model</vt:lpstr>
      <vt:lpstr>Numerical model</vt:lpstr>
      <vt:lpstr>Numerical model</vt:lpstr>
      <vt:lpstr>Numerical model</vt:lpstr>
      <vt:lpstr>Numerical model</vt:lpstr>
      <vt:lpstr>Numerical model</vt:lpstr>
      <vt:lpstr>Numerical model</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Results</vt:lpstr>
      <vt:lpstr>Discussion </vt:lpstr>
      <vt:lpstr>Discussion </vt:lpstr>
      <vt:lpstr>Concluding remarks </vt:lpstr>
      <vt:lpstr>Appendix</vt:lpstr>
      <vt:lpstr>Appendix</vt:lpstr>
      <vt:lpstr>Appendix </vt:lpstr>
      <vt:lpstr>Appendix - Data</vt:lpstr>
      <vt:lpstr>Appendix - Data</vt:lpstr>
      <vt:lpstr>Appendix - Data</vt:lpstr>
      <vt:lpstr>Appendix - Data</vt:lpstr>
      <vt:lpstr>Appendix - Data</vt:lpstr>
      <vt:lpstr>Appendix - Data</vt:lpstr>
      <vt:lpstr>Appendix - Data</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Kjær Kruse-Andersen</dc:creator>
  <cp:lastModifiedBy>Rasmus Kehlet Skjødt Berg</cp:lastModifiedBy>
  <cp:revision>47</cp:revision>
  <dcterms:created xsi:type="dcterms:W3CDTF">2021-04-26T08:33:50Z</dcterms:created>
  <dcterms:modified xsi:type="dcterms:W3CDTF">2025-06-30T09:43:40Z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www.skabelon.dk</vt:lpwstr>
  </property>
  <property fmtid="{D5CDD505-2E9C-101B-9397-08002B2CF9AE}" pid="3" name="MSIP_Label_6a2630e2-1ac5-455e-8217-0156b1936a76_Enabled">
    <vt:lpwstr>true</vt:lpwstr>
  </property>
  <property fmtid="{D5CDD505-2E9C-101B-9397-08002B2CF9AE}" pid="4" name="MSIP_Label_6a2630e2-1ac5-455e-8217-0156b1936a76_SetDate">
    <vt:lpwstr>2023-08-23T08:49:08Z</vt:lpwstr>
  </property>
  <property fmtid="{D5CDD505-2E9C-101B-9397-08002B2CF9AE}" pid="5" name="MSIP_Label_6a2630e2-1ac5-455e-8217-0156b1936a76_Method">
    <vt:lpwstr>Standard</vt:lpwstr>
  </property>
  <property fmtid="{D5CDD505-2E9C-101B-9397-08002B2CF9AE}" pid="6" name="MSIP_Label_6a2630e2-1ac5-455e-8217-0156b1936a76_Name">
    <vt:lpwstr>Notclass</vt:lpwstr>
  </property>
  <property fmtid="{D5CDD505-2E9C-101B-9397-08002B2CF9AE}" pid="7" name="MSIP_Label_6a2630e2-1ac5-455e-8217-0156b1936a76_SiteId">
    <vt:lpwstr>a3927f91-cda1-4696-af89-8c9f1ceffa91</vt:lpwstr>
  </property>
  <property fmtid="{D5CDD505-2E9C-101B-9397-08002B2CF9AE}" pid="8" name="MSIP_Label_6a2630e2-1ac5-455e-8217-0156b1936a76_ActionId">
    <vt:lpwstr>beeb3dc9-be93-4149-8af7-93746805e0a5</vt:lpwstr>
  </property>
  <property fmtid="{D5CDD505-2E9C-101B-9397-08002B2CF9AE}" pid="9" name="MSIP_Label_6a2630e2-1ac5-455e-8217-0156b1936a76_ContentBits">
    <vt:lpwstr>0</vt:lpwstr>
  </property>
  <property fmtid="{D5CDD505-2E9C-101B-9397-08002B2CF9AE}" pid="10" name="SD_DocumentLanguage">
    <vt:lpwstr>en-GB</vt:lpwstr>
  </property>
</Properties>
</file>